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44.xml" ContentType="application/vnd.openxmlformats-officedocument.presentationml.tags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259" r:id="rId2"/>
    <p:sldId id="261" r:id="rId3"/>
    <p:sldId id="299" r:id="rId4"/>
    <p:sldId id="300" r:id="rId5"/>
    <p:sldId id="284" r:id="rId6"/>
    <p:sldId id="282" r:id="rId7"/>
    <p:sldId id="269" r:id="rId8"/>
    <p:sldId id="270" r:id="rId9"/>
    <p:sldId id="268" r:id="rId10"/>
    <p:sldId id="287" r:id="rId11"/>
    <p:sldId id="271" r:id="rId12"/>
    <p:sldId id="289" r:id="rId13"/>
    <p:sldId id="272" r:id="rId14"/>
    <p:sldId id="286" r:id="rId15"/>
    <p:sldId id="302" r:id="rId16"/>
    <p:sldId id="304" r:id="rId17"/>
    <p:sldId id="305" r:id="rId18"/>
    <p:sldId id="303" r:id="rId19"/>
    <p:sldId id="290" r:id="rId20"/>
    <p:sldId id="291" r:id="rId21"/>
    <p:sldId id="292" r:id="rId22"/>
    <p:sldId id="293" r:id="rId23"/>
    <p:sldId id="276" r:id="rId24"/>
    <p:sldId id="294" r:id="rId25"/>
    <p:sldId id="295" r:id="rId26"/>
    <p:sldId id="278" r:id="rId27"/>
    <p:sldId id="280" r:id="rId28"/>
    <p:sldId id="296" r:id="rId29"/>
    <p:sldId id="266" r:id="rId30"/>
    <p:sldId id="288" r:id="rId31"/>
    <p:sldId id="281" r:id="rId32"/>
    <p:sldId id="298" r:id="rId33"/>
    <p:sldId id="267" r:id="rId34"/>
    <p:sldId id="285" r:id="rId35"/>
    <p:sldId id="273" r:id="rId36"/>
    <p:sldId id="297" r:id="rId37"/>
    <p:sldId id="30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AE3E16-6B8B-C142-B752-1AFC6FF82F3F}">
          <p14:sldIdLst>
            <p14:sldId id="259"/>
          </p14:sldIdLst>
        </p14:section>
        <p14:section name="Intro &amp; revision" id="{25591E9C-E80B-A443-97C9-F19F49B02C4D}">
          <p14:sldIdLst>
            <p14:sldId id="261"/>
            <p14:sldId id="299"/>
            <p14:sldId id="300"/>
            <p14:sldId id="284"/>
            <p14:sldId id="282"/>
          </p14:sldIdLst>
        </p14:section>
        <p14:section name="Matrices" id="{93D86AFE-F5E0-6244-96CC-9F711CDDD91B}">
          <p14:sldIdLst>
            <p14:sldId id="269"/>
            <p14:sldId id="270"/>
            <p14:sldId id="268"/>
            <p14:sldId id="287"/>
            <p14:sldId id="271"/>
            <p14:sldId id="289"/>
            <p14:sldId id="272"/>
          </p14:sldIdLst>
        </p14:section>
        <p14:section name="Rabbits" id="{44D41170-C87F-504E-88B8-F870A2499B43}">
          <p14:sldIdLst>
            <p14:sldId id="286"/>
            <p14:sldId id="302"/>
            <p14:sldId id="304"/>
            <p14:sldId id="305"/>
            <p14:sldId id="303"/>
          </p14:sldIdLst>
        </p14:section>
        <p14:section name="Cayley Hamilton" id="{B5FE553E-1BA4-4740-A439-1A76E8E0FA15}">
          <p14:sldIdLst>
            <p14:sldId id="290"/>
            <p14:sldId id="291"/>
            <p14:sldId id="292"/>
            <p14:sldId id="293"/>
          </p14:sldIdLst>
        </p14:section>
        <p14:section name="Conclusions" id="{49E64A2C-6577-2046-B21D-9420DF7EC516}">
          <p14:sldIdLst>
            <p14:sldId id="276"/>
            <p14:sldId id="294"/>
            <p14:sldId id="295"/>
            <p14:sldId id="278"/>
            <p14:sldId id="280"/>
            <p14:sldId id="296"/>
            <p14:sldId id="266"/>
          </p14:sldIdLst>
        </p14:section>
        <p14:section name="Backmatter" id="{FEE9598C-3AA6-BF4A-B17A-133D20193E4B}">
          <p14:sldIdLst>
            <p14:sldId id="288"/>
            <p14:sldId id="281"/>
            <p14:sldId id="298"/>
            <p14:sldId id="267"/>
            <p14:sldId id="285"/>
            <p14:sldId id="273"/>
          </p14:sldIdLst>
        </p14:section>
        <p14:section name="Rabbits" id="{868248ED-51D6-0949-84D5-6449C859E383}">
          <p14:sldIdLst/>
        </p14:section>
        <p14:section name="Conjugate Gradients" id="{936818D6-1154-D542-AAFE-6626D1A2445F}">
          <p14:sldIdLst>
            <p14:sldId id="297"/>
          </p14:sldIdLst>
        </p14:section>
        <p14:section name="Error Analysis" id="{6AEE12EB-9D66-8549-BE72-86EB61BA41BC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0A558-1CA4-4245-9E2D-46C9DF285E8C}" v="856" dt="2026-09-23T13:47:53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1348"/>
    <p:restoredTop sz="92476"/>
  </p:normalViewPr>
  <p:slideViewPr>
    <p:cSldViewPr snapToGrid="0">
      <p:cViewPr varScale="1">
        <p:scale>
          <a:sx n="93" d="100"/>
          <a:sy n="93" d="100"/>
        </p:scale>
        <p:origin x="2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4" d="100"/>
        <a:sy n="12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CA4E6-C37F-FF4C-A48F-F977E2581AA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E134E-CF3A-1047-99F8-330D8E9F5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3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/shorts/ieh9qIkkMJQ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09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Interactive Linear Algebra - Mendeley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83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Poincare (date): Mathematics is the science of naming things which are the same.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41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we have lots of choices. One way forward is to make U unit upper triangular. The diagonal is all 1s.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81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E308-EBF1-4551-F250-EB68CB70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67EAC-619E-FA81-EC58-AD629EEDE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E6189-8ECD-3043-1FC6-33DC5D23F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use of the word "determinant" in the modern sense appeared in: Cauchy, Augustin-Louis "Memoire sur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ne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peuvent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obtenir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deux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égales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des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contraires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suite des transpositions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operées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les variables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qu'elles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renferment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," which was first read at the Institute de France in Paris on November 30, 1812, and which was subsequently published in the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Journal de 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l'Ecole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Polytechnique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Cahier 17, Tome 10, pages 29–112 (1815).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Claudio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Rocchini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CC BY 3.0 &lt;https://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creativecommons.org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/licenses/by/3.0&gt;, via Wikimedia Commons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97739-E7AC-A52C-DE4C-4C59B8E1D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29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use of the word "determinant" in the modern sense appeared in: Cauchy, Augustin-Louis "Memoire sur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ne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peuvent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obtenir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deux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égales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des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contraires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suite des transpositions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operées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les variables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qu'elles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renferment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," which was first read at the Institute de France in Paris on November 30, 1812, and which was subsequently published in the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Journal de 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l'Ecole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Polytechnique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Cahier 17, Tome 10, pages 29–112 (1815).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21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43D2-C510-A8DE-3FCB-54109A212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4397C-934E-B764-8B1D-6DF0446A5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2DF73-FEBF-FEE7-ECC4-5C44B7555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use of the word "determinant" in the modern sense appeared in: Cauchy, Augustin-Louis "Memoire sur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ne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peuvent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obtenir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deux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égales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des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contraires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suite des transpositions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operées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les variables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qu'elles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renferment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," which was first read at the Institute de France in Paris on November 30, 1812, and which was subsequently published in the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Journal de 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l'Ecole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Polytechnique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Cahier 17, Tome 10, pages 29–112 (1815).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8F1F9-E2B3-3BE7-1301-206CF00E6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23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A6415-483C-48CC-8476-8D2DEC8D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85843-4DAC-E563-CCDE-11CBB41EA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77EE5-8300-2E6A-9E31-187D73788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Alan’s lecture! There is a plan.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5A7F0-8628-BEBA-F893-55CF6829B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00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58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AF6A-ADDA-20D6-EA7C-B54148FF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8CC52-A381-178A-67ED-0B6C63235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43020-E3B9-0BEC-CF39-8E069B153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1555A-29EC-11DF-5F91-600DFF53D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91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86AA-7910-1967-FB41-E436E98A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5B11F-67FD-332C-0851-697EC99F9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9A777-3ADF-6DC4-89B2-C335B3979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Alan’s lecture! There is a plan.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DD7F0-2039-F973-0DF6-698A14DE3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93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https://cs357.cs.illinois.edu/textbook/notes/</a:t>
            </a:r>
            <a:r>
              <a:rPr lang="en-US" dirty="0" err="1"/>
              <a:t>condition.html</a:t>
            </a:r>
            <a:endParaRPr lang="en-US" dirty="0"/>
          </a:p>
          <a:p>
            <a:r>
              <a:rPr lang="en-US" dirty="0"/>
              <a:t>Hilbert matrix (Wikipedia) - \kappa BIG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90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F11C-4ACA-4568-DB77-5ACE19C1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CA572-59CE-2FF6-2BD0-885810DE2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97D3D-67B5-2E94-4795-3919FEEA7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use of the word "determinant" in the modern sense appeared in: Cauchy, Augustin-Louis "Memoire sur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ne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peuvent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obtenir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deux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égales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des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contraires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suite des transpositions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operées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les variables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qu'elles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renferment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," which was first read at the Institute de France in Paris on November 30, 1812, and which was subsequently published in the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Journal de 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l'Ecole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Polytechnique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Cahier 17, Tome 10, pages 29–112 (1815).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4950D-2B36-1AD3-074D-BBD15B592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59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A7F36-3648-2534-186E-FD2927F4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3A733-FBDD-2637-CCCC-97FAD45D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3A142-5C52-423E-5303-D55AEB024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use of the word "determinant" in the modern sense appeared in: Cauchy, Augustin-Louis "Memoire sur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ne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peuvent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obtenir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deux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égales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des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contraires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suite des transpositions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operées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les variables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qu'elles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renferment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," which was first read at the Institute de France in Paris on November 30, 1812, and which was subsequently published in the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Journal de 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l'Ecole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Polytechnique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Cahier 17, Tome 10, pages 29–112 (1815).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57689-C57E-8AD9-07DC-257273571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42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archive.org</a:t>
            </a:r>
            <a:r>
              <a:rPr lang="en-US" dirty="0"/>
              <a:t>/details/isbn_0125861508/page/244/mode/1up?q=231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4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Isaacson and Keller P 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E134E-CF3A-1047-99F8-330D8E9F5A6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18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512AB-BC9F-9398-AF76-120CFED66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C292C-9B1E-B4EB-E513-732DA4ADF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BC6DE-AE10-0B02-D21D-3AC0F9337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9EB5-2AF6-F54C-8368-591B57101106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254C9-1827-E53D-8880-FC4FF080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E49C7-C967-56B1-05F5-64DA758E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B157-B40F-9CC7-B378-684C1153C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10336-DAB6-3BD5-35B6-90A8CC97C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C1B43-1A8C-8B49-67F1-BF04FCCD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24D07-05CD-C681-EFC7-D39E20D0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FB753-D778-22F5-CC48-1DEE4E11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0BAA-A2EC-6829-303E-A952A3576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0D5D2-F1A3-0BFF-4D53-1628301D4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402B3-D0C9-7AEC-D222-8EEC0BC02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1129-5D85-E14F-9689-E716CEEF5439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20266-D85F-68C6-8C3A-B0E0CB60F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52B30-A729-5E40-13E1-86C780F4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7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7239-9316-F88D-93D0-244F3386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D30-93B6-907F-5F83-07BC2B106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CF7A6-7E5C-54AA-532A-55A41C684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43F53-2924-D8A8-8372-4F7A3611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4EE7-A60D-C640-8018-EDBB7F10E32A}" type="datetime1">
              <a:rPr lang="en-GB" smtClean="0"/>
              <a:t>24/09/2026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B69BB-8867-FAEB-507C-8311FB14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0249A-E7EA-64DE-77A4-4F5D69FA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9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D3E9-A29E-F5A4-99F9-06CFC0A7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387C8-98CC-220B-8075-FFC43E3AB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7FA50-F2A1-9335-6FC7-AB6AF43A6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F627E-8EC0-F096-EE4A-EB19D05EC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6B03-36D5-49D5-1BAF-2D576139E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BABE1-417A-AEF4-9F8F-AACA3F8B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EC4E-B6E8-0848-89DF-B66E3D0BFD1B}" type="datetime1">
              <a:rPr lang="en-GB" smtClean="0"/>
              <a:t>24/09/2026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6A5D20-B19C-77C3-4B13-6E13EA5A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78BEBD-725B-52E9-2FCC-D04C668F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6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6EF1-6663-8C60-9A57-65C5ADD0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79796-9EFA-B97B-FF1C-33364B8D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123D1-D7AC-C445-A8AD-E8643C8957D1}" type="datetime1">
              <a:rPr lang="en-GB" smtClean="0"/>
              <a:t>24/09/2026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377A-A7FF-670D-B9B3-008B23EA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B9757-5179-B105-D297-2AD646E6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5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8E377-35C4-F5EA-EBA0-EB04EAF4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9383-B18B-D549-BD11-048332AC4DF0}" type="datetime1">
              <a:rPr lang="en-GB" smtClean="0"/>
              <a:t>24/09/2026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9F97C-F50E-182F-56A1-8C969163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7113-4AFA-858E-7972-65CEF2D14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9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BEDF-0D3A-D8A3-EE5E-660A3158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4E4D9-8265-D979-CDA8-01E86A65B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872E1-C844-40BE-9942-47C70E00C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25B73-C368-2268-2F6C-C45F11DE0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DDF2-FE22-A74C-AAB1-09CB68559F36}" type="datetime1">
              <a:rPr lang="en-GB" smtClean="0"/>
              <a:t>24/09/2026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DBE39-2EF4-D0BC-4E52-09AC437C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73C51-5BD8-03E3-0DDC-07607C2E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AB32-B146-2081-BD55-B5EF92E6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9AE6A7-114A-E534-1165-9A87B0567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5535A-5BAF-DA36-C891-13F897F2D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44AE6-8462-B99E-A7EC-1AB3EAFFC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4899-A69D-4741-ABDF-EA54E301A028}" type="datetime1">
              <a:rPr lang="en-GB" smtClean="0"/>
              <a:t>24/09/2026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AF901-E29C-DD1E-2187-DA0CFCB82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EE70F-2D17-C3BA-D24C-2B1E7FA1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2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ADF9-3AF4-5FDF-750D-85AD1B31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DBBC8-4A59-63F7-6D3F-79D065A0B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9BB33-612E-8417-F4A2-E71DA308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E0C3-1EFA-9240-9C94-D03AA9EEB08C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77469-EF65-CC04-80CE-4C75E132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D76F1-9256-877B-7B03-EA5646BA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5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FD65D-4AE7-3D18-5158-C3F5769D9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6A926-775E-2728-6F3B-361371413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18A4F-4A91-69A7-6FCB-62CEFA9E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76E83-343A-F549-927F-CD342D6A998E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B0006-4837-575D-7F04-8DF745F1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4C8F-8EEC-EF83-5DE8-58461795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3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13284-5FCA-A210-1F54-91FCED86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F4153-C33E-DD08-AA70-2B1E24017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62933-494B-796B-FAF7-344948997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6B3B4-79AF-B948-B552-D1A1F8FD6A2C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4072C-4579-59A8-A392-03CFD4E53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16D66-364A-23C8-D775-A313E5ADD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52F69-22B0-9141-B095-D977E71C7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8.xml"/><Relationship Id="rId7" Type="http://schemas.openxmlformats.org/officeDocument/2006/relationships/image" Target="../media/image3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5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3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ilbert_matrix" TargetMode="External"/><Relationship Id="rId2" Type="http://schemas.openxmlformats.org/officeDocument/2006/relationships/hyperlink" Target="https://cs357.cs.illinois.edu/textbook/notes/condition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ystem_of_linear_equations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textbooks.math.gatech.edu/ila/overview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Definitions_of_mathematics#cite_note-22" TargetMode="External"/><Relationship Id="rId13" Type="http://schemas.openxmlformats.org/officeDocument/2006/relationships/hyperlink" Target="https://en.wikipedia.org/wiki/Eugene_Wigner" TargetMode="External"/><Relationship Id="rId3" Type="http://schemas.openxmlformats.org/officeDocument/2006/relationships/hyperlink" Target="https://en.wikipedia.org/wiki/Bertrand_Russell" TargetMode="External"/><Relationship Id="rId7" Type="http://schemas.openxmlformats.org/officeDocument/2006/relationships/hyperlink" Target="https://en.wikipedia.org/wiki/Definitions_of_mathematics#cite_note-21" TargetMode="External"/><Relationship Id="rId12" Type="http://schemas.openxmlformats.org/officeDocument/2006/relationships/hyperlink" Target="https://en.wikipedia.org/wiki/Definitions_of_mathematics#cite_note-23" TargetMode="External"/><Relationship Id="rId2" Type="http://schemas.openxmlformats.org/officeDocument/2006/relationships/hyperlink" Target="https://en.wikipedia.org/wiki/Definitions_of_mathematics#cite_note-1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harles_Darwin" TargetMode="External"/><Relationship Id="rId11" Type="http://schemas.openxmlformats.org/officeDocument/2006/relationships/hyperlink" Target="https://en.wikipedia.org/wiki/Henri_Poincar%C3%A9" TargetMode="External"/><Relationship Id="rId5" Type="http://schemas.openxmlformats.org/officeDocument/2006/relationships/hyperlink" Target="https://en.wikipedia.org/wiki/Definitions_of_mathematics#cite_note-20" TargetMode="External"/><Relationship Id="rId10" Type="http://schemas.openxmlformats.org/officeDocument/2006/relationships/hyperlink" Target="https://en.wikipedia.org/wiki/Definitions_of_mathematics#cite_note-eves-10" TargetMode="External"/><Relationship Id="rId4" Type="http://schemas.openxmlformats.org/officeDocument/2006/relationships/hyperlink" Target="https://en.wikipedia.org/wiki/Black_cat_analogy" TargetMode="External"/><Relationship Id="rId9" Type="http://schemas.openxmlformats.org/officeDocument/2006/relationships/hyperlink" Target="https://en.wikipedia.org/wiki/G._H._Hardy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4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18BE-6058-ADD0-2B56-A9E000FCE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E0F7-5EC9-676A-CB73-208B048D2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199" y="527504"/>
            <a:ext cx="9753601" cy="3074534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Thinking</a:t>
            </a:r>
            <a:br>
              <a:rPr lang="en-US" dirty="0"/>
            </a:br>
            <a:br>
              <a:rPr lang="en-US" dirty="0"/>
            </a:br>
            <a:r>
              <a:rPr lang="en-US" sz="5300" dirty="0"/>
              <a:t>Systems of linear equations, matrices, vector spaces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217DA-5F34-79B5-737C-5B59B5C43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662715"/>
            <a:ext cx="9144000" cy="1655762"/>
          </a:xfrm>
        </p:spPr>
        <p:txBody>
          <a:bodyPr>
            <a:normAutofit fontScale="55000" lnSpcReduction="20000"/>
          </a:bodyPr>
          <a:lstStyle/>
          <a:p>
            <a:r>
              <a:rPr lang="en-US" sz="4500" dirty="0"/>
              <a:t>Chris Thompson</a:t>
            </a:r>
          </a:p>
          <a:p>
            <a:r>
              <a:rPr lang="en-US" sz="4500" dirty="0"/>
              <a:t>Ray Adams, Alan Richardson</a:t>
            </a:r>
          </a:p>
          <a:p>
            <a:endParaRPr lang="en-US" dirty="0"/>
          </a:p>
          <a:p>
            <a:endParaRPr lang="en-US" dirty="0"/>
          </a:p>
          <a:p>
            <a:pPr algn="r"/>
            <a:r>
              <a:rPr lang="en-US"/>
              <a:t>V2.0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98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CBDE-8CCE-A25D-1C1D-E6FE097B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en-GB" dirty="0"/>
              <a:t>Systems of linear equations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B8FDA-DB11-38AA-DDE1-136EFC7E0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GB" dirty="0"/>
              <a:t>Revision</a:t>
            </a:r>
          </a:p>
          <a:p>
            <a:pPr fontAlgn="ctr"/>
            <a:r>
              <a:rPr lang="en-GB" dirty="0"/>
              <a:t>Context what matrix sizes are we really interested in</a:t>
            </a:r>
          </a:p>
          <a:p>
            <a:pPr fontAlgn="ctr"/>
            <a:r>
              <a:rPr lang="en-GB" dirty="0"/>
              <a:t>Matrix formulation</a:t>
            </a:r>
          </a:p>
          <a:p>
            <a:pPr fontAlgn="ctr"/>
            <a:r>
              <a:rPr lang="en-GB" dirty="0"/>
              <a:t>Gaussian elimination</a:t>
            </a:r>
          </a:p>
          <a:p>
            <a:pPr fontAlgn="ctr"/>
            <a:r>
              <a:rPr lang="en-GB" dirty="0"/>
              <a:t>Eigen pairs</a:t>
            </a:r>
          </a:p>
          <a:p>
            <a:pPr fontAlgn="ctr"/>
            <a:r>
              <a:rPr lang="en-GB" dirty="0"/>
              <a:t>Invertibility, Kernel, Range</a:t>
            </a:r>
          </a:p>
          <a:p>
            <a:pPr fontAlgn="ctr"/>
            <a:r>
              <a:rPr lang="en-GB" dirty="0"/>
              <a:t>Cayley-Hamilton theorem</a:t>
            </a:r>
          </a:p>
          <a:p>
            <a:pPr fontAlgn="ctr"/>
            <a:r>
              <a:rPr lang="en-GB" dirty="0"/>
              <a:t>Next questions…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D3577-C38B-9CC1-DCFA-500D76C2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5D131-4D64-7829-7AD2-F9E32A59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8EDEA1-4CE5-D114-C266-2E975CD2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AD4DC-8417-F04A-8651-C2781AF1D746}" type="datetime1">
              <a:rPr lang="en-GB" smtClean="0"/>
              <a:t>24/09/2026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5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B07E-871F-DA74-A73F-5532F6E3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1ECF-1F02-4963-9B7A-41692D62F16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A bit of revision							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pic>
        <p:nvPicPr>
          <p:cNvPr id="8" name="Picture 7" descr="\documentclass{article}&#10;\usepackage{amsmath}&#10;\usepackage[version=4]{mhchem}\usepackage[margin=0in,paperwidth=8cm,verbose,marginparwidth=0pt,marginparsep=0pt]{geometry}&#10;\usepackage{sectsty}&#10;\allsectionsfont{\bfseries\sffamily}&#10;\pagestyle{empty}&#10;\begin{document}&#10;\begin{sf}&#10;A simple example with three variables:&#10;\begin{flalign}&#10;    x  + y + z &amp;= 3 \\&#10;   2x  + y - z &amp;= 2 \\&#10;    x  - y - 2z &amp;= -2&#10;\end{flalign}&#10;&#10;We remember that $ax + by + cz = d$ defines a plane.&#10;&#10;And:&#10;\begin{itemize}&#10;&#9;\item Two planes intersect along a line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22120DB2-3E76-27B1-F635-C6ADDF0897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82104" y="1484579"/>
            <a:ext cx="5352288" cy="2907792"/>
          </a:xfrm>
          <a:prstGeom prst="rect">
            <a:avLst/>
          </a:prstGeom>
        </p:spPr>
      </p:pic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98C7185A-D799-A2CA-E578-6BDEB0D55DC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2EF7946F-751B-8E2E-A814-AA55A5FFE59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</a:t>
            </a:fld>
            <a:endParaRPr lang="en-US"/>
          </a:p>
        </p:txBody>
      </p:sp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B23AB16D-822F-9E61-EAE8-3D0561DFE45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878483A1-F101-374A-B4A4-F79795DB47B2}" type="datetime1">
              <a:rPr lang="en-GB" smtClean="0"/>
              <a:t>24/09/2026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300765C-61D1-0B50-BF14-BF36D6F4A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5744" y="21494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3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C6DC9-F424-F659-C290-DF874712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0AAD-B530-A476-AAE6-00F46FEAE5F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A bit of revision							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pic>
        <p:nvPicPr>
          <p:cNvPr id="7" name="Picture 6" descr="\documentclass{article}&#10;\usepackage{amsmath}&#10;\usepackage[version=4]{mhchem}\usepackage[margin=0in,paperwidth=8cm,verbose,marginparwidth=0pt,marginparsep=0pt]{geometry}&#10;\usepackage{sectsty}&#10;\allsectionsfont{\bfseries\sffamily}&#10;\pagestyle{empty}&#10;\begin{document}&#10;\begin{sf}&#10;A simple example with three variables:&#10;\begin{flalign}&#10;    x  + y + z &amp;= 3 \\&#10;   2x  + y - z &amp;= 2 \\&#10;    x  - y - 2z &amp;= -2&#10;\end{flalign}&#10;&#10;We remember that $ax + by + cz = d$ defines a plane.&#10;&#10;And:&#10;\begin{itemize}&#10;&#9;\item Two planes intersect along a line&#10;&#9;\item Two lines intersect at a point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5498A560-C793-6F73-A9CE-ECA5727AB8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82104" y="1484579"/>
            <a:ext cx="5352288" cy="3411728"/>
          </a:xfrm>
          <a:prstGeom prst="rect">
            <a:avLst/>
          </a:prstGeom>
        </p:spPr>
      </p:pic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FED5F613-AEF9-7B13-D711-7B0B846BA32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0B99E52B-F87A-E983-DAD4-179CD1F7D07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4</a:t>
            </a:fld>
            <a:endParaRPr lang="en-US"/>
          </a:p>
        </p:txBody>
      </p:sp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7AEB61D7-84E4-6AFA-C4AC-9B89E897A41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878483A1-F101-374A-B4A4-F79795DB47B2}" type="datetime1">
              <a:rPr lang="en-GB" smtClean="0"/>
              <a:t>24/09/2026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030C5A7-0397-774B-75AD-5CC996756B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5744" y="2149475"/>
            <a:ext cx="4572000" cy="4572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C6D4653-DD74-D7E8-FCF5-95C14E4E9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7896" y="21494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E54CC-EE97-B938-85BF-2A30F3DF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FA43-8260-AF87-5C42-3F73AB0CF91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A bit of revision			</a:t>
            </a:r>
            <a:r>
              <a:rPr lang="en-US"/>
              <a:t>				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pic>
        <p:nvPicPr>
          <p:cNvPr id="6" name="Picture 5" descr="\documentclass{article}&#10;\usepackage{amsmath}&#10;\pagestyle{empty}&#10;\begin{document}&#10;\begin{sf}&#10;A simple example with three variables:&#10;\begin{flalign}&#10;    x  + y + z &amp;= 3 \\&#10;   2x  + y - z &amp;= 2 \\&#10;    x  - y - 2z &amp;= -2&#10;\end{flalign}&#10;&#10;We remember that $ax + by + cz = d$ defines a plane.&#10;&#10;So:&#10;\begin{itemize}&#10;&#9;\item Two planes intersect along a line&#10;&#9;\item Two lines intersect at a point&#10;\end{itemize}&#10;&#10;Obviously...&#10;\begin{itemize}&#10;&#9;\item the planes may be parallel.&#10;&#9;\item the lines might not intersect.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B09E2A38-A3DB-6448-D14A-3C9D0F09E77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82104" y="1484579"/>
            <a:ext cx="8321040" cy="4931664"/>
          </a:xfrm>
          <a:prstGeom prst="rect">
            <a:avLst/>
          </a:prstGeom>
        </p:spPr>
      </p:pic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39C9FB91-8B58-16F4-1A99-4232B2E3555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B468578C-5FFC-A3C3-D368-4D8FB19129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5</a:t>
            </a:fld>
            <a:endParaRPr lang="en-US"/>
          </a:p>
        </p:txBody>
      </p:sp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94377EF6-1D26-2071-6C73-AAFFA482AD4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878483A1-F101-374A-B4A4-F79795DB47B2}" type="datetime1">
              <a:rPr lang="en-GB" smtClean="0"/>
              <a:t>24/09/2026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8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85A6-2171-84AF-87B4-9B06E626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14DE-CEEC-EE1B-CD15-9184E785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of revision</a:t>
            </a:r>
          </a:p>
        </p:txBody>
      </p:sp>
      <p:pic>
        <p:nvPicPr>
          <p:cNvPr id="4" name="Picture 3" descr="\documentclass{article}&#10;\usepackage{amsmath}&#10;\pagestyle{empty}&#10;\begin{document}&#10;\begin{sf}&#10;A simple example with three variables:&#10;\begin{flalign}&#10;    x  + y + z &amp;= 3 \\&#10;   2x  + y - z &amp;= 2 \\&#10;    x  - y - 2z &amp;= -2&#10;\end{flalign}&#10;which we can solve by eliminating first $x$&#10;$$&#10;\begin{matrix}&#10;[\text{Eq}2 - 2 \times \text{Eq}1]~~~~ &amp; -y -3z &amp;= -4 &amp; &#10;~~~~~~\text{then eliminating } y\\&#10;[\text{Eq}3 - \text{Eq}1]~~~~  &amp; -2y -3z &amp;= -5       &amp; &#10;~~~~~~~~~~~~~~~~~~~~~~~~~~~~~~~~ 3z = 3&#10;\end{matrix}&#10;%\text{ \hspace{1cm} so: } 3z = 3&#10;$$&#10;Finally, backsubstituting we obtain: $ x = 1$, $y = 1$ and $z = 1$&#10;\end{sf}&#10;\end{document}" title="IguanaTex Picture Display">
            <a:extLst>
              <a:ext uri="{FF2B5EF4-FFF2-40B4-BE49-F238E27FC236}">
                <a16:creationId xmlns:a16="http://schemas.microsoft.com/office/drawing/2014/main" id="{64C1C7AE-7F14-4C57-3138-8DBDF57DD13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2104" y="1484578"/>
            <a:ext cx="10998605" cy="4881675"/>
          </a:xfrm>
          <a:prstGeom prst="rect">
            <a:avLst/>
          </a:prstGeom>
        </p:spPr>
      </p:pic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4117790C-6023-1BFD-4F18-A1DDB329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6DD57202-74F1-DC8E-2E1E-1C38EF32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6</a:t>
            </a:fld>
            <a:endParaRPr lang="en-US"/>
          </a:p>
        </p:txBody>
      </p:sp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D94AD5DF-00FC-7142-1914-362D6EA3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83A1-F101-374A-B4A4-F79795DB47B2}" type="datetime1">
              <a:rPr lang="en-GB" smtClean="0"/>
              <a:t>24/09/2026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7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E4F08-AFC7-AC8F-5EFD-FE44A029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3BB6-CAAF-2C4B-0E1E-9F66B0D1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We need to talk about matrices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D1613-DD35-D9EC-E258-1DFC4420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36295-6359-123B-B8E9-833FC96B8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76963-2E5B-371D-0869-AC2F4EE4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7</a:t>
            </a:fld>
            <a:endParaRPr lang="en-US"/>
          </a:p>
        </p:txBody>
      </p:sp>
      <p:pic>
        <p:nvPicPr>
          <p:cNvPr id="44" name="Picture 43" descr="\documentclass[10pt]{article}&#10;\usepackage{amsmath}&#10;\pagestyle{empty}&#10;\begin{document}&#10;\begin{sf}&#10;\begin{itemize}&#10;\item We can write the equations as:&#10;  \begin{align*}&#10;     \begin{pmatrix}&#10;         1 &amp; 1 &amp; 1 \\&#10;         2 &amp; 1 &amp; -1 \\&#10;         1 &amp; 1 &amp; -2&#10;     \end{pmatrix}&#10;     \begin{pmatrix}&#10;         x\\&#10;         y\\&#10;         z&#10;     \end{pmatrix}&#10;= \begin{pmatrix}&#10;         3\\&#10;         2\\&#10;         -2&#10;     \end{pmatrix}&#10;  \end{align*}&#10;%&#10;%&#10;\vspace{-0.5cm}&#10;%&#10;\item The process that we went through is known as Gaussian Elimination.&#10;\item It is equivalent to factorizing the matrix ($A$)into two matrices:&#10;$A = LU$ where $L$ is lower triangular and $U$ is upper triangular.&#10;\end{itemize}&#10;That is:&#10;\begin{flalign*}&#10; L = &#10;\begin{pmatrix}&#10; * ~0~ \dots ~0 \\&#10; * ~ * ~ \dots ~0\\&#10; \vdots ~~~ \ddots ~~~\vdots\\&#10; * ~ * ~ \dots ~*\\&#10;\end{pmatrix}&#10;\text{ and }&#10;U = &#10;\begin{pmatrix}&#10; * ~*~ \dots ~* \\&#10; 0 ~ * ~ \dots ~*\\&#10; \vdots ~~~ \ddots ~~~\vdots\\&#10; 0 ~ 0 ~ \dots ~*\\&#10;\end{pmatrix}&#10;\end{flalign*}&#10;\end{sf}&#10;\end{document}" title="IguanaTex Picture Display">
            <a:extLst>
              <a:ext uri="{FF2B5EF4-FFF2-40B4-BE49-F238E27FC236}">
                <a16:creationId xmlns:a16="http://schemas.microsoft.com/office/drawing/2014/main" id="{0F2C24AE-9947-D0C3-5E29-11E82455CC5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7265" y="1311923"/>
            <a:ext cx="8713217" cy="485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6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30E94-8EC4-91FE-072E-BE0FF968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0155-C273-BC31-72AD-9D92B94B6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 bit of mathematical notation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6185-DFE2-BB5C-4962-AB0CC53A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E204F-3A1D-778A-8CDC-FD1F3AD4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3EBDF-65C2-2471-76EC-CEC3A999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 descr="\documentclass[10pt]{article}&#10;\usepackage{amsmath}&#10;\pagestyle{empty}&#10;\begin{document}&#10;\begin{sf}&#10;\begin{itemize}&#10;\item Write matrices in capitals: &#10;$A = \left ( a_{ij} \right )$ vectors in lower case:&#10;$x = \left ( x_i \right )$&#10;%&#10;\item So we can write systems of equations $Ax = b$  and $A B = C$ as:&#10;\begin{equation*}&#10;\sum_{1 \le k \le n} a_{ik}x_{k} = b_{i} ~~~~~~~~~~~~&#10;\sum_{1 \le k \le n} a_{ik}b_{kj} = c_{ij}&#10;\end{equation*}&#10;\item Einstein would use the repeated subscript to imply summation:&#10;\begin{equation*}&#10;a_{ik}x_{k} = b_{i} ~~~~~~~~~~~~ a_{ik}b_{kj} = c_{ij}&#10;\end{equation*}&#10;\item So the factorization is:&#10;   \begin{align*}&#10;      A = LU ~~~~~\text{ where: }&#10;l_{ij} = 0 \text{ if } i&gt;j \text{ and } u_{ij} = 0 \text{ if } i&lt; j&#10;   \end{align*}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D9BE48EC-DDB9-60D7-4BD7-7F463B9A26B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8202" y="1057841"/>
            <a:ext cx="9313167" cy="504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4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2894-1F1A-9909-7053-62254865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of motivation: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8EDA1-8D0A-D147-E596-68D9E3E2F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Engineering calcs generate large systems of linear equations</a:t>
                </a:r>
              </a:p>
              <a:p>
                <a:r>
                  <a:rPr lang="en-US" dirty="0"/>
                  <a:t>Of course, many models are non-linear </a:t>
                </a:r>
              </a:p>
              <a:p>
                <a:pPr lvl="1"/>
                <a:r>
                  <a:rPr lang="en-US" dirty="0"/>
                  <a:t>How do we solve non-linear problems?</a:t>
                </a:r>
              </a:p>
              <a:p>
                <a:pPr lvl="1"/>
                <a:r>
                  <a:rPr lang="en-US" dirty="0"/>
                  <a:t>Approximate the non-linear operator as a sequence of linear problems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 typical problem size might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in each dimension</a:t>
                </a:r>
              </a:p>
              <a:p>
                <a:r>
                  <a:rPr lang="en-US" dirty="0"/>
                  <a:t>Possibly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dirty="0"/>
                  <a:t> unknowns</a:t>
                </a:r>
              </a:p>
              <a:p>
                <a:endParaRPr lang="en-US" dirty="0"/>
              </a:p>
              <a:p>
                <a:r>
                  <a:rPr lang="en-US" dirty="0"/>
                  <a:t>This is determined by the physics/engineering problem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Then we want to explore the design/parameter space.</a:t>
                </a:r>
              </a:p>
              <a:p>
                <a:r>
                  <a:rPr lang="en-US" b="1" dirty="0"/>
                  <a:t>So we want to solve linear systems very accurately and very fast.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8EDA1-8D0A-D147-E596-68D9E3E2F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4648C-CBCD-DF71-C8AC-60567B403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634E9-5E5C-600F-8D22-FACE7BD5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116D5-B556-E57F-FB38-E1EB0D68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6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AFEA-ECB0-1B73-EFB6-58C6CC18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B4E6-2E2A-3000-A9A8-DC2EFB140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Determinants. 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D5F9C-456E-E324-7102-DBD2C335F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39288-3EC9-394B-9871-B822DC3A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BA3F2-9D12-C668-4AB3-1098261B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10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E44219-21CE-24AE-FE0B-A84F09E07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8664" y="3200400"/>
            <a:ext cx="3907071" cy="3292475"/>
          </a:xfrm>
          <a:prstGeom prst="rect">
            <a:avLst/>
          </a:prstGeom>
        </p:spPr>
      </p:pic>
      <p:pic>
        <p:nvPicPr>
          <p:cNvPr id="7" name="Picture 6" descr="\documentclass{article}&#10;\usepackage{amsmath}&#10;\pagestyle{empty}&#10;\begin{document}&#10;\begin{sf}&#10;Algebraically we define the determinant of a square matrix, $A$ by:&#10;\begin{flalign*}&#10;\begin{vmatrix}&#10;a&#10;\end{vmatrix}&amp;=a \qquad (n=1),\\[10pt]&#10;\begin{vmatrix} a &amp; b\\c &amp; d \end{vmatrix}&amp;= ad-bc \qquad (n=2),\\[10pt]&#10;\begin{vmatrix} &#10;a &amp; b &amp; c \\ &#10;d &amp; e &amp; f \\ &#10;g &amp; h &amp; i &#10;\end{vmatrix} &amp;= aei + bfg + cdh - ceg - bdi - afh \qquad (n=3).&#10;\end{flalign*}&#10;For $n = 2$ we have that $ |A| $ is the area of the parallelogram. &#10;&#10;In higher dimensions $ |A| $ is the volume of the cuboid \\&#10;spanned by the columns of $A$.&#10;\end{sf}&#10;\end{document}" title="IguanaTex Picture Display">
            <a:extLst>
              <a:ext uri="{FF2B5EF4-FFF2-40B4-BE49-F238E27FC236}">
                <a16:creationId xmlns:a16="http://schemas.microsoft.com/office/drawing/2014/main" id="{1371F58F-112E-8A4C-41F2-763A1F6000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3768" y="1726347"/>
            <a:ext cx="7640320" cy="418185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564140C-76D6-92A2-CCFE-60DA5DA67F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3400" y="824468"/>
            <a:ext cx="2981036" cy="223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7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38C3-9F40-67DB-1A53-9ED9A50F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Determinants (ii)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2A33F-BA54-1E19-6E85-6460CBFA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B463-C122-8A37-4D6B-2A2A89F1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A5C87-6C98-42A6-5E27-A44CBC43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11</a:t>
            </a:fld>
            <a:endParaRPr lang="en-US"/>
          </a:p>
        </p:txBody>
      </p:sp>
      <p:pic>
        <p:nvPicPr>
          <p:cNvPr id="19" name="Picture 18" descr="\documentclass{article}&#10;\usepackage{amsmath}&#10;\usepackage[version=4]{mhchem}\usepackage[margin=0in,paperwidth=11cm,verbose,marginparwidth=0pt,marginparsep=0pt]{geometry}&#10;\usepackage{sectsty}&#10;\allsectionsfont{\bfseries\sffamily}&#10;\pagestyle{empty}&#10;\begin{document}&#10;\begin{sf}&#10;&#10;To evaluate the determinant in more dimensions we use a definition due to Laplace:&#10;\begin{itemize}&#10;\item Define the minor $M_{ij}$ as the $(n-1) \times (n-1)$ matrix obtained by deleting the $i-$th row and the $j-$th column from $A$.&#10;\item Then we can write:&#10;\begin{flalign*}&#10;\begin{vmatrix} A \end{vmatrix}&#10;=&#10;\sum_{i=1}^n (-1)^{i+j} a_{i,j} M_{i,j}&#10;\end{flalign*}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933F77CD-010F-47FA-2B55-5D8EC15550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8203" y="2110505"/>
            <a:ext cx="11071958" cy="390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AA49-3673-F808-E0E4-D375292B8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DA78-01E1-65CF-713D-CB317376167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Determinants (iii)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6776D-4A79-ACFC-05F2-F1C2F0A4E94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3936-18EE-9D76-7390-1C9BE73A48E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AA669-69FC-5E22-D40F-3307F86FBE4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 descr="\documentclass{article}&#10;\usepackage{amsmath}&#10;\pagestyle{empty}&#10;\begin{document}&#10;\begin{sf}&#10;Very many statements we can make about determinants.&#10;\medskip \ \\&#10;A couple worthy of note are:&#10;\begin{itemize}&#10;\item Cramer's rule solves $Ax = b$:&#10;%\begin{itemize}&#10;&#9;\begin{flalign*}&#10;&#9;&#9;x_i = &#10;&#9;&#9;\frac{\begin{vmatrix} A_i \end{vmatrix}}&#10;&#9;&#9;{\begin{vmatrix} A \end{vmatrix}}&#10;&#9;&#9;~~~~~\text{ where: }&#10;&#9;&#9;(A)_{i} = &#10;\begin{bmatrix} a_1 \dots b \dots a_n\end{bmatrix}&#10;\text{ replace column } i \text{ of } A \text{ by } b&#10;&#9;\end{flalign*}&#10;%\end{itemize}&#10;\item The inverse of $A$ satisfies:&#10;&#9;\begin{flalign*}&#10;&#9;&#9;A^{-1} = \frac{1}{\begin{vmatrix} A \end{vmatrix}} \text{adj}(A)&#10;&#9;&#9;~~~~~\text{ where: adj}&#10;&#9;&#9;(A)_{ij} = (-1)^{i+j} M_{ij}&#10;&#9;\end{flalign*}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033CDB38-E45D-07C5-40C4-B62525393F3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8209" y="2110504"/>
            <a:ext cx="9394546" cy="389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0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7070-467F-0477-9864-C3744104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A231-B28B-ED37-6C01-5B7E2C22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Algebraically speaking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04038-5165-9778-ED47-A15F724E5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FE29C-0C2A-3734-85B8-357A1EA8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61F10-0002-5432-D071-4A484F29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 descr="\documentclass{article}&#10;\usepackage{amsmath}&#10;\pagestyle{empty}&#10;\begin{document}&#10;\begin{sf}&#10;Our three equations represent three planes:&#10;\begin{flalign*}&#10;    x  + y + z &amp;= 3 \\&#10;   2x  + y - z &amp;= 2 \\&#10;    x  - y - 2z &amp;= -2&#10;\end{flalign*}&#10;\end{sf}&#10;\end{document}" title="IguanaTex Picture Display">
            <a:extLst>
              <a:ext uri="{FF2B5EF4-FFF2-40B4-BE49-F238E27FC236}">
                <a16:creationId xmlns:a16="http://schemas.microsoft.com/office/drawing/2014/main" id="{9CFABE3A-2F02-017D-5B56-A1533C0A67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042558" y="717333"/>
            <a:ext cx="4311243" cy="137225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\begin{sf}&#10;&#10;Let's think about:&#10;\begin{flalign*}&#10;&#9;Av &amp;= \lambda v \\&#10;&#9;( A -\lambda I ) v &amp;= 0 \\ &#10;&#9;| A - \lambda I | &amp;= 0&#10;\end{flalign*}&#10;We say $\lambda$ is an eigen-value and $v$ the associated eigen-vector.&#10;&#10;This is a polynomial of degree $n$ in $\lambda$.&#10;&#10;So there are $n$ roots (not necessarily real).&#10;&#10;We can show that $ |A| = \lambda_1 \dots \lambda_n$.&#10;&#10;So if any of the eigen-values are 0 then $A$ is singular:\\&#10;\hspace*{2cm} there is no unique solution.&#10;\end{sf}&#10;\end{document}" title="IguanaTex Picture Display">
            <a:extLst>
              <a:ext uri="{FF2B5EF4-FFF2-40B4-BE49-F238E27FC236}">
                <a16:creationId xmlns:a16="http://schemas.microsoft.com/office/drawing/2014/main" id="{BA0F2C16-9220-1D89-B191-7C55495618F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8200" y="2301298"/>
            <a:ext cx="6478016" cy="361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2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3E3E-80DC-5A08-B819-84444221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671B-B8B7-5583-1C03-32C8ED7D5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 quick example -- rabbits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2DCCD-E623-8C32-B2F3-02EBEE1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EC52C-D70F-308F-E786-96733BF6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42FC-8040-FD6F-5463-67328B6F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14</a:t>
            </a:fld>
            <a:endParaRPr lang="en-US"/>
          </a:p>
        </p:txBody>
      </p:sp>
      <p:pic>
        <p:nvPicPr>
          <p:cNvPr id="56" name="Picture 55" descr="\documentclass[10pt]{article}&#10;\usepackage{amsmath}&#10;\pagestyle{empty}&#10;\begin{document}&#10;\begin{sf}&#10;&#10;In a population of rabbits:&#10;\begin{enumerate}&#10;\item half of the newborn rabbits survive their first year;&#10;\item of those, half survive their second year;&#10;\item the maximum life span is three years;&#10;\item rabbits produce 0, 6, 8 baby rabbits in their first, second, and third years, respectively.&#10;\end{enumerate}&#10;\begin{align*}&#10;\quad  &amp;   6 y_n &amp;+ 8z_n &amp;= x_{n+1} \hspace{9cm}\\%~~~~~~~~~~~~~~~~~~~~~~~~~~~~~~~~~~~~~~~~~~~~~~~~~~~~~~~~~~~~~~~~~~~\\&#10;x_n/2 ~~~~&amp; \quad &amp; \quad &amp;= y_{n+1} \\&#10;\quad &amp;y_n/2 &amp; \quad &amp;= z_{n+1} \\&#10;\end{align*}&#10;\end{sf}&#10;\end{document}" title="IguanaTex Picture Display">
            <a:extLst>
              <a:ext uri="{FF2B5EF4-FFF2-40B4-BE49-F238E27FC236}">
                <a16:creationId xmlns:a16="http://schemas.microsoft.com/office/drawing/2014/main" id="{6410ABE1-A2A9-47AD-8CC7-A37FB284BF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2902" y="1101270"/>
            <a:ext cx="10003842" cy="469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0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7D17-7980-405B-A494-71FB4103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070B-61F6-3178-465B-FBC30C1B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 quick example – rabbits                                  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DE20B-9F38-4D8D-D3BD-3E2094425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23A9F-1CED-9F02-063F-1440DAE8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90F01-C018-5A65-E348-D607FD50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15</a:t>
            </a:fld>
            <a:endParaRPr lang="en-US"/>
          </a:p>
        </p:txBody>
      </p:sp>
      <p:pic>
        <p:nvPicPr>
          <p:cNvPr id="26" name="Picture 25" descr="\documentclass[10pt]{article}&#10;\usepackage{amsmath,hyperref}&#10;\pagestyle{empty}&#10;\begin{document}&#10;\begin{sf}&#10;What will the rabbit population look like in a hundred years?&#10;\begin{itemize}&#10;\item To address this write the equations as:&#10;  \begin{align*}&#10;     \begin{pmatrix}&#10;         0 &amp; 6 &amp; 8 \\&#10;         \frac{1}{2} &amp; 0 &amp; 0 \\&#10;         0 &amp; \frac{1}{2} &amp; 0&#10;     \end{pmatrix}&#10;     \left .&#10;&#9;\begin{pmatrix}&#10;         x\\&#10;         y\\&#10;         z&#10;     \end{pmatrix}&#10;&#9;\right |_n&#10;= \left .&#10;&#9;\begin{pmatrix}&#10;         x\\&#10;         y\\&#10;         z&#10;     \end{pmatrix}&#10;&#9;\right |_{n+1}&#10;  \end{align*}&#10;%&#10;%&#10;\vspace{-0.5cm}&#10;%&#10;\item &#10;\fbox{\href{https://textbooks.math.gatech.edu/ila/demos/rabbits/book\_demo.html?vers=224734}{Rabbit demo}}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2BC10A62-FFCF-27D6-FC27-BEE82DDD84E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9041" y="1462092"/>
            <a:ext cx="7719974" cy="29602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F840072-83FB-F844-CFCB-E26B01FD2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527" y="4242723"/>
            <a:ext cx="6449296" cy="23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5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D174-8A38-AD35-8958-0359D5E6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DE4E7-58E4-BD30-DB6E-8B6A0288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8C368-9207-6BB3-8886-A54F97660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E80EB-2D09-E13C-2ED7-AD6A2AD3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16</a:t>
            </a:fld>
            <a:endParaRPr lang="en-US"/>
          </a:p>
        </p:txBody>
      </p:sp>
      <p:pic>
        <p:nvPicPr>
          <p:cNvPr id="26" name="Picture 25" descr="\documentclass[10pt]{article}&#10;\usepackage{amsmath,hyperref}&#10;\pagestyle{empty}&#10;\begin{document}&#10;\begin{sf}&#10;What will the rabbit population look like in a hundred years?&#10;\begin{itemize}&#10;\item To address this write the equations as:&#10;  \begin{align*}&#10;     \begin{pmatrix}&#10;         0 &amp; 6 &amp; 8 \\&#10;         \frac{1}{2} &amp; 0 &amp; 0 \\&#10;         0 &amp; \frac{1}{2} &amp; 0&#10;     \end{pmatrix}&#10;     \left .&#10;&#9;\begin{pmatrix}&#10;         x\\&#10;         y\\&#10;         z&#10;     \end{pmatrix}&#10;&#9;\right |_n&#10;= \left .&#10;&#9;\begin{pmatrix}&#10;         x\\&#10;         y\\&#10;         z&#10;     \end{pmatrix}&#10;&#9;\right |_{n+1}&#10;  \end{align*}&#10;%&#10;%&#10;\vspace{-0.5cm}&#10;%&#10;\item &#10;\fbox{\href{https://textbooks.math.gatech.edu/ila/demos/rabbits/book\_demo.html?vers=224734}{Rabbit demo}}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5381A62D-7B80-8B6F-C871-4E1EBF786FF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9041" y="1462092"/>
            <a:ext cx="7719974" cy="2960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974E83-B85D-9682-D54F-66F2BD0BE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484" y="3073201"/>
            <a:ext cx="3337516" cy="286072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ECC4F03-3429-570B-444F-E673628B8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3527" y="4242723"/>
            <a:ext cx="6449296" cy="2306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16FAE5-68B5-AF15-6802-F36672805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 quick example – rabbits                                   (ii)</a:t>
            </a:r>
          </a:p>
        </p:txBody>
      </p:sp>
    </p:spTree>
    <p:extLst>
      <p:ext uri="{BB962C8B-B14F-4D97-AF65-F5344CB8AC3E}">
        <p14:creationId xmlns:p14="http://schemas.microsoft.com/office/powerpoint/2010/main" val="201687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371A-0071-BFA7-2FA2-57A0AE71A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BD146-97FB-409C-BE16-28F55F4B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6DFA-EDD6-E0F4-5C02-8DFCAF0A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20BE-DAE4-3D8E-5C57-569E1CBC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17</a:t>
            </a:fld>
            <a:endParaRPr lang="en-US"/>
          </a:p>
        </p:txBody>
      </p:sp>
      <p:pic>
        <p:nvPicPr>
          <p:cNvPr id="26" name="Picture 25" descr="\documentclass[10pt]{article}&#10;\usepackage{amsmath,hyperref}&#10;\pagestyle{empty}&#10;\begin{document}&#10;\begin{sf}&#10;What will the rabbit population look like in a hundred years?&#10;\begin{itemize}&#10;\item To address this write the equations as:&#10;  \begin{align*}&#10;     \begin{pmatrix}&#10;         0 &amp; 6 &amp; 8 \\&#10;         \frac{1}{2} &amp; 0 &amp; 0 \\&#10;         0 &amp; \frac{1}{2} &amp; 0&#10;     \end{pmatrix}&#10;     \left .&#10;&#9;\begin{pmatrix}&#10;         x\\&#10;         y\\&#10;         z&#10;     \end{pmatrix}&#10;&#9;\right |_n&#10;= \left .&#10;&#9;\begin{pmatrix}&#10;         x\\&#10;         y\\&#10;         z&#10;     \end{pmatrix}&#10;&#9;\right |_{n+1}&#10;  \end{align*}&#10;%&#10;%&#10;\vspace{-0.5cm}&#10;%&#10;\item &#10;\fbox{\href{https://textbooks.math.gatech.edu/ila/demos/rabbits/book\_demo.html?vers=224734}{Rabbit demo}}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A1E9D914-C21A-762B-85B5-BF43893FC9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9041" y="1462092"/>
            <a:ext cx="7719974" cy="2960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3C2954-1936-DC56-5DFE-CB4B77D01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484" y="2991946"/>
            <a:ext cx="3596344" cy="286072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A59302E-7296-388B-7968-638BB5402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3527" y="4242723"/>
            <a:ext cx="6449296" cy="2306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68D4F8-6DB6-B86F-B352-B3D189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 quick example – rabbits                                   (iii)</a:t>
            </a:r>
          </a:p>
        </p:txBody>
      </p:sp>
    </p:spTree>
    <p:extLst>
      <p:ext uri="{BB962C8B-B14F-4D97-AF65-F5344CB8AC3E}">
        <p14:creationId xmlns:p14="http://schemas.microsoft.com/office/powerpoint/2010/main" val="58975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2822-EA11-EC22-D7F4-E52BEE97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4EC6-2493-0056-86C1-D8B91606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 quick example – rabbits                                   (iv)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8D12F-A174-248F-D609-495D0967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35AC2-CE12-1BE4-171A-AB20B0F2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D2C4-60D5-D95E-865B-785538EC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18</a:t>
            </a:fld>
            <a:endParaRPr lang="en-US"/>
          </a:p>
        </p:txBody>
      </p:sp>
      <p:pic>
        <p:nvPicPr>
          <p:cNvPr id="54" name="Picture 53" descr="\documentclass[10pt]{article}&#10;\usepackage{amsmath,hyperref}&#10;\pagestyle{empty}&#10;\begin{document}&#10;\begin{sf}&#10;\noindent&#10;What will the rabbit population look like in a hundred years?\\&#10;%\begin{itemize}&#10;%\item&#10;This is an eigen-value problem ---&#10;the characteristic equation is:&#10;&#9;\begin{flalign*}&#10;&#9;0 =&amp; \begin{vmatrix}&#10;         0 -\lambda &amp; 6 &amp; 8 \\&#10;         \frac{1}{2} &amp; 0-\lambda &amp; 0 \\&#10;         0 &amp; \frac{1}{2} &amp; 0-\lambda&#10;     \end{vmatrix} &#10;%\\&#10;~~~~~= \lambda^3 + 3\lambda + 2 &#10;= (\lambda -2 ) (\lambda + 1)^2~~~~~&#10;&#9;\end{flalign*}&#10;So we have eigen pairs: &#10;$&#10;\lambda_1 = 2,\begin{pmatrix}16\\4\\1\end{pmatrix};~~&#10;\lambda_2 = -1, \begin{pmatrix}1\\-2\\4\end{pmatrix};~~&#10;\lambda_3 = -1, \begin{pmatrix}4\\-2\\1\end{pmatrix}&#10;$.\\&#10;%\end{itemize}&#10;In fact $\begin{pmatrix}4\\-2\\1\end{pmatrix}$ is a generalized eigen-vector. \\It satisfies $(A-\lambda I)^m v = 0, (A-\lambda I)^{m-1}v \neq 0$. (In this case $m = 2$.)&#10;\end{sf}&#10;\end{document}" title="IguanaTex Picture Display">
            <a:extLst>
              <a:ext uri="{FF2B5EF4-FFF2-40B4-BE49-F238E27FC236}">
                <a16:creationId xmlns:a16="http://schemas.microsoft.com/office/drawing/2014/main" id="{4D6FB833-B16F-9A23-D99F-E535DD57AF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9054" y="1462094"/>
            <a:ext cx="10087660" cy="496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7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CC071-DAD2-7F74-6882-AD275C8B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05C4-5DAE-D34E-1A42-F08682B9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of variables – similarity transforms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BBB2D-4072-FD8B-C5F1-89FDB4A6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C5284-BF9F-91CE-9EE8-49775CFF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6308F-7752-BA2B-EFBF-10F5DFF5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19</a:t>
            </a:fld>
            <a:endParaRPr lang="en-US"/>
          </a:p>
        </p:txBody>
      </p:sp>
      <p:pic>
        <p:nvPicPr>
          <p:cNvPr id="28" name="Picture 27" descr="\documentclass{article}&#10;\usepackage{amsmath}&#10;\pagestyle{empty}&#10;\begin{document}&#10;\begin{sf}&#10;&#10;What happens if we change variables?&#10;&#10;ALL linear transformations (rotations, reflections, stretching) can be represented by similarity transforms.&#10;\begin{itemize}&#10;&#9;\item $x^\prime = Px$&#10;&#9;\item $Ax = b \text{ becomes: } A^\prime x^\prime b^\prime &#10;&#9;&#9;~~~~~&#10;&#9;&#9;\text{ where: } A^\prime = P A P^{-1} \text{ and: } b^\prime = Pb $&#10;&#9;\begin{itemize}&#10;&#9;&#9;\item because: $ P A x = P A P^{-1} P x = P b$&#10;&#9;\end{itemize}&#10;&#9;\item We say $ A^\prime = P A P^{-1} $ is similar to $A$.&#10;&#9;\item Note that the eigen pairs of $ A^\prime$ satisfy:&#10;&#9;\begin{itemize}&#10;&#9;&#9;\item $A^\prime v^\prime = \lambda v^\prime&#10;&#9;&#9;~~~~~\text{ because: } P A P^{-1} P v = \lambda P v$&#10;&#9;&#9;\item $\left ( A^\prime \right ) ^n v^\prime = &#10;&#9;&#9;&#9;\left ( A^\prime \right ) ^{n-1} A^\prime v^\prime &#10;&#9;&#9;&#9;= \lambda^n v^\prime $&#10;&#9;\end{itemize}&#10;\end{itemize}&#10;\end{sf}&#10;\end{document}" title="IguanaTex Picture Display">
            <a:extLst>
              <a:ext uri="{FF2B5EF4-FFF2-40B4-BE49-F238E27FC236}">
                <a16:creationId xmlns:a16="http://schemas.microsoft.com/office/drawing/2014/main" id="{24170541-CBD2-A79A-56BF-45AE38B36C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2657" y="1505871"/>
            <a:ext cx="8686800" cy="428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1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AB13-A483-665A-FA23-9311C294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2B49-69AB-7E1D-DC02-B57241CD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Theorem: Cayley-Hamilton                      (1)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EF12F-8ACE-7756-9CC0-832C7BDB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8805E-FE03-226F-E30D-F90B9267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BEA7-6497-059D-842E-E3560F70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 descr="\documentclass{article}&#10;\usepackage{amsmath}&#10;\pagestyle{empty}&#10;\begin{document}&#10;\begin{sf}&#10;We define the characteristic polynomial $p(x)$ of a matrix $A$ by:&#10;\begin{flalign*}&#10;p(x) = p_A(x) = &#10;&#9;&#9;\begin{vmatrix} (A - xI) \end{vmatrix}&#10; &#9;= \sum_{0 \le i \le n} c_i x^i&#10;\end{flalign*}&#10;So the eigen-values of $A$ are the roots of $p(x)$.&#10;\bigskip \ \\&#10;The Cayley-Hamilton Theorem states that:&#10;$$&#10;p(A) = \sum_{0 \le i \le n} c_i A^i = 0&#10;$$&#10;&#10;\end{sf}&#10;\end{document}" title="IguanaTex Picture Display">
            <a:extLst>
              <a:ext uri="{FF2B5EF4-FFF2-40B4-BE49-F238E27FC236}">
                <a16:creationId xmlns:a16="http://schemas.microsoft.com/office/drawing/2014/main" id="{07459E0B-7066-790B-37C3-E108C31262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3842" y="2027374"/>
            <a:ext cx="6996176" cy="316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4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E871-7553-425E-48FD-11070578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357FE-9CBB-27AF-11A8-B2562C032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Theorem: Cayley-Hamilton                     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B0A08-5111-0780-541C-D0D202A4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FE391-18B0-B351-A3CB-40115894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401D0-651A-ADE4-BB69-D4C1A38B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21</a:t>
            </a:fld>
            <a:endParaRPr lang="en-US"/>
          </a:p>
        </p:txBody>
      </p:sp>
      <p:pic>
        <p:nvPicPr>
          <p:cNvPr id="32" name="Picture 31" descr="\documentclass{article}&#10;\usepackage{amsmath}&#10;\pagestyle{empty}&#10;\begin{document}&#10;\begin{sf}&#10;There are many different proofs of the Cayley-Hamilton theorem -- \\&#10;here is sketch of a simple one:\\&#10;Assume that $A$ has $n$ linearly independent eigen-vectors $v_i$ with associated eigen values $\lambda_i$&#10;Define $Q$ to be the $n\times n$ matrix with columns $v_i$:&#10;$ Q = \begin{bmatrix} ~v_1 \dots ~ v_n\end{bmatrix}$.\\&#10;Then:&#10;\begin{flalign*}&#10;AQ = \begin{bmatrix} ~\lambda_1 v_1 \dots ~ \lambda_n v_n\end{bmatrix}&#10;&#9;= Q\Lambda&#10;~~~~~\text{ where: } \Lambda = diag(\lambda_i) = &#10;&#9;&#9;\begin{bmatrix} ~\lambda_i \delta_{ij} \end{bmatrix}&#10;\end{flalign*}&#10;We have assumed that the columns of $Q$ are linearly independent, so $Q$ is invertible.\\&#10;We can therefore write:&#10;$$&#10;Q^{-1} A Q = \Lambda&#10;$$&#10;The Cayley-Hamilton theorem is immediate from our previous remark.&#10;\end{sf}&#10;\end{document}" title="IguanaTex Picture Display">
            <a:extLst>
              <a:ext uri="{FF2B5EF4-FFF2-40B4-BE49-F238E27FC236}">
                <a16:creationId xmlns:a16="http://schemas.microsoft.com/office/drawing/2014/main" id="{691B846C-CA32-6B17-3D43-F75C559B52C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3846" y="2027373"/>
            <a:ext cx="8705090" cy="361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8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EC1B0-41A5-2FF8-EF4C-F95D05DB0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0764-8C70-D992-F396-38374A8A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Theorem: Cayley-Hamilton                      (3)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D2B8E-12D7-ED3B-A17B-3B7F99EB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BE7B5-5C74-BB54-AF97-E764DACA2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A6F0-2860-AE51-67BD-4FADCB8B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22</a:t>
            </a:fld>
            <a:endParaRPr lang="en-US"/>
          </a:p>
        </p:txBody>
      </p:sp>
      <p:pic>
        <p:nvPicPr>
          <p:cNvPr id="20" name="Picture 19" descr="\documentclass{article}&#10;\usepackage{amsmath}&#10;\pagestyle{empty}&#10;\begin{document}&#10;\begin{sf}&#10;&#10;Notice that if $p(A) = \sum c_i A^i = 0$ then:&#10;\begin{flalign*}&#10;-c_0 &amp;= A \left ( \sum_{1\le i \le (n-1)} c_i A^{i} \right ) \\&#10;\intertext{so, re-arranging: }&#10;A^{-1} &amp;= \frac{-1}{c_0} \left ( \sum_{1\le i \le (n-1)} c_i A^{i} \right )&#10;~~~~~c_0 \ne 0 \text{because: } A \text{ is non-singular; }&#10; \lambda_i \ne 0 \forall i.&#10;\end{flalign*}&#10;&#10;\end{sf}&#10;\end{document}" title="IguanaTex Picture Display">
            <a:extLst>
              <a:ext uri="{FF2B5EF4-FFF2-40B4-BE49-F238E27FC236}">
                <a16:creationId xmlns:a16="http://schemas.microsoft.com/office/drawing/2014/main" id="{D0E1F70C-1B81-56E7-542F-B0A1913E405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44949" y="1528617"/>
            <a:ext cx="8489697" cy="32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9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45E9-010A-8E52-4BDA-9DA4BE2E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thinking                  (1)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244C6-F339-4500-A79F-D57C4101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6559D-0A63-C5D1-E093-E27F409E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08B2D-CDDD-35FC-A861-F92598E7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23</a:t>
            </a:fld>
            <a:endParaRPr lang="en-US"/>
          </a:p>
        </p:txBody>
      </p:sp>
      <p:pic>
        <p:nvPicPr>
          <p:cNvPr id="12" name="Picture 11" descr="\documentclass{article}&#10;\usepackage{amsmath}&#10;\pagestyle{empty}&#10;\begin{document}&#10;\begin{sf}&#10;&#10;\begin{itemize}&#10;&#9;\item We have looked at a system of equations:&#10;&#9;\begin{itemize}&#10;&#9;&#9;\item In a mechanistic mode.&#10;&#9;&#9;\item In a geometric mode.&#10;&#9;&#9;\item In an algebraic mode.&#10;&#9;\end{itemize}&#10;&#9;\item We have considered what is invariant under similarity &#9;&#9;transformations.&#10;&#9;\begin{itemize}&#10;&#9;&#9;\item The kernel/null space ($\lambda = 0$).&#10;&#9;\end{itemize}&#10;&#9;\item Different representations of the inverse.&#10;\end{itemize}&#10;&#10;\end{sf}&#10;\end{document}" title="IguanaTex Picture Display">
            <a:extLst>
              <a:ext uri="{FF2B5EF4-FFF2-40B4-BE49-F238E27FC236}">
                <a16:creationId xmlns:a16="http://schemas.microsoft.com/office/drawing/2014/main" id="{A66F0B2F-FB49-44E8-FBCE-9320BF5B268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8201" y="1514764"/>
            <a:ext cx="10702137" cy="428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4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D0A3-8C7C-E139-7D81-EE7C57E3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A503-D04F-A974-95D9-63D99216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thinking                 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3A289-5028-45BC-3FEF-951462B8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DDC93-4A26-8603-8152-5DF470BA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C63E2-9E58-61EC-417D-B6E2CD74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24</a:t>
            </a:fld>
            <a:endParaRPr lang="en-US"/>
          </a:p>
        </p:txBody>
      </p:sp>
      <p:pic>
        <p:nvPicPr>
          <p:cNvPr id="9" name="Picture 8" descr="\documentclass{article}&#10;\usepackage{amsmath}&#10;\pagestyle{empty}&#10;\begin{document}&#10;\begin{sf}&#10;\begin{itemize}&#10;\item The Cayley-Hamilton theorem shows that $A^{-1}$ is a polynomial in $A$&#10;\end{itemize}&#10;&#10;&#10;\end{sf}&#10;\end{document}" title="IguanaTex Picture Display">
            <a:extLst>
              <a:ext uri="{FF2B5EF4-FFF2-40B4-BE49-F238E27FC236}">
                <a16:creationId xmlns:a16="http://schemas.microsoft.com/office/drawing/2014/main" id="{63BDAB2D-D8B5-92AE-D5AC-0C44EAFD16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52602" y="1958110"/>
            <a:ext cx="10355072" cy="36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0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3469-30B0-3524-F598-CEBB1FD4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67E5A-1AC3-3BD4-0B17-F9BBD949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thinking                 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15455-A7C6-F9D3-D4EE-E00C81F6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86F09-5BC7-191F-A335-9B59E56C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2FDA3-8D76-0B2C-9900-9781FC9D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 descr="\documentclass{article}&#10;\usepackage{amsmath}&#10;\pagestyle{empty}&#10;\begin{document}&#10;\begin{sf}&#10;\begin{itemize}&#10;\item The Cayley-Hamilton theorem shows that $A^{-1}$ is a polynomial in $A$&#10;\item We can now think of approximating this polynomial&#10;\end{itemize}&#10;&#10;&#10;\end{sf}&#10;\end{document}" title="IguanaTex Picture Display">
            <a:extLst>
              <a:ext uri="{FF2B5EF4-FFF2-40B4-BE49-F238E27FC236}">
                <a16:creationId xmlns:a16="http://schemas.microsoft.com/office/drawing/2014/main" id="{A31561B8-C505-6D4E-9A34-229F2CD4815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52602" y="1958109"/>
            <a:ext cx="10355072" cy="10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1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2D17F-049F-01E2-0D44-2B111BE8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726C-BFFF-E8FA-3F1A-3F3C8C7D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thinking                 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50CE0-E6C0-74E8-666B-6581E469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1983A-54BC-F75F-18EF-59E9CB093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1E5D5-52FE-0D52-52B8-8C50B43C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26</a:t>
            </a:fld>
            <a:endParaRPr lang="en-US"/>
          </a:p>
        </p:txBody>
      </p:sp>
      <p:pic>
        <p:nvPicPr>
          <p:cNvPr id="12" name="Picture 11" descr="\documentclass{article}&#10;\usepackage{amsmath}&#10;\pagestyle{empty}&#10;\begin{document}&#10;\begin{sf}&#10;\begin{itemize}&#10;\item The Cayley-Hamilton theorem shows that $A^{-1}$ is a polynomial in $A$&#10;\item We can now think of approximating this polynomial&#10;\item This gives us an additional toolkit to solve $Ax = b$&#10;\end{itemize}&#10;&#10;&#10;\end{sf}&#10;\end{document}" title="IguanaTex Picture Display">
            <a:extLst>
              <a:ext uri="{FF2B5EF4-FFF2-40B4-BE49-F238E27FC236}">
                <a16:creationId xmlns:a16="http://schemas.microsoft.com/office/drawing/2014/main" id="{1632338B-C503-3AD1-7411-104F7147A32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52602" y="1958110"/>
            <a:ext cx="10355072" cy="178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8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25E8-4540-047D-57D5-663E928B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 related to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3FC7D-A383-E04D-5490-30BA3D4A0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Principal Component Analysis</a:t>
            </a:r>
          </a:p>
          <a:p>
            <a:pPr lvl="1"/>
            <a:r>
              <a:rPr lang="en-US" dirty="0"/>
              <a:t>What variables are important in a system</a:t>
            </a:r>
          </a:p>
          <a:p>
            <a:r>
              <a:rPr lang="en-US" dirty="0"/>
              <a:t>Engineering modelling</a:t>
            </a:r>
          </a:p>
          <a:p>
            <a:pPr lvl="1"/>
            <a:r>
              <a:rPr lang="en-US" dirty="0"/>
              <a:t>Fluid dynamics</a:t>
            </a:r>
          </a:p>
          <a:p>
            <a:pPr lvl="2"/>
            <a:r>
              <a:rPr lang="en-US" dirty="0"/>
              <a:t>Will this device: melt/freeze/explode</a:t>
            </a:r>
          </a:p>
          <a:p>
            <a:pPr lvl="1"/>
            <a:r>
              <a:rPr lang="en-US" dirty="0"/>
              <a:t>Structural Dynamics</a:t>
            </a:r>
          </a:p>
          <a:p>
            <a:pPr lvl="2"/>
            <a:r>
              <a:rPr lang="en-US" dirty="0"/>
              <a:t>How strong does this need to be</a:t>
            </a:r>
          </a:p>
          <a:p>
            <a:pPr lvl="2"/>
            <a:r>
              <a:rPr lang="en-US" dirty="0"/>
              <a:t>Will it shake itself to bits</a:t>
            </a:r>
          </a:p>
          <a:p>
            <a:pPr lvl="2"/>
            <a:r>
              <a:rPr lang="en-US" dirty="0"/>
              <a:t>Will cracks grow catastrophically? </a:t>
            </a:r>
          </a:p>
          <a:p>
            <a:r>
              <a:rPr lang="en-US" dirty="0"/>
              <a:t>Control theory</a:t>
            </a:r>
          </a:p>
          <a:p>
            <a:pPr lvl="1"/>
            <a:r>
              <a:rPr lang="en-US" dirty="0"/>
              <a:t>Can a system be controlled?</a:t>
            </a:r>
          </a:p>
          <a:p>
            <a:pPr lvl="2"/>
            <a:r>
              <a:rPr lang="en-US" dirty="0"/>
              <a:t>Central heating/Aircraft/Toothpaste manufacture/Infections</a:t>
            </a:r>
          </a:p>
          <a:p>
            <a:pPr lvl="2"/>
            <a:r>
              <a:rPr lang="en-US" dirty="0"/>
              <a:t>What about the UK economy?</a:t>
            </a: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FED0B-81CC-A295-2521-89D936B5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8FD8E-2CFF-9997-E259-A5CA58AB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768E-D19B-F491-2986-D0FABEFE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2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0001-06B1-6CD7-5279-366B6C4B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5BE00-FD78-2D8C-23E7-C07D4B92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“Open Questions”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40B9-7BB3-6DAA-1301-0E3BDD88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9F686-82C0-83C8-7497-156C019C3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6BA49-3FF9-B78C-9AE0-E32CDDF7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28</a:t>
            </a:fld>
            <a:endParaRPr lang="en-US"/>
          </a:p>
        </p:txBody>
      </p:sp>
      <p:pic>
        <p:nvPicPr>
          <p:cNvPr id="14" name="Picture 13" descr="\documentclass{article}&#10;\usepackage{amsmath}&#10;\pagestyle{empty}&#10;\begin{document}&#10;\begin{sf}&#10;&#10;\begin{itemize}&#10;&#9;\item Do we want to solve $Ax = b$ exactly?&#10;&#9;\begin{itemize}&#10;&#9;&#9;\item Probably not (in an engineering world!).&#10;&#9;&#9;\item Our models ($A$), measurements ($b$), and our arithmetic are &#9;&#9;&#9;approximate.&#10;&#9;\end{itemize}&#10;&#9;\item How does a solution method work on a real computer?&#10;&#9;\begin{itemize}&#10;&#9;&#9;\item How accurate is it?&#10;         \item How much work is involved?&#10;&#9;&#9;\item What happens to numerical (round-off) errors?&#10;&#9;\end{itemize}&#10;&#9;\item Special (and interesting!) matrices with fast solution methods?&#10;&#9;\item Are matrices singular? What happens if &#10;&#9;&#9;$\begin{vmatrix} A \end{vmatrix}$ is very small?&#10;\end{itemize}&#10;&#10;\end{sf}&#10;\end{document}" title="IguanaTex Picture Display">
            <a:extLst>
              <a:ext uri="{FF2B5EF4-FFF2-40B4-BE49-F238E27FC236}">
                <a16:creationId xmlns:a16="http://schemas.microsoft.com/office/drawing/2014/main" id="{54F68698-1A9C-5292-35A1-393808FDE5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0233" y="1584036"/>
            <a:ext cx="8310881" cy="401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2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F643A-0204-CE16-1521-6B06EDEBB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Thank you for your attention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FE766-E283-EBA9-FDF8-7C08A84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91127-9E40-A9D1-AF41-E039EF30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29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B0E544-BC56-EC65-7738-D8B625BA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639A-8B36-DA40-B98E-7E9EB0C55010}" type="datetime1">
              <a:rPr lang="en-GB" smtClean="0"/>
              <a:t>24/09/2026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7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0057F-FE94-18F8-6660-1E29BA77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F8B8-F7B4-5896-0C29-A85410C8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F8777-6860-A298-5A8F-A3B7B28B6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determinant is the signed volume </a:t>
            </a:r>
          </a:p>
          <a:p>
            <a:r>
              <a:rPr lang="en-US" dirty="0"/>
              <a:t>Diagram??</a:t>
            </a:r>
          </a:p>
          <a:p>
            <a:r>
              <a:rPr lang="en-US" dirty="0"/>
              <a:t>2 D formula</a:t>
            </a:r>
          </a:p>
          <a:p>
            <a:r>
              <a:rPr lang="en-US" dirty="0"/>
              <a:t>3D formula</a:t>
            </a:r>
          </a:p>
          <a:p>
            <a:r>
              <a:rPr lang="en-US" dirty="0"/>
              <a:t>N-D formula</a:t>
            </a:r>
          </a:p>
          <a:p>
            <a:pPr lvl="1"/>
            <a:r>
              <a:rPr lang="en-US" dirty="0"/>
              <a:t>In terms of sub-matrices,</a:t>
            </a:r>
          </a:p>
          <a:p>
            <a:pPr lvl="1"/>
            <a:r>
              <a:rPr lang="en-US" dirty="0"/>
              <a:t>Algebraic Laplace? Or Leibniz + Levi-Civita?</a:t>
            </a:r>
          </a:p>
          <a:p>
            <a:r>
              <a:rPr lang="en-US" dirty="0"/>
              <a:t>In fact we can write A^-1 = 1/det(A) x ….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C8C98-DC74-E868-4F32-D1DD653C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B2FD3-1987-B163-0F3E-9676130E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9986C-4A00-03B1-0BB8-F95753E5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6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A2FB0-BE68-CC5A-21B5-A2600FA9B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D46E-1431-345A-CCB9-2EF0CB98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of revision</a:t>
            </a:r>
          </a:p>
        </p:txBody>
      </p:sp>
      <p:pic>
        <p:nvPicPr>
          <p:cNvPr id="6" name="Picture 5" descr="\documentclass{article}&#10;\usepackage{amsmath}&#10;\pagestyle{empty}&#10;\begin{document}&#10;\begin{align*}&#10;\begin{matrix}&#10;a_{11} &amp; a_{12} &amp; a_{13}\\&#10;a_{21} &amp; a_{22} &amp; a_{23}\\&#10;a_{31} &amp; a_{32} &amp; a_{33}&#10;\end{matrix}&#10;&amp;=&#10;\begin{pmatrix}&#10;A_{11} &amp; a_{12} &amp; a_{13}\\&#10;a_{21} &amp; a_{22} &amp; a_{23}\\&#10;a_{31} &amp; a_{32} &amp; a_{33}&#10;\end{pmatrix}&#10;=&#10;\begin{bmatrix}&#10;a_{11} &amp; a_{12} &amp; a_{13}\\&#10;a_{21} &amp; a_{22} &amp; a_{23}\\&#10;a_{31} &amp; a_{32} &amp; a_{33}&#10;\end{bmatrix}&#10;\nonumber\\&#10;\begin{Bmatrix}&#10;a_{11} &amp; a_{12} &amp; a_{13}\\&#10;a_{21} &amp; a_{22} &amp; a_{23}\\&#10;a_{31} &amp; a_{32} &amp; a_{33}&#10;\end{Bmatrix}&#10;&amp;=&#10;\begin{vmatrix}&#10;a_{11} &amp; A_{12} &amp; a_{13}\\&#10;a_{21} &amp; a_{22} &amp; a_{23}\\&#10;a_{31} &amp; a_{32} &amp; a_{33}&#10;\end{vmatrix}&#10;=&#10;\begin{Vmatrix}&#10;a_{11} &amp; a_{12} &amp; a_{13}\\&#10;a_{21} &amp; a_{22} &amp; a_{23}\\&#10;a_{31} &amp; a_{32} &amp; a_{33}&#10;\end{Vmatrix}&#10;\begin{pmatrix}&#10;a_{ij}&#10;\end{pmatrix}&#10;= 0&#10;\end{align*}&#10;%&#10;%&#10;\begin{equation*}&#10;A B = C \\&#10;\begin{pmatrix}&#10;a_{ik}&#10;\end{pmatrix}&#10;\begin{pmatrix}&#10;b_{kj}&#10;\end{pmatrix}&#10;= &#10;\left (\sum_{1\le k \le n} A_{ik} B_{kj} \right )&#10;=&#10;\begin{pmatrix}&#10;\sum_{1\le k \le n} a_{ik} b_{kj}&#10;%\sum\limits{1\le k \le n} a_{ik} b_{kj}&#10;\end{pmatrix}&#10;=&#10;\begin{pmatrix}&#10;c_{ij}&#10;\end{pmatrix}&#10;\end{equation*}&#10;\begin{equation*}&#10;\sum_{1 \le k \ le n} a_{ik}b_{kj}&#10;\end{equation*}&#10;\end{document}" title="IguanaTex Picture Display">
            <a:extLst>
              <a:ext uri="{FF2B5EF4-FFF2-40B4-BE49-F238E27FC236}">
                <a16:creationId xmlns:a16="http://schemas.microsoft.com/office/drawing/2014/main" id="{A071EEBD-8B31-6AD2-EF0C-8585BF9AD27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8200" y="1091117"/>
            <a:ext cx="10386366" cy="5447794"/>
          </a:xfrm>
          <a:prstGeom prst="rect">
            <a:avLst/>
          </a:prstGeom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E31F3E4-BA40-B091-1546-A5B07567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61B64FA-966B-2B9C-D4C5-5444CB57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31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4FE84BB-386F-186F-4D18-30F0056AA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F16B2-D5B5-2C44-9C7D-5C658A76FC30}" type="datetime1">
              <a:rPr lang="en-GB" smtClean="0"/>
              <a:t>24/09/2026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9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BAB1-8892-87D8-9FCF-03866CE9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FA1D-CC5F-0B1B-A4C2-4D6038683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 number and error bounds: </a:t>
            </a:r>
            <a:r>
              <a:rPr lang="en-US" dirty="0">
                <a:hlinkClick r:id="rId2"/>
              </a:rPr>
              <a:t>https://cs357.cs.illinois.edu/textbook/notes/condition.html</a:t>
            </a:r>
            <a:endParaRPr lang="en-US" dirty="0"/>
          </a:p>
          <a:p>
            <a:r>
              <a:rPr lang="en-US" dirty="0"/>
              <a:t>Large condition number: Hilbert matrix </a:t>
            </a:r>
            <a:r>
              <a:rPr lang="en-US" dirty="0">
                <a:hlinkClick r:id="rId3"/>
              </a:rPr>
              <a:t>https://en.wikipedia.org/wiki/Hilbert_matrix</a:t>
            </a:r>
            <a:endParaRPr lang="en-US" dirty="0"/>
          </a:p>
          <a:p>
            <a:r>
              <a:rPr lang="en-US" dirty="0"/>
              <a:t>Graphical linear systems in 3D: </a:t>
            </a:r>
            <a:r>
              <a:rPr lang="en-US" dirty="0">
                <a:hlinkClick r:id="rId4"/>
              </a:rPr>
              <a:t>https://en.wikipedia.org/wiki/System_of_linear_equations</a:t>
            </a:r>
            <a:endParaRPr lang="en-US" dirty="0"/>
          </a:p>
          <a:p>
            <a:r>
              <a:rPr lang="en-US" dirty="0"/>
              <a:t>Ax=b error bound P37, Isaacson and Keller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FAD47-D2FE-550F-5796-AB789CB0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02CAB-3A80-0435-6E8E-F2D7578C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5C491-4A40-B0E7-823D-F3E6BE63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5436-1F75-C4D9-9FB1-3B599332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FEF2-8BE2-0D02-F671-719C6F26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next lecture 3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475155-4CF5-9F43-728B-B80F7D82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0CE7114-649C-F631-A4CA-BBDFFB04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33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1DB2E64-7E1B-954A-D219-D4A9A6DC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F16B2-D5B5-2C44-9C7D-5C658A76FC30}" type="datetime1">
              <a:rPr lang="en-GB" smtClean="0"/>
              <a:t>24/09/2026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E176B-BC0A-D094-02DA-80FF17E3780F}"/>
              </a:ext>
            </a:extLst>
          </p:cNvPr>
          <p:cNvSpPr txBox="1"/>
          <p:nvPr/>
        </p:nvSpPr>
        <p:spPr>
          <a:xfrm>
            <a:off x="1316181" y="2313708"/>
            <a:ext cx="95042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Taylor’s Theorem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Physics is simple!!!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Well at least we can see why we often start with </a:t>
            </a:r>
            <a:r>
              <a:rPr lang="en-US" b="1" dirty="0"/>
              <a:t>linear</a:t>
            </a:r>
            <a:r>
              <a:rPr lang="en-US" dirty="0"/>
              <a:t> models.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Conditioning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to do flick book animation – via the &lt;transitions&gt; tab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Set &lt;Duration&gt;?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Then &lt;After&gt;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THEN: &lt;Apply to all&gt;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Wave hands/diagram for the geometry slide (3?)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>
                <a:hlinkClick r:id="rId2"/>
              </a:rPr>
              <a:t>https://textbooks.math.gatech.edu/ila/overview.html</a:t>
            </a:r>
            <a:r>
              <a:rPr lang="en-US" dirty="0"/>
              <a:t> (interactive </a:t>
            </a:r>
            <a:r>
              <a:rPr lang="en-US"/>
              <a:t>linear algebra)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544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A9D5E-5CF1-25D2-C89D-8CAF97AB0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148F-5FBC-0767-A0B5-4C839CAD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lecture 1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898B99F-B2EC-0DD0-DE0B-10E7967E6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9D1474-6B60-3B83-8B31-971D3E28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34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26ED09B-A6A0-373D-7F96-8F4B69A1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F16B2-D5B5-2C44-9C7D-5C658A76FC30}" type="datetime1">
              <a:rPr lang="en-GB" smtClean="0"/>
              <a:t>24/09/2026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CD262-C133-F8AD-8243-961E034695F2}"/>
              </a:ext>
            </a:extLst>
          </p:cNvPr>
          <p:cNvSpPr txBox="1"/>
          <p:nvPr/>
        </p:nvSpPr>
        <p:spPr>
          <a:xfrm>
            <a:off x="1316181" y="2313708"/>
            <a:ext cx="95042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Bertrand Russell wrote this famous tongue-in-cheek definition, describing the way all terms in mathematics are ultimately defined by reference to undefined terms: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The subject in which we never know what we are talking about, nor whether what we are saying is true.</a:t>
            </a:r>
            <a:r>
              <a:rPr lang="en-GB" baseline="30000" dirty="0">
                <a:hlinkClick r:id="rId2"/>
              </a:rPr>
              <a:t>[19]</a:t>
            </a:r>
            <a:r>
              <a:rPr lang="en-GB" dirty="0"/>
              <a:t> </a:t>
            </a:r>
            <a:r>
              <a:rPr lang="en-GB" dirty="0">
                <a:hlinkClick r:id="rId3" tooltip="Bertrand Russell"/>
              </a:rPr>
              <a:t>Bertrand Russell</a:t>
            </a:r>
            <a:r>
              <a:rPr lang="en-GB" dirty="0"/>
              <a:t> 1901</a:t>
            </a:r>
          </a:p>
          <a:p>
            <a:r>
              <a:rPr lang="en-GB" dirty="0"/>
              <a:t>Many other attempts to characterize mathematics have led to </a:t>
            </a:r>
            <a:r>
              <a:rPr lang="en-GB" dirty="0" err="1"/>
              <a:t>humor</a:t>
            </a:r>
            <a:r>
              <a:rPr lang="en-GB" dirty="0"/>
              <a:t> or poetic prose: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 mathematician is a blind man in a dark room looking for </a:t>
            </a:r>
            <a:r>
              <a:rPr lang="en-GB" dirty="0">
                <a:hlinkClick r:id="rId4" tooltip="Black cat analogy"/>
              </a:rPr>
              <a:t>a black cat which isn't there.</a:t>
            </a:r>
            <a:r>
              <a:rPr lang="en-GB" baseline="30000" dirty="0">
                <a:hlinkClick r:id="rId5"/>
              </a:rPr>
              <a:t>[20]</a:t>
            </a:r>
            <a:r>
              <a:rPr lang="en-GB" dirty="0"/>
              <a:t> </a:t>
            </a:r>
            <a:r>
              <a:rPr lang="en-GB" dirty="0">
                <a:hlinkClick r:id="rId6" tooltip="Charles Darwin"/>
              </a:rPr>
              <a:t>Charles Darwin</a:t>
            </a:r>
            <a:r>
              <a:rPr lang="en-GB" baseline="30000" dirty="0">
                <a:hlinkClick r:id="rId7"/>
              </a:rPr>
              <a:t>[21]</a:t>
            </a: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 mathematician, like a painter or poet, is a maker of patterns. If his patterns are more permanent than theirs, it is because they are made with ideas.</a:t>
            </a:r>
            <a:r>
              <a:rPr lang="en-GB" baseline="30000" dirty="0">
                <a:hlinkClick r:id="rId8"/>
              </a:rPr>
              <a:t>[22]</a:t>
            </a:r>
            <a:r>
              <a:rPr lang="en-GB" dirty="0"/>
              <a:t> </a:t>
            </a:r>
            <a:r>
              <a:rPr lang="en-GB" dirty="0">
                <a:hlinkClick r:id="rId9" tooltip="G. H. Hardy"/>
              </a:rPr>
              <a:t>G. H. Hardy</a:t>
            </a:r>
            <a:r>
              <a:rPr lang="en-GB" dirty="0"/>
              <a:t>, 1940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Mathematics is the art of giving the same name to different things.</a:t>
            </a:r>
            <a:r>
              <a:rPr lang="en-GB" baseline="30000" dirty="0">
                <a:hlinkClick r:id="rId10"/>
              </a:rPr>
              <a:t>[10]</a:t>
            </a:r>
            <a:r>
              <a:rPr lang="en-GB" dirty="0"/>
              <a:t> </a:t>
            </a:r>
            <a:r>
              <a:rPr lang="en-GB" dirty="0">
                <a:hlinkClick r:id="rId11" tooltip="Henri Poincaré"/>
              </a:rPr>
              <a:t>Henri Poincaré</a:t>
            </a: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Mathematics is the science of skilful operations with concepts and rules invented just for this purpose. [this purpose being the skilful operation ....]</a:t>
            </a:r>
            <a:r>
              <a:rPr lang="en-GB" baseline="30000" dirty="0">
                <a:hlinkClick r:id="rId12"/>
              </a:rPr>
              <a:t>[23]</a:t>
            </a:r>
            <a:r>
              <a:rPr lang="en-GB" dirty="0"/>
              <a:t> </a:t>
            </a:r>
            <a:r>
              <a:rPr lang="en-GB" dirty="0">
                <a:hlinkClick r:id="rId13" tooltip="Eugene Wigner"/>
              </a:rPr>
              <a:t>Eugene Wigner</a:t>
            </a:r>
            <a:endParaRPr lang="en-GB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2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C5F4E-2311-B914-5AE0-039C73C5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7BD6-B008-1488-0C56-765C1109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geometry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A771D-955C-400E-5CF6-FE2283AB3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1418"/>
            <a:ext cx="10515600" cy="3616037"/>
          </a:xfrm>
        </p:spPr>
        <p:txBody>
          <a:bodyPr/>
          <a:lstStyle/>
          <a:p>
            <a:pPr lvl="1"/>
            <a:r>
              <a:rPr lang="en-US" dirty="0"/>
              <a:t>Two planes intersect along a line</a:t>
            </a:r>
          </a:p>
          <a:p>
            <a:pPr lvl="1"/>
            <a:r>
              <a:rPr lang="en-US" dirty="0"/>
              <a:t>Three planes intersect at a point.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Unless…</a:t>
            </a:r>
          </a:p>
          <a:p>
            <a:pPr lvl="1"/>
            <a:r>
              <a:rPr lang="en-US" dirty="0"/>
              <a:t>the planes are parallel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Maybe a nice diagram….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E8AEF-299C-B7E2-0747-9234D276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7E31F-7FD6-747A-FB68-2177AF09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5DB0F-35CA-80A1-1C17-48E18759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35</a:t>
            </a:fld>
            <a:endParaRPr lang="en-US"/>
          </a:p>
        </p:txBody>
      </p:sp>
      <p:pic>
        <p:nvPicPr>
          <p:cNvPr id="16" name="Picture 15" descr="\documentclass{article}&#10;\usepackage{amsmath}&#10;\pagestyle{empty}&#10;\begin{document}&#10;\begin{sf}&#10;Our three equations represent three plane:&#10;\begin{flalign*}&#10;    x  + y + z &amp;= 3 \\&#10;   2x  + y - z &amp;= 2 \\&#10;    x  - y - 2z &amp;= -2&#10;\end{flalign*}&#10;\end{sf}&#10;\end{document}" title="IguanaTex Picture Display">
            <a:extLst>
              <a:ext uri="{FF2B5EF4-FFF2-40B4-BE49-F238E27FC236}">
                <a16:creationId xmlns:a16="http://schemas.microsoft.com/office/drawing/2014/main" id="{7E955F08-5653-EA8A-617D-041E51C3BFB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042557" y="717333"/>
            <a:ext cx="4311243" cy="1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0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DAA6-E32F-C581-709E-B6A2CECB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Conjugate Gradients: an iterative Scheme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26D8E6-FD63-27E6-63B7-FC45AB51F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5632" y="1847850"/>
            <a:ext cx="581790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D851B-D16A-DA13-FC65-7219ED5D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BE72-5ACB-044D-B20B-39EBEB805477}" type="datetime1">
              <a:rPr lang="en-GB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A1FC5-8A15-837B-F6F7-5115F37F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8D33C-9EF9-4C68-4CD1-AEAF4E00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E619F-CE6D-76DA-49B8-F43FD75DF5A2}"/>
              </a:ext>
            </a:extLst>
          </p:cNvPr>
          <p:cNvSpPr txBox="1"/>
          <p:nvPr/>
        </p:nvSpPr>
        <p:spPr>
          <a:xfrm>
            <a:off x="720436" y="3241964"/>
            <a:ext cx="39951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Large sets of linear equations</a:t>
            </a:r>
          </a:p>
          <a:p>
            <a:r>
              <a:rPr lang="en-US" dirty="0"/>
              <a:t>Ed J K Reid AP (1971)</a:t>
            </a:r>
          </a:p>
          <a:p>
            <a:r>
              <a:rPr lang="en-US" dirty="0"/>
              <a:t>On the Method of Conjugate Gradients</a:t>
            </a:r>
          </a:p>
          <a:p>
            <a:r>
              <a:rPr lang="en-US" dirty="0"/>
              <a:t>Reid, JK P245 </a:t>
            </a:r>
          </a:p>
        </p:txBody>
      </p:sp>
    </p:spTree>
    <p:extLst>
      <p:ext uri="{BB962C8B-B14F-4D97-AF65-F5344CB8AC3E}">
        <p14:creationId xmlns:p14="http://schemas.microsoft.com/office/powerpoint/2010/main" val="138512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C319-BA4F-DCB7-9D23-3942A9C1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mean A is singular?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50153-7D77-A3BA-939B-8405073F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123D1-D7AC-C445-A8AD-E8643C8957D1}" type="datetime1">
              <a:rPr lang="en-GB" smtClean="0"/>
              <a:t>24/09/2026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C8DF9-72A4-BD7A-2B21-640F8149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U3AC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2DD85-9DC8-DB84-D79F-906D5826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52F69-22B0-9141-B095-D977E71C7FB4}" type="slidenum">
              <a:rPr lang="en-US" smtClean="0"/>
              <a:t>37</a:t>
            </a:fld>
            <a:endParaRPr lang="en-US"/>
          </a:p>
        </p:txBody>
      </p:sp>
      <p:pic>
        <p:nvPicPr>
          <p:cNvPr id="43" name="Picture 42" descr="\documentclass{article}&#10;\usepackage{amsmath}&#10;\usepackage[version=4]{mhchem}\usepackage[margin=0in,paperwidth=10cm,verbose,marginparwidth=0pt,marginparsep=0pt]{geometry}&#10;\usepackage{sectsty}&#10;\allsectionsfont{\bfseries\sffamily}&#10;\providecommand{\norm}[1]{\lVert#1\rVert}&#10;\pagestyle{empty}&#10;\begin{document}&#10;\begin{sf}&#10;&#10;Consider a perturbed equation:&#10;\begin{flalign*}&#10;&#9;(A + \delta A)(x + \delta x) = b + \delta b&#10;\end{flalign*}&#10;Then, if $ \| \delta A \| \cdot  \| A^{-1} \|&lt; 1 $, we can show:&#10;\begin{flalign*}&#10;\frac{\norm{\delta x}}{\| x \|} \leq \frac{\kappa}{1 - \kappa \|\delta A\|/\|A\|}&#10;\left ( &#10;\frac{\norm{\delta b}}{\| b \|} + \frac{\norm{\delta A}}{\| A \|}&#10;\right )&#10;\end{flalign*}&#10;where: $\kappa = \kappa(A) = \|A^{-1}\| \cdot \| A\|$&#10;\end{sf}&#10;\end{document}" title="IguanaTex Picture Display">
            <a:extLst>
              <a:ext uri="{FF2B5EF4-FFF2-40B4-BE49-F238E27FC236}">
                <a16:creationId xmlns:a16="http://schemas.microsoft.com/office/drawing/2014/main" id="{FFBBCDEC-D7F0-9B61-8329-B6025D10335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6826" y="2266648"/>
            <a:ext cx="8173111" cy="390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5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31"/>
  <p:tag name="ORIGINALWIDTH" val=" 2634"/>
  <p:tag name="OUTPUTTYPE" val="PNG"/>
  <p:tag name="IGUANATEXVERSION" val="162"/>
  <p:tag name="LATEXADDIN" val="\documentclass{article}&#10;\usepackage{amsmath}&#10;\usepackage[version=4]{mhchem}\usepackage[margin=0in,paperwidth=8cm,verbose,marginparwidth=0pt,marginparsep=0pt]{geometry}&#10;\usepackage{sectsty}&#10;\allsectionsfont{\bfseries\sffamily}&#10;\pagestyle{empty}&#10;\begin{document}&#10;\begin{sf}&#10;A simple example with three variables:&#10;\begin{flalign}&#10;    x  + y + z &amp;= 3 \\&#10;   2x  + y - z &amp;= 2 \\&#10;    x  - y - 2z &amp;= -2&#10;\end{flalign}&#10;&#10;We remember that $ax + by + cz = d$ defines a plane.&#10;&#10;And:&#10;\begin{itemize}&#10;&#9;\item Two planes intersect along a line&#10;\end{itemize}&#10;\end{sf}&#10;\end{document}"/>
  <p:tag name="IGUANATEXSIZE" val="20"/>
  <p:tag name="IGUANATEXCURSOR" val="526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79"/>
  <p:tag name="ORIGINALWIDTH" val=" 2634"/>
  <p:tag name="OUTPUTTYPE" val="PNG"/>
  <p:tag name="IGUANATEXVERSION" val="162"/>
  <p:tag name="LATEXADDIN" val="\documentclass{article}&#10;\usepackage{amsmath}&#10;\usepackage[version=4]{mhchem}\usepackage[margin=0in,paperwidth=8cm,verbose,marginparwidth=0pt,marginparsep=0pt]{geometry}&#10;\usepackage{sectsty}&#10;\allsectionsfont{\bfseries\sffamily}&#10;\pagestyle{empty}&#10;\begin{document}&#10;\begin{sf}&#10;A simple example with three variables:&#10;\begin{flalign}&#10;    x  + y + z &amp;= 3 \\&#10;   2x  + y - z &amp;= 2 \\&#10;    x  - y - 2z &amp;= -2&#10;\end{flalign}&#10;&#10;We remember that $ax + by + cz = d$ defines a plane.&#10;&#10;And:&#10;\begin{itemize}&#10;&#9;\item Two planes intersect along a line&#10;&#9;\item Two lines intersect at a point&#10;\end{itemize}&#10;\end{sf}&#10;\end{document}"/>
  <p:tag name="IGUANATEXSIZE" val="20"/>
  <p:tag name="IGUANATEXCURSOR" val="225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27"/>
  <p:tag name="ORIGINALWIDTH" val=" 4095"/>
  <p:tag name="OUTPUTTYPE" val="PNG"/>
  <p:tag name="IGUANATEXVERSION" val="162"/>
  <p:tag name="LATEXADDIN" val="\documentclass{article}&#10;\usepackage{amsmath}&#10;\pagestyle{empty}&#10;\begin{document}&#10;\begin{sf}&#10;A simple example with three variables:&#10;\begin{flalign}&#10;    x  + y + z &amp;= 3 \\&#10;   2x  + y - z &amp;= 2 \\&#10;    x  - y - 2z &amp;= -2&#10;\end{flalign}&#10;&#10;We remember that $ax + by + cz = d$ defines a plane.&#10;&#10;So:&#10;\begin{itemize}&#10;&#9;\item Two planes intersect along a line&#10;&#9;\item Two lines intersect at a point&#10;\end{itemize}&#10;&#10;Obviously...&#10;\begin{itemize}&#10;&#9;\item the planes may be parallel.&#10;&#9;\item the lines might not intersect.&#10;\end{itemize}&#10;\end{sf}&#10;\end{document}"/>
  <p:tag name="IGUANATEXSIZE" val="20"/>
  <p:tag name="IGUANATEXCURSOR" val="498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16"/>
  <p:tag name="ORIGINALWIDTH" val=" 4281"/>
  <p:tag name="OUTPUTTYPE" val="PNG"/>
  <p:tag name="IGUANATEXVERSION" val="162"/>
  <p:tag name="LATEXADDIN" val="\documentclass{article}&#10;\usepackage{amsmath}&#10;\pagestyle{empty}&#10;\begin{document}&#10;\begin{sf}&#10;A simple example with three variables:&#10;\begin{flalign}&#10;    x  + y + z &amp;= 3 \\&#10;   2x  + y - z &amp;= 2 \\&#10;    x  - y - 2z &amp;= -2&#10;\end{flalign}&#10;which we can solve by eliminating first $x$&#10;$$&#10;\begin{matrix}&#10;[\text{Eq}2 - 2 \times \text{Eq}1]~~~~ &amp; -y -3z &amp;= -4 &amp; &#10;~~~~~~\text{then eliminating } y\\&#10;[\text{Eq}3 - \text{Eq}1]~~~~  &amp; -2y -3z &amp;= -5       &amp; &#10;~~~~~~~~~~~~~~~~~~~~~~~~~~~~~~~~ 3z = 3&#10;\end{matrix}&#10;%\text{ \hspace{1cm} so: } 3z = 3&#10;$$&#10;Finally, backsubstituting we obtain: $ x = 1$, $y = 1$ and $z = 1$&#10;\end{sf}&#10;\end{document}"/>
  <p:tag name="IGUANATEXSIZE" val="28"/>
  <p:tag name="IGUANATEXCURSOR" val="404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88"/>
  <p:tag name="ORIGINALWIDTH" val=" 4288"/>
  <p:tag name="OUTPUTTYPE" val="PNG"/>
  <p:tag name="IGUANATEXVERSION" val="162"/>
  <p:tag name="LATEXADDIN" val="\documentclass[10pt]{article}&#10;\usepackage{amsmath}&#10;\pagestyle{empty}&#10;\begin{document}&#10;\begin{sf}&#10;\begin{itemize}&#10;\item We can write the equations as:&#10;  \begin{align*}&#10;     \begin{pmatrix}&#10;         1 &amp; 1 &amp; 1 \\&#10;         2 &amp; 1 &amp; -1 \\&#10;         1 &amp; 1 &amp; -2&#10;     \end{pmatrix}&#10;     \begin{pmatrix}&#10;         x\\&#10;         y\\&#10;         z&#10;     \end{pmatrix}&#10;= \begin{pmatrix}&#10;         3\\&#10;         2\\&#10;         -2&#10;     \end{pmatrix}&#10;  \end{align*}&#10;%&#10;%&#10;\vspace{-0.5cm}&#10;%&#10;\item The process that we went through is known as Gaussian Elimination.&#10;\item It is equivalent to factorizing the matrix ($A$)into two matrices:&#10;$A = LU$ where $L$ is lower triangular and $U$ is upper triangular.&#10;\end{itemize}&#10;That is:&#10;\begin{flalign*}&#10; L = &#10;\begin{pmatrix}&#10; * ~0~ \dots ~0 \\&#10; * ~ * ~ \dots ~0\\&#10; \vdots ~~~ \ddots ~~~\vdots\\&#10; * ~ * ~ \dots ~*\\&#10;\end{pmatrix}&#10;\text{ and }&#10;U = &#10;\begin{pmatrix}&#10; * ~*~ \dots ~* \\&#10; 0 ~ * ~ \dots ~*\\&#10; \vdots ~~~ \ddots ~~~\vdots\\&#10; 0 ~ 0 ~ \dots ~*\\&#10;\end{pmatrix}&#10;\end{flalign*}&#10;\end{sf}&#10;\end{document}"/>
  <p:tag name="IGUANATEXSIZE" val="20"/>
  <p:tag name="IGUANATEXCURSOR" val="952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94"/>
  <p:tag name="ORIGINALWIDTH" val=" 3681"/>
  <p:tag name="OUTPUTTYPE" val="PNG"/>
  <p:tag name="IGUANATEXVERSION" val="162"/>
  <p:tag name="LATEXADDIN" val="\documentclass[10pt]{article}&#10;\usepackage{amsmath}&#10;\pagestyle{empty}&#10;\begin{document}&#10;\begin{sf}&#10;\begin{itemize}&#10;\item Write matrices in capitals: &#10;$A = \left ( a_{ij} \right )$ vectors in lower case:&#10;$x = \left ( x_i \right )$&#10;%&#10;\item So we can write systems of equations $Ax = b$  and $A B = C$ as:&#10;\begin{equation*}&#10;\sum_{1 \le k \le n} a_{ik}x_{k} = b_{i} ~~~~~~~~~~~~&#10;\sum_{1 \le k \le n} a_{ik}b_{kj} = c_{ij}&#10;\end{equation*}&#10;\item Einstein would use the repeated subscript to imply summation:&#10;\begin{equation*}&#10;a_{ik}x_{k} = b_{i} ~~~~~~~~~~~~ a_{ik}b_{kj} = c_{ij}&#10;\end{equation*}&#10;\item So the factorization is:&#10;   \begin{align*}&#10;      A = LU ~~~~~\text{ where: }&#10;l_{ij} = 0 \text{ if } i&gt;j \text{ and } u_{ij} = 0 \text{ if } i&lt; j&#10;   \end{align*}&#10;\end{itemize}&#10;\end{sf}&#10;\end{document}"/>
  <p:tag name="IGUANATEXSIZE" val="28"/>
  <p:tag name="IGUANATEXCURSOR" val="734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58"/>
  <p:tag name="ORIGINALWIDTH" val=" 3760"/>
  <p:tag name="OUTPUTTYPE" val="PNG"/>
  <p:tag name="IGUANATEXVERSION" val="162"/>
  <p:tag name="LATEXADDIN" val="\documentclass{article}&#10;\usepackage{amsmath}&#10;\pagestyle{empty}&#10;\begin{document}&#10;\begin{sf}&#10;Algebraically we define the determinant of a square matrix, $A$ by:&#10;\begin{flalign*}&#10;\begin{vmatrix}&#10;a&#10;\end{vmatrix}&amp;=a \qquad (n=1),\\[10pt]&#10;\begin{vmatrix} a &amp; b\\c &amp; d \end{vmatrix}&amp;= ad-bc \qquad (n=2),\\[10pt]&#10;\begin{vmatrix} &#10;a &amp; b &amp; c \\ &#10;d &amp; e &amp; f \\ &#10;g &amp; h &amp; i &#10;\end{vmatrix} &amp;= aei + bfg + cdh - ceg - bdi - afh \qquad (n=3).&#10;\end{flalign*}&#10;For $n = 2$ we have that $ |A| $ is the area of the parallelogram. &#10;&#10;In higher dimensions $ |A| $ is the volume of the cuboid \\&#10;spanned by the columns of $A$.&#10;\end{sf}&#10;\end{document}"/>
  <p:tag name="IGUANATEXSIZE" val="20"/>
  <p:tag name="IGUANATEXCURSOR" val="537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74"/>
  <p:tag name="ORIGINALWIDTH" val=" 3892"/>
  <p:tag name="OUTPUTTYPE" val="PNG"/>
  <p:tag name="IGUANATEXVERSION" val="162"/>
  <p:tag name="LATEXADDIN" val="\documentclass{article}&#10;\usepackage{amsmath}&#10;\usepackage[version=4]{mhchem}\usepackage[margin=0in,paperwidth=11cm,verbose,marginparwidth=0pt,marginparsep=0pt]{geometry}&#10;\usepackage{sectsty}&#10;\allsectionsfont{\bfseries\sffamily}&#10;\pagestyle{empty}&#10;\begin{document}&#10;\begin{sf}&#10;&#10;To evaluate the determinant in more dimensions we use a definition due to Laplace:&#10;\begin{itemize}&#10;\item Define the minor $M_{ij}$ as the $(n-1) \times (n-1)$ matrix obtained by deleting the $i-$th row and the $j-$th column from $A$.&#10;\item Then we can write:&#10;\begin{flalign*}&#10;\begin{vmatrix} A \end{vmatrix}&#10;=&#10;\sum_{i=1}^n (-1)^{i+j} a_{i,j} M_{i,j}&#10;\end{flalign*}&#10;\end{itemize}&#10;\end{sf}&#10;\end{document}"/>
  <p:tag name="IGUANATEXSIZE" val="28"/>
  <p:tag name="IGUANATEXCURSOR" val="111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43"/>
  <p:tag name="ORIGINALWIDTH" val=" 4203"/>
  <p:tag name="OUTPUTTYPE" val="PNG"/>
  <p:tag name="IGUANATEXVERSION" val="162"/>
  <p:tag name="LATEXADDIN" val="\documentclass{article}&#10;\usepackage{amsmath}&#10;\pagestyle{empty}&#10;\begin{document}&#10;\begin{sf}&#10;Very many statements we can make about determinants.&#10;\medskip \ \\&#10;A couple worthy of note are:&#10;\begin{itemize}&#10;\item Cramer's rule solves $Ax = b$:&#10;%\begin{itemize}&#10;&#9;\begin{flalign*}&#10;&#9;&#9;x_i = &#10;&#9;&#9;\frac{\begin{vmatrix} A_i \end{vmatrix}}&#10;&#9;&#9;{\begin{vmatrix} A \end{vmatrix}}&#10;&#9;&#9;~~~~~\text{ where: }&#10;&#9;&#9;(A)_{i} = &#10;\begin{bmatrix} a_1 \dots b \dots a_n\end{bmatrix}&#10;\text{ replace column } i \text{ of } A \text{ by } b&#10;&#9;\end{flalign*}&#10;%\end{itemize}&#10;\item The inverse of $A$ satisfies:&#10;&#9;\begin{flalign*}&#10;&#9;&#9;A^{-1} = \frac{1}{\begin{vmatrix} A \end{vmatrix}} \text{adj}(A)&#10;&#9;&#9;~~~~~\text{ where: adj}&#10;&#9;&#9;(A)_{ij} = (-1)^{i+j} M_{ij}&#10;&#9;\end{flalign*}&#10;\end{itemize}&#10;\end{sf}&#10;\end{document}"/>
  <p:tag name="IGUANATEXSIZE" val="22"/>
  <p:tag name="IGUANATEXCURSOR" val="157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62"/>
  <p:tag name="ORIGINALWIDTH" val=" 2394"/>
  <p:tag name="OUTPUTTYPE" val="PNG"/>
  <p:tag name="IGUANATEXVERSION" val="162"/>
  <p:tag name="LATEXADDIN" val="\documentclass{article}&#10;\usepackage{amsmath}&#10;\pagestyle{empty}&#10;\begin{document}&#10;\begin{sf}&#10;Our three equations represent three planes:&#10;\begin{flalign*}&#10;    x  + y + z &amp;= 3 \\&#10;   2x  + y - z &amp;= 2 \\&#10;    x  - y - 2z &amp;= -2&#10;\end{flalign*}&#10;\end{sf}&#10;\end{document}"/>
  <p:tag name="IGUANATEXSIZE" val="24"/>
  <p:tag name="IGUANATEXCURSOR" val="133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78"/>
  <p:tag name="ORIGINALWIDTH" val=" 3188"/>
  <p:tag name="OUTPUTTYPE" val="PNG"/>
  <p:tag name="IGUANATEXVERSION" val="162"/>
  <p:tag name="LATEXADDIN" val="\documentclass{article}&#10;\usepackage{amsmath}&#10;\pagestyle{empty}&#10;\begin{document}&#10;\begin{sf}&#10;&#10;Let's think about:&#10;\begin{flalign*}&#10;&#9;Av &amp;= \lambda v \\&#10;&#9;( A -\lambda I ) v &amp;= 0 \\ &#10;&#9;| A - \lambda I | &amp;= 0&#10;\end{flalign*}&#10;We say $\lambda$ is an eigen-value and $v$ the associated eigen-vector.&#10;&#10;This is a polynomial of degree $n$ in $\lambda$.&#10;&#10;So there are $n$ roots (not necessarily real).&#10;&#10;We can show that $ |A| = \lambda_1 \dots \lambda_n$.&#10;&#10;So if any of the eigen-values are 0 then $A$ is singular:\\&#10;\hspace*{2cm} there is no unique solution.&#10;\end{sf}&#10;\end{document}"/>
  <p:tag name="IGUANATEXSIZE" val="20"/>
  <p:tag name="IGUANATEXCURSOR" val="338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11"/>
  <p:tag name="ORIGINALWIDTH" val=" 4281"/>
  <p:tag name="OUTPUTTYPE" val="PNG"/>
  <p:tag name="IGUANATEXVERSION" val="162"/>
  <p:tag name="LATEXADDIN" val="\documentclass[10pt]{article}&#10;\usepackage{amsmath}&#10;\pagestyle{empty}&#10;\begin{document}&#10;\begin{sf}&#10;&#10;In a population of rabbits:&#10;\begin{enumerate}&#10;\item half of the newborn rabbits survive their first year;&#10;\item of those, half survive their second year;&#10;\item the maximum life span is three years;&#10;\item rabbits produce 0, 6, 8 baby rabbits in their first, second, and third years, respectively.&#10;\end{enumerate}&#10;\begin{align*}&#10;\quad  &amp;   6 y_n &amp;+ 8z_n &amp;= x_{n+1} \hspace{9cm}\\%~~~~~~~~~~~~~~~~~~~~~~~~~~~~~~~~~~~~~~~~~~~~~~~~~~~~~~~~~~~~~~~~~~~\\&#10;x_n/2 ~~~~&amp; \quad &amp; \quad &amp;= y_{n+1} \\&#10;\quad &amp;y_n/2 &amp; \quad &amp;= z_{n+1} \\&#10;\end{align*}&#10;\end{sf}&#10;\end{document}"/>
  <p:tag name="IGUANATEXSIZE" val="23"/>
  <p:tag name="IGUANATEXCURSOR" val="556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14"/>
  <p:tag name="ORIGINALWIDTH" val=" 3166"/>
  <p:tag name="OUTPUTTYPE" val="PNG"/>
  <p:tag name="IGUANATEXVERSION" val="162"/>
  <p:tag name="LATEXADDIN" val="\documentclass[10pt]{article}&#10;\usepackage{amsmath,hyperref}&#10;\pagestyle{empty}&#10;\begin{document}&#10;\begin{sf}&#10;What will the rabbit population look like in a hundred years?&#10;\begin{itemize}&#10;\item To address this write the equations as:&#10;  \begin{align*}&#10;     \begin{pmatrix}&#10;         0 &amp; 6 &amp; 8 \\&#10;         \frac{1}{2} &amp; 0 &amp; 0 \\&#10;         0 &amp; \frac{1}{2} &amp; 0&#10;     \end{pmatrix}&#10;     \left .&#10;&#9;\begin{pmatrix}&#10;         x\\&#10;         y\\&#10;         z&#10;     \end{pmatrix}&#10;&#9;\right |_n&#10;= \left .&#10;&#9;\begin{pmatrix}&#10;         x\\&#10;         y\\&#10;         z&#10;     \end{pmatrix}&#10;&#9;\right |_{n+1}&#10;  \end{align*}&#10;%&#10;%&#10;\vspace{-0.5cm}&#10;%&#10;\item &#10;\fbox{\href{https://textbooks.math.gatech.edu/ila/demos/rabbits/book\_demo.html?vers=224734}{Rabbit demo}}&#10;\end{itemize}&#10;\end{sf}&#10;\end{document}"/>
  <p:tag name="IGUANATEXSIZE" val="24"/>
  <p:tag name="IGUANATEXCURSOR" val="717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14"/>
  <p:tag name="ORIGINALWIDTH" val=" 3166"/>
  <p:tag name="OUTPUTTYPE" val="PNG"/>
  <p:tag name="IGUANATEXVERSION" val="162"/>
  <p:tag name="LATEXADDIN" val="\documentclass[10pt]{article}&#10;\usepackage{amsmath,hyperref}&#10;\pagestyle{empty}&#10;\begin{document}&#10;\begin{sf}&#10;What will the rabbit population look like in a hundred years?&#10;\begin{itemize}&#10;\item To address this write the equations as:&#10;  \begin{align*}&#10;     \begin{pmatrix}&#10;         0 &amp; 6 &amp; 8 \\&#10;         \frac{1}{2} &amp; 0 &amp; 0 \\&#10;         0 &amp; \frac{1}{2} &amp; 0&#10;     \end{pmatrix}&#10;     \left .&#10;&#9;\begin{pmatrix}&#10;         x\\&#10;         y\\&#10;         z&#10;     \end{pmatrix}&#10;&#9;\right |_n&#10;= \left .&#10;&#9;\begin{pmatrix}&#10;         x\\&#10;         y\\&#10;         z&#10;     \end{pmatrix}&#10;&#9;\right |_{n+1}&#10;  \end{align*}&#10;%&#10;%&#10;\vspace{-0.5cm}&#10;%&#10;\item &#10;\fbox{\href{https://textbooks.math.gatech.edu/ila/demos/rabbits/book\_demo.html?vers=224734}{Rabbit demo}}&#10;\end{itemize}&#10;\end{sf}&#10;\end{document}"/>
  <p:tag name="IGUANATEXSIZE" val="24"/>
  <p:tag name="IGUANATEXCURSOR" val="717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14"/>
  <p:tag name="ORIGINALWIDTH" val=" 3166"/>
  <p:tag name="OUTPUTTYPE" val="PNG"/>
  <p:tag name="IGUANATEXVERSION" val="162"/>
  <p:tag name="LATEXADDIN" val="\documentclass[10pt]{article}&#10;\usepackage{amsmath,hyperref}&#10;\pagestyle{empty}&#10;\begin{document}&#10;\begin{sf}&#10;What will the rabbit population look like in a hundred years?&#10;\begin{itemize}&#10;\item To address this write the equations as:&#10;  \begin{align*}&#10;     \begin{pmatrix}&#10;         0 &amp; 6 &amp; 8 \\&#10;         \frac{1}{2} &amp; 0 &amp; 0 \\&#10;         0 &amp; \frac{1}{2} &amp; 0&#10;     \end{pmatrix}&#10;     \left .&#10;&#9;\begin{pmatrix}&#10;         x\\&#10;         y\\&#10;         z&#10;     \end{pmatrix}&#10;&#9;\right |_n&#10;= \left .&#10;&#9;\begin{pmatrix}&#10;         x\\&#10;         y\\&#10;         z&#10;     \end{pmatrix}&#10;&#9;\right |_{n+1}&#10;  \end{align*}&#10;%&#10;%&#10;\vspace{-0.5cm}&#10;%&#10;\item &#10;\fbox{\href{https://textbooks.math.gatech.edu/ila/demos/rabbits/book\_demo.html?vers=224734}{Rabbit demo}}&#10;\end{itemize}&#10;\end{sf}&#10;\end{document}"/>
  <p:tag name="IGUANATEXSIZE" val="24"/>
  <p:tag name="IGUANATEXCURSOR" val="717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38"/>
  <p:tag name="ORIGINALWIDTH" val=" 4137"/>
  <p:tag name="OUTPUTTYPE" val="PNG"/>
  <p:tag name="IGUANATEXVERSION" val="162"/>
  <p:tag name="LATEXADDIN" val="\documentclass[10pt]{article}&#10;\usepackage{amsmath,hyperref}&#10;\pagestyle{empty}&#10;\begin{document}&#10;\begin{sf}&#10;\noindent&#10;What will the rabbit population look like in a hundred years?\\&#10;%\begin{itemize}&#10;%\item&#10;This is an eigen-value problem ---&#10;the characteristic equation is:&#10;&#9;\begin{flalign*}&#10;&#9;0 =&amp; \begin{vmatrix}&#10;         0 -\lambda &amp; 6 &amp; 8 \\&#10;         \frac{1}{2} &amp; 0-\lambda &amp; 0 \\&#10;         0 &amp; \frac{1}{2} &amp; 0-\lambda&#10;     \end{vmatrix} &#10;%\\&#10;~~~~~= \lambda^3 + 3\lambda + 2 &#10;= (\lambda -2 ) (\lambda + 1)^2~~~~~&#10;&#9;\end{flalign*}&#10;So we have eigen pairs: &#10;$&#10;\lambda_1 = 2,\begin{pmatrix}16\\4\\1\end{pmatrix};~~&#10;\lambda_2 = -1, \begin{pmatrix}1\\-2\\4\end{pmatrix};~~&#10;\lambda_3 = -1, \begin{pmatrix}4\\-2\\1\end{pmatrix}&#10;$.\\&#10;%\end{itemize}&#10;In fact $\begin{pmatrix}4\\-2\\1\end{pmatrix}$ is a generalized eigen-vector. \\It satisfies $(A-\lambda I)^m v = 0, (A-\lambda I)^{m-1}v \neq 0$. (In this case $m = 2$.)&#10;\end{sf}&#10;\end{document}"/>
  <p:tag name="IGUANATEXSIZE" val="24"/>
  <p:tag name="IGUANATEXCURSOR" val="909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111"/>
  <p:tag name="ORIGINALWIDTH" val=" 4275"/>
  <p:tag name="OUTPUTTYPE" val="PNG"/>
  <p:tag name="IGUANATEXVERSION" val="162"/>
  <p:tag name="LATEXADDIN" val="\documentclass{article}&#10;\usepackage{amsmath}&#10;\pagestyle{empty}&#10;\begin{document}&#10;\begin{sf}&#10;&#10;What happens if we change variables?&#10;&#10;ALL linear transformations (rotations, reflections, stretching) can be represented by similarity transforms.&#10;\begin{itemize}&#10;&#9;\item $x^\prime = Px$&#10;&#9;\item $Ax = b \text{ becomes: } A^\prime x^\prime b^\prime &#10;&#9;&#9;~~~~~&#10;&#9;&#9;\text{ where: } A^\prime = P A P^{-1} \text{ and: } b^\prime = Pb $&#10;&#9;\begin{itemize}&#10;&#9;&#9;\item because: $ P A x = P A P^{-1} P x = P b$&#10;&#9;\end{itemize}&#10;&#9;\item We say $ A^\prime = P A P^{-1} $ is similar to $A$.&#10;&#9;\item Note that the eigen pairs of $ A^\prime$ satisfy:&#10;&#9;\begin{itemize}&#10;&#9;&#9;\item $A^\prime v^\prime = \lambda v^\prime&#10;&#9;&#9;~~~~~\text{ because: } P A P^{-1} P v = \lambda P v$&#10;&#9;&#9;\item $\left ( A^\prime \right ) ^n v^\prime = &#10;&#9;&#9;&#9;\left ( A^\prime \right ) ^{n-1} A^\prime v^\prime &#10;&#9;&#9;&#9;= \lambda^n v^\prime $&#10;&#9;\end{itemize}&#10;\end{itemize}&#10;\end{sf}&#10;\end{document}"/>
  <p:tag name="IGUANATEXSIZE" val="20"/>
  <p:tag name="IGUANATEXCURSOR" val="861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56"/>
  <p:tag name="ORIGINALWIDTH" val=" 3443"/>
  <p:tag name="OUTPUTTYPE" val="PNG"/>
  <p:tag name="IGUANATEXVERSION" val="162"/>
  <p:tag name="LATEXADDIN" val="\documentclass{article}&#10;\usepackage{amsmath}&#10;\pagestyle{empty}&#10;\begin{document}&#10;\begin{sf}&#10;We define the characteristic polynomial $p(x)$ of a matrix $A$ by:&#10;\begin{flalign*}&#10;p(x) = p_A(x) = &#10;&#9;&#9;\begin{vmatrix} (A - xI) \end{vmatrix}&#10; &#9;= \sum_{0 \le i \le n} c_i x^i&#10;\end{flalign*}&#10;So the eigen-values of $A$ are the roots of $p(x)$.&#10;\bigskip \ \\&#10;The Cayley-Hamilton Theorem states that:&#10;$$&#10;p(A) = \sum_{0 \le i \le n} c_i A^i = 0&#10;$$&#10;&#10;\end{sf}&#10;\end{document}"/>
  <p:tag name="IGUANATEXSIZE" val="20"/>
  <p:tag name="IGUANATEXCURSOR" val="346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81"/>
  <p:tag name="ORIGINALWIDTH" val=" 4284"/>
  <p:tag name="OUTPUTTYPE" val="PNG"/>
  <p:tag name="IGUANATEXVERSION" val="162"/>
  <p:tag name="LATEXADDIN" val="\documentclass{article}&#10;\usepackage{amsmath}&#10;\pagestyle{empty}&#10;\begin{document}&#10;\begin{sf}&#10;There are many different proofs of the Cayley-Hamilton theorem -- \\&#10;here is sketch of a simple one:\\&#10;Assume that $A$ has $n$ linearly independent eigen-vectors $v_i$ with associated eigen values $\lambda_i$&#10;Define $Q$ to be the $n\times n$ matrix with columns $v_i$:&#10;$ Q = \begin{bmatrix} ~v_1 \dots ~ v_n\end{bmatrix}$.\\&#10;Then:&#10;\begin{flalign*}&#10;AQ = \begin{bmatrix} ~\lambda_1 v_1 \dots ~ \lambda_n v_n\end{bmatrix}&#10;&#9;= Q\Lambda&#10;~~~~~\text{ where: } \Lambda = diag(\lambda_i) = &#10;&#9;&#9;\begin{bmatrix} ~\lambda_i \delta_{ij} \end{bmatrix}&#10;\end{flalign*}&#10;We have assumed that the columns of $Q$ are linearly independent, so $Q$ is invertible.\\&#10;We can therefore write:&#10;$$&#10;Q^{-1} A Q = \Lambda&#10;$$&#10;The Cayley-Hamilton theorem is immediate from our previous remark.&#10;\end{sf}&#10;\end{document}"/>
  <p:tag name="IGUANATEXSIZE" val="20"/>
  <p:tag name="IGUANATEXCURSOR" val="849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24"/>
  <p:tag name="ORIGINALWIDTH" val=" 4178"/>
  <p:tag name="OUTPUTTYPE" val="PNG"/>
  <p:tag name="IGUANATEXVERSION" val="162"/>
  <p:tag name="LATEXADDIN" val="\documentclass{article}&#10;\usepackage{amsmath}&#10;\pagestyle{empty}&#10;\begin{document}&#10;\begin{sf}&#10;&#10;Notice that if $p(A) = \sum c_i A^i = 0$ then:&#10;\begin{flalign*}&#10;-c_0 &amp;= A \left ( \sum_{1\le i \le (n-1)} c_i A^{i} \right ) \\&#10;\intertext{so, re-arranging: }&#10;A^{-1} &amp;= \frac{-1}{c_0} \left ( \sum_{1\le i \le (n-1)} c_i A^{i} \right )&#10;~~~~~c_0 \ne 0 \text{because: } A \text{ is non-singular; }&#10; \lambda_i \ne 0 \forall i.&#10;\end{flalign*}&#10;&#10;\end{sf}&#10;\end{document}"/>
  <p:tag name="IGUANATEXSIZE" val="20"/>
  <p:tag name="IGUANATEXCURSOR" val="268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06"/>
  <p:tag name="ORIGINALWIDTH" val=" 3762"/>
  <p:tag name="OUTPUTTYPE" val="PNG"/>
  <p:tag name="IGUANATEXVERSION" val="162"/>
  <p:tag name="LATEXADDIN" val="\documentclass{article}&#10;\usepackage{amsmath}&#10;\pagestyle{empty}&#10;\begin{document}&#10;\begin{sf}&#10;&#10;\begin{itemize}&#10;&#9;\item We have looked at a system of equations:&#10;&#9;\begin{itemize}&#10;&#9;&#9;\item In a mechanistic mode.&#10;&#9;&#9;\item In a geometric mode.&#10;&#9;&#9;\item In an algebraic mode.&#10;&#9;\end{itemize}&#10;&#9;\item We have considered what is invariant under similarity &#9;&#9;transformations.&#10;&#9;\begin{itemize}&#10;&#9;&#9;\item The kernel/null space ($\lambda = 0$).&#10;&#9;\end{itemize}&#10;&#9;\item Different representations of the inverse.&#10;\end{itemize}&#10;&#10;\end{sf}&#10;\end{document}"/>
  <p:tag name="IGUANATEXSIZE" val="28"/>
  <p:tag name="IGUANATEXCURSOR" val="412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8"/>
  <p:tag name="ORIGINALWIDTH" val=" 3640"/>
  <p:tag name="OUTPUTTYPE" val="PNG"/>
  <p:tag name="IGUANATEXVERSION" val="162"/>
  <p:tag name="LATEXADDIN" val="\documentclass{article}&#10;\usepackage{amsmath}&#10;\pagestyle{empty}&#10;\begin{document}&#10;\begin{sf}&#10;\begin{itemize}&#10;\item The Cayley-Hamilton theorem shows that $A^{-1}$ is a polynomial in $A$&#10;\end{itemize}&#10;&#10;&#10;\end{sf}&#10;\end{document}"/>
  <p:tag name="IGUANATEXSIZE" val="28"/>
  <p:tag name="IGUANATEXCURSOR" val="184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7"/>
  <p:tag name="ORIGINALWIDTH" val=" 3640"/>
  <p:tag name="OUTPUTTYPE" val="PNG"/>
  <p:tag name="IGUANATEXVERSION" val="162"/>
  <p:tag name="LATEXADDIN" val="\documentclass{article}&#10;\usepackage{amsmath}&#10;\pagestyle{empty}&#10;\begin{document}&#10;\begin{sf}&#10;\begin{itemize}&#10;\item The Cayley-Hamilton theorem shows that $A^{-1}$ is a polynomial in $A$&#10;\item We can now think of approximating this polynomial&#10;\end{itemize}&#10;&#10;&#10;\end{sf}&#10;\end{document}"/>
  <p:tag name="IGUANATEXSIZE" val="28"/>
  <p:tag name="IGUANATEXCURSOR" val="240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26"/>
  <p:tag name="ORIGINALWIDTH" val=" 3640"/>
  <p:tag name="OUTPUTTYPE" val="PNG"/>
  <p:tag name="IGUANATEXVERSION" val="162"/>
  <p:tag name="LATEXADDIN" val="\documentclass{article}&#10;\usepackage{amsmath}&#10;\pagestyle{empty}&#10;\begin{document}&#10;\begin{sf}&#10;\begin{itemize}&#10;\item The Cayley-Hamilton theorem shows that $A^{-1}$ is a polynomial in $A$&#10;\item We can now think of approximating this polynomial&#10;\item This gives us an additional toolkit to solve $Ax = b$&#10;\end{itemize}&#10;&#10;&#10;\end{sf}&#10;\end{document}"/>
  <p:tag name="IGUANATEXSIZE" val="28"/>
  <p:tag name="IGUANATEXCURSOR" val="107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77"/>
  <p:tag name="ORIGINALWIDTH" val=" 4090"/>
  <p:tag name="OUTPUTTYPE" val="PNG"/>
  <p:tag name="IGUANATEXVERSION" val="162"/>
  <p:tag name="LATEXADDIN" val="\documentclass{article}&#10;\usepackage{amsmath}&#10;\pagestyle{empty}&#10;\begin{document}&#10;\begin{sf}&#10;&#10;\begin{itemize}&#10;&#9;\item Do we want to solve $Ax = b$ exactly?&#10;&#9;\begin{itemize}&#10;&#9;&#9;\item Probably not (in an engineering world!).&#10;&#9;&#9;\item Our models ($A$), measurements ($b$), and our arithmetic are &#9;&#9;&#9;approximate.&#10;&#9;\end{itemize}&#10;&#9;\item How does a solution method work on a real computer?&#10;&#9;\begin{itemize}&#10;&#9;&#9;\item How accurate is it?&#10;         \item How much work is involved?&#10;&#9;&#9;\item What happens to numerical (round-off) errors?&#10;&#9;\end{itemize}&#10;&#9;\item Special (and interesting!) matrices with fast solution methods?&#10;&#9;\item Are matrices singular? What happens if &#10;&#9;&#9;$\begin{vmatrix} A \end{vmatrix}$ is very small?&#10;\end{itemize}&#10;&#10;\end{sf}&#10;\end{document}"/>
  <p:tag name="IGUANATEXSIZE" val="20"/>
  <p:tag name="IGUANATEXCURSOR" val="518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15"/>
  <p:tag name="ORIGINALWIDTH" val=" 3651"/>
  <p:tag name="OUTPUTTYPE" val="PNG"/>
  <p:tag name="IGUANATEXVERSION" val="162"/>
  <p:tag name="LATEXADDIN" val="\documentclass{article}&#10;\usepackage{amsmath}&#10;\pagestyle{empty}&#10;\begin{document}&#10;\begin{align*}&#10;\begin{matrix}&#10;a_{11} &amp; a_{12} &amp; a_{13}\\&#10;a_{21} &amp; a_{22} &amp; a_{23}\\&#10;a_{31} &amp; a_{32} &amp; a_{33}&#10;\end{matrix}&#10;&amp;=&#10;\begin{pmatrix}&#10;A_{11} &amp; a_{12} &amp; a_{13}\\&#10;a_{21} &amp; a_{22} &amp; a_{23}\\&#10;a_{31} &amp; a_{32} &amp; a_{33}&#10;\end{pmatrix}&#10;=&#10;\begin{bmatrix}&#10;a_{11} &amp; a_{12} &amp; a_{13}\\&#10;a_{21} &amp; a_{22} &amp; a_{23}\\&#10;a_{31} &amp; a_{32} &amp; a_{33}&#10;\end{bmatrix}&#10;\nonumber\\&#10;\begin{Bmatrix}&#10;a_{11} &amp; a_{12} &amp; a_{13}\\&#10;a_{21} &amp; a_{22} &amp; a_{23}\\&#10;a_{31} &amp; a_{32} &amp; a_{33}&#10;\end{Bmatrix}&#10;&amp;=&#10;\begin{vmatrix}&#10;a_{11} &amp; A_{12} &amp; a_{13}\\&#10;a_{21} &amp; a_{22} &amp; a_{23}\\&#10;a_{31} &amp; a_{32} &amp; a_{33}&#10;\end{vmatrix}&#10;=&#10;\begin{Vmatrix}&#10;a_{11} &amp; a_{12} &amp; a_{13}\\&#10;a_{21} &amp; a_{22} &amp; a_{23}\\&#10;a_{31} &amp; a_{32} &amp; a_{33}&#10;\end{Vmatrix}&#10;\begin{pmatrix}&#10;a_{ij}&#10;\end{pmatrix}&#10;= 0&#10;\end{align*}&#10;%&#10;%&#10;\begin{equation*}&#10;A B = C \\&#10;\begin{pmatrix}&#10;a_{ik}&#10;\end{pmatrix}&#10;\begin{pmatrix}&#10;b_{kj}&#10;\end{pmatrix}&#10;= &#10;\left (\sum_{1\le k \le n} A_{ik} B_{kj} \right )&#10;=&#10;\begin{pmatrix}&#10;\sum_{1\le k \le n} a_{ik} b_{kj}&#10;%\sum\limits{1\le k \le n} a_{ik} b_{kj}&#10;\end{pmatrix}&#10;=&#10;\begin{pmatrix}&#10;c_{ij}&#10;\end{pmatrix}&#10;\end{equation*}&#10;\begin{equation*}&#10;\sum_{1 \le k \ le n} a_{ik}b_{kj}&#10;\end{equation*}&#10;\end{document}"/>
  <p:tag name="IGUANATEXSIZE" val="28"/>
  <p:tag name="IGUANATEXCURSOR" val="575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62"/>
  <p:tag name="ORIGINALWIDTH" val=" 2394"/>
  <p:tag name="OUTPUTTYPE" val="PNG"/>
  <p:tag name="IGUANATEXVERSION" val="162"/>
  <p:tag name="LATEXADDIN" val="\documentclass{article}&#10;\usepackage{amsmath}&#10;\pagestyle{empty}&#10;\begin{document}&#10;\begin{sf}&#10;Our three equations represent three plane:&#10;\begin{flalign*}&#10;    x  + y + z &amp;= 3 \\&#10;   2x  + y - z &amp;= 2 \\&#10;    x  - y - 2z &amp;= -2&#10;\end{flalign*}&#10;\end{sf}&#10;\end{document}"/>
  <p:tag name="IGUANATEXSIZE" val="24"/>
  <p:tag name="IGUANATEXCURSOR" val="232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72"/>
  <p:tag name="ORIGINALWIDTH" val=" 2873"/>
  <p:tag name="OUTPUTTYPE" val="PNG"/>
  <p:tag name="IGUANATEXVERSION" val="162"/>
  <p:tag name="LATEXADDIN" val="\documentclass{article}&#10;\usepackage{amsmath}&#10;\usepackage[version=4]{mhchem}\usepackage[margin=0in,paperwidth=10cm,verbose,marginparwidth=0pt,marginparsep=0pt]{geometry}&#10;\usepackage{sectsty}&#10;\allsectionsfont{\bfseries\sffamily}&#10;\providecommand{\norm}[1]{\lVert#1\rVert}&#10;\pagestyle{empty}&#10;\begin{document}&#10;\begin{sf}&#10;&#10;Consider a perturbed equation:&#10;\begin{flalign*}&#10;&#9;(A + \delta A)(x + \delta x) = b + \delta b&#10;\end{flalign*}&#10;Then, if $ \| \delta A \| \cdot  \| A^{-1} \|&lt; 1 $, we can show:&#10;\begin{flalign*}&#10;\frac{\norm{\delta x}}{\| x \|} \leq \frac{\kappa}{1 - \kappa \|\delta A\|/\|A\|}&#10;\left ( &#10;\frac{\norm{\delta b}}{\| b \|} + \frac{\norm{\delta A}}{\| A \|}&#10;\right )&#10;\end{flalign*}&#10;where: $\kappa = \kappa(A) = \|A^{-1}\| \cdot \| A\|$&#10;\end{sf}&#10;\end{document}"/>
  <p:tag name="IGUANATEXSIZE" val="28"/>
  <p:tag name="IGUANATEXCURSOR" val="456"/>
  <p:tag name="TRANSPARENCY" val="True"/>
  <p:tag name="CHOOSECOLOR" val="False"/>
  <p:tag name="COLORHEX" val="000000"/>
  <p:tag name="LATEXENGINEID" val="0"/>
  <p:tag name="TEMPFOLDER" val="/Users/chris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48828</TotalTime>
  <Words>1579</Words>
  <Application>Microsoft Macintosh PowerPoint</Application>
  <PresentationFormat>Widescreen</PresentationFormat>
  <Paragraphs>259</Paragraphs>
  <Slides>37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Office Theme</vt:lpstr>
      <vt:lpstr>Mathematical Thinking  Systems of linear equations, matrices, vector spaces</vt:lpstr>
      <vt:lpstr>Systems of linear equations</vt:lpstr>
      <vt:lpstr>A bit of revision       (i)</vt:lpstr>
      <vt:lpstr>A bit of revision       (i)</vt:lpstr>
      <vt:lpstr>A bit of revision       (i)</vt:lpstr>
      <vt:lpstr>A bit of revision</vt:lpstr>
      <vt:lpstr>We need to talk about matrices</vt:lpstr>
      <vt:lpstr>A bit of mathematical notation</vt:lpstr>
      <vt:lpstr>A bit of motivation:</vt:lpstr>
      <vt:lpstr>Determinants.  (i)</vt:lpstr>
      <vt:lpstr>Determinants (ii)</vt:lpstr>
      <vt:lpstr>Determinants (iii)</vt:lpstr>
      <vt:lpstr>Algebraically speaking</vt:lpstr>
      <vt:lpstr>A quick example -- rabbits</vt:lpstr>
      <vt:lpstr>A quick example – rabbits                                   (i)</vt:lpstr>
      <vt:lpstr>A quick example – rabbits                                   (ii)</vt:lpstr>
      <vt:lpstr>A quick example – rabbits                                   (iii)</vt:lpstr>
      <vt:lpstr>A quick example – rabbits                                   (iv)</vt:lpstr>
      <vt:lpstr>Changes of variables – similarity transforms</vt:lpstr>
      <vt:lpstr>Theorem: Cayley-Hamilton                      (1)</vt:lpstr>
      <vt:lpstr>Theorem: Cayley-Hamilton                      (2)</vt:lpstr>
      <vt:lpstr>Theorem: Cayley-Hamilton                      (3)</vt:lpstr>
      <vt:lpstr>Mathematical thinking                  (1)</vt:lpstr>
      <vt:lpstr>Mathematical thinking                  (2)</vt:lpstr>
      <vt:lpstr>Mathematical thinking                  (2)</vt:lpstr>
      <vt:lpstr>Mathematical thinking                  (2)</vt:lpstr>
      <vt:lpstr>Some Applications related to eigenvalues</vt:lpstr>
      <vt:lpstr>“Open Questions”</vt:lpstr>
      <vt:lpstr>PowerPoint Presentation</vt:lpstr>
      <vt:lpstr>Determinants</vt:lpstr>
      <vt:lpstr>A bit of revision</vt:lpstr>
      <vt:lpstr>PowerPoint Presentation</vt:lpstr>
      <vt:lpstr>For the next lecture 3</vt:lpstr>
      <vt:lpstr>For the lecture 1</vt:lpstr>
      <vt:lpstr>Back to the geometry</vt:lpstr>
      <vt:lpstr>Conjugate Gradients: an iterative Scheme</vt:lpstr>
      <vt:lpstr>What do you mean A is singular?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Thompson</dc:creator>
  <cp:lastModifiedBy>Christopher Thompson</cp:lastModifiedBy>
  <cp:revision>18</cp:revision>
  <dcterms:created xsi:type="dcterms:W3CDTF">2026-07-07T11:20:13Z</dcterms:created>
  <dcterms:modified xsi:type="dcterms:W3CDTF">2026-09-24T19:21:13Z</dcterms:modified>
</cp:coreProperties>
</file>