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compatMode="1" strictFirstAndLastChars="0" saveSubsetFonts="1">
  <p:sldMasterIdLst>
    <p:sldMasterId id="2147483648" r:id="rId1"/>
    <p:sldMasterId id="2147483649" r:id="rId2"/>
  </p:sldMasterIdLst>
  <p:notesMasterIdLst>
    <p:notesMasterId r:id="rId69"/>
  </p:notesMasterIdLst>
  <p:sldIdLst>
    <p:sldId id="256" r:id="rId3"/>
    <p:sldId id="418" r:id="rId4"/>
    <p:sldId id="419" r:id="rId5"/>
    <p:sldId id="414" r:id="rId6"/>
    <p:sldId id="417" r:id="rId7"/>
    <p:sldId id="423" r:id="rId8"/>
    <p:sldId id="425" r:id="rId9"/>
    <p:sldId id="415" r:id="rId10"/>
    <p:sldId id="416" r:id="rId11"/>
    <p:sldId id="420" r:id="rId12"/>
    <p:sldId id="421" r:id="rId13"/>
    <p:sldId id="422" r:id="rId14"/>
    <p:sldId id="451" r:id="rId15"/>
    <p:sldId id="432" r:id="rId16"/>
    <p:sldId id="433" r:id="rId17"/>
    <p:sldId id="434" r:id="rId18"/>
    <p:sldId id="435" r:id="rId19"/>
    <p:sldId id="436" r:id="rId20"/>
    <p:sldId id="437" r:id="rId21"/>
    <p:sldId id="438" r:id="rId22"/>
    <p:sldId id="439" r:id="rId23"/>
    <p:sldId id="440" r:id="rId24"/>
    <p:sldId id="441" r:id="rId25"/>
    <p:sldId id="442" r:id="rId26"/>
    <p:sldId id="443" r:id="rId27"/>
    <p:sldId id="445" r:id="rId28"/>
    <p:sldId id="447" r:id="rId29"/>
    <p:sldId id="448" r:id="rId30"/>
    <p:sldId id="449" r:id="rId31"/>
    <p:sldId id="453" r:id="rId32"/>
    <p:sldId id="454" r:id="rId33"/>
    <p:sldId id="503" r:id="rId34"/>
    <p:sldId id="455" r:id="rId35"/>
    <p:sldId id="456" r:id="rId36"/>
    <p:sldId id="457" r:id="rId37"/>
    <p:sldId id="460" r:id="rId38"/>
    <p:sldId id="461" r:id="rId39"/>
    <p:sldId id="462" r:id="rId40"/>
    <p:sldId id="463" r:id="rId41"/>
    <p:sldId id="464" r:id="rId42"/>
    <p:sldId id="426" r:id="rId43"/>
    <p:sldId id="427" r:id="rId44"/>
    <p:sldId id="428" r:id="rId45"/>
    <p:sldId id="429" r:id="rId46"/>
    <p:sldId id="430" r:id="rId47"/>
    <p:sldId id="431" r:id="rId48"/>
    <p:sldId id="482" r:id="rId49"/>
    <p:sldId id="483" r:id="rId50"/>
    <p:sldId id="497" r:id="rId51"/>
    <p:sldId id="498" r:id="rId52"/>
    <p:sldId id="485" r:id="rId53"/>
    <p:sldId id="486" r:id="rId54"/>
    <p:sldId id="487" r:id="rId55"/>
    <p:sldId id="488" r:id="rId56"/>
    <p:sldId id="489" r:id="rId57"/>
    <p:sldId id="490" r:id="rId58"/>
    <p:sldId id="491" r:id="rId59"/>
    <p:sldId id="492" r:id="rId60"/>
    <p:sldId id="493" r:id="rId61"/>
    <p:sldId id="494" r:id="rId62"/>
    <p:sldId id="495" r:id="rId63"/>
    <p:sldId id="499" r:id="rId64"/>
    <p:sldId id="500" r:id="rId65"/>
    <p:sldId id="501" r:id="rId66"/>
    <p:sldId id="502" r:id="rId67"/>
    <p:sldId id="481" r:id="rId68"/>
  </p:sldIdLst>
  <p:sldSz cx="10691813" cy="7559675"/>
  <p:notesSz cx="7559675" cy="10691813"/>
  <p:defaultTextStyle>
    <a:defPPr>
      <a:defRPr lang="en-GB"/>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379">
          <p15:clr>
            <a:srgbClr val="A4A3A4"/>
          </p15:clr>
        </p15:guide>
        <p15:guide id="2" pos="300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94574" autoAdjust="0"/>
  </p:normalViewPr>
  <p:slideViewPr>
    <p:cSldViewPr snapToObjects="1">
      <p:cViewPr varScale="1">
        <p:scale>
          <a:sx n="95" d="100"/>
          <a:sy n="95" d="100"/>
        </p:scale>
        <p:origin x="560" y="192"/>
      </p:cViewPr>
      <p:guideLst>
        <p:guide orient="horz" pos="2379"/>
        <p:guide pos="3004"/>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75" d="100"/>
        <a:sy n="75" d="100"/>
      </p:scale>
      <p:origin x="0" y="10068"/>
    </p:cViewPr>
  </p:sorterViewPr>
  <p:notesViewPr>
    <p:cSldViewPr snapToObjects="1">
      <p:cViewPr>
        <p:scale>
          <a:sx n="100" d="100"/>
          <a:sy n="100" d="100"/>
        </p:scale>
        <p:origin x="-462" y="-72"/>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706" name="AutoShape 1">
            <a:extLst>
              <a:ext uri="{FF2B5EF4-FFF2-40B4-BE49-F238E27FC236}">
                <a16:creationId xmlns:a16="http://schemas.microsoft.com/office/drawing/2014/main" id="{6FA9C239-598F-2B98-553F-23A371DB2B32}"/>
              </a:ext>
            </a:extLst>
          </p:cNvPr>
          <p:cNvSpPr>
            <a:spLocks noChangeArrowheads="1"/>
          </p:cNvSpPr>
          <p:nvPr/>
        </p:nvSpPr>
        <p:spPr bwMode="auto">
          <a:xfrm>
            <a:off x="0" y="0"/>
            <a:ext cx="7558088" cy="10690225"/>
          </a:xfrm>
          <a:prstGeom prst="roundRect">
            <a:avLst>
              <a:gd name="adj" fmla="val 19"/>
            </a:avLst>
          </a:prstGeom>
          <a:solidFill>
            <a:srgbClr val="FFFFFF"/>
          </a:solidFill>
          <a:ln>
            <a:noFill/>
          </a:ln>
          <a:extLst>
            <a:ext uri="{91240B29-F687-4F45-9708-019B960494DF}">
              <a14:hiddenLine xmlns:a14="http://schemas.microsoft.com/office/drawing/2010/main" w="9360">
                <a:solidFill>
                  <a:srgbClr val="000000"/>
                </a:solidFill>
                <a:round/>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72707" name="AutoShape 2">
            <a:extLst>
              <a:ext uri="{FF2B5EF4-FFF2-40B4-BE49-F238E27FC236}">
                <a16:creationId xmlns:a16="http://schemas.microsoft.com/office/drawing/2014/main" id="{2B30D77E-7363-A9E8-D211-6F69DB8CC66B}"/>
              </a:ext>
            </a:extLst>
          </p:cNvPr>
          <p:cNvSpPr>
            <a:spLocks noChangeArrowheads="1"/>
          </p:cNvSpPr>
          <p:nvPr/>
        </p:nvSpPr>
        <p:spPr bwMode="auto">
          <a:xfrm>
            <a:off x="392113" y="350838"/>
            <a:ext cx="6770687" cy="9986962"/>
          </a:xfrm>
          <a:prstGeom prst="roundRect">
            <a:avLst>
              <a:gd name="adj" fmla="val 23"/>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72708" name="Rectangle 3">
            <a:extLst>
              <a:ext uri="{FF2B5EF4-FFF2-40B4-BE49-F238E27FC236}">
                <a16:creationId xmlns:a16="http://schemas.microsoft.com/office/drawing/2014/main" id="{20E82A96-3EE9-0844-13CA-632DC3FA01E5}"/>
              </a:ext>
            </a:extLst>
          </p:cNvPr>
          <p:cNvSpPr>
            <a:spLocks noChangeArrowheads="1"/>
          </p:cNvSpPr>
          <p:nvPr>
            <p:ph type="sldImg"/>
          </p:nvPr>
        </p:nvSpPr>
        <p:spPr bwMode="auto">
          <a:xfrm>
            <a:off x="958850" y="692150"/>
            <a:ext cx="4937125" cy="3413125"/>
          </a:xfrm>
          <a:prstGeom prst="rect">
            <a:avLst/>
          </a:prstGeom>
          <a:solidFill>
            <a:srgbClr val="FFFFFF"/>
          </a:solidFill>
          <a:ln w="12600">
            <a:solidFill>
              <a:srgbClr val="000000"/>
            </a:solidFill>
            <a:miter lim="800000"/>
            <a:headEnd/>
            <a:tailEnd/>
          </a:ln>
        </p:spPr>
      </p:sp>
      <p:sp>
        <p:nvSpPr>
          <p:cNvPr id="2052" name="Rectangle 4">
            <a:extLst>
              <a:ext uri="{FF2B5EF4-FFF2-40B4-BE49-F238E27FC236}">
                <a16:creationId xmlns:a16="http://schemas.microsoft.com/office/drawing/2014/main" id="{E1E2CD7D-B53B-416F-8D9B-4EA9B3B2EF15}"/>
              </a:ext>
            </a:extLst>
          </p:cNvPr>
          <p:cNvSpPr txBox="1">
            <a:spLocks noGrp="1" noChangeArrowheads="1"/>
          </p:cNvSpPr>
          <p:nvPr>
            <p:ph type="body" idx="1"/>
          </p:nvPr>
        </p:nvSpPr>
        <p:spPr bwMode="auto">
          <a:xfrm>
            <a:off x="914400" y="4343400"/>
            <a:ext cx="5026025" cy="411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160" tIns="46080" rIns="92160" bIns="46080" numCol="1" anchor="t" anchorCtr="0" compatLnSpc="1">
            <a:prstTxWarp prst="textNoShape">
              <a:avLst/>
            </a:prstTxWarp>
          </a:bodyPr>
          <a:lstStyle/>
          <a:p>
            <a:pPr lvl="0"/>
            <a:endParaRPr lang="en-US" noProof="0"/>
          </a:p>
        </p:txBody>
      </p:sp>
      <p:sp>
        <p:nvSpPr>
          <p:cNvPr id="2053" name="Text Box 5">
            <a:extLst>
              <a:ext uri="{FF2B5EF4-FFF2-40B4-BE49-F238E27FC236}">
                <a16:creationId xmlns:a16="http://schemas.microsoft.com/office/drawing/2014/main" id="{E9FF5720-AA46-D3B7-E536-D4A3B60EB679}"/>
              </a:ext>
            </a:extLst>
          </p:cNvPr>
          <p:cNvSpPr txBox="1">
            <a:spLocks noChangeArrowheads="1"/>
          </p:cNvSpPr>
          <p:nvPr/>
        </p:nvSpPr>
        <p:spPr bwMode="auto">
          <a:xfrm>
            <a:off x="3886200" y="8990013"/>
            <a:ext cx="29686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80" tIns="0" rIns="19080" bIns="0" anchor="b">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lgn="r">
              <a:buSzPct val="96000"/>
            </a:pPr>
            <a:fld id="{CBFA0977-5B1B-3D43-A5C3-32FA8EA818EA}" type="slidenum">
              <a:rPr lang="en-GB" altLang="en-US" sz="1000" i="1"/>
              <a:pPr algn="r">
                <a:buSzPct val="96000"/>
              </a:pPr>
              <a:t>‹#›</a:t>
            </a:fld>
            <a:endParaRPr lang="en-GB" altLang="en-US" sz="1000" i="1"/>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1">
            <a:extLst>
              <a:ext uri="{FF2B5EF4-FFF2-40B4-BE49-F238E27FC236}">
                <a16:creationId xmlns:a16="http://schemas.microsoft.com/office/drawing/2014/main" id="{3ED8535D-E979-B2C7-4A3E-D1B8CA5DAE08}"/>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3731" name="Text Box 2">
            <a:extLst>
              <a:ext uri="{FF2B5EF4-FFF2-40B4-BE49-F238E27FC236}">
                <a16:creationId xmlns:a16="http://schemas.microsoft.com/office/drawing/2014/main" id="{C350B929-3CB7-B63C-1C8B-71587ACC4664}"/>
              </a:ext>
            </a:extLst>
          </p:cNvPr>
          <p:cNvSpPr txBox="1">
            <a:spLocks noChangeArrowheads="1"/>
          </p:cNvSpPr>
          <p:nvPr>
            <p:ph type="body" idx="1"/>
          </p:nvPr>
        </p:nvSpPr>
        <p:spPr>
          <a:xfrm>
            <a:off x="914400" y="4343400"/>
            <a:ext cx="5026025" cy="274638"/>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This is us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A45C95DE-7C67-5022-B127-142C5B1CB16F}"/>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4755" name="Text Box 3">
            <a:extLst>
              <a:ext uri="{FF2B5EF4-FFF2-40B4-BE49-F238E27FC236}">
                <a16:creationId xmlns:a16="http://schemas.microsoft.com/office/drawing/2014/main" id="{28209E56-B1F5-36B1-D8D7-4E718E00AED0}"/>
              </a:ext>
            </a:extLst>
          </p:cNvPr>
          <p:cNvSpPr txBox="1">
            <a:spLocks noChangeArrowheads="1"/>
          </p:cNvSpPr>
          <p:nvPr>
            <p:ph type="body" idx="1"/>
          </p:nvPr>
        </p:nvSpPr>
        <p:spPr>
          <a:xfrm>
            <a:off x="914400" y="4343400"/>
            <a:ext cx="5026025" cy="2405063"/>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Structural accretion is a major problem - the Great Ice Storm in Canada 1998 caused over Ca$2 billion worth of damage.</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Possible world record ice accretion on cables in Norway, 1961.  A 1m section weighed over 500 kilos.</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Iced pylons and cables in Norway and Canada. The Canadian one is most likely to have fallen due to interaction between the air flow and the ice accretion - not the ice weight.</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E9C10738-704C-92F0-66E3-74659D85D646}"/>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5779" name="Text Box 3">
            <a:extLst>
              <a:ext uri="{FF2B5EF4-FFF2-40B4-BE49-F238E27FC236}">
                <a16:creationId xmlns:a16="http://schemas.microsoft.com/office/drawing/2014/main" id="{1D92C0CE-2E1A-17F5-AD1D-564CE0575DB1}"/>
              </a:ext>
            </a:extLst>
          </p:cNvPr>
          <p:cNvSpPr txBox="1">
            <a:spLocks noChangeArrowheads="1"/>
          </p:cNvSpPr>
          <p:nvPr>
            <p:ph type="body" idx="1"/>
          </p:nvPr>
        </p:nvSpPr>
        <p:spPr>
          <a:xfrm>
            <a:off x="914400" y="4343400"/>
            <a:ext cx="5026025" cy="2770188"/>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Aircraft icing is more difficult to record than structural icing. It is much thinner - a 0.4mm accretion at the leading edge of the an aerofoil may reduce lift by 25%.</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Ice on spinners and engine inlets is likely to break off and damage downstream components. </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This aerofoil is in icing windtunnel - these are cheaper and safer than inflight testing but still v. expensive - Rolls-Royce tunnel cost 20,000 pounds an hour on average tunnels cost this per day.</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 Thin section is taken from an aerofoil with a strong polarised light behind - this shows the ice crystal structure.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BD4A2D3B-135C-E578-D4DD-338F34D628F1}"/>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6803" name="Text Box 3">
            <a:extLst>
              <a:ext uri="{FF2B5EF4-FFF2-40B4-BE49-F238E27FC236}">
                <a16:creationId xmlns:a16="http://schemas.microsoft.com/office/drawing/2014/main" id="{5CE4806D-7124-A625-DF6F-5D0D266C5117}"/>
              </a:ext>
            </a:extLst>
          </p:cNvPr>
          <p:cNvSpPr txBox="1">
            <a:spLocks noChangeArrowheads="1"/>
          </p:cNvSpPr>
          <p:nvPr>
            <p:ph type="body" idx="1"/>
          </p:nvPr>
        </p:nvSpPr>
        <p:spPr>
          <a:xfrm>
            <a:off x="914400" y="4343400"/>
            <a:ext cx="5026025" cy="1289050"/>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Thin films appear in numerous industrial problems - in particular coating applications. We have used it in projects on leakage in pumps, water motion on turbofan blades, motion of radioactive waste in cracks in clay, compact heat exchangers and aircraft icing.</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The figure shows a typical confguration for fluid moving over  dry surface.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2D208DE1-6E96-B603-B794-FF2EEFD4702D}"/>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7827" name="Text Box 3">
            <a:extLst>
              <a:ext uri="{FF2B5EF4-FFF2-40B4-BE49-F238E27FC236}">
                <a16:creationId xmlns:a16="http://schemas.microsoft.com/office/drawing/2014/main" id="{1DD84F0B-C632-A17B-B256-A6ED148B4CA4}"/>
              </a:ext>
            </a:extLst>
          </p:cNvPr>
          <p:cNvSpPr txBox="1">
            <a:spLocks noChangeArrowheads="1"/>
          </p:cNvSpPr>
          <p:nvPr>
            <p:ph type="body" idx="1"/>
          </p:nvPr>
        </p:nvSpPr>
        <p:spPr>
          <a:xfrm>
            <a:off x="914400" y="4343400"/>
            <a:ext cx="5026025" cy="1370013"/>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Phase change problems with flow arise in ... see list. We have investigated ice accretion on aircraft, evaporation due to anti-icing systems, condensation in heat exchangers and waxing of oil pipelines. Our main project is ICECREMO and industrial collaboration with BAE, Rolls-Royce, GKN-Westland Helicopters, DERA and Dunlop Aviation - to develop a 3D aircraft icing code. We produced all the icing and water flow models, the code subroutines and carried out a lot of the testing. The code is now being used commercially.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BE57F286-2661-1CE8-3B42-3F8BB5EE83A8}"/>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8851" name="Text Box 3">
            <a:extLst>
              <a:ext uri="{FF2B5EF4-FFF2-40B4-BE49-F238E27FC236}">
                <a16:creationId xmlns:a16="http://schemas.microsoft.com/office/drawing/2014/main" id="{1E019B19-630A-BDE7-174C-BAB5EB2C4ECF}"/>
              </a:ext>
            </a:extLst>
          </p:cNvPr>
          <p:cNvSpPr txBox="1">
            <a:spLocks noChangeArrowheads="1"/>
          </p:cNvSpPr>
          <p:nvPr>
            <p:ph type="body" idx="1"/>
          </p:nvPr>
        </p:nvSpPr>
        <p:spPr>
          <a:xfrm>
            <a:off x="914400" y="4343400"/>
            <a:ext cx="5026025" cy="1106488"/>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Since the film is thin the governing equations for flow may be simplified considerably.</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The problem is governed by a single equation for the fluid film height. Solving this allows fluid velocities and pressure to be obtained.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01E70BA2-5F1B-EC24-4672-179F7581254A}"/>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9875" name="Text Box 3">
            <a:extLst>
              <a:ext uri="{FF2B5EF4-FFF2-40B4-BE49-F238E27FC236}">
                <a16:creationId xmlns:a16="http://schemas.microsoft.com/office/drawing/2014/main" id="{01FD8304-C835-BE8B-50F2-1D1F92E5A623}"/>
              </a:ext>
            </a:extLst>
          </p:cNvPr>
          <p:cNvSpPr txBox="1">
            <a:spLocks noChangeArrowheads="1"/>
          </p:cNvSpPr>
          <p:nvPr>
            <p:ph type="body" idx="1"/>
          </p:nvPr>
        </p:nvSpPr>
        <p:spPr>
          <a:xfrm>
            <a:off x="914400" y="4343400"/>
            <a:ext cx="5026025" cy="1289050"/>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The figures show the evolution of a water film from an incoming Gaussian (exp(-x^2+y^2)) fluid source (i.e. rain). Initially the water is too thin to notice the overlying air flow, subsequently it is pushed along. A ridge forms at the front which finally breaks free and flows as a rivulet ahead of the bulk fluid.</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Note the scale is mm and m.</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34BA642A-894D-8AE6-C8CC-4B8A8F8DEA41}"/>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0899" name="Text Box 3">
            <a:extLst>
              <a:ext uri="{FF2B5EF4-FFF2-40B4-BE49-F238E27FC236}">
                <a16:creationId xmlns:a16="http://schemas.microsoft.com/office/drawing/2014/main" id="{688E7F87-98A7-4A08-293D-3D6A758FCF0C}"/>
              </a:ext>
            </a:extLst>
          </p:cNvPr>
          <p:cNvSpPr txBox="1">
            <a:spLocks noChangeArrowheads="1"/>
          </p:cNvSpPr>
          <p:nvPr>
            <p:ph type="body" idx="1"/>
          </p:nvPr>
        </p:nvSpPr>
        <p:spPr>
          <a:xfrm>
            <a:off x="914400" y="4343400"/>
            <a:ext cx="5026025" cy="822325"/>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The problem is governed by coupled mass and energy balances to determine the solid and water layer heights. We assume the water layer is thin so the thin film theory is applicable. The models are therefore applicable for structural and aircraft icing, but not for icing large bodies such as lakes.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DF935EED-75E0-A82D-44C5-765C97D22572}"/>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3" name="Text Box 3">
            <a:extLst>
              <a:ext uri="{FF2B5EF4-FFF2-40B4-BE49-F238E27FC236}">
                <a16:creationId xmlns:a16="http://schemas.microsoft.com/office/drawing/2014/main" id="{8F41A094-965B-38CB-2C24-5132A7AD63F7}"/>
              </a:ext>
            </a:extLst>
          </p:cNvPr>
          <p:cNvSpPr txBox="1">
            <a:spLocks noChangeArrowheads="1"/>
          </p:cNvSpPr>
          <p:nvPr>
            <p:ph type="body" idx="1"/>
          </p:nvPr>
        </p:nvSpPr>
        <p:spPr>
          <a:xfrm>
            <a:off x="914400" y="4343400"/>
            <a:ext cx="5026025" cy="457200"/>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Fluid enters near x=0 and builds up mainly here. The bumps at the side are due to air shear and gravity driven water flow. The water layer is also shown.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2E32F550-63B6-6CD3-2D72-A0882521D933}"/>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2947" name="Text Box 3">
            <a:extLst>
              <a:ext uri="{FF2B5EF4-FFF2-40B4-BE49-F238E27FC236}">
                <a16:creationId xmlns:a16="http://schemas.microsoft.com/office/drawing/2014/main" id="{49AC4DF9-F7C8-C463-0EB3-4BDFC4ACDB1C}"/>
              </a:ext>
            </a:extLst>
          </p:cNvPr>
          <p:cNvSpPr txBox="1">
            <a:spLocks noChangeArrowheads="1"/>
          </p:cNvSpPr>
          <p:nvPr>
            <p:ph type="body" idx="1"/>
          </p:nvPr>
        </p:nvSpPr>
        <p:spPr>
          <a:xfrm>
            <a:off x="914400" y="4343400"/>
            <a:ext cx="5026025" cy="1420813"/>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Results from ICECREMO program. Swept wing geometry.</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In cold weather rime ice forms. The figure shows the rime ice shape that would form (with the wing surface unwrapped for clarity), however the program is run at a relatively high temperature and glaze ice forms (this has a water layer on top). The true ice shape is significantly different to the rime ice one. It is half the height and has ice horns (which are seen in practice), the water layer is also shown.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593806A9-CE0E-DC56-C8DE-F2C7E5B64707}"/>
              </a:ext>
            </a:extLst>
          </p:cNvPr>
          <p:cNvSpPr>
            <a:spLocks noChangeArrowheads="1" noTextEdit="1"/>
          </p:cNvSpPr>
          <p:nvPr>
            <p:ph type="sldImg"/>
          </p:nvPr>
        </p:nvSpPr>
        <p:spPr>
          <a:xfrm>
            <a:off x="1014413" y="692150"/>
            <a:ext cx="4826000" cy="3413125"/>
          </a:xfrm>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3971" name="Text Box 3">
            <a:extLst>
              <a:ext uri="{FF2B5EF4-FFF2-40B4-BE49-F238E27FC236}">
                <a16:creationId xmlns:a16="http://schemas.microsoft.com/office/drawing/2014/main" id="{5E4347F3-B574-81EC-0A13-390CCC79ABAD}"/>
              </a:ext>
            </a:extLst>
          </p:cNvPr>
          <p:cNvSpPr txBox="1">
            <a:spLocks noChangeArrowheads="1"/>
          </p:cNvSpPr>
          <p:nvPr>
            <p:ph type="body" idx="1"/>
          </p:nvPr>
        </p:nvSpPr>
        <p:spPr>
          <a:xfrm>
            <a:off x="914400" y="4343400"/>
            <a:ext cx="5026025" cy="2770188"/>
          </a:xfrm>
          <a:noFill/>
        </p:spPr>
        <p:txBody>
          <a:bodyPr>
            <a:spAutoFit/>
          </a:bodyPr>
          <a:lstStyle/>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Aircraft icing is more difficult to record than structural icing. It is much thinner - a 0.4mm accretion at the leading edge of the an aerofoil may reduce lift by 25%.</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Ice on spinners and engine inlets is likely to break off and damage downstream components. </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This aerofoil is in icing windtunnel - these are cheaper and safer than inflight testing but still v. expensive - Rolls-Royce tunnel cost 20,000 pounds an hour on average tunnels cost this per day.</a:t>
            </a:r>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lang="en-GB" altLang="en-US"/>
          </a:p>
          <a:p>
            <a:pPr>
              <a:spcBef>
                <a:spcPts val="400"/>
              </a:spcBef>
              <a:buClrTx/>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a:t> Thin section is taken from an aerofoil with a strong polarised light behind - this shows the ice crystal structure.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2E307F9D-8808-3455-9E6D-51ACDDB0100C}"/>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788" tIns="49894" rIns="99788" bIns="49894"/>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B1488CC-3E64-134C-89DE-C1160AB39FE3}" type="slidenum">
              <a:rPr lang="en-GB" altLang="en-US"/>
              <a:pPr/>
              <a:t>14</a:t>
            </a:fld>
            <a:endParaRPr lang="en-GB" altLang="en-US"/>
          </a:p>
        </p:txBody>
      </p:sp>
      <p:sp>
        <p:nvSpPr>
          <p:cNvPr id="84995" name="Rectangle 2">
            <a:extLst>
              <a:ext uri="{FF2B5EF4-FFF2-40B4-BE49-F238E27FC236}">
                <a16:creationId xmlns:a16="http://schemas.microsoft.com/office/drawing/2014/main" id="{846D5448-4E85-43BD-FD66-C4A570391D4C}"/>
              </a:ext>
            </a:extLst>
          </p:cNvPr>
          <p:cNvSpPr>
            <a:spLocks noRot="1" noChangeArrowheads="1" noTextEdit="1"/>
          </p:cNvSpPr>
          <p:nvPr>
            <p:ph type="sldImg"/>
          </p:nvPr>
        </p:nvSpPr>
        <p:spPr>
          <a:xfrm>
            <a:off x="1014413" y="692150"/>
            <a:ext cx="4826000" cy="3413125"/>
          </a:xfrm>
          <a:ln/>
        </p:spPr>
      </p:sp>
      <p:sp>
        <p:nvSpPr>
          <p:cNvPr id="84996" name="Rectangle 3">
            <a:extLst>
              <a:ext uri="{FF2B5EF4-FFF2-40B4-BE49-F238E27FC236}">
                <a16:creationId xmlns:a16="http://schemas.microsoft.com/office/drawing/2014/main" id="{02245A91-3227-41B5-D74A-4E5AF4677D89}"/>
              </a:ext>
            </a:extLst>
          </p:cNvPr>
          <p:cNvSpPr txBox="1">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A9C8DDF1-3A14-B05F-9A70-CC5ACF4B5144}"/>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788" tIns="49894" rIns="99788" bIns="49894"/>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7668681-5131-8A40-8FB5-2395847DEAB4}" type="slidenum">
              <a:rPr lang="en-GB" altLang="en-US"/>
              <a:pPr/>
              <a:t>16</a:t>
            </a:fld>
            <a:endParaRPr lang="en-GB" altLang="en-US"/>
          </a:p>
        </p:txBody>
      </p:sp>
      <p:sp>
        <p:nvSpPr>
          <p:cNvPr id="86019" name="Rectangle 2">
            <a:extLst>
              <a:ext uri="{FF2B5EF4-FFF2-40B4-BE49-F238E27FC236}">
                <a16:creationId xmlns:a16="http://schemas.microsoft.com/office/drawing/2014/main" id="{2E2F8EDD-12BD-09AC-BCEA-0282FA35FD92}"/>
              </a:ext>
            </a:extLst>
          </p:cNvPr>
          <p:cNvSpPr>
            <a:spLocks noRot="1" noChangeArrowheads="1" noTextEdit="1"/>
          </p:cNvSpPr>
          <p:nvPr>
            <p:ph type="sldImg"/>
          </p:nvPr>
        </p:nvSpPr>
        <p:spPr>
          <a:xfrm>
            <a:off x="1014413" y="692150"/>
            <a:ext cx="4826000" cy="3413125"/>
          </a:xfrm>
          <a:ln/>
        </p:spPr>
      </p:sp>
      <p:sp>
        <p:nvSpPr>
          <p:cNvPr id="86020" name="Rectangle 3">
            <a:extLst>
              <a:ext uri="{FF2B5EF4-FFF2-40B4-BE49-F238E27FC236}">
                <a16:creationId xmlns:a16="http://schemas.microsoft.com/office/drawing/2014/main" id="{F9AD0E8F-1CE8-5625-53E6-26048F9CA8A7}"/>
              </a:ext>
            </a:extLst>
          </p:cNvPr>
          <p:cNvSpPr txBox="1">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10DA545E-F034-DCA0-91BF-B1511E04FEEE}"/>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788" tIns="49894" rIns="99788" bIns="49894"/>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8BFA480-8692-FC43-90D2-217FF4E119FB}" type="slidenum">
              <a:rPr lang="en-GB" altLang="en-US"/>
              <a:pPr/>
              <a:t>17</a:t>
            </a:fld>
            <a:endParaRPr lang="en-GB" altLang="en-US"/>
          </a:p>
        </p:txBody>
      </p:sp>
      <p:sp>
        <p:nvSpPr>
          <p:cNvPr id="87043" name="Rectangle 2">
            <a:extLst>
              <a:ext uri="{FF2B5EF4-FFF2-40B4-BE49-F238E27FC236}">
                <a16:creationId xmlns:a16="http://schemas.microsoft.com/office/drawing/2014/main" id="{CFC6A1CA-7005-53E0-8B03-96394C5F93A9}"/>
              </a:ext>
            </a:extLst>
          </p:cNvPr>
          <p:cNvSpPr>
            <a:spLocks noRot="1" noChangeArrowheads="1" noTextEdit="1"/>
          </p:cNvSpPr>
          <p:nvPr>
            <p:ph type="sldImg"/>
          </p:nvPr>
        </p:nvSpPr>
        <p:spPr>
          <a:xfrm>
            <a:off x="1014413" y="692150"/>
            <a:ext cx="4826000" cy="3413125"/>
          </a:xfrm>
          <a:ln/>
        </p:spPr>
      </p:sp>
      <p:sp>
        <p:nvSpPr>
          <p:cNvPr id="87044" name="Rectangle 3">
            <a:extLst>
              <a:ext uri="{FF2B5EF4-FFF2-40B4-BE49-F238E27FC236}">
                <a16:creationId xmlns:a16="http://schemas.microsoft.com/office/drawing/2014/main" id="{03F7671F-9247-8F62-6B1F-0E9055B4604E}"/>
              </a:ext>
            </a:extLst>
          </p:cNvPr>
          <p:cNvSpPr txBox="1">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C9D05133-0CDB-F584-1D1D-DE5163E204BF}"/>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788" tIns="49894" rIns="99788" bIns="49894"/>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02096E1-AA4D-2D4D-974D-21DCF35CC5E7}" type="slidenum">
              <a:rPr lang="en-GB" altLang="en-US"/>
              <a:pPr/>
              <a:t>21</a:t>
            </a:fld>
            <a:endParaRPr lang="en-GB" altLang="en-US"/>
          </a:p>
        </p:txBody>
      </p:sp>
      <p:sp>
        <p:nvSpPr>
          <p:cNvPr id="88067" name="Rectangle 2">
            <a:extLst>
              <a:ext uri="{FF2B5EF4-FFF2-40B4-BE49-F238E27FC236}">
                <a16:creationId xmlns:a16="http://schemas.microsoft.com/office/drawing/2014/main" id="{E5F9458C-8B7B-D9E0-2758-D353348670A2}"/>
              </a:ext>
            </a:extLst>
          </p:cNvPr>
          <p:cNvSpPr>
            <a:spLocks noRot="1" noChangeArrowheads="1" noTextEdit="1"/>
          </p:cNvSpPr>
          <p:nvPr>
            <p:ph type="sldImg"/>
          </p:nvPr>
        </p:nvSpPr>
        <p:spPr>
          <a:xfrm>
            <a:off x="1014413" y="692150"/>
            <a:ext cx="4826000" cy="3413125"/>
          </a:xfrm>
          <a:ln/>
        </p:spPr>
      </p:sp>
      <p:sp>
        <p:nvSpPr>
          <p:cNvPr id="88068" name="Rectangle 3">
            <a:extLst>
              <a:ext uri="{FF2B5EF4-FFF2-40B4-BE49-F238E27FC236}">
                <a16:creationId xmlns:a16="http://schemas.microsoft.com/office/drawing/2014/main" id="{1D596350-F344-C4DF-7A14-3B3C1129BDDF}"/>
              </a:ext>
            </a:extLst>
          </p:cNvPr>
          <p:cNvSpPr txBox="1">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C84DEB44-A9CB-1D0B-FEFF-1F78A9C66D2C}"/>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9788" tIns="49894" rIns="99788" bIns="49894"/>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A8EC57B-08BE-A141-96E2-71189B4A477C}" type="slidenum">
              <a:rPr lang="en-GB" altLang="en-US"/>
              <a:pPr/>
              <a:t>25</a:t>
            </a:fld>
            <a:endParaRPr lang="en-GB" altLang="en-US"/>
          </a:p>
        </p:txBody>
      </p:sp>
      <p:sp>
        <p:nvSpPr>
          <p:cNvPr id="89091" name="Rectangle 2">
            <a:extLst>
              <a:ext uri="{FF2B5EF4-FFF2-40B4-BE49-F238E27FC236}">
                <a16:creationId xmlns:a16="http://schemas.microsoft.com/office/drawing/2014/main" id="{298EE3FB-DE1F-C74D-6A48-97A9CB288AD8}"/>
              </a:ext>
            </a:extLst>
          </p:cNvPr>
          <p:cNvSpPr>
            <a:spLocks noRot="1" noChangeArrowheads="1" noTextEdit="1"/>
          </p:cNvSpPr>
          <p:nvPr>
            <p:ph type="sldImg"/>
          </p:nvPr>
        </p:nvSpPr>
        <p:spPr>
          <a:xfrm>
            <a:off x="1014413" y="692150"/>
            <a:ext cx="4826000" cy="3413125"/>
          </a:xfrm>
          <a:ln/>
        </p:spPr>
      </p:sp>
      <p:sp>
        <p:nvSpPr>
          <p:cNvPr id="89092" name="Rectangle 3">
            <a:extLst>
              <a:ext uri="{FF2B5EF4-FFF2-40B4-BE49-F238E27FC236}">
                <a16:creationId xmlns:a16="http://schemas.microsoft.com/office/drawing/2014/main" id="{DA56CC55-2F68-FEC4-258D-528B4DAC43EA}"/>
              </a:ext>
            </a:extLst>
          </p:cNvPr>
          <p:cNvSpPr txBox="1">
            <a:spLocks noGrp="1" noChangeArrowheads="1"/>
          </p:cNvSpPr>
          <p:nvPr>
            <p:ph type="body" idx="1"/>
          </p:nvPr>
        </p:nvSpPr>
        <p:spPr>
          <a:noFill/>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4" name="Rectangle 6">
            <a:extLst>
              <a:ext uri="{FF2B5EF4-FFF2-40B4-BE49-F238E27FC236}">
                <a16:creationId xmlns:a16="http://schemas.microsoft.com/office/drawing/2014/main" id="{04D8B57F-5377-058B-B7E6-DFF7E2162740}"/>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DCB4FDDB-4C4F-8544-9688-A39504A87B0D}" type="slidenum">
              <a:rPr lang="en-GB" altLang="en-US"/>
              <a:pPr/>
              <a:t>41</a:t>
            </a:fld>
            <a:endParaRPr lang="en-GB" altLang="en-US"/>
          </a:p>
        </p:txBody>
      </p:sp>
      <p:sp>
        <p:nvSpPr>
          <p:cNvPr id="90115" name="Rectangle 1">
            <a:extLst>
              <a:ext uri="{FF2B5EF4-FFF2-40B4-BE49-F238E27FC236}">
                <a16:creationId xmlns:a16="http://schemas.microsoft.com/office/drawing/2014/main" id="{BD7A71F1-8875-9A98-B935-A731D9EFFB4D}"/>
              </a:ext>
            </a:extLst>
          </p:cNvPr>
          <p:cNvSpPr>
            <a:spLocks noChangeArrowheads="1" noTextEdit="1"/>
          </p:cNvSpPr>
          <p:nvPr>
            <p:ph type="sldImg"/>
          </p:nvPr>
        </p:nvSpPr>
        <p:spPr>
          <a:xfrm>
            <a:off x="944563" y="812800"/>
            <a:ext cx="5668962" cy="400843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0116" name="Rectangle 2">
            <a:extLst>
              <a:ext uri="{FF2B5EF4-FFF2-40B4-BE49-F238E27FC236}">
                <a16:creationId xmlns:a16="http://schemas.microsoft.com/office/drawing/2014/main" id="{AAD2347C-674B-6B8B-ED88-FF92B95AFB32}"/>
              </a:ext>
            </a:extLst>
          </p:cNvPr>
          <p:cNvSpPr txBox="1">
            <a:spLocks noChangeArrowheads="1"/>
          </p:cNvSpPr>
          <p:nvPr>
            <p:ph type="body" idx="1"/>
          </p:nvPr>
        </p:nvSpPr>
        <p:spPr>
          <a:xfrm>
            <a:off x="755650" y="5078413"/>
            <a:ext cx="6048375" cy="4811712"/>
          </a:xfrm>
          <a:noFill/>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138" name="Rectangle 6">
            <a:extLst>
              <a:ext uri="{FF2B5EF4-FFF2-40B4-BE49-F238E27FC236}">
                <a16:creationId xmlns:a16="http://schemas.microsoft.com/office/drawing/2014/main" id="{7932B57E-7753-6119-9DEF-79E64BB4BBBB}"/>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DC443C06-F186-BA4F-82DB-0B806005A86F}" type="slidenum">
              <a:rPr lang="en-GB" altLang="en-US"/>
              <a:pPr/>
              <a:t>42</a:t>
            </a:fld>
            <a:endParaRPr lang="en-GB" altLang="en-US"/>
          </a:p>
        </p:txBody>
      </p:sp>
      <p:sp>
        <p:nvSpPr>
          <p:cNvPr id="91139" name="Rectangle 1">
            <a:extLst>
              <a:ext uri="{FF2B5EF4-FFF2-40B4-BE49-F238E27FC236}">
                <a16:creationId xmlns:a16="http://schemas.microsoft.com/office/drawing/2014/main" id="{015ED494-454A-CB68-DC4F-1F762F7D4DDD}"/>
              </a:ext>
            </a:extLst>
          </p:cNvPr>
          <p:cNvSpPr>
            <a:spLocks noChangeArrowheads="1" noTextEdit="1"/>
          </p:cNvSpPr>
          <p:nvPr>
            <p:ph type="sldImg"/>
          </p:nvPr>
        </p:nvSpPr>
        <p:spPr>
          <a:xfrm>
            <a:off x="944563" y="812800"/>
            <a:ext cx="5668962" cy="400843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1140" name="Rectangle 2">
            <a:extLst>
              <a:ext uri="{FF2B5EF4-FFF2-40B4-BE49-F238E27FC236}">
                <a16:creationId xmlns:a16="http://schemas.microsoft.com/office/drawing/2014/main" id="{7DAB9D3B-FF15-3E94-A50A-75B27B6B4F6A}"/>
              </a:ext>
            </a:extLst>
          </p:cNvPr>
          <p:cNvSpPr txBox="1">
            <a:spLocks noChangeArrowheads="1"/>
          </p:cNvSpPr>
          <p:nvPr>
            <p:ph type="body" idx="1"/>
          </p:nvPr>
        </p:nvSpPr>
        <p:spPr>
          <a:xfrm>
            <a:off x="755650" y="5078413"/>
            <a:ext cx="6048375" cy="4721225"/>
          </a:xfrm>
          <a:noFill/>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62" name="Rectangle 6">
            <a:extLst>
              <a:ext uri="{FF2B5EF4-FFF2-40B4-BE49-F238E27FC236}">
                <a16:creationId xmlns:a16="http://schemas.microsoft.com/office/drawing/2014/main" id="{A925E2CA-172C-7ADB-556D-624E60FB96C9}"/>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8229F3F-BAC3-9349-A810-827A679C773F}" type="slidenum">
              <a:rPr lang="en-GB" altLang="en-US"/>
              <a:pPr/>
              <a:t>43</a:t>
            </a:fld>
            <a:endParaRPr lang="en-GB" altLang="en-US"/>
          </a:p>
        </p:txBody>
      </p:sp>
      <p:sp>
        <p:nvSpPr>
          <p:cNvPr id="92163" name="Rectangle 1">
            <a:extLst>
              <a:ext uri="{FF2B5EF4-FFF2-40B4-BE49-F238E27FC236}">
                <a16:creationId xmlns:a16="http://schemas.microsoft.com/office/drawing/2014/main" id="{BF8820E6-9F05-831A-77A1-344DBB43AEEC}"/>
              </a:ext>
            </a:extLst>
          </p:cNvPr>
          <p:cNvSpPr>
            <a:spLocks noChangeArrowheads="1" noTextEdit="1"/>
          </p:cNvSpPr>
          <p:nvPr>
            <p:ph type="sldImg"/>
          </p:nvPr>
        </p:nvSpPr>
        <p:spPr>
          <a:xfrm>
            <a:off x="944563" y="812800"/>
            <a:ext cx="5668962" cy="400843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64" name="Rectangle 2">
            <a:extLst>
              <a:ext uri="{FF2B5EF4-FFF2-40B4-BE49-F238E27FC236}">
                <a16:creationId xmlns:a16="http://schemas.microsoft.com/office/drawing/2014/main" id="{F31DE1C9-8B1B-6EBE-A20B-D99ED976EAFC}"/>
              </a:ext>
            </a:extLst>
          </p:cNvPr>
          <p:cNvSpPr txBox="1">
            <a:spLocks noChangeArrowheads="1"/>
          </p:cNvSpPr>
          <p:nvPr>
            <p:ph type="body" idx="1"/>
          </p:nvPr>
        </p:nvSpPr>
        <p:spPr>
          <a:xfrm>
            <a:off x="755650" y="5078413"/>
            <a:ext cx="6048375" cy="4721225"/>
          </a:xfrm>
          <a:noFill/>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6" name="Rectangle 6">
            <a:extLst>
              <a:ext uri="{FF2B5EF4-FFF2-40B4-BE49-F238E27FC236}">
                <a16:creationId xmlns:a16="http://schemas.microsoft.com/office/drawing/2014/main" id="{19EDE183-9B5D-8114-1792-0A2C3D02019B}"/>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83963AE-9B31-1E4D-8A97-F656B3927D2A}" type="slidenum">
              <a:rPr lang="en-GB" altLang="en-US"/>
              <a:pPr/>
              <a:t>44</a:t>
            </a:fld>
            <a:endParaRPr lang="en-GB" altLang="en-US"/>
          </a:p>
        </p:txBody>
      </p:sp>
      <p:sp>
        <p:nvSpPr>
          <p:cNvPr id="93187" name="Rectangle 1">
            <a:extLst>
              <a:ext uri="{FF2B5EF4-FFF2-40B4-BE49-F238E27FC236}">
                <a16:creationId xmlns:a16="http://schemas.microsoft.com/office/drawing/2014/main" id="{DA49FFC8-A61E-3BDD-51D3-E2D21D96F033}"/>
              </a:ext>
            </a:extLst>
          </p:cNvPr>
          <p:cNvSpPr>
            <a:spLocks noChangeArrowheads="1" noTextEdit="1"/>
          </p:cNvSpPr>
          <p:nvPr>
            <p:ph type="sldImg"/>
          </p:nvPr>
        </p:nvSpPr>
        <p:spPr>
          <a:xfrm>
            <a:off x="944563" y="812800"/>
            <a:ext cx="5668962" cy="400843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3188" name="Rectangle 2">
            <a:extLst>
              <a:ext uri="{FF2B5EF4-FFF2-40B4-BE49-F238E27FC236}">
                <a16:creationId xmlns:a16="http://schemas.microsoft.com/office/drawing/2014/main" id="{52900E7F-3347-AA34-51ED-114B34C5A9F8}"/>
              </a:ext>
            </a:extLst>
          </p:cNvPr>
          <p:cNvSpPr txBox="1">
            <a:spLocks noChangeArrowheads="1"/>
          </p:cNvSpPr>
          <p:nvPr>
            <p:ph type="body" idx="1"/>
          </p:nvPr>
        </p:nvSpPr>
        <p:spPr>
          <a:xfrm>
            <a:off x="755650" y="5078413"/>
            <a:ext cx="6048375" cy="4721225"/>
          </a:xfrm>
          <a:noFill/>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6">
            <a:extLst>
              <a:ext uri="{FF2B5EF4-FFF2-40B4-BE49-F238E27FC236}">
                <a16:creationId xmlns:a16="http://schemas.microsoft.com/office/drawing/2014/main" id="{A677C76C-4260-CEE4-5000-597AB6A38773}"/>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A8EA67F-15D8-0745-8AB5-062FE63C5E79}" type="slidenum">
              <a:rPr lang="en-GB" altLang="en-US"/>
              <a:pPr/>
              <a:t>45</a:t>
            </a:fld>
            <a:endParaRPr lang="en-GB" altLang="en-US"/>
          </a:p>
        </p:txBody>
      </p:sp>
      <p:sp>
        <p:nvSpPr>
          <p:cNvPr id="94211" name="Rectangle 1">
            <a:extLst>
              <a:ext uri="{FF2B5EF4-FFF2-40B4-BE49-F238E27FC236}">
                <a16:creationId xmlns:a16="http://schemas.microsoft.com/office/drawing/2014/main" id="{0BF0D490-BC34-95F8-359E-068438B39CA2}"/>
              </a:ext>
            </a:extLst>
          </p:cNvPr>
          <p:cNvSpPr>
            <a:spLocks noChangeArrowheads="1" noTextEdit="1"/>
          </p:cNvSpPr>
          <p:nvPr>
            <p:ph type="sldImg"/>
          </p:nvPr>
        </p:nvSpPr>
        <p:spPr>
          <a:xfrm>
            <a:off x="944563" y="812800"/>
            <a:ext cx="5668962" cy="400843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4212" name="Rectangle 2">
            <a:extLst>
              <a:ext uri="{FF2B5EF4-FFF2-40B4-BE49-F238E27FC236}">
                <a16:creationId xmlns:a16="http://schemas.microsoft.com/office/drawing/2014/main" id="{C1D89746-A177-33D0-8D2C-B4870D9469A6}"/>
              </a:ext>
            </a:extLst>
          </p:cNvPr>
          <p:cNvSpPr txBox="1">
            <a:spLocks noChangeArrowheads="1"/>
          </p:cNvSpPr>
          <p:nvPr>
            <p:ph type="body" idx="1"/>
          </p:nvPr>
        </p:nvSpPr>
        <p:spPr>
          <a:xfrm>
            <a:off x="755650" y="5078413"/>
            <a:ext cx="6048375" cy="4721225"/>
          </a:xfrm>
          <a:noFill/>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4" name="Rectangle 6">
            <a:extLst>
              <a:ext uri="{FF2B5EF4-FFF2-40B4-BE49-F238E27FC236}">
                <a16:creationId xmlns:a16="http://schemas.microsoft.com/office/drawing/2014/main" id="{82413496-1112-496D-0658-FFFEF5D490CD}"/>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CC8F9C1-CB57-8E4F-A663-C14CFE182A7D}" type="slidenum">
              <a:rPr lang="en-GB" altLang="en-US"/>
              <a:pPr/>
              <a:t>46</a:t>
            </a:fld>
            <a:endParaRPr lang="en-GB" altLang="en-US"/>
          </a:p>
        </p:txBody>
      </p:sp>
      <p:sp>
        <p:nvSpPr>
          <p:cNvPr id="95235" name="Rectangle 1">
            <a:extLst>
              <a:ext uri="{FF2B5EF4-FFF2-40B4-BE49-F238E27FC236}">
                <a16:creationId xmlns:a16="http://schemas.microsoft.com/office/drawing/2014/main" id="{B2B23798-6709-2300-2140-32C3236AE972}"/>
              </a:ext>
            </a:extLst>
          </p:cNvPr>
          <p:cNvSpPr>
            <a:spLocks noChangeArrowheads="1" noTextEdit="1"/>
          </p:cNvSpPr>
          <p:nvPr>
            <p:ph type="sldImg"/>
          </p:nvPr>
        </p:nvSpPr>
        <p:spPr>
          <a:xfrm>
            <a:off x="944563" y="812800"/>
            <a:ext cx="5668962" cy="4008438"/>
          </a:xfrm>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5236" name="Rectangle 2">
            <a:extLst>
              <a:ext uri="{FF2B5EF4-FFF2-40B4-BE49-F238E27FC236}">
                <a16:creationId xmlns:a16="http://schemas.microsoft.com/office/drawing/2014/main" id="{679902C6-596B-C8EF-C5E8-2E5FC89092F6}"/>
              </a:ext>
            </a:extLst>
          </p:cNvPr>
          <p:cNvSpPr txBox="1">
            <a:spLocks noChangeArrowheads="1"/>
          </p:cNvSpPr>
          <p:nvPr>
            <p:ph type="body" idx="1"/>
          </p:nvPr>
        </p:nvSpPr>
        <p:spPr>
          <a:xfrm>
            <a:off x="755650" y="5078413"/>
            <a:ext cx="6048375" cy="4721225"/>
          </a:xfrm>
          <a:noFill/>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EF7D4078-E687-4A01-EA35-68AEFBFE79C0}"/>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B4755E4E-22BC-9D4D-BB75-83399A0DC42A}" type="slidenum">
              <a:rPr lang="en-US" altLang="en-US" sz="1300"/>
              <a:pPr eaLnBrk="1" hangingPunct="1"/>
              <a:t>47</a:t>
            </a:fld>
            <a:endParaRPr lang="en-US" altLang="en-US" sz="1300"/>
          </a:p>
        </p:txBody>
      </p:sp>
      <p:sp>
        <p:nvSpPr>
          <p:cNvPr id="96259" name="Rectangle 2">
            <a:extLst>
              <a:ext uri="{FF2B5EF4-FFF2-40B4-BE49-F238E27FC236}">
                <a16:creationId xmlns:a16="http://schemas.microsoft.com/office/drawing/2014/main" id="{FF5B73F9-1C58-57C2-4FE7-0CA39ADF052B}"/>
              </a:ext>
            </a:extLst>
          </p:cNvPr>
          <p:cNvSpPr>
            <a:spLocks noRot="1" noChangeArrowheads="1" noTextEdit="1"/>
          </p:cNvSpPr>
          <p:nvPr>
            <p:ph type="sldImg"/>
          </p:nvPr>
        </p:nvSpPr>
        <p:spPr>
          <a:xfrm>
            <a:off x="1014413" y="692150"/>
            <a:ext cx="4826000" cy="3413125"/>
          </a:xfrm>
          <a:ln/>
        </p:spPr>
      </p:sp>
      <p:sp>
        <p:nvSpPr>
          <p:cNvPr id="96260" name="Rectangle 3">
            <a:extLst>
              <a:ext uri="{FF2B5EF4-FFF2-40B4-BE49-F238E27FC236}">
                <a16:creationId xmlns:a16="http://schemas.microsoft.com/office/drawing/2014/main" id="{D5BAED27-2D9D-266F-E575-5A0D62A32E18}"/>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F3B643EC-741E-BC12-618C-F361E8485981}"/>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C5148B6-90FF-D946-8FB7-73DB7C69493C}" type="slidenum">
              <a:rPr lang="en-US" altLang="en-US" sz="1300"/>
              <a:pPr eaLnBrk="1" hangingPunct="1"/>
              <a:t>48</a:t>
            </a:fld>
            <a:endParaRPr lang="en-US" altLang="en-US" sz="1300"/>
          </a:p>
        </p:txBody>
      </p:sp>
      <p:sp>
        <p:nvSpPr>
          <p:cNvPr id="97283" name="Rectangle 2">
            <a:extLst>
              <a:ext uri="{FF2B5EF4-FFF2-40B4-BE49-F238E27FC236}">
                <a16:creationId xmlns:a16="http://schemas.microsoft.com/office/drawing/2014/main" id="{4F5D03C8-6A82-A162-DFA9-449CBE75657C}"/>
              </a:ext>
            </a:extLst>
          </p:cNvPr>
          <p:cNvSpPr>
            <a:spLocks noRot="1" noChangeArrowheads="1" noTextEdit="1"/>
          </p:cNvSpPr>
          <p:nvPr>
            <p:ph type="sldImg"/>
          </p:nvPr>
        </p:nvSpPr>
        <p:spPr>
          <a:xfrm>
            <a:off x="1014413" y="692150"/>
            <a:ext cx="4826000" cy="3413125"/>
          </a:xfrm>
          <a:ln/>
        </p:spPr>
      </p:sp>
      <p:sp>
        <p:nvSpPr>
          <p:cNvPr id="97284" name="Rectangle 3">
            <a:extLst>
              <a:ext uri="{FF2B5EF4-FFF2-40B4-BE49-F238E27FC236}">
                <a16:creationId xmlns:a16="http://schemas.microsoft.com/office/drawing/2014/main" id="{F1B6AB80-C62A-4A9B-7CA0-17BA1BFE0664}"/>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0BA9FE16-E893-6CAB-0B7D-D7A68DBC34DA}"/>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2CDA0539-B3BD-8F4F-8C70-20C3505000FA}" type="slidenum">
              <a:rPr lang="en-US" altLang="en-US" sz="1300"/>
              <a:pPr eaLnBrk="1" hangingPunct="1"/>
              <a:t>49</a:t>
            </a:fld>
            <a:endParaRPr lang="en-US" altLang="en-US" sz="1300"/>
          </a:p>
        </p:txBody>
      </p:sp>
      <p:sp>
        <p:nvSpPr>
          <p:cNvPr id="98307" name="Rectangle 2">
            <a:extLst>
              <a:ext uri="{FF2B5EF4-FFF2-40B4-BE49-F238E27FC236}">
                <a16:creationId xmlns:a16="http://schemas.microsoft.com/office/drawing/2014/main" id="{AD795F1C-605F-F9CF-18E8-0D6F232C0C52}"/>
              </a:ext>
            </a:extLst>
          </p:cNvPr>
          <p:cNvSpPr>
            <a:spLocks noRot="1" noChangeArrowheads="1" noTextEdit="1"/>
          </p:cNvSpPr>
          <p:nvPr>
            <p:ph type="sldImg"/>
          </p:nvPr>
        </p:nvSpPr>
        <p:spPr>
          <a:xfrm>
            <a:off x="1014413" y="692150"/>
            <a:ext cx="4826000" cy="3413125"/>
          </a:xfrm>
          <a:ln/>
        </p:spPr>
      </p:sp>
      <p:sp>
        <p:nvSpPr>
          <p:cNvPr id="98308" name="Rectangle 3">
            <a:extLst>
              <a:ext uri="{FF2B5EF4-FFF2-40B4-BE49-F238E27FC236}">
                <a16:creationId xmlns:a16="http://schemas.microsoft.com/office/drawing/2014/main" id="{6FBC5CF6-43C3-C3DB-E3AB-C43ECECC4AB0}"/>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661F6460-97C4-9BD8-1D0F-B5610D3994E4}"/>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0122B01-B6D8-7E48-A2DD-6661E3F0F8CD}" type="slidenum">
              <a:rPr lang="en-US" altLang="en-US" sz="1300"/>
              <a:pPr eaLnBrk="1" hangingPunct="1"/>
              <a:t>50</a:t>
            </a:fld>
            <a:endParaRPr lang="en-US" altLang="en-US" sz="1300"/>
          </a:p>
        </p:txBody>
      </p:sp>
      <p:sp>
        <p:nvSpPr>
          <p:cNvPr id="99331" name="Rectangle 2">
            <a:extLst>
              <a:ext uri="{FF2B5EF4-FFF2-40B4-BE49-F238E27FC236}">
                <a16:creationId xmlns:a16="http://schemas.microsoft.com/office/drawing/2014/main" id="{D7B678D5-65C3-3503-51F1-E7BDB67936F4}"/>
              </a:ext>
            </a:extLst>
          </p:cNvPr>
          <p:cNvSpPr>
            <a:spLocks noRot="1" noChangeArrowheads="1" noTextEdit="1"/>
          </p:cNvSpPr>
          <p:nvPr>
            <p:ph type="sldImg"/>
          </p:nvPr>
        </p:nvSpPr>
        <p:spPr>
          <a:xfrm>
            <a:off x="1014413" y="692150"/>
            <a:ext cx="4826000" cy="3413125"/>
          </a:xfrm>
          <a:ln/>
        </p:spPr>
      </p:sp>
      <p:sp>
        <p:nvSpPr>
          <p:cNvPr id="99332" name="Rectangle 3">
            <a:extLst>
              <a:ext uri="{FF2B5EF4-FFF2-40B4-BE49-F238E27FC236}">
                <a16:creationId xmlns:a16="http://schemas.microsoft.com/office/drawing/2014/main" id="{8EFEBE3C-FEB7-5E92-D51A-515FF4CB6A82}"/>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51481FF7-8664-CF74-F60D-8F93C23F8891}"/>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6572135-2BD2-9F4D-9F0C-381018808A87}" type="slidenum">
              <a:rPr lang="en-US" altLang="en-US" sz="1300"/>
              <a:pPr eaLnBrk="1" hangingPunct="1"/>
              <a:t>51</a:t>
            </a:fld>
            <a:endParaRPr lang="en-US" altLang="en-US" sz="1300"/>
          </a:p>
        </p:txBody>
      </p:sp>
      <p:sp>
        <p:nvSpPr>
          <p:cNvPr id="100355" name="Rectangle 2">
            <a:extLst>
              <a:ext uri="{FF2B5EF4-FFF2-40B4-BE49-F238E27FC236}">
                <a16:creationId xmlns:a16="http://schemas.microsoft.com/office/drawing/2014/main" id="{3BDA2A26-8ED5-CCD9-19B8-1BD05A3E3A7F}"/>
              </a:ext>
            </a:extLst>
          </p:cNvPr>
          <p:cNvSpPr>
            <a:spLocks noRot="1" noChangeArrowheads="1" noTextEdit="1"/>
          </p:cNvSpPr>
          <p:nvPr>
            <p:ph type="sldImg"/>
          </p:nvPr>
        </p:nvSpPr>
        <p:spPr>
          <a:xfrm>
            <a:off x="1014413" y="692150"/>
            <a:ext cx="4826000" cy="3413125"/>
          </a:xfrm>
          <a:ln/>
        </p:spPr>
      </p:sp>
      <p:sp>
        <p:nvSpPr>
          <p:cNvPr id="100356" name="Rectangle 3">
            <a:extLst>
              <a:ext uri="{FF2B5EF4-FFF2-40B4-BE49-F238E27FC236}">
                <a16:creationId xmlns:a16="http://schemas.microsoft.com/office/drawing/2014/main" id="{C6C1D84C-7106-6C7B-4B63-FF0A9D05025C}"/>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9D791541-40D1-F9D8-5919-52B58ED8EA61}"/>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870291F2-30B8-1D4B-8BD9-B3EEC1EE117A}" type="slidenum">
              <a:rPr lang="en-US" altLang="en-US" sz="1300"/>
              <a:pPr eaLnBrk="1" hangingPunct="1"/>
              <a:t>52</a:t>
            </a:fld>
            <a:endParaRPr lang="en-US" altLang="en-US" sz="1300"/>
          </a:p>
        </p:txBody>
      </p:sp>
      <p:sp>
        <p:nvSpPr>
          <p:cNvPr id="101379" name="Rectangle 2">
            <a:extLst>
              <a:ext uri="{FF2B5EF4-FFF2-40B4-BE49-F238E27FC236}">
                <a16:creationId xmlns:a16="http://schemas.microsoft.com/office/drawing/2014/main" id="{405E828D-6E12-5CDE-FB21-517D6CD8E936}"/>
              </a:ext>
            </a:extLst>
          </p:cNvPr>
          <p:cNvSpPr>
            <a:spLocks noRot="1" noChangeArrowheads="1" noTextEdit="1"/>
          </p:cNvSpPr>
          <p:nvPr>
            <p:ph type="sldImg"/>
          </p:nvPr>
        </p:nvSpPr>
        <p:spPr>
          <a:xfrm>
            <a:off x="1014413" y="692150"/>
            <a:ext cx="4826000" cy="3413125"/>
          </a:xfrm>
          <a:ln/>
        </p:spPr>
      </p:sp>
      <p:sp>
        <p:nvSpPr>
          <p:cNvPr id="101380" name="Rectangle 3">
            <a:extLst>
              <a:ext uri="{FF2B5EF4-FFF2-40B4-BE49-F238E27FC236}">
                <a16:creationId xmlns:a16="http://schemas.microsoft.com/office/drawing/2014/main" id="{7E5419D1-5E67-CE91-3BEF-A177E5B7AE50}"/>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ADFB4742-7302-1ED8-1E3A-4CE2F7FE5CAC}"/>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F0BB106-513A-BF44-B17E-C2E00714CD7C}" type="slidenum">
              <a:rPr lang="en-US" altLang="en-US" sz="1300"/>
              <a:pPr eaLnBrk="1" hangingPunct="1"/>
              <a:t>53</a:t>
            </a:fld>
            <a:endParaRPr lang="en-US" altLang="en-US" sz="1300"/>
          </a:p>
        </p:txBody>
      </p:sp>
      <p:sp>
        <p:nvSpPr>
          <p:cNvPr id="102403" name="Rectangle 2">
            <a:extLst>
              <a:ext uri="{FF2B5EF4-FFF2-40B4-BE49-F238E27FC236}">
                <a16:creationId xmlns:a16="http://schemas.microsoft.com/office/drawing/2014/main" id="{BAEA1B59-296C-1E7C-C752-23650FEA0C04}"/>
              </a:ext>
            </a:extLst>
          </p:cNvPr>
          <p:cNvSpPr>
            <a:spLocks noRot="1" noChangeArrowheads="1" noTextEdit="1"/>
          </p:cNvSpPr>
          <p:nvPr>
            <p:ph type="sldImg"/>
          </p:nvPr>
        </p:nvSpPr>
        <p:spPr>
          <a:xfrm>
            <a:off x="1014413" y="692150"/>
            <a:ext cx="4826000" cy="3413125"/>
          </a:xfrm>
          <a:ln/>
        </p:spPr>
      </p:sp>
      <p:sp>
        <p:nvSpPr>
          <p:cNvPr id="102404" name="Rectangle 3">
            <a:extLst>
              <a:ext uri="{FF2B5EF4-FFF2-40B4-BE49-F238E27FC236}">
                <a16:creationId xmlns:a16="http://schemas.microsoft.com/office/drawing/2014/main" id="{53E0F935-FF83-9A7C-F738-32430112B6D5}"/>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AF4D70BC-ACCE-EDAE-DA83-AD5A5F7BF578}"/>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11668CEE-FEBE-BC4E-8057-03B45A699035}" type="slidenum">
              <a:rPr lang="en-US" altLang="en-US" sz="1300"/>
              <a:pPr eaLnBrk="1" hangingPunct="1"/>
              <a:t>54</a:t>
            </a:fld>
            <a:endParaRPr lang="en-US" altLang="en-US" sz="1300"/>
          </a:p>
        </p:txBody>
      </p:sp>
      <p:sp>
        <p:nvSpPr>
          <p:cNvPr id="103427" name="Rectangle 2">
            <a:extLst>
              <a:ext uri="{FF2B5EF4-FFF2-40B4-BE49-F238E27FC236}">
                <a16:creationId xmlns:a16="http://schemas.microsoft.com/office/drawing/2014/main" id="{45BADA5B-5418-0988-B6D1-9FF751FEA18A}"/>
              </a:ext>
            </a:extLst>
          </p:cNvPr>
          <p:cNvSpPr>
            <a:spLocks noRot="1" noChangeArrowheads="1" noTextEdit="1"/>
          </p:cNvSpPr>
          <p:nvPr>
            <p:ph type="sldImg"/>
          </p:nvPr>
        </p:nvSpPr>
        <p:spPr>
          <a:xfrm>
            <a:off x="1014413" y="692150"/>
            <a:ext cx="4826000" cy="3413125"/>
          </a:xfrm>
          <a:ln/>
        </p:spPr>
      </p:sp>
      <p:sp>
        <p:nvSpPr>
          <p:cNvPr id="103428" name="Rectangle 3">
            <a:extLst>
              <a:ext uri="{FF2B5EF4-FFF2-40B4-BE49-F238E27FC236}">
                <a16:creationId xmlns:a16="http://schemas.microsoft.com/office/drawing/2014/main" id="{165DA188-F61C-F0FC-115E-E3E8CE623178}"/>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50919A93-860B-84AC-01FF-895C42A89D41}"/>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242E3A5-2A24-F040-B794-9C1C6C4F8D49}" type="slidenum">
              <a:rPr lang="en-US" altLang="en-US" sz="1300"/>
              <a:pPr eaLnBrk="1" hangingPunct="1"/>
              <a:t>55</a:t>
            </a:fld>
            <a:endParaRPr lang="en-US" altLang="en-US" sz="1300"/>
          </a:p>
        </p:txBody>
      </p:sp>
      <p:sp>
        <p:nvSpPr>
          <p:cNvPr id="104451" name="Rectangle 2">
            <a:extLst>
              <a:ext uri="{FF2B5EF4-FFF2-40B4-BE49-F238E27FC236}">
                <a16:creationId xmlns:a16="http://schemas.microsoft.com/office/drawing/2014/main" id="{3B8BC47A-60F6-D3D1-0004-0D6E72101976}"/>
              </a:ext>
            </a:extLst>
          </p:cNvPr>
          <p:cNvSpPr>
            <a:spLocks noRot="1" noChangeArrowheads="1" noTextEdit="1"/>
          </p:cNvSpPr>
          <p:nvPr>
            <p:ph type="sldImg"/>
          </p:nvPr>
        </p:nvSpPr>
        <p:spPr>
          <a:xfrm>
            <a:off x="1014413" y="692150"/>
            <a:ext cx="4826000" cy="3413125"/>
          </a:xfrm>
          <a:ln/>
        </p:spPr>
      </p:sp>
      <p:sp>
        <p:nvSpPr>
          <p:cNvPr id="104452" name="Rectangle 3">
            <a:extLst>
              <a:ext uri="{FF2B5EF4-FFF2-40B4-BE49-F238E27FC236}">
                <a16:creationId xmlns:a16="http://schemas.microsoft.com/office/drawing/2014/main" id="{EEBB9E03-135E-1C8A-FE54-EE3C5E4C5D9D}"/>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B89B54C0-62EF-A1B2-3392-F20B1579C684}"/>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9B76AD4C-525F-0E43-B317-FC3E2927CB1C}" type="slidenum">
              <a:rPr lang="en-US" altLang="en-US" sz="1300"/>
              <a:pPr eaLnBrk="1" hangingPunct="1"/>
              <a:t>56</a:t>
            </a:fld>
            <a:endParaRPr lang="en-US" altLang="en-US" sz="1300"/>
          </a:p>
        </p:txBody>
      </p:sp>
      <p:sp>
        <p:nvSpPr>
          <p:cNvPr id="105475" name="Rectangle 2">
            <a:extLst>
              <a:ext uri="{FF2B5EF4-FFF2-40B4-BE49-F238E27FC236}">
                <a16:creationId xmlns:a16="http://schemas.microsoft.com/office/drawing/2014/main" id="{649D595F-A197-FAE9-68EA-998C0DF3CCAA}"/>
              </a:ext>
            </a:extLst>
          </p:cNvPr>
          <p:cNvSpPr>
            <a:spLocks noRot="1" noChangeArrowheads="1" noTextEdit="1"/>
          </p:cNvSpPr>
          <p:nvPr>
            <p:ph type="sldImg"/>
          </p:nvPr>
        </p:nvSpPr>
        <p:spPr>
          <a:xfrm>
            <a:off x="1014413" y="692150"/>
            <a:ext cx="4826000" cy="3413125"/>
          </a:xfrm>
          <a:ln/>
        </p:spPr>
      </p:sp>
      <p:sp>
        <p:nvSpPr>
          <p:cNvPr id="105476" name="Rectangle 3">
            <a:extLst>
              <a:ext uri="{FF2B5EF4-FFF2-40B4-BE49-F238E27FC236}">
                <a16:creationId xmlns:a16="http://schemas.microsoft.com/office/drawing/2014/main" id="{7ED7C768-6294-E122-4E79-211F18C59A8E}"/>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57BF7BC7-D381-E62D-1F97-5A8EEAA8460D}"/>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24F1EB6-8E67-C14A-9EFE-20FAC8B3BC44}" type="slidenum">
              <a:rPr lang="en-US" altLang="en-US" sz="1300"/>
              <a:pPr eaLnBrk="1" hangingPunct="1"/>
              <a:t>57</a:t>
            </a:fld>
            <a:endParaRPr lang="en-US" altLang="en-US" sz="1300"/>
          </a:p>
        </p:txBody>
      </p:sp>
      <p:sp>
        <p:nvSpPr>
          <p:cNvPr id="106499" name="Rectangle 2">
            <a:extLst>
              <a:ext uri="{FF2B5EF4-FFF2-40B4-BE49-F238E27FC236}">
                <a16:creationId xmlns:a16="http://schemas.microsoft.com/office/drawing/2014/main" id="{5D6370F4-91F4-DBB4-AF6C-AFF1F9B7CB22}"/>
              </a:ext>
            </a:extLst>
          </p:cNvPr>
          <p:cNvSpPr>
            <a:spLocks noRot="1" noChangeArrowheads="1" noTextEdit="1"/>
          </p:cNvSpPr>
          <p:nvPr>
            <p:ph type="sldImg"/>
          </p:nvPr>
        </p:nvSpPr>
        <p:spPr>
          <a:xfrm>
            <a:off x="1014413" y="692150"/>
            <a:ext cx="4826000" cy="3413125"/>
          </a:xfrm>
          <a:ln/>
        </p:spPr>
      </p:sp>
      <p:sp>
        <p:nvSpPr>
          <p:cNvPr id="106500" name="Rectangle 3">
            <a:extLst>
              <a:ext uri="{FF2B5EF4-FFF2-40B4-BE49-F238E27FC236}">
                <a16:creationId xmlns:a16="http://schemas.microsoft.com/office/drawing/2014/main" id="{2096BB8E-E34C-7889-0526-6D496BED40B3}"/>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6BFA544C-C3DA-BC3F-4A2B-B94DFEA7AF42}"/>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3905372E-5528-8B41-9C24-95D5667FCB85}" type="slidenum">
              <a:rPr lang="en-US" altLang="en-US" sz="1300"/>
              <a:pPr eaLnBrk="1" hangingPunct="1"/>
              <a:t>58</a:t>
            </a:fld>
            <a:endParaRPr lang="en-US" altLang="en-US" sz="1300"/>
          </a:p>
        </p:txBody>
      </p:sp>
      <p:sp>
        <p:nvSpPr>
          <p:cNvPr id="107523" name="Rectangle 2">
            <a:extLst>
              <a:ext uri="{FF2B5EF4-FFF2-40B4-BE49-F238E27FC236}">
                <a16:creationId xmlns:a16="http://schemas.microsoft.com/office/drawing/2014/main" id="{ABC9BF58-7E18-5A2A-DB30-6BE3259E5857}"/>
              </a:ext>
            </a:extLst>
          </p:cNvPr>
          <p:cNvSpPr>
            <a:spLocks noRot="1" noChangeArrowheads="1" noTextEdit="1"/>
          </p:cNvSpPr>
          <p:nvPr>
            <p:ph type="sldImg"/>
          </p:nvPr>
        </p:nvSpPr>
        <p:spPr>
          <a:xfrm>
            <a:off x="1014413" y="692150"/>
            <a:ext cx="4826000" cy="3413125"/>
          </a:xfrm>
          <a:ln/>
        </p:spPr>
      </p:sp>
      <p:sp>
        <p:nvSpPr>
          <p:cNvPr id="107524" name="Rectangle 3">
            <a:extLst>
              <a:ext uri="{FF2B5EF4-FFF2-40B4-BE49-F238E27FC236}">
                <a16:creationId xmlns:a16="http://schemas.microsoft.com/office/drawing/2014/main" id="{013DE2B6-78C3-2E73-A27A-912E7F5D9782}"/>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379D0166-8CCA-2640-DA1F-B9F91BBB387E}"/>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07FF6393-27D2-3444-BE19-52ED91407930}" type="slidenum">
              <a:rPr lang="en-US" altLang="en-US" sz="1300"/>
              <a:pPr eaLnBrk="1" hangingPunct="1"/>
              <a:t>59</a:t>
            </a:fld>
            <a:endParaRPr lang="en-US" altLang="en-US" sz="1300"/>
          </a:p>
        </p:txBody>
      </p:sp>
      <p:sp>
        <p:nvSpPr>
          <p:cNvPr id="108547" name="Rectangle 2">
            <a:extLst>
              <a:ext uri="{FF2B5EF4-FFF2-40B4-BE49-F238E27FC236}">
                <a16:creationId xmlns:a16="http://schemas.microsoft.com/office/drawing/2014/main" id="{D56CABD9-D2E4-A897-A34A-F0FE6FDE0227}"/>
              </a:ext>
            </a:extLst>
          </p:cNvPr>
          <p:cNvSpPr>
            <a:spLocks noRot="1" noChangeArrowheads="1" noTextEdit="1"/>
          </p:cNvSpPr>
          <p:nvPr>
            <p:ph type="sldImg"/>
          </p:nvPr>
        </p:nvSpPr>
        <p:spPr>
          <a:xfrm>
            <a:off x="1014413" y="692150"/>
            <a:ext cx="4826000" cy="3413125"/>
          </a:xfrm>
          <a:ln/>
        </p:spPr>
      </p:sp>
      <p:sp>
        <p:nvSpPr>
          <p:cNvPr id="108548" name="Rectangle 3">
            <a:extLst>
              <a:ext uri="{FF2B5EF4-FFF2-40B4-BE49-F238E27FC236}">
                <a16:creationId xmlns:a16="http://schemas.microsoft.com/office/drawing/2014/main" id="{DA1698F2-3704-4E49-CB8C-B027FF93DBFD}"/>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A212E2E8-6C9E-677E-ADB2-092117BAD906}"/>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F54EAE1B-6EBD-FC4D-B867-19344990D74E}" type="slidenum">
              <a:rPr lang="en-US" altLang="en-US" sz="1300"/>
              <a:pPr eaLnBrk="1" hangingPunct="1"/>
              <a:t>60</a:t>
            </a:fld>
            <a:endParaRPr lang="en-US" altLang="en-US" sz="1300"/>
          </a:p>
        </p:txBody>
      </p:sp>
      <p:sp>
        <p:nvSpPr>
          <p:cNvPr id="109571" name="Rectangle 2">
            <a:extLst>
              <a:ext uri="{FF2B5EF4-FFF2-40B4-BE49-F238E27FC236}">
                <a16:creationId xmlns:a16="http://schemas.microsoft.com/office/drawing/2014/main" id="{AEB452AF-2780-232B-5A16-86947D04AAF1}"/>
              </a:ext>
            </a:extLst>
          </p:cNvPr>
          <p:cNvSpPr>
            <a:spLocks noRot="1" noChangeArrowheads="1" noTextEdit="1"/>
          </p:cNvSpPr>
          <p:nvPr>
            <p:ph type="sldImg"/>
          </p:nvPr>
        </p:nvSpPr>
        <p:spPr>
          <a:xfrm>
            <a:off x="1014413" y="692150"/>
            <a:ext cx="4826000" cy="3413125"/>
          </a:xfrm>
          <a:ln/>
        </p:spPr>
      </p:sp>
      <p:sp>
        <p:nvSpPr>
          <p:cNvPr id="109572" name="Rectangle 3">
            <a:extLst>
              <a:ext uri="{FF2B5EF4-FFF2-40B4-BE49-F238E27FC236}">
                <a16:creationId xmlns:a16="http://schemas.microsoft.com/office/drawing/2014/main" id="{70B1B031-5C95-DACA-E455-FB62F1A083A6}"/>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1B97A7D2-9F14-5342-D347-286A978E2258}"/>
              </a:ext>
            </a:extLst>
          </p:cNvPr>
          <p:cNvSpPr>
            <a:spLocks noGrp="1" noChangeArrowheads="1"/>
          </p:cNvSpPr>
          <p:nvPr>
            <p:ph type="sldNum" sz="quarter" idx="4294967295"/>
          </p:nvPr>
        </p:nvSpPr>
        <p:spPr bwMode="auto">
          <a:xfrm>
            <a:off x="4281488" y="10155238"/>
            <a:ext cx="3276600" cy="5349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169" tIns="50585" rIns="101169" bIns="50585"/>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6D09E789-4868-5643-B871-382FA188B57B}" type="slidenum">
              <a:rPr lang="en-US" altLang="en-US" sz="1300"/>
              <a:pPr eaLnBrk="1" hangingPunct="1"/>
              <a:t>61</a:t>
            </a:fld>
            <a:endParaRPr lang="en-US" altLang="en-US" sz="1300"/>
          </a:p>
        </p:txBody>
      </p:sp>
      <p:sp>
        <p:nvSpPr>
          <p:cNvPr id="110595" name="Rectangle 2">
            <a:extLst>
              <a:ext uri="{FF2B5EF4-FFF2-40B4-BE49-F238E27FC236}">
                <a16:creationId xmlns:a16="http://schemas.microsoft.com/office/drawing/2014/main" id="{ADF1F7CB-FBE7-A254-4CDF-FBDA4E5B1F24}"/>
              </a:ext>
            </a:extLst>
          </p:cNvPr>
          <p:cNvSpPr>
            <a:spLocks noRot="1" noChangeArrowheads="1" noTextEdit="1"/>
          </p:cNvSpPr>
          <p:nvPr>
            <p:ph type="sldImg"/>
          </p:nvPr>
        </p:nvSpPr>
        <p:spPr>
          <a:xfrm>
            <a:off x="1014413" y="692150"/>
            <a:ext cx="4826000" cy="3413125"/>
          </a:xfrm>
          <a:ln/>
        </p:spPr>
      </p:sp>
      <p:sp>
        <p:nvSpPr>
          <p:cNvPr id="110596" name="Rectangle 3">
            <a:extLst>
              <a:ext uri="{FF2B5EF4-FFF2-40B4-BE49-F238E27FC236}">
                <a16:creationId xmlns:a16="http://schemas.microsoft.com/office/drawing/2014/main" id="{0106C4CD-A8F1-BED0-5000-B8A3A6BD2850}"/>
              </a:ext>
            </a:extLst>
          </p:cNvPr>
          <p:cNvSpPr txBox="1">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688" y="2347913"/>
            <a:ext cx="9088437" cy="1620837"/>
          </a:xfrm>
        </p:spPr>
        <p:txBody>
          <a:bodyPr/>
          <a:lstStyle/>
          <a:p>
            <a:r>
              <a:rPr lang="en-US"/>
              <a:t>Click to edit Master title style</a:t>
            </a:r>
            <a:endParaRPr lang="en-GB"/>
          </a:p>
        </p:txBody>
      </p:sp>
      <p:sp>
        <p:nvSpPr>
          <p:cNvPr id="3" name="Subtitle 2"/>
          <p:cNvSpPr>
            <a:spLocks noGrp="1"/>
          </p:cNvSpPr>
          <p:nvPr>
            <p:ph type="subTitle" idx="1"/>
          </p:nvPr>
        </p:nvSpPr>
        <p:spPr>
          <a:xfrm>
            <a:off x="1603375" y="4283075"/>
            <a:ext cx="7485063" cy="193198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509419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921863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550" y="4857750"/>
            <a:ext cx="9088438" cy="15017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844550" y="3203575"/>
            <a:ext cx="90884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431543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81063" y="2286000"/>
            <a:ext cx="3994150" cy="4000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027613" y="2286000"/>
            <a:ext cx="3994150" cy="4000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695683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4988" y="303213"/>
            <a:ext cx="9621837" cy="1258887"/>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534988" y="1692275"/>
            <a:ext cx="4724400"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88" y="2397125"/>
            <a:ext cx="4724400"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5430838" y="1692275"/>
            <a:ext cx="4725987"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0838" y="2397125"/>
            <a:ext cx="4725987"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481863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56668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2944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4988" y="301625"/>
            <a:ext cx="3517900" cy="1279525"/>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179888" y="301625"/>
            <a:ext cx="5976937"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534988" y="1581150"/>
            <a:ext cx="3517900"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22339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500" y="5291138"/>
            <a:ext cx="6415088" cy="625475"/>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095500" y="674688"/>
            <a:ext cx="6415088"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095500" y="5916613"/>
            <a:ext cx="6415088"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95825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547039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86588" y="1352550"/>
            <a:ext cx="2035175" cy="493395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81063" y="1352550"/>
            <a:ext cx="5953125" cy="49339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858613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881063" y="1352550"/>
            <a:ext cx="8140700" cy="625475"/>
          </a:xfrm>
        </p:spPr>
        <p:txBody>
          <a:bodyPr/>
          <a:lstStyle/>
          <a:p>
            <a:r>
              <a:rPr lang="en-US"/>
              <a:t>Click to edit Master title style</a:t>
            </a:r>
            <a:endParaRPr lang="en-GB"/>
          </a:p>
        </p:txBody>
      </p:sp>
      <p:sp>
        <p:nvSpPr>
          <p:cNvPr id="3" name="Text Placeholder 2"/>
          <p:cNvSpPr>
            <a:spLocks noGrp="1"/>
          </p:cNvSpPr>
          <p:nvPr>
            <p:ph type="body" sz="half" idx="1"/>
          </p:nvPr>
        </p:nvSpPr>
        <p:spPr>
          <a:xfrm>
            <a:off x="881063" y="2286000"/>
            <a:ext cx="3994150" cy="40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5027613" y="2286000"/>
            <a:ext cx="3994150" cy="1924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5027613" y="4362450"/>
            <a:ext cx="3994150" cy="1924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471788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881063" y="1352550"/>
            <a:ext cx="8140700" cy="625475"/>
          </a:xfrm>
        </p:spPr>
        <p:txBody>
          <a:bodyPr/>
          <a:lstStyle/>
          <a:p>
            <a:r>
              <a:rPr lang="en-US"/>
              <a:t>Click to edit Master title style</a:t>
            </a:r>
            <a:endParaRPr lang="en-GB"/>
          </a:p>
        </p:txBody>
      </p:sp>
      <p:sp>
        <p:nvSpPr>
          <p:cNvPr id="3" name="Text Placeholder 2"/>
          <p:cNvSpPr>
            <a:spLocks noGrp="1"/>
          </p:cNvSpPr>
          <p:nvPr>
            <p:ph type="body" sz="half" idx="1"/>
          </p:nvPr>
        </p:nvSpPr>
        <p:spPr>
          <a:xfrm>
            <a:off x="881063" y="2286000"/>
            <a:ext cx="8140700" cy="1924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881063" y="4362450"/>
            <a:ext cx="8140700" cy="1924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6524625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81063" y="1352550"/>
            <a:ext cx="8140700" cy="625475"/>
          </a:xfrm>
        </p:spPr>
        <p:txBody>
          <a:bodyPr/>
          <a:lstStyle/>
          <a:p>
            <a:r>
              <a:rPr lang="en-US"/>
              <a:t>Click to edit Master title style</a:t>
            </a:r>
            <a:endParaRPr lang="en-GB"/>
          </a:p>
        </p:txBody>
      </p:sp>
      <p:sp>
        <p:nvSpPr>
          <p:cNvPr id="3" name="Text Placeholder 2"/>
          <p:cNvSpPr>
            <a:spLocks noGrp="1"/>
          </p:cNvSpPr>
          <p:nvPr>
            <p:ph type="body" sz="half" idx="1"/>
          </p:nvPr>
        </p:nvSpPr>
        <p:spPr>
          <a:xfrm>
            <a:off x="881063" y="2286000"/>
            <a:ext cx="3994150" cy="40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027613" y="2286000"/>
            <a:ext cx="3994150" cy="4000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304551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822305" y="671971"/>
            <a:ext cx="9088041" cy="1259946"/>
          </a:xfrm>
        </p:spPr>
        <p:txBody>
          <a:bodyPr/>
          <a:lstStyle/>
          <a:p>
            <a:r>
              <a:rPr lang="en-US"/>
              <a:t>Click to edit Master title style</a:t>
            </a:r>
            <a:endParaRPr lang="en-GB"/>
          </a:p>
        </p:txBody>
      </p:sp>
      <p:sp>
        <p:nvSpPr>
          <p:cNvPr id="3" name="Content Placeholder 2"/>
          <p:cNvSpPr>
            <a:spLocks noGrp="1"/>
          </p:cNvSpPr>
          <p:nvPr>
            <p:ph sz="half" idx="1"/>
          </p:nvPr>
        </p:nvSpPr>
        <p:spPr>
          <a:xfrm>
            <a:off x="801886" y="2183906"/>
            <a:ext cx="4454922" cy="453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5435005" y="2183906"/>
            <a:ext cx="4454922" cy="2183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5435005" y="4535805"/>
            <a:ext cx="4454922" cy="2183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5">
            <a:extLst>
              <a:ext uri="{FF2B5EF4-FFF2-40B4-BE49-F238E27FC236}">
                <a16:creationId xmlns:a16="http://schemas.microsoft.com/office/drawing/2014/main" id="{B4741800-8BED-824C-CD88-D13257390901}"/>
              </a:ext>
            </a:extLst>
          </p:cNvPr>
          <p:cNvSpPr>
            <a:spLocks noGrp="1"/>
          </p:cNvSpPr>
          <p:nvPr>
            <p:ph type="dt" sz="half" idx="10"/>
          </p:nvPr>
        </p:nvSpPr>
        <p:spPr>
          <a:xfrm>
            <a:off x="801688" y="6888163"/>
            <a:ext cx="2227262" cy="503237"/>
          </a:xfrm>
          <a:prstGeom prst="rect">
            <a:avLst/>
          </a:prstGeom>
        </p:spPr>
        <p:txBody>
          <a:bodyPr lIns="104287" tIns="52144" rIns="104287" bIns="52144"/>
          <a:lstStyle>
            <a:lvl1pPr>
              <a:defRPr/>
            </a:lvl1pPr>
          </a:lstStyle>
          <a:p>
            <a:pPr>
              <a:defRPr/>
            </a:pPr>
            <a:endParaRPr lang="en-GB"/>
          </a:p>
        </p:txBody>
      </p:sp>
      <p:sp>
        <p:nvSpPr>
          <p:cNvPr id="7" name="Footer Placeholder 6">
            <a:extLst>
              <a:ext uri="{FF2B5EF4-FFF2-40B4-BE49-F238E27FC236}">
                <a16:creationId xmlns:a16="http://schemas.microsoft.com/office/drawing/2014/main" id="{DCF117F8-75B7-1D4B-55D9-98DFA307517A}"/>
              </a:ext>
            </a:extLst>
          </p:cNvPr>
          <p:cNvSpPr>
            <a:spLocks noGrp="1"/>
          </p:cNvSpPr>
          <p:nvPr>
            <p:ph type="ftr" sz="quarter" idx="11"/>
          </p:nvPr>
        </p:nvSpPr>
        <p:spPr>
          <a:xfrm>
            <a:off x="3652838" y="6888163"/>
            <a:ext cx="3386137" cy="503237"/>
          </a:xfrm>
          <a:prstGeom prst="rect">
            <a:avLst/>
          </a:prstGeom>
        </p:spPr>
        <p:txBody>
          <a:bodyPr lIns="104287" tIns="52144" rIns="104287" bIns="52144"/>
          <a:lstStyle>
            <a:lvl1pPr>
              <a:defRPr/>
            </a:lvl1pPr>
          </a:lstStyle>
          <a:p>
            <a:pPr>
              <a:defRPr/>
            </a:pPr>
            <a:endParaRPr lang="en-GB"/>
          </a:p>
        </p:txBody>
      </p:sp>
      <p:sp>
        <p:nvSpPr>
          <p:cNvPr id="8" name="Slide Number Placeholder 7">
            <a:extLst>
              <a:ext uri="{FF2B5EF4-FFF2-40B4-BE49-F238E27FC236}">
                <a16:creationId xmlns:a16="http://schemas.microsoft.com/office/drawing/2014/main" id="{EF35C8DC-66A6-5945-7CA0-18C347A6019E}"/>
              </a:ext>
            </a:extLst>
          </p:cNvPr>
          <p:cNvSpPr>
            <a:spLocks noGrp="1"/>
          </p:cNvSpPr>
          <p:nvPr>
            <p:ph type="sldNum" sz="quarter" idx="12"/>
          </p:nvPr>
        </p:nvSpPr>
        <p:spPr>
          <a:xfrm>
            <a:off x="7662863" y="6888163"/>
            <a:ext cx="2227262" cy="503237"/>
          </a:xfrm>
          <a:prstGeom prst="rect">
            <a:avLst/>
          </a:prstGeom>
        </p:spPr>
        <p:txBody>
          <a:bodyPr vert="horz" wrap="square" lIns="104287" tIns="52144" rIns="104287" bIns="52144" numCol="1" anchor="t" anchorCtr="0" compatLnSpc="1">
            <a:prstTxWarp prst="textNoShape">
              <a:avLst/>
            </a:prstTxWarp>
          </a:bodyPr>
          <a:lstStyle>
            <a:lvl1pPr>
              <a:defRPr/>
            </a:lvl1pPr>
          </a:lstStyle>
          <a:p>
            <a:fld id="{EF61E66D-3314-0647-AE68-77BBF3676555}" type="slidenum">
              <a:rPr lang="en-GB" altLang="en-US"/>
              <a:pPr/>
              <a:t>‹#›</a:t>
            </a:fld>
            <a:endParaRPr lang="en-GB" altLang="en-US"/>
          </a:p>
        </p:txBody>
      </p:sp>
    </p:spTree>
    <p:extLst>
      <p:ext uri="{BB962C8B-B14F-4D97-AF65-F5344CB8AC3E}">
        <p14:creationId xmlns:p14="http://schemas.microsoft.com/office/powerpoint/2010/main" val="30903037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822305" y="671971"/>
            <a:ext cx="9088041" cy="1259946"/>
          </a:xfrm>
        </p:spPr>
        <p:txBody>
          <a:bodyPr/>
          <a:lstStyle/>
          <a:p>
            <a:r>
              <a:rPr lang="en-US"/>
              <a:t>Click to edit Master title style</a:t>
            </a:r>
            <a:endParaRPr lang="en-GB"/>
          </a:p>
        </p:txBody>
      </p:sp>
      <p:sp>
        <p:nvSpPr>
          <p:cNvPr id="3" name="Content Placeholder 2"/>
          <p:cNvSpPr>
            <a:spLocks noGrp="1"/>
          </p:cNvSpPr>
          <p:nvPr>
            <p:ph sz="quarter" idx="1"/>
          </p:nvPr>
        </p:nvSpPr>
        <p:spPr>
          <a:xfrm>
            <a:off x="801886" y="2183906"/>
            <a:ext cx="4454922" cy="2183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5435005" y="2183906"/>
            <a:ext cx="4454922" cy="2183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801886" y="4535805"/>
            <a:ext cx="4454922" cy="2183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Content Placeholder 5"/>
          <p:cNvSpPr>
            <a:spLocks noGrp="1"/>
          </p:cNvSpPr>
          <p:nvPr>
            <p:ph sz="quarter" idx="4"/>
          </p:nvPr>
        </p:nvSpPr>
        <p:spPr>
          <a:xfrm>
            <a:off x="5435005" y="4535805"/>
            <a:ext cx="4454922" cy="21839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5">
            <a:extLst>
              <a:ext uri="{FF2B5EF4-FFF2-40B4-BE49-F238E27FC236}">
                <a16:creationId xmlns:a16="http://schemas.microsoft.com/office/drawing/2014/main" id="{8CE9A836-9434-1744-0F61-DFB6538A81E7}"/>
              </a:ext>
            </a:extLst>
          </p:cNvPr>
          <p:cNvSpPr>
            <a:spLocks noGrp="1" noChangeArrowheads="1"/>
          </p:cNvSpPr>
          <p:nvPr>
            <p:ph type="dt" sz="half" idx="10"/>
          </p:nvPr>
        </p:nvSpPr>
        <p:spPr>
          <a:xfrm>
            <a:off x="801688" y="6888163"/>
            <a:ext cx="2227262" cy="503237"/>
          </a:xfrm>
          <a:prstGeom prst="rect">
            <a:avLst/>
          </a:prstGeom>
        </p:spPr>
        <p:txBody>
          <a:bodyPr lIns="104287" tIns="52144" rIns="104287" bIns="52144"/>
          <a:lstStyle>
            <a:lvl1pPr>
              <a:defRPr/>
            </a:lvl1pPr>
          </a:lstStyle>
          <a:p>
            <a:pPr>
              <a:defRPr/>
            </a:pPr>
            <a:endParaRPr lang="en-GB"/>
          </a:p>
        </p:txBody>
      </p:sp>
      <p:sp>
        <p:nvSpPr>
          <p:cNvPr id="8" name="Rectangle 6">
            <a:extLst>
              <a:ext uri="{FF2B5EF4-FFF2-40B4-BE49-F238E27FC236}">
                <a16:creationId xmlns:a16="http://schemas.microsoft.com/office/drawing/2014/main" id="{DB588D90-6A96-CFD6-895A-7497817A9F47}"/>
              </a:ext>
            </a:extLst>
          </p:cNvPr>
          <p:cNvSpPr>
            <a:spLocks noGrp="1" noChangeArrowheads="1"/>
          </p:cNvSpPr>
          <p:nvPr>
            <p:ph type="ftr" sz="quarter" idx="11"/>
          </p:nvPr>
        </p:nvSpPr>
        <p:spPr>
          <a:xfrm>
            <a:off x="3652838" y="6888163"/>
            <a:ext cx="3386137" cy="503237"/>
          </a:xfrm>
          <a:prstGeom prst="rect">
            <a:avLst/>
          </a:prstGeom>
        </p:spPr>
        <p:txBody>
          <a:bodyPr lIns="104287" tIns="52144" rIns="104287" bIns="52144"/>
          <a:lstStyle>
            <a:lvl1pPr>
              <a:defRPr/>
            </a:lvl1pPr>
          </a:lstStyle>
          <a:p>
            <a:pPr>
              <a:defRPr/>
            </a:pPr>
            <a:endParaRPr lang="en-GB"/>
          </a:p>
        </p:txBody>
      </p:sp>
      <p:sp>
        <p:nvSpPr>
          <p:cNvPr id="9" name="Rectangle 7">
            <a:extLst>
              <a:ext uri="{FF2B5EF4-FFF2-40B4-BE49-F238E27FC236}">
                <a16:creationId xmlns:a16="http://schemas.microsoft.com/office/drawing/2014/main" id="{A5F5EC6C-319B-7A36-8E65-6190249D04E4}"/>
              </a:ext>
            </a:extLst>
          </p:cNvPr>
          <p:cNvSpPr>
            <a:spLocks noGrp="1" noChangeArrowheads="1"/>
          </p:cNvSpPr>
          <p:nvPr>
            <p:ph type="sldNum" sz="quarter" idx="12"/>
          </p:nvPr>
        </p:nvSpPr>
        <p:spPr>
          <a:xfrm>
            <a:off x="7662863" y="6888163"/>
            <a:ext cx="2227262" cy="503237"/>
          </a:xfrm>
          <a:prstGeom prst="rect">
            <a:avLst/>
          </a:prstGeom>
        </p:spPr>
        <p:txBody>
          <a:bodyPr vert="horz" wrap="square" lIns="104287" tIns="52144" rIns="104287" bIns="52144" numCol="1" anchor="t" anchorCtr="0" compatLnSpc="1">
            <a:prstTxWarp prst="textNoShape">
              <a:avLst/>
            </a:prstTxWarp>
          </a:bodyPr>
          <a:lstStyle>
            <a:lvl1pPr>
              <a:defRPr/>
            </a:lvl1pPr>
          </a:lstStyle>
          <a:p>
            <a:fld id="{F94207B1-0621-0547-A8FD-C619E83C9329}" type="slidenum">
              <a:rPr lang="en-GB" altLang="en-US"/>
              <a:pPr/>
              <a:t>‹#›</a:t>
            </a:fld>
            <a:endParaRPr lang="en-GB" altLang="en-US"/>
          </a:p>
        </p:txBody>
      </p:sp>
    </p:spTree>
    <p:extLst>
      <p:ext uri="{BB962C8B-B14F-4D97-AF65-F5344CB8AC3E}">
        <p14:creationId xmlns:p14="http://schemas.microsoft.com/office/powerpoint/2010/main" val="6270387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688" y="2347913"/>
            <a:ext cx="9088437" cy="1620837"/>
          </a:xfrm>
        </p:spPr>
        <p:txBody>
          <a:bodyPr/>
          <a:lstStyle/>
          <a:p>
            <a:r>
              <a:rPr lang="en-US"/>
              <a:t>Click to edit Master title style</a:t>
            </a:r>
            <a:endParaRPr lang="en-GB"/>
          </a:p>
        </p:txBody>
      </p:sp>
      <p:sp>
        <p:nvSpPr>
          <p:cNvPr id="3" name="Subtitle 2"/>
          <p:cNvSpPr>
            <a:spLocks noGrp="1"/>
          </p:cNvSpPr>
          <p:nvPr>
            <p:ph type="subTitle" idx="1"/>
          </p:nvPr>
        </p:nvSpPr>
        <p:spPr>
          <a:xfrm>
            <a:off x="1603375" y="4283075"/>
            <a:ext cx="7485063" cy="1931988"/>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3">
            <a:extLst>
              <a:ext uri="{FF2B5EF4-FFF2-40B4-BE49-F238E27FC236}">
                <a16:creationId xmlns:a16="http://schemas.microsoft.com/office/drawing/2014/main" id="{D099F982-5624-C591-ECAE-3BCCABA60356}"/>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4">
            <a:extLst>
              <a:ext uri="{FF2B5EF4-FFF2-40B4-BE49-F238E27FC236}">
                <a16:creationId xmlns:a16="http://schemas.microsoft.com/office/drawing/2014/main" id="{4637417F-5818-F283-94B3-86A8620CEEA2}"/>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82636B6D-2B8D-AC67-643F-CA249B59470A}"/>
              </a:ext>
            </a:extLst>
          </p:cNvPr>
          <p:cNvSpPr>
            <a:spLocks noGrp="1" noChangeArrowheads="1"/>
          </p:cNvSpPr>
          <p:nvPr>
            <p:ph type="sldNum" sz="quarter" idx="12"/>
          </p:nvPr>
        </p:nvSpPr>
        <p:spPr>
          <a:ln/>
        </p:spPr>
        <p:txBody>
          <a:bodyPr/>
          <a:lstStyle>
            <a:lvl1pPr>
              <a:defRPr/>
            </a:lvl1pPr>
          </a:lstStyle>
          <a:p>
            <a:fld id="{19C2FC1C-0A47-7B47-AB93-7B28B2A5E101}" type="slidenum">
              <a:rPr lang="en-GB" altLang="en-US"/>
              <a:pPr/>
              <a:t>‹#›</a:t>
            </a:fld>
            <a:endParaRPr lang="en-GB" altLang="en-US"/>
          </a:p>
        </p:txBody>
      </p:sp>
    </p:spTree>
    <p:extLst>
      <p:ext uri="{BB962C8B-B14F-4D97-AF65-F5344CB8AC3E}">
        <p14:creationId xmlns:p14="http://schemas.microsoft.com/office/powerpoint/2010/main" val="14473535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a:xfrm>
            <a:off x="534988" y="1763713"/>
            <a:ext cx="9621837" cy="49895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a:extLst>
              <a:ext uri="{FF2B5EF4-FFF2-40B4-BE49-F238E27FC236}">
                <a16:creationId xmlns:a16="http://schemas.microsoft.com/office/drawing/2014/main" id="{0B46EA4F-D8FC-A965-ADDD-39E37250157D}"/>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4">
            <a:extLst>
              <a:ext uri="{FF2B5EF4-FFF2-40B4-BE49-F238E27FC236}">
                <a16:creationId xmlns:a16="http://schemas.microsoft.com/office/drawing/2014/main" id="{C98EDF56-301E-AFBF-2D63-C6D63D0E77A4}"/>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C4ACFBC9-1080-E5EB-FFDA-3A5531337202}"/>
              </a:ext>
            </a:extLst>
          </p:cNvPr>
          <p:cNvSpPr>
            <a:spLocks noGrp="1" noChangeArrowheads="1"/>
          </p:cNvSpPr>
          <p:nvPr>
            <p:ph type="sldNum" sz="quarter" idx="12"/>
          </p:nvPr>
        </p:nvSpPr>
        <p:spPr>
          <a:ln/>
        </p:spPr>
        <p:txBody>
          <a:bodyPr/>
          <a:lstStyle>
            <a:lvl1pPr>
              <a:defRPr/>
            </a:lvl1pPr>
          </a:lstStyle>
          <a:p>
            <a:fld id="{34F924ED-4483-2F41-9DC0-40AA0ECBEB7C}" type="slidenum">
              <a:rPr lang="en-GB" altLang="en-US"/>
              <a:pPr/>
              <a:t>‹#›</a:t>
            </a:fld>
            <a:endParaRPr lang="en-GB" altLang="en-US"/>
          </a:p>
        </p:txBody>
      </p:sp>
    </p:spTree>
    <p:extLst>
      <p:ext uri="{BB962C8B-B14F-4D97-AF65-F5344CB8AC3E}">
        <p14:creationId xmlns:p14="http://schemas.microsoft.com/office/powerpoint/2010/main" val="40661104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44550" y="4857750"/>
            <a:ext cx="9088438" cy="15017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844550" y="3203575"/>
            <a:ext cx="9088438" cy="1654175"/>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a:extLst>
              <a:ext uri="{FF2B5EF4-FFF2-40B4-BE49-F238E27FC236}">
                <a16:creationId xmlns:a16="http://schemas.microsoft.com/office/drawing/2014/main" id="{C533F8C9-E367-9627-4188-82F16AB04E8E}"/>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4">
            <a:extLst>
              <a:ext uri="{FF2B5EF4-FFF2-40B4-BE49-F238E27FC236}">
                <a16:creationId xmlns:a16="http://schemas.microsoft.com/office/drawing/2014/main" id="{C40D02A0-DAF8-1665-E0DC-6B465F4B792F}"/>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8D151598-1E1F-B6DE-9DB3-A18088B1420F}"/>
              </a:ext>
            </a:extLst>
          </p:cNvPr>
          <p:cNvSpPr>
            <a:spLocks noGrp="1" noChangeArrowheads="1"/>
          </p:cNvSpPr>
          <p:nvPr>
            <p:ph type="sldNum" sz="quarter" idx="12"/>
          </p:nvPr>
        </p:nvSpPr>
        <p:spPr>
          <a:ln/>
        </p:spPr>
        <p:txBody>
          <a:bodyPr/>
          <a:lstStyle>
            <a:lvl1pPr>
              <a:defRPr/>
            </a:lvl1pPr>
          </a:lstStyle>
          <a:p>
            <a:fld id="{95306151-9387-D643-A962-9956E76CBC6A}" type="slidenum">
              <a:rPr lang="en-GB" altLang="en-US"/>
              <a:pPr/>
              <a:t>‹#›</a:t>
            </a:fld>
            <a:endParaRPr lang="en-GB" altLang="en-US"/>
          </a:p>
        </p:txBody>
      </p:sp>
    </p:spTree>
    <p:extLst>
      <p:ext uri="{BB962C8B-B14F-4D97-AF65-F5344CB8AC3E}">
        <p14:creationId xmlns:p14="http://schemas.microsoft.com/office/powerpoint/2010/main" val="25831281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534988" y="1763713"/>
            <a:ext cx="4733925" cy="498951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421313" y="1763713"/>
            <a:ext cx="4735512" cy="498951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3">
            <a:extLst>
              <a:ext uri="{FF2B5EF4-FFF2-40B4-BE49-F238E27FC236}">
                <a16:creationId xmlns:a16="http://schemas.microsoft.com/office/drawing/2014/main" id="{A7F416C7-E9BE-90D5-FC7B-2F16093E4FDE}"/>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4">
            <a:extLst>
              <a:ext uri="{FF2B5EF4-FFF2-40B4-BE49-F238E27FC236}">
                <a16:creationId xmlns:a16="http://schemas.microsoft.com/office/drawing/2014/main" id="{FD7A01C8-B924-CE8E-88FE-5B33608F6134}"/>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5">
            <a:extLst>
              <a:ext uri="{FF2B5EF4-FFF2-40B4-BE49-F238E27FC236}">
                <a16:creationId xmlns:a16="http://schemas.microsoft.com/office/drawing/2014/main" id="{57CAAC56-05DE-D246-058C-C1052BF1A626}"/>
              </a:ext>
            </a:extLst>
          </p:cNvPr>
          <p:cNvSpPr>
            <a:spLocks noGrp="1" noChangeArrowheads="1"/>
          </p:cNvSpPr>
          <p:nvPr>
            <p:ph type="sldNum" sz="quarter" idx="12"/>
          </p:nvPr>
        </p:nvSpPr>
        <p:spPr>
          <a:ln/>
        </p:spPr>
        <p:txBody>
          <a:bodyPr/>
          <a:lstStyle>
            <a:lvl1pPr>
              <a:defRPr/>
            </a:lvl1pPr>
          </a:lstStyle>
          <a:p>
            <a:fld id="{96E676F8-D643-404F-9153-D2D332117A0F}" type="slidenum">
              <a:rPr lang="en-GB" altLang="en-US"/>
              <a:pPr/>
              <a:t>‹#›</a:t>
            </a:fld>
            <a:endParaRPr lang="en-GB" altLang="en-US"/>
          </a:p>
        </p:txBody>
      </p:sp>
    </p:spTree>
    <p:extLst>
      <p:ext uri="{BB962C8B-B14F-4D97-AF65-F5344CB8AC3E}">
        <p14:creationId xmlns:p14="http://schemas.microsoft.com/office/powerpoint/2010/main" val="21674528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534988" y="1692275"/>
            <a:ext cx="4724400" cy="7048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4988" y="2397125"/>
            <a:ext cx="4724400" cy="435610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5430838" y="1692275"/>
            <a:ext cx="4725987" cy="7048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30838" y="2397125"/>
            <a:ext cx="4725987" cy="435610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3">
            <a:extLst>
              <a:ext uri="{FF2B5EF4-FFF2-40B4-BE49-F238E27FC236}">
                <a16:creationId xmlns:a16="http://schemas.microsoft.com/office/drawing/2014/main" id="{0B3282E5-CF47-8E61-6D15-57C74C3F30E7}"/>
              </a:ext>
            </a:extLst>
          </p:cNvPr>
          <p:cNvSpPr>
            <a:spLocks noGrp="1" noChangeArrowheads="1"/>
          </p:cNvSpPr>
          <p:nvPr>
            <p:ph type="dt" sz="half" idx="10"/>
          </p:nvPr>
        </p:nvSpPr>
        <p:spPr>
          <a:ln/>
        </p:spPr>
        <p:txBody>
          <a:bodyPr/>
          <a:lstStyle>
            <a:lvl1pPr>
              <a:defRPr/>
            </a:lvl1pPr>
          </a:lstStyle>
          <a:p>
            <a:pPr>
              <a:defRPr/>
            </a:pPr>
            <a:endParaRPr lang="en-GB"/>
          </a:p>
        </p:txBody>
      </p:sp>
      <p:sp>
        <p:nvSpPr>
          <p:cNvPr id="8" name="Rectangle 4">
            <a:extLst>
              <a:ext uri="{FF2B5EF4-FFF2-40B4-BE49-F238E27FC236}">
                <a16:creationId xmlns:a16="http://schemas.microsoft.com/office/drawing/2014/main" id="{B88CB5E0-EEDC-5FCA-7347-68C400D178D5}"/>
              </a:ext>
            </a:extLst>
          </p:cNvPr>
          <p:cNvSpPr>
            <a:spLocks noGrp="1" noChangeArrowheads="1"/>
          </p:cNvSpPr>
          <p:nvPr>
            <p:ph type="ftr" sz="quarter" idx="11"/>
          </p:nvPr>
        </p:nvSpPr>
        <p:spPr>
          <a:ln/>
        </p:spPr>
        <p:txBody>
          <a:bodyPr/>
          <a:lstStyle>
            <a:lvl1pPr>
              <a:defRPr/>
            </a:lvl1pPr>
          </a:lstStyle>
          <a:p>
            <a:pPr>
              <a:defRPr/>
            </a:pPr>
            <a:endParaRPr lang="en-GB"/>
          </a:p>
        </p:txBody>
      </p:sp>
      <p:sp>
        <p:nvSpPr>
          <p:cNvPr id="9" name="Rectangle 5">
            <a:extLst>
              <a:ext uri="{FF2B5EF4-FFF2-40B4-BE49-F238E27FC236}">
                <a16:creationId xmlns:a16="http://schemas.microsoft.com/office/drawing/2014/main" id="{08BCF209-774C-A6E4-738E-79B4BACCD7FF}"/>
              </a:ext>
            </a:extLst>
          </p:cNvPr>
          <p:cNvSpPr>
            <a:spLocks noGrp="1" noChangeArrowheads="1"/>
          </p:cNvSpPr>
          <p:nvPr>
            <p:ph type="sldNum" sz="quarter" idx="12"/>
          </p:nvPr>
        </p:nvSpPr>
        <p:spPr>
          <a:ln/>
        </p:spPr>
        <p:txBody>
          <a:bodyPr/>
          <a:lstStyle>
            <a:lvl1pPr>
              <a:defRPr/>
            </a:lvl1pPr>
          </a:lstStyle>
          <a:p>
            <a:fld id="{ABBAA96D-B568-CF45-B21D-18A2B7257E33}" type="slidenum">
              <a:rPr lang="en-GB" altLang="en-US"/>
              <a:pPr/>
              <a:t>‹#›</a:t>
            </a:fld>
            <a:endParaRPr lang="en-GB" altLang="en-US"/>
          </a:p>
        </p:txBody>
      </p:sp>
    </p:spTree>
    <p:extLst>
      <p:ext uri="{BB962C8B-B14F-4D97-AF65-F5344CB8AC3E}">
        <p14:creationId xmlns:p14="http://schemas.microsoft.com/office/powerpoint/2010/main" val="8556669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3">
            <a:extLst>
              <a:ext uri="{FF2B5EF4-FFF2-40B4-BE49-F238E27FC236}">
                <a16:creationId xmlns:a16="http://schemas.microsoft.com/office/drawing/2014/main" id="{0637FC25-CAA9-384D-F060-0D8EE94924E5}"/>
              </a:ext>
            </a:extLst>
          </p:cNvPr>
          <p:cNvSpPr>
            <a:spLocks noGrp="1" noChangeArrowheads="1"/>
          </p:cNvSpPr>
          <p:nvPr>
            <p:ph type="dt" sz="half" idx="10"/>
          </p:nvPr>
        </p:nvSpPr>
        <p:spPr>
          <a:ln/>
        </p:spPr>
        <p:txBody>
          <a:bodyPr/>
          <a:lstStyle>
            <a:lvl1pPr>
              <a:defRPr/>
            </a:lvl1pPr>
          </a:lstStyle>
          <a:p>
            <a:pPr>
              <a:defRPr/>
            </a:pPr>
            <a:endParaRPr lang="en-GB"/>
          </a:p>
        </p:txBody>
      </p:sp>
      <p:sp>
        <p:nvSpPr>
          <p:cNvPr id="4" name="Rectangle 4">
            <a:extLst>
              <a:ext uri="{FF2B5EF4-FFF2-40B4-BE49-F238E27FC236}">
                <a16:creationId xmlns:a16="http://schemas.microsoft.com/office/drawing/2014/main" id="{1F679F43-3F34-E3D4-DBE1-FDE57C5E95F5}"/>
              </a:ext>
            </a:extLst>
          </p:cNvPr>
          <p:cNvSpPr>
            <a:spLocks noGrp="1" noChangeArrowheads="1"/>
          </p:cNvSpPr>
          <p:nvPr>
            <p:ph type="ftr" sz="quarter" idx="11"/>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3467BEC9-6250-0D87-D7A3-196CEA84819A}"/>
              </a:ext>
            </a:extLst>
          </p:cNvPr>
          <p:cNvSpPr>
            <a:spLocks noGrp="1" noChangeArrowheads="1"/>
          </p:cNvSpPr>
          <p:nvPr>
            <p:ph type="sldNum" sz="quarter" idx="12"/>
          </p:nvPr>
        </p:nvSpPr>
        <p:spPr>
          <a:ln/>
        </p:spPr>
        <p:txBody>
          <a:bodyPr/>
          <a:lstStyle>
            <a:lvl1pPr>
              <a:defRPr/>
            </a:lvl1pPr>
          </a:lstStyle>
          <a:p>
            <a:fld id="{F5880FE2-828E-224B-BD02-529A35CCB5C4}" type="slidenum">
              <a:rPr lang="en-GB" altLang="en-US"/>
              <a:pPr/>
              <a:t>‹#›</a:t>
            </a:fld>
            <a:endParaRPr lang="en-GB" altLang="en-US"/>
          </a:p>
        </p:txBody>
      </p:sp>
    </p:spTree>
    <p:extLst>
      <p:ext uri="{BB962C8B-B14F-4D97-AF65-F5344CB8AC3E}">
        <p14:creationId xmlns:p14="http://schemas.microsoft.com/office/powerpoint/2010/main" val="14991098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FB4AE4B-C456-9A6C-2FC0-BB459051E1A0}"/>
              </a:ext>
            </a:extLst>
          </p:cNvPr>
          <p:cNvSpPr>
            <a:spLocks noGrp="1" noChangeArrowheads="1"/>
          </p:cNvSpPr>
          <p:nvPr>
            <p:ph type="dt" sz="half" idx="10"/>
          </p:nvPr>
        </p:nvSpPr>
        <p:spPr>
          <a:ln/>
        </p:spPr>
        <p:txBody>
          <a:bodyPr/>
          <a:lstStyle>
            <a:lvl1pPr>
              <a:defRPr/>
            </a:lvl1pPr>
          </a:lstStyle>
          <a:p>
            <a:pPr>
              <a:defRPr/>
            </a:pPr>
            <a:endParaRPr lang="en-GB"/>
          </a:p>
        </p:txBody>
      </p:sp>
      <p:sp>
        <p:nvSpPr>
          <p:cNvPr id="3" name="Rectangle 4">
            <a:extLst>
              <a:ext uri="{FF2B5EF4-FFF2-40B4-BE49-F238E27FC236}">
                <a16:creationId xmlns:a16="http://schemas.microsoft.com/office/drawing/2014/main" id="{D5DACA80-A117-C996-10D5-88E19C4F8D60}"/>
              </a:ext>
            </a:extLst>
          </p:cNvPr>
          <p:cNvSpPr>
            <a:spLocks noGrp="1" noChangeArrowheads="1"/>
          </p:cNvSpPr>
          <p:nvPr>
            <p:ph type="ftr" sz="quarter" idx="11"/>
          </p:nvPr>
        </p:nvSpPr>
        <p:spPr>
          <a:ln/>
        </p:spPr>
        <p:txBody>
          <a:bodyPr/>
          <a:lstStyle>
            <a:lvl1pPr>
              <a:defRPr/>
            </a:lvl1pPr>
          </a:lstStyle>
          <a:p>
            <a:pPr>
              <a:defRPr/>
            </a:pPr>
            <a:endParaRPr lang="en-GB"/>
          </a:p>
        </p:txBody>
      </p:sp>
      <p:sp>
        <p:nvSpPr>
          <p:cNvPr id="4" name="Rectangle 5">
            <a:extLst>
              <a:ext uri="{FF2B5EF4-FFF2-40B4-BE49-F238E27FC236}">
                <a16:creationId xmlns:a16="http://schemas.microsoft.com/office/drawing/2014/main" id="{F8DE6E56-6DFA-E86F-69CC-70C2F6B7740D}"/>
              </a:ext>
            </a:extLst>
          </p:cNvPr>
          <p:cNvSpPr>
            <a:spLocks noGrp="1" noChangeArrowheads="1"/>
          </p:cNvSpPr>
          <p:nvPr>
            <p:ph type="sldNum" sz="quarter" idx="12"/>
          </p:nvPr>
        </p:nvSpPr>
        <p:spPr>
          <a:ln/>
        </p:spPr>
        <p:txBody>
          <a:bodyPr/>
          <a:lstStyle>
            <a:lvl1pPr>
              <a:defRPr/>
            </a:lvl1pPr>
          </a:lstStyle>
          <a:p>
            <a:fld id="{F641F0F2-EE6D-8F47-B390-098E1FBEA513}" type="slidenum">
              <a:rPr lang="en-GB" altLang="en-US"/>
              <a:pPr/>
              <a:t>‹#›</a:t>
            </a:fld>
            <a:endParaRPr lang="en-GB" altLang="en-US"/>
          </a:p>
        </p:txBody>
      </p:sp>
    </p:spTree>
    <p:extLst>
      <p:ext uri="{BB962C8B-B14F-4D97-AF65-F5344CB8AC3E}">
        <p14:creationId xmlns:p14="http://schemas.microsoft.com/office/powerpoint/2010/main" val="28476718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4988" y="301625"/>
            <a:ext cx="3517900" cy="1279525"/>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179888" y="301625"/>
            <a:ext cx="5976937" cy="6451600"/>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534988" y="1581150"/>
            <a:ext cx="3517900" cy="5172075"/>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A85A61B0-2019-AAA7-42DE-E78E04D1BAB6}"/>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4">
            <a:extLst>
              <a:ext uri="{FF2B5EF4-FFF2-40B4-BE49-F238E27FC236}">
                <a16:creationId xmlns:a16="http://schemas.microsoft.com/office/drawing/2014/main" id="{702345BD-C753-87D1-7DFA-2F347E43548E}"/>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5">
            <a:extLst>
              <a:ext uri="{FF2B5EF4-FFF2-40B4-BE49-F238E27FC236}">
                <a16:creationId xmlns:a16="http://schemas.microsoft.com/office/drawing/2014/main" id="{294F8313-8E54-B203-CEC9-6E251D155151}"/>
              </a:ext>
            </a:extLst>
          </p:cNvPr>
          <p:cNvSpPr>
            <a:spLocks noGrp="1" noChangeArrowheads="1"/>
          </p:cNvSpPr>
          <p:nvPr>
            <p:ph type="sldNum" sz="quarter" idx="12"/>
          </p:nvPr>
        </p:nvSpPr>
        <p:spPr>
          <a:ln/>
        </p:spPr>
        <p:txBody>
          <a:bodyPr/>
          <a:lstStyle>
            <a:lvl1pPr>
              <a:defRPr/>
            </a:lvl1pPr>
          </a:lstStyle>
          <a:p>
            <a:fld id="{1A6318AC-0CDA-994A-A8A7-F1D46B1D9130}" type="slidenum">
              <a:rPr lang="en-GB" altLang="en-US"/>
              <a:pPr/>
              <a:t>‹#›</a:t>
            </a:fld>
            <a:endParaRPr lang="en-GB" altLang="en-US"/>
          </a:p>
        </p:txBody>
      </p:sp>
    </p:spTree>
    <p:extLst>
      <p:ext uri="{BB962C8B-B14F-4D97-AF65-F5344CB8AC3E}">
        <p14:creationId xmlns:p14="http://schemas.microsoft.com/office/powerpoint/2010/main" val="163763346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95500" y="5291138"/>
            <a:ext cx="6415088" cy="625475"/>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095500" y="674688"/>
            <a:ext cx="6415088" cy="453707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095500" y="5916613"/>
            <a:ext cx="6415088" cy="8874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a:extLst>
              <a:ext uri="{FF2B5EF4-FFF2-40B4-BE49-F238E27FC236}">
                <a16:creationId xmlns:a16="http://schemas.microsoft.com/office/drawing/2014/main" id="{80321E70-48D1-DF83-0E55-A9AE6AC95265}"/>
              </a:ext>
            </a:extLst>
          </p:cNvPr>
          <p:cNvSpPr>
            <a:spLocks noGrp="1" noChangeArrowheads="1"/>
          </p:cNvSpPr>
          <p:nvPr>
            <p:ph type="dt" sz="half" idx="10"/>
          </p:nvPr>
        </p:nvSpPr>
        <p:spPr>
          <a:ln/>
        </p:spPr>
        <p:txBody>
          <a:bodyPr/>
          <a:lstStyle>
            <a:lvl1pPr>
              <a:defRPr/>
            </a:lvl1pPr>
          </a:lstStyle>
          <a:p>
            <a:pPr>
              <a:defRPr/>
            </a:pPr>
            <a:endParaRPr lang="en-GB"/>
          </a:p>
        </p:txBody>
      </p:sp>
      <p:sp>
        <p:nvSpPr>
          <p:cNvPr id="6" name="Rectangle 4">
            <a:extLst>
              <a:ext uri="{FF2B5EF4-FFF2-40B4-BE49-F238E27FC236}">
                <a16:creationId xmlns:a16="http://schemas.microsoft.com/office/drawing/2014/main" id="{B76314B9-5FEB-FCC4-C8E8-727A9849A118}"/>
              </a:ext>
            </a:extLst>
          </p:cNvPr>
          <p:cNvSpPr>
            <a:spLocks noGrp="1" noChangeArrowheads="1"/>
          </p:cNvSpPr>
          <p:nvPr>
            <p:ph type="ftr" sz="quarter" idx="11"/>
          </p:nvPr>
        </p:nvSpPr>
        <p:spPr>
          <a:ln/>
        </p:spPr>
        <p:txBody>
          <a:bodyPr/>
          <a:lstStyle>
            <a:lvl1pPr>
              <a:defRPr/>
            </a:lvl1pPr>
          </a:lstStyle>
          <a:p>
            <a:pPr>
              <a:defRPr/>
            </a:pPr>
            <a:endParaRPr lang="en-GB"/>
          </a:p>
        </p:txBody>
      </p:sp>
      <p:sp>
        <p:nvSpPr>
          <p:cNvPr id="7" name="Rectangle 5">
            <a:extLst>
              <a:ext uri="{FF2B5EF4-FFF2-40B4-BE49-F238E27FC236}">
                <a16:creationId xmlns:a16="http://schemas.microsoft.com/office/drawing/2014/main" id="{AF552D1C-D02D-B3DE-3A45-AD621C90E1A3}"/>
              </a:ext>
            </a:extLst>
          </p:cNvPr>
          <p:cNvSpPr>
            <a:spLocks noGrp="1" noChangeArrowheads="1"/>
          </p:cNvSpPr>
          <p:nvPr>
            <p:ph type="sldNum" sz="quarter" idx="12"/>
          </p:nvPr>
        </p:nvSpPr>
        <p:spPr>
          <a:ln/>
        </p:spPr>
        <p:txBody>
          <a:bodyPr/>
          <a:lstStyle>
            <a:lvl1pPr>
              <a:defRPr/>
            </a:lvl1pPr>
          </a:lstStyle>
          <a:p>
            <a:fld id="{071C432A-A27F-2642-9269-22880504E7AC}" type="slidenum">
              <a:rPr lang="en-GB" altLang="en-US"/>
              <a:pPr/>
              <a:t>‹#›</a:t>
            </a:fld>
            <a:endParaRPr lang="en-GB" altLang="en-US"/>
          </a:p>
        </p:txBody>
      </p:sp>
    </p:spTree>
    <p:extLst>
      <p:ext uri="{BB962C8B-B14F-4D97-AF65-F5344CB8AC3E}">
        <p14:creationId xmlns:p14="http://schemas.microsoft.com/office/powerpoint/2010/main" val="42239073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a:xfrm>
            <a:off x="534988" y="1763713"/>
            <a:ext cx="9621837" cy="49895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a:extLst>
              <a:ext uri="{FF2B5EF4-FFF2-40B4-BE49-F238E27FC236}">
                <a16:creationId xmlns:a16="http://schemas.microsoft.com/office/drawing/2014/main" id="{6F455380-B3FC-5974-B87B-D2F59121AD70}"/>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4">
            <a:extLst>
              <a:ext uri="{FF2B5EF4-FFF2-40B4-BE49-F238E27FC236}">
                <a16:creationId xmlns:a16="http://schemas.microsoft.com/office/drawing/2014/main" id="{F0015541-EB44-C3B5-303E-741B4953D243}"/>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4F143BF5-5132-DF87-5237-515F2D9CAAE3}"/>
              </a:ext>
            </a:extLst>
          </p:cNvPr>
          <p:cNvSpPr>
            <a:spLocks noGrp="1" noChangeArrowheads="1"/>
          </p:cNvSpPr>
          <p:nvPr>
            <p:ph type="sldNum" sz="quarter" idx="12"/>
          </p:nvPr>
        </p:nvSpPr>
        <p:spPr>
          <a:ln/>
        </p:spPr>
        <p:txBody>
          <a:bodyPr/>
          <a:lstStyle>
            <a:lvl1pPr>
              <a:defRPr/>
            </a:lvl1pPr>
          </a:lstStyle>
          <a:p>
            <a:fld id="{D7460218-28E6-EF46-87F1-F191BB9750D0}" type="slidenum">
              <a:rPr lang="en-GB" altLang="en-US"/>
              <a:pPr/>
              <a:t>‹#›</a:t>
            </a:fld>
            <a:endParaRPr lang="en-GB" altLang="en-US"/>
          </a:p>
        </p:txBody>
      </p:sp>
    </p:spTree>
    <p:extLst>
      <p:ext uri="{BB962C8B-B14F-4D97-AF65-F5344CB8AC3E}">
        <p14:creationId xmlns:p14="http://schemas.microsoft.com/office/powerpoint/2010/main" val="3629492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51763" y="303213"/>
            <a:ext cx="2405062" cy="645001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534988" y="303213"/>
            <a:ext cx="7064375" cy="645001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a:extLst>
              <a:ext uri="{FF2B5EF4-FFF2-40B4-BE49-F238E27FC236}">
                <a16:creationId xmlns:a16="http://schemas.microsoft.com/office/drawing/2014/main" id="{16CCE937-54E4-9D30-0216-8E1DAF0D53F2}"/>
              </a:ext>
            </a:extLst>
          </p:cNvPr>
          <p:cNvSpPr>
            <a:spLocks noGrp="1" noChangeArrowheads="1"/>
          </p:cNvSpPr>
          <p:nvPr>
            <p:ph type="dt" sz="half" idx="10"/>
          </p:nvPr>
        </p:nvSpPr>
        <p:spPr>
          <a:ln/>
        </p:spPr>
        <p:txBody>
          <a:bodyPr/>
          <a:lstStyle>
            <a:lvl1pPr>
              <a:defRPr/>
            </a:lvl1pPr>
          </a:lstStyle>
          <a:p>
            <a:pPr>
              <a:defRPr/>
            </a:pPr>
            <a:endParaRPr lang="en-GB"/>
          </a:p>
        </p:txBody>
      </p:sp>
      <p:sp>
        <p:nvSpPr>
          <p:cNvPr id="5" name="Rectangle 4">
            <a:extLst>
              <a:ext uri="{FF2B5EF4-FFF2-40B4-BE49-F238E27FC236}">
                <a16:creationId xmlns:a16="http://schemas.microsoft.com/office/drawing/2014/main" id="{0B6E9B12-5514-FE28-65B8-7AB492A6A219}"/>
              </a:ext>
            </a:extLst>
          </p:cNvPr>
          <p:cNvSpPr>
            <a:spLocks noGrp="1" noChangeArrowheads="1"/>
          </p:cNvSpPr>
          <p:nvPr>
            <p:ph type="ftr" sz="quarter" idx="11"/>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07E28FA9-F847-E94F-3457-BB83277B67A5}"/>
              </a:ext>
            </a:extLst>
          </p:cNvPr>
          <p:cNvSpPr>
            <a:spLocks noGrp="1" noChangeArrowheads="1"/>
          </p:cNvSpPr>
          <p:nvPr>
            <p:ph type="sldNum" sz="quarter" idx="12"/>
          </p:nvPr>
        </p:nvSpPr>
        <p:spPr>
          <a:ln/>
        </p:spPr>
        <p:txBody>
          <a:bodyPr/>
          <a:lstStyle>
            <a:lvl1pPr>
              <a:defRPr/>
            </a:lvl1pPr>
          </a:lstStyle>
          <a:p>
            <a:fld id="{FBABE25E-8845-4C47-9976-D67017FED40C}" type="slidenum">
              <a:rPr lang="en-GB" altLang="en-US"/>
              <a:pPr/>
              <a:t>‹#›</a:t>
            </a:fld>
            <a:endParaRPr lang="en-GB" altLang="en-US"/>
          </a:p>
        </p:txBody>
      </p:sp>
    </p:spTree>
    <p:extLst>
      <p:ext uri="{BB962C8B-B14F-4D97-AF65-F5344CB8AC3E}">
        <p14:creationId xmlns:p14="http://schemas.microsoft.com/office/powerpoint/2010/main" val="7886242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2.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Text Box 1">
            <a:extLst>
              <a:ext uri="{FF2B5EF4-FFF2-40B4-BE49-F238E27FC236}">
                <a16:creationId xmlns:a16="http://schemas.microsoft.com/office/drawing/2014/main" id="{71064CDF-3C8E-8B46-1345-2EED9728F3F2}"/>
              </a:ext>
            </a:extLst>
          </p:cNvPr>
          <p:cNvSpPr txBox="1">
            <a:spLocks noChangeArrowheads="1"/>
          </p:cNvSpPr>
          <p:nvPr/>
        </p:nvSpPr>
        <p:spPr bwMode="auto">
          <a:xfrm>
            <a:off x="852488" y="6796088"/>
            <a:ext cx="1068387"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5pPr>
            <a:lvl6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6pPr>
            <a:lvl7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7pPr>
            <a:lvl8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8pPr>
            <a:lvl9pPr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itchFamily="18" charset="0"/>
              </a:defRPr>
            </a:lvl9pPr>
          </a:lstStyle>
          <a:p>
            <a:pPr>
              <a:buSzPct val="99000"/>
              <a:defRPr/>
            </a:pPr>
            <a:r>
              <a:rPr lang="en-GB" sz="800">
                <a:latin typeface="Arial" charset="0"/>
              </a:rPr>
              <a:t>amac-overview.ppt </a:t>
            </a:r>
          </a:p>
        </p:txBody>
      </p:sp>
      <p:sp>
        <p:nvSpPr>
          <p:cNvPr id="1026" name="Text Box 2">
            <a:extLst>
              <a:ext uri="{FF2B5EF4-FFF2-40B4-BE49-F238E27FC236}">
                <a16:creationId xmlns:a16="http://schemas.microsoft.com/office/drawing/2014/main" id="{A7A91F4B-1121-5A2C-96E1-DB54DDD6D2F2}"/>
              </a:ext>
            </a:extLst>
          </p:cNvPr>
          <p:cNvSpPr txBox="1">
            <a:spLocks noChangeArrowheads="1"/>
          </p:cNvSpPr>
          <p:nvPr/>
        </p:nvSpPr>
        <p:spPr bwMode="auto">
          <a:xfrm>
            <a:off x="8318500" y="6750050"/>
            <a:ext cx="70485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lgn="r">
              <a:buSzPct val="96000"/>
            </a:pPr>
            <a:r>
              <a:rPr lang="en-GB" altLang="en-US" sz="1100">
                <a:latin typeface="Arial" panose="020B0604020202020204" pitchFamily="34" charset="0"/>
              </a:rPr>
              <a:t>Slide </a:t>
            </a:r>
            <a:fld id="{B0A2FDEF-27ED-9B44-AC7B-277FE555451B}" type="slidenum">
              <a:rPr lang="en-GB" altLang="en-US" sz="1100">
                <a:latin typeface="Arial" panose="020B0604020202020204" pitchFamily="34" charset="0"/>
              </a:rPr>
              <a:pPr algn="r">
                <a:buSzPct val="96000"/>
              </a:pPr>
              <a:t>‹#›</a:t>
            </a:fld>
            <a:endParaRPr lang="en-GB" altLang="en-US" sz="1100">
              <a:latin typeface="Arial" panose="020B0604020202020204" pitchFamily="34" charset="0"/>
            </a:endParaRPr>
          </a:p>
        </p:txBody>
      </p:sp>
      <p:pic>
        <p:nvPicPr>
          <p:cNvPr id="1028" name="Picture 3">
            <a:extLst>
              <a:ext uri="{FF2B5EF4-FFF2-40B4-BE49-F238E27FC236}">
                <a16:creationId xmlns:a16="http://schemas.microsoft.com/office/drawing/2014/main" id="{CC143879-72E2-0AC9-9C53-7F112FCE787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128000" y="239713"/>
            <a:ext cx="2328863"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 name="Rectangle 4">
            <a:extLst>
              <a:ext uri="{FF2B5EF4-FFF2-40B4-BE49-F238E27FC236}">
                <a16:creationId xmlns:a16="http://schemas.microsoft.com/office/drawing/2014/main" id="{E30BF8D8-4EC0-BBAA-40A1-7410685A9A91}"/>
              </a:ext>
            </a:extLst>
          </p:cNvPr>
          <p:cNvSpPr>
            <a:spLocks noGrp="1" noChangeArrowheads="1"/>
          </p:cNvSpPr>
          <p:nvPr>
            <p:ph type="title"/>
          </p:nvPr>
        </p:nvSpPr>
        <p:spPr bwMode="auto">
          <a:xfrm>
            <a:off x="881063" y="1352550"/>
            <a:ext cx="8140700" cy="625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160" tIns="46080" rIns="92160" bIns="46080" numCol="1" anchor="ctr" anchorCtr="0" compatLnSpc="1">
            <a:prstTxWarp prst="textNoShape">
              <a:avLst/>
            </a:prstTxWarp>
          </a:bodyPr>
          <a:lstStyle/>
          <a:p>
            <a:pPr lvl="0"/>
            <a:r>
              <a:rPr lang="en-GB" altLang="en-US"/>
              <a:t>Click to edit the title text format</a:t>
            </a:r>
          </a:p>
        </p:txBody>
      </p:sp>
      <p:sp>
        <p:nvSpPr>
          <p:cNvPr id="1030" name="Rectangle 5">
            <a:extLst>
              <a:ext uri="{FF2B5EF4-FFF2-40B4-BE49-F238E27FC236}">
                <a16:creationId xmlns:a16="http://schemas.microsoft.com/office/drawing/2014/main" id="{4B76F92D-42C8-90E3-1C07-1DC13DA9FBA2}"/>
              </a:ext>
            </a:extLst>
          </p:cNvPr>
          <p:cNvSpPr>
            <a:spLocks noGrp="1" noChangeArrowheads="1"/>
          </p:cNvSpPr>
          <p:nvPr>
            <p:ph type="body" idx="1"/>
          </p:nvPr>
        </p:nvSpPr>
        <p:spPr bwMode="auto">
          <a:xfrm>
            <a:off x="881063" y="2286000"/>
            <a:ext cx="8140700" cy="4000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160" tIns="46080" rIns="92160" bIns="4608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62" r:id="rId15"/>
    <p:sldLayoutId id="2147483763" r:id="rId16"/>
  </p:sldLayoutIdLst>
  <p:txStyles>
    <p:titleStyle>
      <a:lvl1pPr algn="ctr" defTabSz="449263" rtl="0" eaLnBrk="0" fontAlgn="base" hangingPunct="0">
        <a:spcBef>
          <a:spcPct val="0"/>
        </a:spcBef>
        <a:spcAft>
          <a:spcPct val="0"/>
        </a:spcAft>
        <a:buClr>
          <a:srgbClr val="000000"/>
        </a:buClr>
        <a:buSzPct val="100000"/>
        <a:buFont typeface="Times New Roman" panose="02020603050405020304" pitchFamily="18" charset="0"/>
        <a:defRPr sz="2800" b="1">
          <a:solidFill>
            <a:srgbClr val="000000"/>
          </a:solidFill>
          <a:latin typeface="+mj-lt"/>
          <a:ea typeface="+mj-ea"/>
          <a:cs typeface="+mj-cs"/>
        </a:defRPr>
      </a:lvl1pPr>
      <a:lvl2pPr algn="ctr" defTabSz="449263" rtl="0" eaLnBrk="0" fontAlgn="base" hangingPunct="0">
        <a:spcBef>
          <a:spcPct val="0"/>
        </a:spcBef>
        <a:spcAft>
          <a:spcPct val="0"/>
        </a:spcAft>
        <a:buClr>
          <a:srgbClr val="000000"/>
        </a:buClr>
        <a:buSzPct val="100000"/>
        <a:buFont typeface="Times New Roman" panose="02020603050405020304" pitchFamily="18" charset="0"/>
        <a:defRPr sz="2800" b="1">
          <a:solidFill>
            <a:srgbClr val="000000"/>
          </a:solidFill>
          <a:latin typeface="Arial" pitchFamily="34" charset="0"/>
        </a:defRPr>
      </a:lvl2pPr>
      <a:lvl3pPr algn="ctr" defTabSz="449263" rtl="0" eaLnBrk="0" fontAlgn="base" hangingPunct="0">
        <a:spcBef>
          <a:spcPct val="0"/>
        </a:spcBef>
        <a:spcAft>
          <a:spcPct val="0"/>
        </a:spcAft>
        <a:buClr>
          <a:srgbClr val="000000"/>
        </a:buClr>
        <a:buSzPct val="100000"/>
        <a:buFont typeface="Times New Roman" panose="02020603050405020304" pitchFamily="18" charset="0"/>
        <a:defRPr sz="2800" b="1">
          <a:solidFill>
            <a:srgbClr val="000000"/>
          </a:solidFill>
          <a:latin typeface="Arial" pitchFamily="34" charset="0"/>
        </a:defRPr>
      </a:lvl3pPr>
      <a:lvl4pPr algn="ctr" defTabSz="449263" rtl="0" eaLnBrk="0" fontAlgn="base" hangingPunct="0">
        <a:spcBef>
          <a:spcPct val="0"/>
        </a:spcBef>
        <a:spcAft>
          <a:spcPct val="0"/>
        </a:spcAft>
        <a:buClr>
          <a:srgbClr val="000000"/>
        </a:buClr>
        <a:buSzPct val="100000"/>
        <a:buFont typeface="Times New Roman" panose="02020603050405020304" pitchFamily="18" charset="0"/>
        <a:defRPr sz="2800" b="1">
          <a:solidFill>
            <a:srgbClr val="000000"/>
          </a:solidFill>
          <a:latin typeface="Arial" pitchFamily="34" charset="0"/>
        </a:defRPr>
      </a:lvl4pPr>
      <a:lvl5pPr algn="ctr" defTabSz="449263" rtl="0" eaLnBrk="0" fontAlgn="base" hangingPunct="0">
        <a:spcBef>
          <a:spcPct val="0"/>
        </a:spcBef>
        <a:spcAft>
          <a:spcPct val="0"/>
        </a:spcAft>
        <a:buClr>
          <a:srgbClr val="000000"/>
        </a:buClr>
        <a:buSzPct val="100000"/>
        <a:buFont typeface="Times New Roman" panose="02020603050405020304" pitchFamily="18" charset="0"/>
        <a:defRPr sz="2800" b="1">
          <a:solidFill>
            <a:srgbClr val="000000"/>
          </a:solidFill>
          <a:latin typeface="Arial" pitchFamily="34" charset="0"/>
        </a:defRPr>
      </a:lvl5pPr>
      <a:lvl6pPr marL="457200" algn="l" defTabSz="449263" rtl="0" eaLnBrk="0" fontAlgn="base" hangingPunct="0">
        <a:spcBef>
          <a:spcPct val="0"/>
        </a:spcBef>
        <a:spcAft>
          <a:spcPct val="0"/>
        </a:spcAft>
        <a:buClr>
          <a:srgbClr val="000000"/>
        </a:buClr>
        <a:buSzPct val="100000"/>
        <a:buFont typeface="Times New Roman" pitchFamily="18" charset="0"/>
        <a:defRPr sz="4400">
          <a:solidFill>
            <a:srgbClr val="000000"/>
          </a:solidFill>
          <a:latin typeface="Times New Roman" pitchFamily="18" charset="0"/>
        </a:defRPr>
      </a:lvl6pPr>
      <a:lvl7pPr marL="914400" algn="l" defTabSz="449263" rtl="0" eaLnBrk="0" fontAlgn="base" hangingPunct="0">
        <a:spcBef>
          <a:spcPct val="0"/>
        </a:spcBef>
        <a:spcAft>
          <a:spcPct val="0"/>
        </a:spcAft>
        <a:buClr>
          <a:srgbClr val="000000"/>
        </a:buClr>
        <a:buSzPct val="100000"/>
        <a:buFont typeface="Times New Roman" pitchFamily="18" charset="0"/>
        <a:defRPr sz="4400">
          <a:solidFill>
            <a:srgbClr val="000000"/>
          </a:solidFill>
          <a:latin typeface="Times New Roman" pitchFamily="18" charset="0"/>
        </a:defRPr>
      </a:lvl7pPr>
      <a:lvl8pPr marL="1371600" algn="l" defTabSz="449263" rtl="0" eaLnBrk="0" fontAlgn="base" hangingPunct="0">
        <a:spcBef>
          <a:spcPct val="0"/>
        </a:spcBef>
        <a:spcAft>
          <a:spcPct val="0"/>
        </a:spcAft>
        <a:buClr>
          <a:srgbClr val="000000"/>
        </a:buClr>
        <a:buSzPct val="100000"/>
        <a:buFont typeface="Times New Roman" pitchFamily="18" charset="0"/>
        <a:defRPr sz="4400">
          <a:solidFill>
            <a:srgbClr val="000000"/>
          </a:solidFill>
          <a:latin typeface="Times New Roman" pitchFamily="18" charset="0"/>
        </a:defRPr>
      </a:lvl8pPr>
      <a:lvl9pPr marL="1828800" algn="l" defTabSz="449263" rtl="0" eaLnBrk="0" fontAlgn="base" hangingPunct="0">
        <a:spcBef>
          <a:spcPct val="0"/>
        </a:spcBef>
        <a:spcAft>
          <a:spcPct val="0"/>
        </a:spcAft>
        <a:buClr>
          <a:srgbClr val="000000"/>
        </a:buClr>
        <a:buSzPct val="100000"/>
        <a:buFont typeface="Times New Roman" pitchFamily="18" charset="0"/>
        <a:defRPr sz="4400">
          <a:solidFill>
            <a:srgbClr val="000000"/>
          </a:solidFill>
          <a:latin typeface="Times New Roman" pitchFamily="18" charset="0"/>
        </a:defRPr>
      </a:lvl9pPr>
    </p:titleStyle>
    <p:bodyStyle>
      <a:lvl1pPr marL="339725" indent="-339725" algn="l" defTabSz="449263" rtl="0" eaLnBrk="0" fontAlgn="base" hangingPunct="0">
        <a:lnSpc>
          <a:spcPts val="3600"/>
        </a:lnSpc>
        <a:spcBef>
          <a:spcPct val="0"/>
        </a:spcBef>
        <a:spcAft>
          <a:spcPct val="0"/>
        </a:spcAft>
        <a:buClr>
          <a:srgbClr val="000000"/>
        </a:buClr>
        <a:buSzPct val="100000"/>
        <a:buFont typeface="Times New Roman" panose="02020603050405020304" pitchFamily="18" charset="0"/>
        <a:buChar char="•"/>
        <a:defRPr sz="2400" b="1">
          <a:solidFill>
            <a:srgbClr val="000000"/>
          </a:solidFill>
          <a:latin typeface="+mn-lt"/>
          <a:ea typeface="+mn-ea"/>
          <a:cs typeface="+mn-cs"/>
        </a:defRPr>
      </a:lvl1pPr>
      <a:lvl2pPr marL="739775" indent="-282575" algn="l" defTabSz="449263" rtl="0" eaLnBrk="0" fontAlgn="base" hangingPunct="0">
        <a:lnSpc>
          <a:spcPct val="150000"/>
        </a:lnSpc>
        <a:spcBef>
          <a:spcPct val="0"/>
        </a:spcBef>
        <a:spcAft>
          <a:spcPct val="0"/>
        </a:spcAft>
        <a:buClr>
          <a:srgbClr val="000000"/>
        </a:buClr>
        <a:buSzPct val="60000"/>
        <a:buFont typeface="Wingdings" pitchFamily="2" charset="2"/>
        <a:buChar char="¡"/>
        <a:defRPr sz="2000" b="1">
          <a:solidFill>
            <a:srgbClr val="000000"/>
          </a:solidFill>
          <a:latin typeface="+mn-lt"/>
        </a:defRPr>
      </a:lvl2pPr>
      <a:lvl3pPr marL="1143000" indent="-228600" algn="l" defTabSz="449263" rtl="0" eaLnBrk="0" fontAlgn="base" hangingPunct="0">
        <a:spcBef>
          <a:spcPct val="0"/>
        </a:spcBef>
        <a:spcAft>
          <a:spcPct val="0"/>
        </a:spcAft>
        <a:buClr>
          <a:srgbClr val="000000"/>
        </a:buClr>
        <a:buSzPct val="100000"/>
        <a:buFont typeface="Times New Roman" panose="02020603050405020304" pitchFamily="18" charset="0"/>
        <a:buChar char="-"/>
        <a:defRPr>
          <a:solidFill>
            <a:srgbClr val="000000"/>
          </a:solidFill>
          <a:latin typeface="+mn-lt"/>
        </a:defRPr>
      </a:lvl3pPr>
      <a:lvl4pPr marL="1558925" indent="-228600" algn="l" defTabSz="449263" rtl="0" eaLnBrk="0" fontAlgn="base" hangingPunct="0">
        <a:spcBef>
          <a:spcPct val="0"/>
        </a:spcBef>
        <a:spcAft>
          <a:spcPct val="0"/>
        </a:spcAft>
        <a:buClr>
          <a:srgbClr val="000000"/>
        </a:buClr>
        <a:buSzPct val="100000"/>
        <a:buFont typeface="Times New Roman" panose="02020603050405020304" pitchFamily="18" charset="0"/>
        <a:defRPr sz="1600" b="1">
          <a:solidFill>
            <a:srgbClr val="000000"/>
          </a:solidFill>
          <a:latin typeface="+mn-lt"/>
        </a:defRPr>
      </a:lvl4pPr>
      <a:lvl5pPr marL="1978025" indent="-228600" algn="l" defTabSz="449263" rtl="0" eaLnBrk="0" fontAlgn="base" hangingPunct="0">
        <a:spcBef>
          <a:spcPct val="0"/>
        </a:spcBef>
        <a:spcAft>
          <a:spcPct val="0"/>
        </a:spcAft>
        <a:buClr>
          <a:srgbClr val="000000"/>
        </a:buClr>
        <a:buSzPct val="100000"/>
        <a:buFont typeface="Times New Roman" panose="02020603050405020304" pitchFamily="18" charset="0"/>
        <a:defRPr sz="1400">
          <a:solidFill>
            <a:srgbClr val="000000"/>
          </a:solidFill>
          <a:latin typeface="+mn-lt"/>
        </a:defRPr>
      </a:lvl5pPr>
      <a:lvl6pPr marL="2435225" indent="-228600" algn="l" defTabSz="449263" rtl="0" eaLnBrk="0" fontAlgn="base" hangingPunct="0">
        <a:spcBef>
          <a:spcPct val="0"/>
        </a:spcBef>
        <a:spcAft>
          <a:spcPct val="0"/>
        </a:spcAft>
        <a:buClr>
          <a:srgbClr val="000000"/>
        </a:buClr>
        <a:buSzPct val="100000"/>
        <a:buFont typeface="Times New Roman" pitchFamily="18" charset="0"/>
        <a:defRPr sz="1400">
          <a:solidFill>
            <a:srgbClr val="000000"/>
          </a:solidFill>
          <a:latin typeface="+mn-lt"/>
        </a:defRPr>
      </a:lvl6pPr>
      <a:lvl7pPr marL="2892425" indent="-228600" algn="l" defTabSz="449263" rtl="0" eaLnBrk="0" fontAlgn="base" hangingPunct="0">
        <a:spcBef>
          <a:spcPct val="0"/>
        </a:spcBef>
        <a:spcAft>
          <a:spcPct val="0"/>
        </a:spcAft>
        <a:buClr>
          <a:srgbClr val="000000"/>
        </a:buClr>
        <a:buSzPct val="100000"/>
        <a:buFont typeface="Times New Roman" pitchFamily="18" charset="0"/>
        <a:defRPr sz="1400">
          <a:solidFill>
            <a:srgbClr val="000000"/>
          </a:solidFill>
          <a:latin typeface="+mn-lt"/>
        </a:defRPr>
      </a:lvl7pPr>
      <a:lvl8pPr marL="3349625" indent="-228600" algn="l" defTabSz="449263" rtl="0" eaLnBrk="0" fontAlgn="base" hangingPunct="0">
        <a:spcBef>
          <a:spcPct val="0"/>
        </a:spcBef>
        <a:spcAft>
          <a:spcPct val="0"/>
        </a:spcAft>
        <a:buClr>
          <a:srgbClr val="000000"/>
        </a:buClr>
        <a:buSzPct val="100000"/>
        <a:buFont typeface="Times New Roman" pitchFamily="18" charset="0"/>
        <a:defRPr sz="1400">
          <a:solidFill>
            <a:srgbClr val="000000"/>
          </a:solidFill>
          <a:latin typeface="+mn-lt"/>
        </a:defRPr>
      </a:lvl8pPr>
      <a:lvl9pPr marL="3806825" indent="-228600" algn="l" defTabSz="449263" rtl="0" eaLnBrk="0" fontAlgn="base" hangingPunct="0">
        <a:spcBef>
          <a:spcPct val="0"/>
        </a:spcBef>
        <a:spcAft>
          <a:spcPct val="0"/>
        </a:spcAft>
        <a:buClr>
          <a:srgbClr val="000000"/>
        </a:buClr>
        <a:buSzPct val="100000"/>
        <a:buFont typeface="Times New Roman" pitchFamily="18" charset="0"/>
        <a:defRPr sz="14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826DFC14-84E9-6B58-F495-8A667BEC49AD}"/>
              </a:ext>
            </a:extLst>
          </p:cNvPr>
          <p:cNvSpPr>
            <a:spLocks noGrp="1" noChangeArrowheads="1"/>
          </p:cNvSpPr>
          <p:nvPr>
            <p:ph type="title"/>
          </p:nvPr>
        </p:nvSpPr>
        <p:spPr bwMode="auto">
          <a:xfrm>
            <a:off x="534988" y="303213"/>
            <a:ext cx="9621837" cy="1258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4287" tIns="52144" rIns="104287" bIns="52144" numCol="1" anchor="ctr" anchorCtr="0" compatLnSpc="1">
            <a:prstTxWarp prst="textNoShape">
              <a:avLst/>
            </a:prstTxWarp>
          </a:bodyPr>
          <a:lstStyle/>
          <a:p>
            <a:pPr lvl="0"/>
            <a:endParaRPr lang="en-US" altLang="en-US"/>
          </a:p>
        </p:txBody>
      </p:sp>
      <p:sp>
        <p:nvSpPr>
          <p:cNvPr id="190467" name="Rectangle 3">
            <a:extLst>
              <a:ext uri="{FF2B5EF4-FFF2-40B4-BE49-F238E27FC236}">
                <a16:creationId xmlns:a16="http://schemas.microsoft.com/office/drawing/2014/main" id="{C16F44FF-6687-751E-6843-8654AA369907}"/>
              </a:ext>
            </a:extLst>
          </p:cNvPr>
          <p:cNvSpPr>
            <a:spLocks noGrp="1" noChangeArrowheads="1"/>
          </p:cNvSpPr>
          <p:nvPr>
            <p:ph type="dt" sz="half" idx="2"/>
          </p:nvPr>
        </p:nvSpPr>
        <p:spPr bwMode="auto">
          <a:xfrm>
            <a:off x="534988" y="6884988"/>
            <a:ext cx="249396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4287" tIns="52144" rIns="104287" bIns="52144" numCol="1" anchor="t" anchorCtr="0" compatLnSpc="1">
            <a:prstTxWarp prst="textNoShape">
              <a:avLst/>
            </a:prstTxWarp>
          </a:bodyPr>
          <a:lstStyle>
            <a:lvl1pPr defTabSz="1042988" eaLnBrk="1" hangingPunct="1">
              <a:defRPr sz="1600">
                <a:latin typeface="+mn-lt"/>
              </a:defRPr>
            </a:lvl1pPr>
          </a:lstStyle>
          <a:p>
            <a:pPr>
              <a:defRPr/>
            </a:pPr>
            <a:endParaRPr lang="en-GB"/>
          </a:p>
        </p:txBody>
      </p:sp>
      <p:sp>
        <p:nvSpPr>
          <p:cNvPr id="190468" name="Rectangle 4">
            <a:extLst>
              <a:ext uri="{FF2B5EF4-FFF2-40B4-BE49-F238E27FC236}">
                <a16:creationId xmlns:a16="http://schemas.microsoft.com/office/drawing/2014/main" id="{B04A7BE8-3596-C0B8-5116-4453D8496226}"/>
              </a:ext>
            </a:extLst>
          </p:cNvPr>
          <p:cNvSpPr>
            <a:spLocks noGrp="1" noChangeArrowheads="1"/>
          </p:cNvSpPr>
          <p:nvPr>
            <p:ph type="ftr" sz="quarter" idx="3"/>
          </p:nvPr>
        </p:nvSpPr>
        <p:spPr bwMode="auto">
          <a:xfrm>
            <a:off x="3652838" y="6884988"/>
            <a:ext cx="3386137"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4287" tIns="52144" rIns="104287" bIns="52144" numCol="1" anchor="t" anchorCtr="0" compatLnSpc="1">
            <a:prstTxWarp prst="textNoShape">
              <a:avLst/>
            </a:prstTxWarp>
          </a:bodyPr>
          <a:lstStyle>
            <a:lvl1pPr algn="ctr" defTabSz="1042988" eaLnBrk="1" hangingPunct="1">
              <a:defRPr sz="1600">
                <a:latin typeface="+mn-lt"/>
              </a:defRPr>
            </a:lvl1pPr>
          </a:lstStyle>
          <a:p>
            <a:pPr>
              <a:defRPr/>
            </a:pPr>
            <a:endParaRPr lang="en-GB"/>
          </a:p>
        </p:txBody>
      </p:sp>
      <p:sp>
        <p:nvSpPr>
          <p:cNvPr id="190469" name="Rectangle 5">
            <a:extLst>
              <a:ext uri="{FF2B5EF4-FFF2-40B4-BE49-F238E27FC236}">
                <a16:creationId xmlns:a16="http://schemas.microsoft.com/office/drawing/2014/main" id="{ED658233-A35A-BCF4-FA9F-BFD06B84204D}"/>
              </a:ext>
            </a:extLst>
          </p:cNvPr>
          <p:cNvSpPr>
            <a:spLocks noGrp="1" noChangeArrowheads="1"/>
          </p:cNvSpPr>
          <p:nvPr>
            <p:ph type="sldNum" sz="quarter" idx="4"/>
          </p:nvPr>
        </p:nvSpPr>
        <p:spPr bwMode="auto">
          <a:xfrm>
            <a:off x="7662863" y="6884988"/>
            <a:ext cx="249396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4287" tIns="52144" rIns="104287" bIns="52144" numCol="1" anchor="t" anchorCtr="0" compatLnSpc="1">
            <a:prstTxWarp prst="textNoShape">
              <a:avLst/>
            </a:prstTxWarp>
          </a:bodyPr>
          <a:lstStyle>
            <a:lvl1pPr algn="r" defTabSz="1042988" eaLnBrk="1" hangingPunct="1">
              <a:defRPr sz="1600">
                <a:latin typeface="Arial" panose="020B0604020202020204" pitchFamily="34" charset="0"/>
              </a:defRPr>
            </a:lvl1pPr>
          </a:lstStyle>
          <a:p>
            <a:fld id="{551903A7-7DC4-7849-848A-2C8E3D7FBB2A}" type="slidenum">
              <a:rPr lang="en-GB" altLang="en-US"/>
              <a:pPr/>
              <a:t>‹#›</a:t>
            </a:fld>
            <a:endParaRPr lang="en-GB" altLang="en-US"/>
          </a:p>
        </p:txBody>
      </p:sp>
      <p:sp>
        <p:nvSpPr>
          <p:cNvPr id="2054" name="Rectangle 6">
            <a:extLst>
              <a:ext uri="{FF2B5EF4-FFF2-40B4-BE49-F238E27FC236}">
                <a16:creationId xmlns:a16="http://schemas.microsoft.com/office/drawing/2014/main" id="{80557500-2EFA-2FB1-8FC6-061E7FB1F4C7}"/>
              </a:ext>
            </a:extLst>
          </p:cNvPr>
          <p:cNvSpPr>
            <a:spLocks noChangeArrowheads="1"/>
          </p:cNvSpPr>
          <p:nvPr/>
        </p:nvSpPr>
        <p:spPr bwMode="auto">
          <a:xfrm>
            <a:off x="912813" y="7013575"/>
            <a:ext cx="659765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5012" tIns="52506" rIns="105012" bIns="52506" anchor="ctr"/>
          <a:lstStyle>
            <a:lvl1pPr defTabSz="1042988">
              <a:defRPr sz="2400">
                <a:solidFill>
                  <a:schemeClr val="tx1"/>
                </a:solidFill>
                <a:latin typeface="Times New Roman" panose="02020603050405020304" pitchFamily="18" charset="0"/>
              </a:defRPr>
            </a:lvl1pPr>
            <a:lvl2pPr marL="742950" indent="-285750" defTabSz="1042988">
              <a:defRPr sz="2400">
                <a:solidFill>
                  <a:schemeClr val="tx1"/>
                </a:solidFill>
                <a:latin typeface="Times New Roman" panose="02020603050405020304" pitchFamily="18" charset="0"/>
              </a:defRPr>
            </a:lvl2pPr>
            <a:lvl3pPr marL="1143000" indent="-228600" defTabSz="1042988">
              <a:defRPr sz="2400">
                <a:solidFill>
                  <a:schemeClr val="tx1"/>
                </a:solidFill>
                <a:latin typeface="Times New Roman" panose="02020603050405020304" pitchFamily="18" charset="0"/>
              </a:defRPr>
            </a:lvl3pPr>
            <a:lvl4pPr marL="1600200" indent="-228600" defTabSz="1042988">
              <a:defRPr sz="2400">
                <a:solidFill>
                  <a:schemeClr val="tx1"/>
                </a:solidFill>
                <a:latin typeface="Times New Roman" panose="02020603050405020304" pitchFamily="18" charset="0"/>
              </a:defRPr>
            </a:lvl4pPr>
            <a:lvl5pPr marL="2057400" indent="-228600" defTabSz="1042988">
              <a:defRPr sz="2400">
                <a:solidFill>
                  <a:schemeClr val="tx1"/>
                </a:solidFill>
                <a:latin typeface="Times New Roman" panose="02020603050405020304" pitchFamily="18" charset="0"/>
              </a:defRPr>
            </a:lvl5pPr>
            <a:lvl6pPr marL="2514600" indent="-228600" defTabSz="10429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10429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10429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1042988"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endParaRPr lang="en-US" altLang="en-US" sz="2100">
              <a:latin typeface="Arial" panose="020B0604020202020204" pitchFamily="34" charset="0"/>
            </a:endParaRPr>
          </a:p>
        </p:txBody>
      </p:sp>
      <p:sp>
        <p:nvSpPr>
          <p:cNvPr id="2055" name="Rectangle 7">
            <a:extLst>
              <a:ext uri="{FF2B5EF4-FFF2-40B4-BE49-F238E27FC236}">
                <a16:creationId xmlns:a16="http://schemas.microsoft.com/office/drawing/2014/main" id="{1D7E4514-4D84-57E4-E244-3A7F3ACA84B2}"/>
              </a:ext>
            </a:extLst>
          </p:cNvPr>
          <p:cNvSpPr>
            <a:spLocks noChangeArrowheads="1"/>
          </p:cNvSpPr>
          <p:nvPr/>
        </p:nvSpPr>
        <p:spPr bwMode="auto">
          <a:xfrm>
            <a:off x="7959725" y="7013575"/>
            <a:ext cx="2509838"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5012" tIns="52506" rIns="105012" bIns="52506" anchor="ctr"/>
          <a:lstStyle>
            <a:lvl1pPr defTabSz="1042988">
              <a:defRPr sz="2400">
                <a:solidFill>
                  <a:schemeClr val="tx1"/>
                </a:solidFill>
                <a:latin typeface="Times New Roman" panose="02020603050405020304" pitchFamily="18" charset="0"/>
              </a:defRPr>
            </a:lvl1pPr>
            <a:lvl2pPr marL="742950" indent="-285750" defTabSz="1042988">
              <a:defRPr sz="2400">
                <a:solidFill>
                  <a:schemeClr val="tx1"/>
                </a:solidFill>
                <a:latin typeface="Times New Roman" panose="02020603050405020304" pitchFamily="18" charset="0"/>
              </a:defRPr>
            </a:lvl2pPr>
            <a:lvl3pPr marL="1143000" indent="-228600" defTabSz="1042988">
              <a:defRPr sz="2400">
                <a:solidFill>
                  <a:schemeClr val="tx1"/>
                </a:solidFill>
                <a:latin typeface="Times New Roman" panose="02020603050405020304" pitchFamily="18" charset="0"/>
              </a:defRPr>
            </a:lvl3pPr>
            <a:lvl4pPr marL="1600200" indent="-228600" defTabSz="1042988">
              <a:defRPr sz="2400">
                <a:solidFill>
                  <a:schemeClr val="tx1"/>
                </a:solidFill>
                <a:latin typeface="Times New Roman" panose="02020603050405020304" pitchFamily="18" charset="0"/>
              </a:defRPr>
            </a:lvl4pPr>
            <a:lvl5pPr marL="2057400" indent="-228600" defTabSz="1042988">
              <a:defRPr sz="2400">
                <a:solidFill>
                  <a:schemeClr val="tx1"/>
                </a:solidFill>
                <a:latin typeface="Times New Roman" panose="02020603050405020304" pitchFamily="18" charset="0"/>
              </a:defRPr>
            </a:lvl5pPr>
            <a:lvl6pPr marL="2514600" indent="-228600" defTabSz="10429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10429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10429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1042988"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300">
                <a:latin typeface="Arial" panose="020B0604020202020204" pitchFamily="34" charset="0"/>
              </a:rPr>
              <a:t>Slide </a:t>
            </a:r>
            <a:fld id="{74131360-A1AC-8249-AE77-B8E1D5813BD1}" type="slidenum">
              <a:rPr lang="en-US" altLang="en-US" sz="1300">
                <a:latin typeface="Arial" panose="020B0604020202020204" pitchFamily="34" charset="0"/>
              </a:rPr>
              <a:pPr algn="r" eaLnBrk="1" hangingPunct="1"/>
              <a:t>‹#›</a:t>
            </a:fld>
            <a:endParaRPr lang="en-GB" altLang="en-US" sz="2100">
              <a:latin typeface="Arial" panose="020B0604020202020204" pitchFamily="34" charset="0"/>
            </a:endParaRPr>
          </a:p>
        </p:txBody>
      </p:sp>
      <p:sp>
        <p:nvSpPr>
          <p:cNvPr id="2056" name="Rectangle 8">
            <a:extLst>
              <a:ext uri="{FF2B5EF4-FFF2-40B4-BE49-F238E27FC236}">
                <a16:creationId xmlns:a16="http://schemas.microsoft.com/office/drawing/2014/main" id="{9A84EF82-3252-7A05-CFFE-4253DAEA0F02}"/>
              </a:ext>
            </a:extLst>
          </p:cNvPr>
          <p:cNvSpPr>
            <a:spLocks noChangeArrowheads="1"/>
          </p:cNvSpPr>
          <p:nvPr userDrawn="1"/>
        </p:nvSpPr>
        <p:spPr bwMode="auto">
          <a:xfrm>
            <a:off x="831850" y="549275"/>
            <a:ext cx="9752013" cy="67437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057" name="Rectangle 9">
            <a:extLst>
              <a:ext uri="{FF2B5EF4-FFF2-40B4-BE49-F238E27FC236}">
                <a16:creationId xmlns:a16="http://schemas.microsoft.com/office/drawing/2014/main" id="{44D158A3-DF95-436D-730B-E592B94B1F1C}"/>
              </a:ext>
            </a:extLst>
          </p:cNvPr>
          <p:cNvSpPr>
            <a:spLocks noChangeArrowheads="1"/>
          </p:cNvSpPr>
          <p:nvPr/>
        </p:nvSpPr>
        <p:spPr bwMode="auto">
          <a:xfrm>
            <a:off x="4421188" y="1071563"/>
            <a:ext cx="6081712" cy="166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5012" tIns="52506" rIns="105012" bIns="52506" anchor="ctr"/>
          <a:lstStyle>
            <a:lvl1pPr defTabSz="1042988">
              <a:defRPr sz="2400">
                <a:solidFill>
                  <a:schemeClr val="tx1"/>
                </a:solidFill>
                <a:latin typeface="Times New Roman" panose="02020603050405020304" pitchFamily="18" charset="0"/>
              </a:defRPr>
            </a:lvl1pPr>
            <a:lvl2pPr marL="742950" indent="-285750" defTabSz="1042988">
              <a:defRPr sz="2400">
                <a:solidFill>
                  <a:schemeClr val="tx1"/>
                </a:solidFill>
                <a:latin typeface="Times New Roman" panose="02020603050405020304" pitchFamily="18" charset="0"/>
              </a:defRPr>
            </a:lvl2pPr>
            <a:lvl3pPr marL="1143000" indent="-228600" defTabSz="1042988">
              <a:defRPr sz="2400">
                <a:solidFill>
                  <a:schemeClr val="tx1"/>
                </a:solidFill>
                <a:latin typeface="Times New Roman" panose="02020603050405020304" pitchFamily="18" charset="0"/>
              </a:defRPr>
            </a:lvl3pPr>
            <a:lvl4pPr marL="1600200" indent="-228600" defTabSz="1042988">
              <a:defRPr sz="2400">
                <a:solidFill>
                  <a:schemeClr val="tx1"/>
                </a:solidFill>
                <a:latin typeface="Times New Roman" panose="02020603050405020304" pitchFamily="18" charset="0"/>
              </a:defRPr>
            </a:lvl4pPr>
            <a:lvl5pPr marL="2057400" indent="-228600" defTabSz="1042988">
              <a:defRPr sz="2400">
                <a:solidFill>
                  <a:schemeClr val="tx1"/>
                </a:solidFill>
                <a:latin typeface="Times New Roman" panose="02020603050405020304" pitchFamily="18" charset="0"/>
              </a:defRPr>
            </a:lvl5pPr>
            <a:lvl6pPr marL="2514600" indent="-228600" defTabSz="1042988"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1042988"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1042988"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1042988" eaLnBrk="0" fontAlgn="base" hangingPunct="0">
              <a:spcBef>
                <a:spcPct val="0"/>
              </a:spcBef>
              <a:spcAft>
                <a:spcPct val="0"/>
              </a:spcAft>
              <a:defRPr sz="2400">
                <a:solidFill>
                  <a:schemeClr val="tx1"/>
                </a:solidFill>
                <a:latin typeface="Times New Roman" panose="02020603050405020304" pitchFamily="18" charset="0"/>
              </a:defRPr>
            </a:lvl9pPr>
          </a:lstStyle>
          <a:p>
            <a:pPr algn="r" eaLnBrk="1" hangingPunct="1"/>
            <a:r>
              <a:rPr lang="en-US" altLang="en-US" sz="1300" b="1">
                <a:latin typeface="Arial" panose="020B0604020202020204" pitchFamily="34" charset="0"/>
              </a:rPr>
              <a:t> Applied Mathematics and Computing</a:t>
            </a:r>
            <a:endParaRPr lang="en-GB" altLang="en-US" sz="2100">
              <a:latin typeface="Arial" panose="020B0604020202020204" pitchFamily="34" charset="0"/>
            </a:endParaRPr>
          </a:p>
        </p:txBody>
      </p:sp>
      <p:pic>
        <p:nvPicPr>
          <p:cNvPr id="2058" name="Picture 10">
            <a:extLst>
              <a:ext uri="{FF2B5EF4-FFF2-40B4-BE49-F238E27FC236}">
                <a16:creationId xmlns:a16="http://schemas.microsoft.com/office/drawing/2014/main" id="{1C2B6F96-4EA4-D8BE-D014-87A722045D6A}"/>
              </a:ext>
            </a:extLst>
          </p:cNvPr>
          <p:cNvPicPr>
            <a:picLocks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024813" y="320675"/>
            <a:ext cx="2667000" cy="687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ctr" defTabSz="1042988" rtl="0" eaLnBrk="0" fontAlgn="base" hangingPunct="0">
        <a:spcBef>
          <a:spcPct val="0"/>
        </a:spcBef>
        <a:spcAft>
          <a:spcPct val="0"/>
        </a:spcAft>
        <a:defRPr sz="5000">
          <a:solidFill>
            <a:schemeClr val="tx2"/>
          </a:solidFill>
          <a:latin typeface="+mj-lt"/>
          <a:ea typeface="+mj-ea"/>
          <a:cs typeface="+mj-cs"/>
        </a:defRPr>
      </a:lvl1pPr>
      <a:lvl2pPr algn="ctr" defTabSz="1042988" rtl="0" eaLnBrk="0" fontAlgn="base" hangingPunct="0">
        <a:spcBef>
          <a:spcPct val="0"/>
        </a:spcBef>
        <a:spcAft>
          <a:spcPct val="0"/>
        </a:spcAft>
        <a:defRPr sz="5000">
          <a:solidFill>
            <a:schemeClr val="tx2"/>
          </a:solidFill>
          <a:latin typeface="Arial" charset="0"/>
        </a:defRPr>
      </a:lvl2pPr>
      <a:lvl3pPr algn="ctr" defTabSz="1042988" rtl="0" eaLnBrk="0" fontAlgn="base" hangingPunct="0">
        <a:spcBef>
          <a:spcPct val="0"/>
        </a:spcBef>
        <a:spcAft>
          <a:spcPct val="0"/>
        </a:spcAft>
        <a:defRPr sz="5000">
          <a:solidFill>
            <a:schemeClr val="tx2"/>
          </a:solidFill>
          <a:latin typeface="Arial" charset="0"/>
        </a:defRPr>
      </a:lvl3pPr>
      <a:lvl4pPr algn="ctr" defTabSz="1042988" rtl="0" eaLnBrk="0" fontAlgn="base" hangingPunct="0">
        <a:spcBef>
          <a:spcPct val="0"/>
        </a:spcBef>
        <a:spcAft>
          <a:spcPct val="0"/>
        </a:spcAft>
        <a:defRPr sz="5000">
          <a:solidFill>
            <a:schemeClr val="tx2"/>
          </a:solidFill>
          <a:latin typeface="Arial" charset="0"/>
        </a:defRPr>
      </a:lvl4pPr>
      <a:lvl5pPr algn="ctr" defTabSz="1042988" rtl="0" eaLnBrk="0" fontAlgn="base" hangingPunct="0">
        <a:spcBef>
          <a:spcPct val="0"/>
        </a:spcBef>
        <a:spcAft>
          <a:spcPct val="0"/>
        </a:spcAft>
        <a:defRPr sz="5000">
          <a:solidFill>
            <a:schemeClr val="tx2"/>
          </a:solidFill>
          <a:latin typeface="Arial" charset="0"/>
        </a:defRPr>
      </a:lvl5pPr>
      <a:lvl6pPr marL="457200" algn="ctr" defTabSz="1042988" rtl="0" fontAlgn="base">
        <a:spcBef>
          <a:spcPct val="0"/>
        </a:spcBef>
        <a:spcAft>
          <a:spcPct val="0"/>
        </a:spcAft>
        <a:defRPr sz="5000">
          <a:solidFill>
            <a:schemeClr val="tx2"/>
          </a:solidFill>
          <a:latin typeface="Arial" charset="0"/>
        </a:defRPr>
      </a:lvl6pPr>
      <a:lvl7pPr marL="914400" algn="ctr" defTabSz="1042988" rtl="0" fontAlgn="base">
        <a:spcBef>
          <a:spcPct val="0"/>
        </a:spcBef>
        <a:spcAft>
          <a:spcPct val="0"/>
        </a:spcAft>
        <a:defRPr sz="5000">
          <a:solidFill>
            <a:schemeClr val="tx2"/>
          </a:solidFill>
          <a:latin typeface="Arial" charset="0"/>
        </a:defRPr>
      </a:lvl7pPr>
      <a:lvl8pPr marL="1371600" algn="ctr" defTabSz="1042988" rtl="0" fontAlgn="base">
        <a:spcBef>
          <a:spcPct val="0"/>
        </a:spcBef>
        <a:spcAft>
          <a:spcPct val="0"/>
        </a:spcAft>
        <a:defRPr sz="5000">
          <a:solidFill>
            <a:schemeClr val="tx2"/>
          </a:solidFill>
          <a:latin typeface="Arial" charset="0"/>
        </a:defRPr>
      </a:lvl8pPr>
      <a:lvl9pPr marL="1828800" algn="ctr" defTabSz="1042988" rtl="0" fontAlgn="base">
        <a:spcBef>
          <a:spcPct val="0"/>
        </a:spcBef>
        <a:spcAft>
          <a:spcPct val="0"/>
        </a:spcAft>
        <a:defRPr sz="5000">
          <a:solidFill>
            <a:schemeClr val="tx2"/>
          </a:solidFill>
          <a:latin typeface="Arial" charset="0"/>
        </a:defRPr>
      </a:lvl9pPr>
    </p:titleStyle>
    <p:bodyStyle>
      <a:lvl1pPr marL="390525" indent="-390525" algn="l" defTabSz="1042988" rtl="0" eaLnBrk="0" fontAlgn="base" hangingPunct="0">
        <a:spcBef>
          <a:spcPct val="20000"/>
        </a:spcBef>
        <a:spcAft>
          <a:spcPct val="0"/>
        </a:spcAft>
        <a:buChar char="•"/>
        <a:defRPr sz="3600">
          <a:solidFill>
            <a:schemeClr val="tx1"/>
          </a:solidFill>
          <a:latin typeface="+mn-lt"/>
          <a:ea typeface="+mn-ea"/>
          <a:cs typeface="+mn-cs"/>
        </a:defRPr>
      </a:lvl1pPr>
      <a:lvl2pPr marL="847725" indent="-327025" algn="l" defTabSz="1042988" rtl="0" eaLnBrk="0" fontAlgn="base" hangingPunct="0">
        <a:spcBef>
          <a:spcPct val="20000"/>
        </a:spcBef>
        <a:spcAft>
          <a:spcPct val="0"/>
        </a:spcAft>
        <a:buChar char="–"/>
        <a:defRPr sz="3200">
          <a:solidFill>
            <a:schemeClr val="tx1"/>
          </a:solidFill>
          <a:latin typeface="+mn-lt"/>
        </a:defRPr>
      </a:lvl2pPr>
      <a:lvl3pPr marL="1303338" indent="-260350" algn="l" defTabSz="1042988" rtl="0" eaLnBrk="0" fontAlgn="base" hangingPunct="0">
        <a:spcBef>
          <a:spcPct val="20000"/>
        </a:spcBef>
        <a:spcAft>
          <a:spcPct val="0"/>
        </a:spcAft>
        <a:buChar char="•"/>
        <a:defRPr sz="2700">
          <a:solidFill>
            <a:schemeClr val="tx1"/>
          </a:solidFill>
          <a:latin typeface="+mn-lt"/>
        </a:defRPr>
      </a:lvl3pPr>
      <a:lvl4pPr marL="1825625" indent="-261938" algn="l" defTabSz="1042988" rtl="0" eaLnBrk="0" fontAlgn="base" hangingPunct="0">
        <a:spcBef>
          <a:spcPct val="20000"/>
        </a:spcBef>
        <a:spcAft>
          <a:spcPct val="0"/>
        </a:spcAft>
        <a:buChar char="–"/>
        <a:defRPr sz="2300">
          <a:solidFill>
            <a:schemeClr val="tx1"/>
          </a:solidFill>
          <a:latin typeface="+mn-lt"/>
        </a:defRPr>
      </a:lvl4pPr>
      <a:lvl5pPr marL="2346325" indent="-260350" algn="l" defTabSz="1042988" rtl="0" eaLnBrk="0" fontAlgn="base" hangingPunct="0">
        <a:spcBef>
          <a:spcPct val="20000"/>
        </a:spcBef>
        <a:spcAft>
          <a:spcPct val="0"/>
        </a:spcAft>
        <a:buChar char="»"/>
        <a:defRPr sz="2300">
          <a:solidFill>
            <a:schemeClr val="tx1"/>
          </a:solidFill>
          <a:latin typeface="+mn-lt"/>
        </a:defRPr>
      </a:lvl5pPr>
      <a:lvl6pPr marL="2803525" indent="-260350" algn="l" defTabSz="1042988" rtl="0" fontAlgn="base">
        <a:spcBef>
          <a:spcPct val="20000"/>
        </a:spcBef>
        <a:spcAft>
          <a:spcPct val="0"/>
        </a:spcAft>
        <a:buChar char="»"/>
        <a:defRPr sz="2300">
          <a:solidFill>
            <a:schemeClr val="tx1"/>
          </a:solidFill>
          <a:latin typeface="+mn-lt"/>
        </a:defRPr>
      </a:lvl6pPr>
      <a:lvl7pPr marL="3260725" indent="-260350" algn="l" defTabSz="1042988" rtl="0" fontAlgn="base">
        <a:spcBef>
          <a:spcPct val="20000"/>
        </a:spcBef>
        <a:spcAft>
          <a:spcPct val="0"/>
        </a:spcAft>
        <a:buChar char="»"/>
        <a:defRPr sz="2300">
          <a:solidFill>
            <a:schemeClr val="tx1"/>
          </a:solidFill>
          <a:latin typeface="+mn-lt"/>
        </a:defRPr>
      </a:lvl7pPr>
      <a:lvl8pPr marL="3717925" indent="-260350" algn="l" defTabSz="1042988" rtl="0" fontAlgn="base">
        <a:spcBef>
          <a:spcPct val="20000"/>
        </a:spcBef>
        <a:spcAft>
          <a:spcPct val="0"/>
        </a:spcAft>
        <a:buChar char="»"/>
        <a:defRPr sz="2300">
          <a:solidFill>
            <a:schemeClr val="tx1"/>
          </a:solidFill>
          <a:latin typeface="+mn-lt"/>
        </a:defRPr>
      </a:lvl8pPr>
      <a:lvl9pPr marL="4175125" indent="-260350" algn="l" defTabSz="1042988" rtl="0" fontAlgn="base">
        <a:spcBef>
          <a:spcPct val="20000"/>
        </a:spcBef>
        <a:spcAft>
          <a:spcPct val="0"/>
        </a:spcAft>
        <a:buChar char="»"/>
        <a:defRPr sz="23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emf"/><Relationship Id="rId5" Type="http://schemas.openxmlformats.org/officeDocument/2006/relationships/oleObject" Target="../embeddings/oleObject2.bin"/><Relationship Id="rId10" Type="http://schemas.openxmlformats.org/officeDocument/2006/relationships/image" Target="../media/image19.emf"/><Relationship Id="rId4" Type="http://schemas.openxmlformats.org/officeDocument/2006/relationships/image" Target="../media/image16.emf"/><Relationship Id="rId9" Type="http://schemas.openxmlformats.org/officeDocument/2006/relationships/oleObject" Target="../embeddings/oleObject4.bin"/></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6.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5.emf"/><Relationship Id="rId5" Type="http://schemas.openxmlformats.org/officeDocument/2006/relationships/oleObject" Target="../embeddings/oleObject6.bin"/><Relationship Id="rId10" Type="http://schemas.openxmlformats.org/officeDocument/2006/relationships/image" Target="../media/image27.emf"/><Relationship Id="rId4" Type="http://schemas.openxmlformats.org/officeDocument/2006/relationships/image" Target="../media/image24.emf"/><Relationship Id="rId9"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7.emf"/><Relationship Id="rId5" Type="http://schemas.openxmlformats.org/officeDocument/2006/relationships/oleObject" Target="../embeddings/oleObject10.bin"/><Relationship Id="rId4" Type="http://schemas.openxmlformats.org/officeDocument/2006/relationships/image" Target="../media/image36.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39.emf"/></Relationships>
</file>

<file path=ppt/slides/_rels/slide17.xml.rels><?xml version="1.0" encoding="UTF-8" standalone="yes"?>
<Relationships xmlns="http://schemas.openxmlformats.org/package/2006/relationships"><Relationship Id="rId8" Type="http://schemas.openxmlformats.org/officeDocument/2006/relationships/image" Target="../media/image42.e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41.emf"/><Relationship Id="rId5" Type="http://schemas.openxmlformats.org/officeDocument/2006/relationships/oleObject" Target="../embeddings/oleObject14.bin"/><Relationship Id="rId4" Type="http://schemas.openxmlformats.org/officeDocument/2006/relationships/image" Target="../media/image40.emf"/></Relationships>
</file>

<file path=ppt/slides/_rels/slide18.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oleObject" Target="../embeddings/oleObject16.bin"/><Relationship Id="rId1" Type="http://schemas.openxmlformats.org/officeDocument/2006/relationships/slideLayout" Target="../slideLayouts/slideLayout12.xml"/><Relationship Id="rId6" Type="http://schemas.openxmlformats.org/officeDocument/2006/relationships/image" Target="../media/image45.jpeg"/><Relationship Id="rId5" Type="http://schemas.openxmlformats.org/officeDocument/2006/relationships/image" Target="../media/image44.emf"/><Relationship Id="rId4" Type="http://schemas.openxmlformats.org/officeDocument/2006/relationships/oleObject" Target="../embeddings/oleObject17.bin"/></Relationships>
</file>

<file path=ppt/slides/_rels/slide1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3.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oleObject" Target="../embeddings/oleObject18.bin"/><Relationship Id="rId1" Type="http://schemas.openxmlformats.org/officeDocument/2006/relationships/slideLayout" Target="../slideLayouts/slideLayout15.xml"/><Relationship Id="rId6" Type="http://schemas.openxmlformats.org/officeDocument/2006/relationships/image" Target="../media/image65.emf"/><Relationship Id="rId5" Type="http://schemas.openxmlformats.org/officeDocument/2006/relationships/oleObject" Target="../embeddings/oleObject20.bin"/><Relationship Id="rId4" Type="http://schemas.openxmlformats.org/officeDocument/2006/relationships/oleObject" Target="../embeddings/oleObject19.bin"/></Relationships>
</file>

<file path=ppt/slides/_rels/slide35.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oleObject" Target="../embeddings/oleObject18.bin"/><Relationship Id="rId1" Type="http://schemas.openxmlformats.org/officeDocument/2006/relationships/slideLayout" Target="../slideLayouts/slideLayout15.xml"/><Relationship Id="rId6" Type="http://schemas.openxmlformats.org/officeDocument/2006/relationships/image" Target="../media/image66.emf"/><Relationship Id="rId5" Type="http://schemas.openxmlformats.org/officeDocument/2006/relationships/oleObject" Target="../embeddings/oleObject20.bin"/><Relationship Id="rId4" Type="http://schemas.openxmlformats.org/officeDocument/2006/relationships/oleObject" Target="../embeddings/oleObject19.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69.emf"/><Relationship Id="rId3" Type="http://schemas.openxmlformats.org/officeDocument/2006/relationships/image" Target="../media/image64.emf"/><Relationship Id="rId7" Type="http://schemas.openxmlformats.org/officeDocument/2006/relationships/image" Target="../media/image68.emf"/><Relationship Id="rId2" Type="http://schemas.openxmlformats.org/officeDocument/2006/relationships/oleObject" Target="../embeddings/oleObject18.bin"/><Relationship Id="rId1" Type="http://schemas.openxmlformats.org/officeDocument/2006/relationships/slideLayout" Target="../slideLayouts/slideLayout16.xml"/><Relationship Id="rId6" Type="http://schemas.openxmlformats.org/officeDocument/2006/relationships/oleObject" Target="../embeddings/oleObject20.bin"/><Relationship Id="rId5" Type="http://schemas.openxmlformats.org/officeDocument/2006/relationships/image" Target="../media/image67.emf"/><Relationship Id="rId4" Type="http://schemas.openxmlformats.org/officeDocument/2006/relationships/oleObject" Target="../embeddings/oleObject19.bin"/></Relationships>
</file>

<file path=ppt/slides/_rels/slide38.xml.rels><?xml version="1.0" encoding="UTF-8" standalone="yes"?>
<Relationships xmlns="http://schemas.openxmlformats.org/package/2006/relationships"><Relationship Id="rId8" Type="http://schemas.openxmlformats.org/officeDocument/2006/relationships/image" Target="../media/image72.emf"/><Relationship Id="rId3" Type="http://schemas.openxmlformats.org/officeDocument/2006/relationships/image" Target="../media/image64.emf"/><Relationship Id="rId7" Type="http://schemas.openxmlformats.org/officeDocument/2006/relationships/image" Target="../media/image71.emf"/><Relationship Id="rId2" Type="http://schemas.openxmlformats.org/officeDocument/2006/relationships/oleObject" Target="../embeddings/oleObject18.bin"/><Relationship Id="rId1" Type="http://schemas.openxmlformats.org/officeDocument/2006/relationships/slideLayout" Target="../slideLayouts/slideLayout16.xml"/><Relationship Id="rId6" Type="http://schemas.openxmlformats.org/officeDocument/2006/relationships/oleObject" Target="../embeddings/oleObject20.bin"/><Relationship Id="rId5" Type="http://schemas.openxmlformats.org/officeDocument/2006/relationships/image" Target="../media/image70.emf"/><Relationship Id="rId4" Type="http://schemas.openxmlformats.org/officeDocument/2006/relationships/oleObject" Target="../embeddings/oleObject19.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64.emf"/><Relationship Id="rId7" Type="http://schemas.openxmlformats.org/officeDocument/2006/relationships/image" Target="../media/image74.emf"/><Relationship Id="rId2" Type="http://schemas.openxmlformats.org/officeDocument/2006/relationships/oleObject" Target="../embeddings/oleObject18.bin"/><Relationship Id="rId1" Type="http://schemas.openxmlformats.org/officeDocument/2006/relationships/slideLayout" Target="../slideLayouts/slideLayout16.xml"/><Relationship Id="rId6" Type="http://schemas.openxmlformats.org/officeDocument/2006/relationships/oleObject" Target="../embeddings/oleObject20.bin"/><Relationship Id="rId5" Type="http://schemas.openxmlformats.org/officeDocument/2006/relationships/image" Target="../media/image73.emf"/><Relationship Id="rId4" Type="http://schemas.openxmlformats.org/officeDocument/2006/relationships/oleObject" Target="../embeddings/oleObject19.bin"/><Relationship Id="rId9" Type="http://schemas.openxmlformats.org/officeDocument/2006/relationships/image" Target="../media/image75.e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64.emf"/><Relationship Id="rId7" Type="http://schemas.openxmlformats.org/officeDocument/2006/relationships/image" Target="../media/image77.emf"/><Relationship Id="rId2" Type="http://schemas.openxmlformats.org/officeDocument/2006/relationships/oleObject" Target="../embeddings/oleObject18.bin"/><Relationship Id="rId1" Type="http://schemas.openxmlformats.org/officeDocument/2006/relationships/slideLayout" Target="../slideLayouts/slideLayout16.xml"/><Relationship Id="rId6" Type="http://schemas.openxmlformats.org/officeDocument/2006/relationships/oleObject" Target="../embeddings/oleObject20.bin"/><Relationship Id="rId5" Type="http://schemas.openxmlformats.org/officeDocument/2006/relationships/image" Target="../media/image76.emf"/><Relationship Id="rId4" Type="http://schemas.openxmlformats.org/officeDocument/2006/relationships/oleObject" Target="../embeddings/oleObject19.bin"/><Relationship Id="rId9" Type="http://schemas.openxmlformats.org/officeDocument/2006/relationships/image" Target="../media/image75.e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79.png"/></Relationships>
</file>

<file path=ppt/slides/_rels/slide4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81.png"/></Relationships>
</file>

<file path=ppt/slides/_rels/slide4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8" Type="http://schemas.openxmlformats.org/officeDocument/2006/relationships/image" Target="../media/image86.emf"/><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88.emf"/><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85.emf"/><Relationship Id="rId11" Type="http://schemas.openxmlformats.org/officeDocument/2006/relationships/oleObject" Target="../embeddings/oleObject27.bin"/><Relationship Id="rId5" Type="http://schemas.openxmlformats.org/officeDocument/2006/relationships/oleObject" Target="../embeddings/oleObject24.bin"/><Relationship Id="rId10" Type="http://schemas.openxmlformats.org/officeDocument/2006/relationships/image" Target="../media/image87.emf"/><Relationship Id="rId4" Type="http://schemas.openxmlformats.org/officeDocument/2006/relationships/image" Target="../media/image84.emf"/><Relationship Id="rId9" Type="http://schemas.openxmlformats.org/officeDocument/2006/relationships/oleObject" Target="../embeddings/oleObject26.bin"/></Relationships>
</file>

<file path=ppt/slides/_rels/slide50.xml.rels><?xml version="1.0" encoding="UTF-8" standalone="yes"?>
<Relationships xmlns="http://schemas.openxmlformats.org/package/2006/relationships"><Relationship Id="rId8" Type="http://schemas.openxmlformats.org/officeDocument/2006/relationships/image" Target="../media/image86.emf"/><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88.emf"/><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85.emf"/><Relationship Id="rId11" Type="http://schemas.openxmlformats.org/officeDocument/2006/relationships/oleObject" Target="../embeddings/oleObject27.bin"/><Relationship Id="rId5" Type="http://schemas.openxmlformats.org/officeDocument/2006/relationships/oleObject" Target="../embeddings/oleObject24.bin"/><Relationship Id="rId10" Type="http://schemas.openxmlformats.org/officeDocument/2006/relationships/image" Target="../media/image87.emf"/><Relationship Id="rId4" Type="http://schemas.openxmlformats.org/officeDocument/2006/relationships/image" Target="../media/image84.emf"/><Relationship Id="rId9" Type="http://schemas.openxmlformats.org/officeDocument/2006/relationships/oleObject" Target="../embeddings/oleObject26.bin"/></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8" Type="http://schemas.openxmlformats.org/officeDocument/2006/relationships/image" Target="../media/image91.e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90.emf"/><Relationship Id="rId5" Type="http://schemas.openxmlformats.org/officeDocument/2006/relationships/oleObject" Target="../embeddings/oleObject29.bin"/><Relationship Id="rId10" Type="http://schemas.openxmlformats.org/officeDocument/2006/relationships/image" Target="../media/image92.emf"/><Relationship Id="rId4" Type="http://schemas.openxmlformats.org/officeDocument/2006/relationships/image" Target="../media/image89.emf"/><Relationship Id="rId9" Type="http://schemas.openxmlformats.org/officeDocument/2006/relationships/oleObject" Target="../embeddings/oleObject31.bin"/></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57.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100.png"/><Relationship Id="rId5" Type="http://schemas.openxmlformats.org/officeDocument/2006/relationships/image" Target="../media/image99.png"/><Relationship Id="rId4" Type="http://schemas.openxmlformats.org/officeDocument/2006/relationships/image" Target="../media/image98.png"/></Relationships>
</file>

<file path=ppt/slides/_rels/slide5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5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106.png"/></Relationships>
</file>

<file path=ppt/slides/_rels/slide60.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108.png"/></Relationships>
</file>

<file path=ppt/slides/_rels/slide61.xml.rels><?xml version="1.0" encoding="UTF-8" standalone="yes"?>
<Relationships xmlns="http://schemas.openxmlformats.org/package/2006/relationships"><Relationship Id="rId3" Type="http://schemas.openxmlformats.org/officeDocument/2006/relationships/image" Target="../media/image109.emf"/><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image" Target="../media/image110.emf"/><Relationship Id="rId1" Type="http://schemas.openxmlformats.org/officeDocument/2006/relationships/slideLayout" Target="../slideLayouts/slideLayout7.xml"/><Relationship Id="rId4" Type="http://schemas.openxmlformats.org/officeDocument/2006/relationships/image" Target="../media/image111.e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image" Target="../media/image112.png"/><Relationship Id="rId1" Type="http://schemas.openxmlformats.org/officeDocument/2006/relationships/slideLayout" Target="../slideLayouts/slideLayout7.xml"/><Relationship Id="rId4" Type="http://schemas.openxmlformats.org/officeDocument/2006/relationships/image" Target="../media/image113.e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image" Target="../media/image114.png"/><Relationship Id="rId1" Type="http://schemas.openxmlformats.org/officeDocument/2006/relationships/slideLayout" Target="../slideLayouts/slideLayout7.xml"/><Relationship Id="rId4" Type="http://schemas.openxmlformats.org/officeDocument/2006/relationships/image" Target="../media/image115.e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image" Target="../media/image116.png"/><Relationship Id="rId1" Type="http://schemas.openxmlformats.org/officeDocument/2006/relationships/slideLayout" Target="../slideLayouts/slideLayout7.xml"/><Relationship Id="rId4" Type="http://schemas.openxmlformats.org/officeDocument/2006/relationships/image" Target="../media/image117.em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1">
            <a:extLst>
              <a:ext uri="{FF2B5EF4-FFF2-40B4-BE49-F238E27FC236}">
                <a16:creationId xmlns:a16="http://schemas.microsoft.com/office/drawing/2014/main" id="{3BA3F8A3-F480-A408-F419-D212359B90F1}"/>
              </a:ext>
            </a:extLst>
          </p:cNvPr>
          <p:cNvSpPr txBox="1">
            <a:spLocks noChangeArrowheads="1"/>
          </p:cNvSpPr>
          <p:nvPr/>
        </p:nvSpPr>
        <p:spPr bwMode="auto">
          <a:xfrm>
            <a:off x="1736725" y="1225550"/>
            <a:ext cx="654367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lgn="ctr">
              <a:buSzPct val="99000"/>
            </a:pPr>
            <a:r>
              <a:rPr lang="en-GB" altLang="en-US" sz="4400">
                <a:solidFill>
                  <a:schemeClr val="tx2"/>
                </a:solidFill>
                <a:latin typeface="Arial Narrow" panose="020B0604020202020204" pitchFamily="34" charset="0"/>
              </a:rPr>
              <a:t>Developments in the prediction</a:t>
            </a:r>
          </a:p>
          <a:p>
            <a:pPr algn="ctr">
              <a:buSzPct val="99000"/>
            </a:pPr>
            <a:r>
              <a:rPr lang="en-GB" altLang="en-US" sz="4400">
                <a:solidFill>
                  <a:schemeClr val="tx2"/>
                </a:solidFill>
                <a:latin typeface="Arial Narrow" panose="020B0604020202020204" pitchFamily="34" charset="0"/>
              </a:rPr>
              <a:t>of Aircraft Icing</a:t>
            </a:r>
          </a:p>
        </p:txBody>
      </p:sp>
      <p:sp>
        <p:nvSpPr>
          <p:cNvPr id="5123" name="Text Box 2">
            <a:extLst>
              <a:ext uri="{FF2B5EF4-FFF2-40B4-BE49-F238E27FC236}">
                <a16:creationId xmlns:a16="http://schemas.microsoft.com/office/drawing/2014/main" id="{1CDEA077-3F81-558A-F7F5-C9E88462EA77}"/>
              </a:ext>
            </a:extLst>
          </p:cNvPr>
          <p:cNvSpPr txBox="1">
            <a:spLocks noChangeArrowheads="1"/>
          </p:cNvSpPr>
          <p:nvPr/>
        </p:nvSpPr>
        <p:spPr bwMode="auto">
          <a:xfrm>
            <a:off x="1839913" y="3438525"/>
            <a:ext cx="6335712"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solidFill>
                  <a:schemeClr val="tx2"/>
                </a:solidFill>
                <a:latin typeface="Arial" panose="020B0604020202020204" pitchFamily="34" charset="0"/>
              </a:rPr>
              <a:t>Professor Chris Thompson</a:t>
            </a:r>
          </a:p>
          <a:p>
            <a:pPr>
              <a:buSzPct val="98000"/>
            </a:pPr>
            <a:endParaRPr lang="en-GB" altLang="en-US" sz="2000">
              <a:solidFill>
                <a:schemeClr val="tx2"/>
              </a:solidFill>
              <a:latin typeface="Arial" panose="020B0604020202020204" pitchFamily="34" charset="0"/>
            </a:endParaRPr>
          </a:p>
          <a:p>
            <a:pPr>
              <a:buSzPct val="98000"/>
            </a:pPr>
            <a:r>
              <a:rPr lang="en-GB" altLang="en-US" sz="2000">
                <a:solidFill>
                  <a:schemeClr val="tx2"/>
                </a:solidFill>
                <a:latin typeface="Arial" panose="020B0604020202020204" pitchFamily="34" charset="0"/>
              </a:rPr>
              <a:t>	Applied Mathematics and Computing  (AMAC)</a:t>
            </a:r>
          </a:p>
          <a:p>
            <a:pPr>
              <a:buSzPct val="98000"/>
            </a:pPr>
            <a:r>
              <a:rPr lang="en-GB" altLang="en-US" sz="2000">
                <a:solidFill>
                  <a:schemeClr val="tx2"/>
                </a:solidFill>
                <a:latin typeface="Arial" panose="020B0604020202020204" pitchFamily="34" charset="0"/>
              </a:rPr>
              <a:t>		Dr Patrick Verdin</a:t>
            </a:r>
          </a:p>
          <a:p>
            <a:pPr>
              <a:buSzPct val="98000"/>
            </a:pPr>
            <a:r>
              <a:rPr lang="en-GB" altLang="en-US" sz="2000">
                <a:solidFill>
                  <a:schemeClr val="tx2"/>
                </a:solidFill>
                <a:latin typeface="Arial" panose="020B0604020202020204" pitchFamily="34" charset="0"/>
              </a:rPr>
              <a:t>		Dr Karl Jenkins</a:t>
            </a:r>
          </a:p>
          <a:p>
            <a:pPr>
              <a:buSzPct val="98000"/>
            </a:pPr>
            <a:r>
              <a:rPr lang="en-GB" altLang="en-US" sz="2000" i="1">
                <a:solidFill>
                  <a:schemeClr val="tx2"/>
                </a:solidFill>
                <a:latin typeface="Arial" panose="020B0604020202020204" pitchFamily="34" charset="0"/>
              </a:rPr>
              <a:t>		Dr Yves Soufflet</a:t>
            </a:r>
          </a:p>
          <a:p>
            <a:pPr>
              <a:buSzPct val="98000"/>
            </a:pPr>
            <a:r>
              <a:rPr lang="en-GB" altLang="en-US" sz="2000" i="1">
                <a:solidFill>
                  <a:schemeClr val="tx2"/>
                </a:solidFill>
                <a:latin typeface="Arial" panose="020B0604020202020204" pitchFamily="34" charset="0"/>
              </a:rPr>
              <a:t>		Naveed Akram</a:t>
            </a:r>
          </a:p>
          <a:p>
            <a:pPr>
              <a:buSzPct val="98000"/>
            </a:pPr>
            <a:endParaRPr lang="en-GB" altLang="en-US" sz="2000">
              <a:solidFill>
                <a:schemeClr val="tx2"/>
              </a:solidFill>
              <a:latin typeface="Arial" panose="020B0604020202020204" pitchFamily="34" charset="0"/>
            </a:endParaRPr>
          </a:p>
          <a:p>
            <a:pPr>
              <a:buSzPct val="98000"/>
            </a:pPr>
            <a:r>
              <a:rPr lang="en-GB" altLang="en-US" sz="2000">
                <a:solidFill>
                  <a:schemeClr val="tx2"/>
                </a:solidFill>
                <a:latin typeface="Arial" panose="020B0604020202020204" pitchFamily="34" charset="0"/>
              </a:rPr>
              <a:t>	Power and Propulsion</a:t>
            </a:r>
          </a:p>
          <a:p>
            <a:pPr>
              <a:buSzPct val="98000"/>
            </a:pPr>
            <a:r>
              <a:rPr lang="en-GB" altLang="en-US" sz="2000">
                <a:solidFill>
                  <a:schemeClr val="tx2"/>
                </a:solidFill>
                <a:latin typeface="Arial" panose="020B0604020202020204" pitchFamily="34" charset="0"/>
              </a:rPr>
              <a:t>		Dr David Hammond</a:t>
            </a:r>
          </a:p>
        </p:txBody>
      </p:sp>
    </p:spTree>
  </p:cSld>
  <p:clrMapOvr>
    <a:masterClrMapping/>
  </p:clrMapOvr>
  <p:transition>
    <p:strips dir="l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9BC4CE6E-F5AD-511A-8EDC-EE518B6F15F1}"/>
              </a:ext>
            </a:extLst>
          </p:cNvPr>
          <p:cNvSpPr txBox="1">
            <a:spLocks noChangeArrowheads="1"/>
          </p:cNvSpPr>
          <p:nvPr/>
        </p:nvSpPr>
        <p:spPr bwMode="auto">
          <a:xfrm>
            <a:off x="979488" y="496888"/>
            <a:ext cx="4970462"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a:solidFill>
                  <a:srgbClr val="3333CC"/>
                </a:solidFill>
                <a:latin typeface="Arial" panose="020B0604020202020204" pitchFamily="34" charset="0"/>
              </a:rPr>
              <a:t>AMAC modelling research activities</a:t>
            </a:r>
          </a:p>
        </p:txBody>
      </p:sp>
      <p:sp>
        <p:nvSpPr>
          <p:cNvPr id="6147" name="Text Box 3">
            <a:extLst>
              <a:ext uri="{FF2B5EF4-FFF2-40B4-BE49-F238E27FC236}">
                <a16:creationId xmlns:a16="http://schemas.microsoft.com/office/drawing/2014/main" id="{BBEF45E7-C14D-D39F-DB16-F8006107DB95}"/>
              </a:ext>
            </a:extLst>
          </p:cNvPr>
          <p:cNvSpPr txBox="1">
            <a:spLocks noChangeArrowheads="1"/>
          </p:cNvSpPr>
          <p:nvPr/>
        </p:nvSpPr>
        <p:spPr bwMode="auto">
          <a:xfrm>
            <a:off x="3970338" y="914400"/>
            <a:ext cx="2201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a:latin typeface="Arial" panose="020B0604020202020204" pitchFamily="34" charset="0"/>
              </a:rPr>
              <a:t>Structural icing</a:t>
            </a:r>
            <a:endParaRPr lang="en-GB" altLang="en-US"/>
          </a:p>
        </p:txBody>
      </p:sp>
      <p:pic>
        <p:nvPicPr>
          <p:cNvPr id="6148" name="Picture 4">
            <a:extLst>
              <a:ext uri="{FF2B5EF4-FFF2-40B4-BE49-F238E27FC236}">
                <a16:creationId xmlns:a16="http://schemas.microsoft.com/office/drawing/2014/main" id="{9B473BED-FAF8-7615-33EB-CFC016AF9B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3962400"/>
            <a:ext cx="3425825" cy="231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Picture 5">
            <a:extLst>
              <a:ext uri="{FF2B5EF4-FFF2-40B4-BE49-F238E27FC236}">
                <a16:creationId xmlns:a16="http://schemas.microsoft.com/office/drawing/2014/main" id="{8B69C0A4-5984-559C-25C3-8CD54A0366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371600"/>
            <a:ext cx="342582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Picture 6">
            <a:extLst>
              <a:ext uri="{FF2B5EF4-FFF2-40B4-BE49-F238E27FC236}">
                <a16:creationId xmlns:a16="http://schemas.microsoft.com/office/drawing/2014/main" id="{16CD20C4-D253-141E-022C-D162D07607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4600" y="3810000"/>
            <a:ext cx="1916113"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1" name="Picture 7">
            <a:extLst>
              <a:ext uri="{FF2B5EF4-FFF2-40B4-BE49-F238E27FC236}">
                <a16:creationId xmlns:a16="http://schemas.microsoft.com/office/drawing/2014/main" id="{B2628E4E-E54E-1A2D-19AF-1B8759C39F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1600" y="1447800"/>
            <a:ext cx="344487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2" name="Text Box 8">
            <a:extLst>
              <a:ext uri="{FF2B5EF4-FFF2-40B4-BE49-F238E27FC236}">
                <a16:creationId xmlns:a16="http://schemas.microsoft.com/office/drawing/2014/main" id="{88484D85-5957-A344-B302-DA797A207165}"/>
              </a:ext>
            </a:extLst>
          </p:cNvPr>
          <p:cNvSpPr txBox="1">
            <a:spLocks noChangeArrowheads="1"/>
          </p:cNvSpPr>
          <p:nvPr/>
        </p:nvSpPr>
        <p:spPr bwMode="auto">
          <a:xfrm>
            <a:off x="277813" y="4127500"/>
            <a:ext cx="223043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Iced power supply</a:t>
            </a:r>
          </a:p>
          <a:p>
            <a:pPr>
              <a:buSzPct val="98000"/>
            </a:pPr>
            <a:r>
              <a:rPr lang="en-GB" altLang="en-US" sz="2000">
                <a:latin typeface="Arial" panose="020B0604020202020204" pitchFamily="34" charset="0"/>
              </a:rPr>
              <a:t>for TV mast in</a:t>
            </a:r>
          </a:p>
          <a:p>
            <a:pPr>
              <a:buSzPct val="98000"/>
            </a:pPr>
            <a:r>
              <a:rPr lang="en-GB" altLang="en-US" sz="2000">
                <a:latin typeface="Arial" panose="020B0604020202020204" pitchFamily="34" charset="0"/>
              </a:rPr>
              <a:t>Norway</a:t>
            </a:r>
            <a:endParaRPr lang="en-GB" altLang="en-US" sz="2000"/>
          </a:p>
        </p:txBody>
      </p:sp>
      <p:sp>
        <p:nvSpPr>
          <p:cNvPr id="6153" name="Text Box 9">
            <a:extLst>
              <a:ext uri="{FF2B5EF4-FFF2-40B4-BE49-F238E27FC236}">
                <a16:creationId xmlns:a16="http://schemas.microsoft.com/office/drawing/2014/main" id="{B8D8D929-960A-0980-EB32-1B6C50161A03}"/>
              </a:ext>
            </a:extLst>
          </p:cNvPr>
          <p:cNvSpPr txBox="1">
            <a:spLocks noChangeArrowheads="1"/>
          </p:cNvSpPr>
          <p:nvPr/>
        </p:nvSpPr>
        <p:spPr bwMode="auto">
          <a:xfrm>
            <a:off x="4572000" y="3898900"/>
            <a:ext cx="16002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Pylons in </a:t>
            </a:r>
          </a:p>
          <a:p>
            <a:pPr>
              <a:buSzPct val="98000"/>
            </a:pPr>
            <a:r>
              <a:rPr lang="en-GB" altLang="en-US" sz="2000">
                <a:latin typeface="Arial" panose="020B0604020202020204" pitchFamily="34" charset="0"/>
              </a:rPr>
              <a:t>Norway and</a:t>
            </a:r>
          </a:p>
          <a:p>
            <a:pPr>
              <a:buSzPct val="98000"/>
            </a:pPr>
            <a:r>
              <a:rPr lang="en-GB" altLang="en-US" sz="2000">
                <a:latin typeface="Arial" panose="020B0604020202020204" pitchFamily="34" charset="0"/>
              </a:rPr>
              <a:t>Canada</a:t>
            </a:r>
            <a:endParaRPr lang="en-GB" altLang="en-US" sz="2000"/>
          </a:p>
        </p:txBody>
      </p:sp>
    </p:spTree>
  </p:cSld>
  <p:clrMapOvr>
    <a:masterClrMapping/>
  </p:clrMapOvr>
  <p:transition>
    <p:strips dir="l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3">
            <a:extLst>
              <a:ext uri="{FF2B5EF4-FFF2-40B4-BE49-F238E27FC236}">
                <a16:creationId xmlns:a16="http://schemas.microsoft.com/office/drawing/2014/main" id="{DFDB59D3-A2BC-1990-726D-EA02099AEAF5}"/>
              </a:ext>
            </a:extLst>
          </p:cNvPr>
          <p:cNvSpPr txBox="1">
            <a:spLocks noChangeArrowheads="1"/>
          </p:cNvSpPr>
          <p:nvPr/>
        </p:nvSpPr>
        <p:spPr bwMode="auto">
          <a:xfrm>
            <a:off x="909638" y="271463"/>
            <a:ext cx="244157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sz="3200">
                <a:latin typeface="Arial" panose="020B0604020202020204" pitchFamily="34" charset="0"/>
              </a:rPr>
              <a:t>Aircraft icing</a:t>
            </a:r>
            <a:endParaRPr lang="en-GB" altLang="en-US" sz="3200"/>
          </a:p>
        </p:txBody>
      </p:sp>
      <p:pic>
        <p:nvPicPr>
          <p:cNvPr id="7171" name="Picture 4">
            <a:extLst>
              <a:ext uri="{FF2B5EF4-FFF2-40B4-BE49-F238E27FC236}">
                <a16:creationId xmlns:a16="http://schemas.microsoft.com/office/drawing/2014/main" id="{11E87266-0F93-106C-9738-1E9A4761C7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447800"/>
            <a:ext cx="2816225" cy="225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5">
            <a:extLst>
              <a:ext uri="{FF2B5EF4-FFF2-40B4-BE49-F238E27FC236}">
                <a16:creationId xmlns:a16="http://schemas.microsoft.com/office/drawing/2014/main" id="{62478FAD-8799-F5A7-CD51-AAF40ADC72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3886200"/>
            <a:ext cx="2806700"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6">
            <a:extLst>
              <a:ext uri="{FF2B5EF4-FFF2-40B4-BE49-F238E27FC236}">
                <a16:creationId xmlns:a16="http://schemas.microsoft.com/office/drawing/2014/main" id="{3DECA150-8EA0-8BC2-0C39-BD52813D59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1066800"/>
            <a:ext cx="2511425" cy="247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7">
            <a:extLst>
              <a:ext uri="{FF2B5EF4-FFF2-40B4-BE49-F238E27FC236}">
                <a16:creationId xmlns:a16="http://schemas.microsoft.com/office/drawing/2014/main" id="{7A7DFB76-52C6-F2EC-8078-5A1D27991D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3581400"/>
            <a:ext cx="2740025" cy="274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5" name="Text Box 8">
            <a:extLst>
              <a:ext uri="{FF2B5EF4-FFF2-40B4-BE49-F238E27FC236}">
                <a16:creationId xmlns:a16="http://schemas.microsoft.com/office/drawing/2014/main" id="{7F9D00AB-7DDD-2F63-FB82-40B64E450B13}"/>
              </a:ext>
            </a:extLst>
          </p:cNvPr>
          <p:cNvSpPr txBox="1">
            <a:spLocks noChangeArrowheads="1"/>
          </p:cNvSpPr>
          <p:nvPr/>
        </p:nvSpPr>
        <p:spPr bwMode="auto">
          <a:xfrm>
            <a:off x="2481263" y="1690688"/>
            <a:ext cx="263683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Spinner from turbofan</a:t>
            </a:r>
          </a:p>
          <a:p>
            <a:pPr>
              <a:buSzPct val="98000"/>
            </a:pPr>
            <a:r>
              <a:rPr lang="en-GB" altLang="en-US" sz="2000">
                <a:latin typeface="Arial" panose="020B0604020202020204" pitchFamily="34" charset="0"/>
              </a:rPr>
              <a:t>engine</a:t>
            </a:r>
            <a:endParaRPr lang="en-GB" altLang="en-US" sz="2000"/>
          </a:p>
        </p:txBody>
      </p:sp>
      <p:sp>
        <p:nvSpPr>
          <p:cNvPr id="7176" name="Text Box 9">
            <a:extLst>
              <a:ext uri="{FF2B5EF4-FFF2-40B4-BE49-F238E27FC236}">
                <a16:creationId xmlns:a16="http://schemas.microsoft.com/office/drawing/2014/main" id="{E06E9DDE-F9C1-D696-3EE4-2D6BCA2A6CE0}"/>
              </a:ext>
            </a:extLst>
          </p:cNvPr>
          <p:cNvSpPr txBox="1">
            <a:spLocks noChangeArrowheads="1"/>
          </p:cNvSpPr>
          <p:nvPr/>
        </p:nvSpPr>
        <p:spPr bwMode="auto">
          <a:xfrm>
            <a:off x="4589463" y="2298700"/>
            <a:ext cx="19367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Aerofoil leading</a:t>
            </a:r>
          </a:p>
          <a:p>
            <a:pPr>
              <a:buSzPct val="98000"/>
            </a:pPr>
            <a:r>
              <a:rPr lang="en-GB" altLang="en-US" sz="2000">
                <a:latin typeface="Arial" panose="020B0604020202020204" pitchFamily="34" charset="0"/>
              </a:rPr>
              <a:t>edge</a:t>
            </a:r>
            <a:endParaRPr lang="en-GB" altLang="en-US" sz="2000"/>
          </a:p>
        </p:txBody>
      </p:sp>
      <p:sp>
        <p:nvSpPr>
          <p:cNvPr id="7177" name="Text Box 10">
            <a:extLst>
              <a:ext uri="{FF2B5EF4-FFF2-40B4-BE49-F238E27FC236}">
                <a16:creationId xmlns:a16="http://schemas.microsoft.com/office/drawing/2014/main" id="{0654C0EB-5B26-A67D-D26F-59FD306975CF}"/>
              </a:ext>
            </a:extLst>
          </p:cNvPr>
          <p:cNvSpPr txBox="1">
            <a:spLocks noChangeArrowheads="1"/>
          </p:cNvSpPr>
          <p:nvPr/>
        </p:nvSpPr>
        <p:spPr bwMode="auto">
          <a:xfrm>
            <a:off x="0" y="4037013"/>
            <a:ext cx="2078038"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Helicopter engine</a:t>
            </a:r>
          </a:p>
          <a:p>
            <a:pPr>
              <a:buSzPct val="98000"/>
            </a:pPr>
            <a:r>
              <a:rPr lang="en-GB" altLang="en-US" sz="2000">
                <a:latin typeface="Arial" panose="020B0604020202020204" pitchFamily="34" charset="0"/>
              </a:rPr>
              <a:t>inlet scoop</a:t>
            </a:r>
            <a:endParaRPr lang="en-GB" altLang="en-US" sz="2000"/>
          </a:p>
        </p:txBody>
      </p:sp>
      <p:sp>
        <p:nvSpPr>
          <p:cNvPr id="7178" name="Text Box 11">
            <a:extLst>
              <a:ext uri="{FF2B5EF4-FFF2-40B4-BE49-F238E27FC236}">
                <a16:creationId xmlns:a16="http://schemas.microsoft.com/office/drawing/2014/main" id="{C11734AE-EFF8-18E8-563D-AF60E5A8BF87}"/>
              </a:ext>
            </a:extLst>
          </p:cNvPr>
          <p:cNvSpPr txBox="1">
            <a:spLocks noChangeArrowheads="1"/>
          </p:cNvSpPr>
          <p:nvPr/>
        </p:nvSpPr>
        <p:spPr bwMode="auto">
          <a:xfrm>
            <a:off x="8158163" y="4127500"/>
            <a:ext cx="15541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Thin section</a:t>
            </a:r>
          </a:p>
          <a:p>
            <a:pPr>
              <a:buSzPct val="98000"/>
            </a:pPr>
            <a:r>
              <a:rPr lang="en-GB" altLang="en-US" sz="2000">
                <a:latin typeface="Arial" panose="020B0604020202020204" pitchFamily="34" charset="0"/>
              </a:rPr>
              <a:t>of ice</a:t>
            </a:r>
            <a:r>
              <a:rPr lang="en-GB" altLang="en-US" sz="2000"/>
              <a:t> </a:t>
            </a:r>
          </a:p>
        </p:txBody>
      </p:sp>
    </p:spTree>
  </p:cSld>
  <p:clrMapOvr>
    <a:masterClrMapping/>
  </p:clrMapOvr>
  <p:transition>
    <p:strips dir="l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3">
            <a:extLst>
              <a:ext uri="{FF2B5EF4-FFF2-40B4-BE49-F238E27FC236}">
                <a16:creationId xmlns:a16="http://schemas.microsoft.com/office/drawing/2014/main" id="{BFE56ECD-9E93-C862-835A-A835D44B4B02}"/>
              </a:ext>
            </a:extLst>
          </p:cNvPr>
          <p:cNvSpPr txBox="1">
            <a:spLocks noChangeArrowheads="1"/>
          </p:cNvSpPr>
          <p:nvPr/>
        </p:nvSpPr>
        <p:spPr bwMode="auto">
          <a:xfrm>
            <a:off x="547688" y="477838"/>
            <a:ext cx="52562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3600">
                <a:latin typeface="Arial" panose="020B0604020202020204" pitchFamily="34" charset="0"/>
              </a:rPr>
              <a:t>Examples Thin film flows</a:t>
            </a:r>
          </a:p>
        </p:txBody>
      </p:sp>
      <p:pic>
        <p:nvPicPr>
          <p:cNvPr id="8195" name="Picture 4">
            <a:extLst>
              <a:ext uri="{FF2B5EF4-FFF2-40B4-BE49-F238E27FC236}">
                <a16:creationId xmlns:a16="http://schemas.microsoft.com/office/drawing/2014/main" id="{A670BC2E-90A3-C74B-B41C-AEC9ACD21C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2209800"/>
            <a:ext cx="3435350" cy="291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6" name="Text Box 5">
            <a:extLst>
              <a:ext uri="{FF2B5EF4-FFF2-40B4-BE49-F238E27FC236}">
                <a16:creationId xmlns:a16="http://schemas.microsoft.com/office/drawing/2014/main" id="{E986C0EF-B792-78DB-C12C-A513D740EE8D}"/>
              </a:ext>
            </a:extLst>
          </p:cNvPr>
          <p:cNvSpPr txBox="1">
            <a:spLocks noChangeArrowheads="1"/>
          </p:cNvSpPr>
          <p:nvPr/>
        </p:nvSpPr>
        <p:spPr bwMode="auto">
          <a:xfrm>
            <a:off x="5248275" y="1946275"/>
            <a:ext cx="447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Clr>
                <a:srgbClr val="660066"/>
              </a:buClr>
              <a:buFontTx/>
              <a:buChar char="•"/>
            </a:pPr>
            <a:r>
              <a:rPr lang="en-GB" altLang="en-US">
                <a:solidFill>
                  <a:srgbClr val="660066"/>
                </a:solidFill>
              </a:rPr>
              <a:t> </a:t>
            </a:r>
            <a:r>
              <a:rPr lang="en-GB" altLang="en-US">
                <a:solidFill>
                  <a:srgbClr val="660066"/>
                </a:solidFill>
                <a:latin typeface="Arial" panose="020B0604020202020204" pitchFamily="34" charset="0"/>
              </a:rPr>
              <a:t>Coating, painting, viscous flow</a:t>
            </a:r>
          </a:p>
        </p:txBody>
      </p:sp>
      <p:sp>
        <p:nvSpPr>
          <p:cNvPr id="8197" name="Text Box 6">
            <a:extLst>
              <a:ext uri="{FF2B5EF4-FFF2-40B4-BE49-F238E27FC236}">
                <a16:creationId xmlns:a16="http://schemas.microsoft.com/office/drawing/2014/main" id="{B4D8D533-DBF6-7923-B2E9-94D5D18221E1}"/>
              </a:ext>
            </a:extLst>
          </p:cNvPr>
          <p:cNvSpPr txBox="1">
            <a:spLocks noChangeArrowheads="1"/>
          </p:cNvSpPr>
          <p:nvPr/>
        </p:nvSpPr>
        <p:spPr bwMode="auto">
          <a:xfrm>
            <a:off x="5257800" y="2819400"/>
            <a:ext cx="1249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Clr>
                <a:srgbClr val="660066"/>
              </a:buClr>
              <a:buFontTx/>
              <a:buChar char="•"/>
            </a:pPr>
            <a:r>
              <a:rPr lang="en-GB" altLang="en-US">
                <a:solidFill>
                  <a:srgbClr val="660066"/>
                </a:solidFill>
              </a:rPr>
              <a:t> </a:t>
            </a:r>
            <a:r>
              <a:rPr lang="en-GB" altLang="en-US">
                <a:solidFill>
                  <a:srgbClr val="660066"/>
                </a:solidFill>
                <a:latin typeface="Arial" panose="020B0604020202020204" pitchFamily="34" charset="0"/>
              </a:rPr>
              <a:t>Drying</a:t>
            </a:r>
            <a:endParaRPr lang="en-GB" altLang="en-US">
              <a:solidFill>
                <a:srgbClr val="660066"/>
              </a:solidFill>
            </a:endParaRPr>
          </a:p>
        </p:txBody>
      </p:sp>
      <p:sp>
        <p:nvSpPr>
          <p:cNvPr id="8198" name="Text Box 7">
            <a:extLst>
              <a:ext uri="{FF2B5EF4-FFF2-40B4-BE49-F238E27FC236}">
                <a16:creationId xmlns:a16="http://schemas.microsoft.com/office/drawing/2014/main" id="{3BF24570-2BFE-99FC-7100-B30BCF214940}"/>
              </a:ext>
            </a:extLst>
          </p:cNvPr>
          <p:cNvSpPr txBox="1">
            <a:spLocks noChangeArrowheads="1"/>
          </p:cNvSpPr>
          <p:nvPr/>
        </p:nvSpPr>
        <p:spPr bwMode="auto">
          <a:xfrm>
            <a:off x="5257800" y="3733800"/>
            <a:ext cx="2044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Clr>
                <a:srgbClr val="660066"/>
              </a:buClr>
              <a:buFontTx/>
              <a:buChar char="•"/>
            </a:pPr>
            <a:r>
              <a:rPr lang="en-GB" altLang="en-US">
                <a:solidFill>
                  <a:srgbClr val="660066"/>
                </a:solidFill>
              </a:rPr>
              <a:t> </a:t>
            </a:r>
            <a:r>
              <a:rPr lang="en-GB" altLang="en-US">
                <a:solidFill>
                  <a:srgbClr val="660066"/>
                </a:solidFill>
                <a:latin typeface="Arial" panose="020B0604020202020204" pitchFamily="34" charset="0"/>
              </a:rPr>
              <a:t>Aircraft icing</a:t>
            </a:r>
            <a:endParaRPr lang="en-GB" altLang="en-US">
              <a:solidFill>
                <a:srgbClr val="660066"/>
              </a:solidFill>
            </a:endParaRPr>
          </a:p>
        </p:txBody>
      </p:sp>
      <p:sp>
        <p:nvSpPr>
          <p:cNvPr id="8199" name="Text Box 8">
            <a:extLst>
              <a:ext uri="{FF2B5EF4-FFF2-40B4-BE49-F238E27FC236}">
                <a16:creationId xmlns:a16="http://schemas.microsoft.com/office/drawing/2014/main" id="{4442B855-DF4D-826F-0D78-8D411FA6BE56}"/>
              </a:ext>
            </a:extLst>
          </p:cNvPr>
          <p:cNvSpPr txBox="1">
            <a:spLocks noChangeArrowheads="1"/>
          </p:cNvSpPr>
          <p:nvPr/>
        </p:nvSpPr>
        <p:spPr bwMode="auto">
          <a:xfrm>
            <a:off x="5257800" y="4572000"/>
            <a:ext cx="1936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Clr>
                <a:srgbClr val="660066"/>
              </a:buClr>
              <a:buFontTx/>
              <a:buChar char="•"/>
            </a:pPr>
            <a:r>
              <a:rPr lang="en-GB" altLang="en-US">
                <a:solidFill>
                  <a:srgbClr val="660066"/>
                </a:solidFill>
              </a:rPr>
              <a:t> </a:t>
            </a:r>
            <a:r>
              <a:rPr lang="en-GB" altLang="en-US">
                <a:solidFill>
                  <a:srgbClr val="660066"/>
                </a:solidFill>
                <a:latin typeface="Arial" panose="020B0604020202020204" pitchFamily="34" charset="0"/>
              </a:rPr>
              <a:t>Lubrication</a:t>
            </a:r>
            <a:r>
              <a:rPr lang="en-GB" altLang="en-US">
                <a:solidFill>
                  <a:srgbClr val="660066"/>
                </a:solidFill>
              </a:rPr>
              <a:t> </a:t>
            </a:r>
          </a:p>
        </p:txBody>
      </p:sp>
    </p:spTree>
  </p:cSld>
  <p:clrMapOvr>
    <a:masterClrMapping/>
  </p:clrMapOvr>
  <p:transition>
    <p:strips dir="l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3">
            <a:extLst>
              <a:ext uri="{FF2B5EF4-FFF2-40B4-BE49-F238E27FC236}">
                <a16:creationId xmlns:a16="http://schemas.microsoft.com/office/drawing/2014/main" id="{3756ECA5-08D0-0861-1C12-A21FC3E20C15}"/>
              </a:ext>
            </a:extLst>
          </p:cNvPr>
          <p:cNvSpPr txBox="1">
            <a:spLocks noChangeArrowheads="1"/>
          </p:cNvSpPr>
          <p:nvPr/>
        </p:nvSpPr>
        <p:spPr bwMode="auto">
          <a:xfrm>
            <a:off x="347663" y="495300"/>
            <a:ext cx="50339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sz="3600">
                <a:latin typeface="Arial" panose="020B0604020202020204" pitchFamily="34" charset="0"/>
              </a:rPr>
              <a:t>Phase change with flow</a:t>
            </a:r>
            <a:endParaRPr lang="en-GB" altLang="en-US" sz="3600"/>
          </a:p>
        </p:txBody>
      </p:sp>
      <p:pic>
        <p:nvPicPr>
          <p:cNvPr id="9219" name="Picture 4">
            <a:extLst>
              <a:ext uri="{FF2B5EF4-FFF2-40B4-BE49-F238E27FC236}">
                <a16:creationId xmlns:a16="http://schemas.microsoft.com/office/drawing/2014/main" id="{55421C90-E455-2372-F426-71F0DED061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4925" y="2641600"/>
            <a:ext cx="3482975" cy="291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Text Box 5">
            <a:extLst>
              <a:ext uri="{FF2B5EF4-FFF2-40B4-BE49-F238E27FC236}">
                <a16:creationId xmlns:a16="http://schemas.microsoft.com/office/drawing/2014/main" id="{35268808-6651-0742-F579-CA86BC31E7EE}"/>
              </a:ext>
            </a:extLst>
          </p:cNvPr>
          <p:cNvSpPr txBox="1">
            <a:spLocks noChangeArrowheads="1"/>
          </p:cNvSpPr>
          <p:nvPr/>
        </p:nvSpPr>
        <p:spPr bwMode="auto">
          <a:xfrm>
            <a:off x="5648325" y="2057400"/>
            <a:ext cx="3382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Clr>
                <a:srgbClr val="000000"/>
              </a:buClr>
              <a:buFontTx/>
              <a:buChar char="•"/>
            </a:pPr>
            <a:r>
              <a:rPr lang="en-GB" altLang="en-US">
                <a:solidFill>
                  <a:schemeClr val="tx2"/>
                </a:solidFill>
              </a:rPr>
              <a:t> </a:t>
            </a:r>
            <a:r>
              <a:rPr lang="en-GB" altLang="en-US">
                <a:solidFill>
                  <a:schemeClr val="tx2"/>
                </a:solidFill>
                <a:latin typeface="Arial" panose="020B0604020202020204" pitchFamily="34" charset="0"/>
              </a:rPr>
              <a:t>Aircraft/structural icing</a:t>
            </a:r>
            <a:endParaRPr lang="en-GB" altLang="en-US">
              <a:solidFill>
                <a:schemeClr val="tx2"/>
              </a:solidFill>
            </a:endParaRPr>
          </a:p>
        </p:txBody>
      </p:sp>
      <p:sp>
        <p:nvSpPr>
          <p:cNvPr id="9221" name="Text Box 6">
            <a:extLst>
              <a:ext uri="{FF2B5EF4-FFF2-40B4-BE49-F238E27FC236}">
                <a16:creationId xmlns:a16="http://schemas.microsoft.com/office/drawing/2014/main" id="{CB9C4B9A-ABAB-6A47-3009-E4A2F055B4B7}"/>
              </a:ext>
            </a:extLst>
          </p:cNvPr>
          <p:cNvSpPr txBox="1">
            <a:spLocks noChangeArrowheads="1"/>
          </p:cNvSpPr>
          <p:nvPr/>
        </p:nvSpPr>
        <p:spPr bwMode="auto">
          <a:xfrm>
            <a:off x="5643563" y="2957513"/>
            <a:ext cx="1995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Clr>
                <a:srgbClr val="000000"/>
              </a:buClr>
              <a:buFontTx/>
              <a:buChar char="•"/>
            </a:pPr>
            <a:r>
              <a:rPr lang="en-GB" altLang="en-US"/>
              <a:t> </a:t>
            </a:r>
            <a:r>
              <a:rPr lang="en-GB" altLang="en-US">
                <a:solidFill>
                  <a:schemeClr val="tx2"/>
                </a:solidFill>
                <a:latin typeface="Arial" panose="020B0604020202020204" pitchFamily="34" charset="0"/>
              </a:rPr>
              <a:t>Evaporation</a:t>
            </a:r>
          </a:p>
        </p:txBody>
      </p:sp>
      <p:sp>
        <p:nvSpPr>
          <p:cNvPr id="9222" name="Text Box 7">
            <a:extLst>
              <a:ext uri="{FF2B5EF4-FFF2-40B4-BE49-F238E27FC236}">
                <a16:creationId xmlns:a16="http://schemas.microsoft.com/office/drawing/2014/main" id="{0C3419A0-A46F-63ED-3B0B-48AD22D2DC2D}"/>
              </a:ext>
            </a:extLst>
          </p:cNvPr>
          <p:cNvSpPr txBox="1">
            <a:spLocks noChangeArrowheads="1"/>
          </p:cNvSpPr>
          <p:nvPr/>
        </p:nvSpPr>
        <p:spPr bwMode="auto">
          <a:xfrm>
            <a:off x="5638800" y="3810000"/>
            <a:ext cx="4219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Clr>
                <a:srgbClr val="000000"/>
              </a:buClr>
              <a:buFontTx/>
              <a:buChar char="•"/>
            </a:pPr>
            <a:r>
              <a:rPr lang="en-GB" altLang="en-US">
                <a:solidFill>
                  <a:schemeClr val="tx2"/>
                </a:solidFill>
              </a:rPr>
              <a:t> </a:t>
            </a:r>
            <a:r>
              <a:rPr lang="en-GB" altLang="en-US">
                <a:solidFill>
                  <a:schemeClr val="tx2"/>
                </a:solidFill>
                <a:latin typeface="Arial" panose="020B0604020202020204" pitchFamily="34" charset="0"/>
              </a:rPr>
              <a:t>Hydrate build-up in pipelines</a:t>
            </a:r>
            <a:endParaRPr lang="en-GB" altLang="en-US">
              <a:solidFill>
                <a:schemeClr val="tx2"/>
              </a:solidFill>
            </a:endParaRPr>
          </a:p>
        </p:txBody>
      </p:sp>
      <p:sp>
        <p:nvSpPr>
          <p:cNvPr id="9223" name="Text Box 8">
            <a:extLst>
              <a:ext uri="{FF2B5EF4-FFF2-40B4-BE49-F238E27FC236}">
                <a16:creationId xmlns:a16="http://schemas.microsoft.com/office/drawing/2014/main" id="{C6430B16-2D83-FE54-B024-6643A723E116}"/>
              </a:ext>
            </a:extLst>
          </p:cNvPr>
          <p:cNvSpPr txBox="1">
            <a:spLocks noChangeArrowheads="1"/>
          </p:cNvSpPr>
          <p:nvPr/>
        </p:nvSpPr>
        <p:spPr bwMode="auto">
          <a:xfrm>
            <a:off x="5638800" y="4648200"/>
            <a:ext cx="1655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Clr>
                <a:srgbClr val="000000"/>
              </a:buClr>
              <a:buFontTx/>
              <a:buChar char="•"/>
            </a:pPr>
            <a:r>
              <a:rPr lang="en-GB" altLang="en-US">
                <a:solidFill>
                  <a:schemeClr val="tx2"/>
                </a:solidFill>
              </a:rPr>
              <a:t> </a:t>
            </a:r>
            <a:r>
              <a:rPr lang="en-GB" altLang="en-US">
                <a:solidFill>
                  <a:schemeClr val="tx2"/>
                </a:solidFill>
                <a:latin typeface="Arial" panose="020B0604020202020204" pitchFamily="34" charset="0"/>
              </a:rPr>
              <a:t>Lava flow</a:t>
            </a:r>
            <a:endParaRPr lang="en-GB" altLang="en-US">
              <a:solidFill>
                <a:schemeClr val="tx2"/>
              </a:solidFill>
            </a:endParaRPr>
          </a:p>
        </p:txBody>
      </p:sp>
    </p:spTree>
  </p:cSld>
  <p:clrMapOvr>
    <a:masterClrMapping/>
  </p:clrMapOvr>
  <p:transition>
    <p:strips dir="l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856E40A7-9881-CFC8-A70E-3FB2F528A1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12" t="17448" r="1563" b="14404"/>
          <a:stretch>
            <a:fillRect/>
          </a:stretch>
        </p:blipFill>
        <p:spPr bwMode="auto">
          <a:xfrm>
            <a:off x="266700" y="288925"/>
            <a:ext cx="10425113" cy="63627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6" descr="DSCN0288">
            <a:extLst>
              <a:ext uri="{FF2B5EF4-FFF2-40B4-BE49-F238E27FC236}">
                <a16:creationId xmlns:a16="http://schemas.microsoft.com/office/drawing/2014/main" id="{FA7C38C4-2C10-1BF7-BA8B-823279B1A2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916" r="15916"/>
          <a:stretch>
            <a:fillRect/>
          </a:stretch>
        </p:blipFill>
        <p:spPr bwMode="auto">
          <a:xfrm>
            <a:off x="1876425" y="3524250"/>
            <a:ext cx="3246438" cy="357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 name="Picture 8" descr="D9687">
            <a:extLst>
              <a:ext uri="{FF2B5EF4-FFF2-40B4-BE49-F238E27FC236}">
                <a16:creationId xmlns:a16="http://schemas.microsoft.com/office/drawing/2014/main" id="{86D9EF32-64DA-6671-F0BB-5870B1B2B8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8850" y="1262063"/>
            <a:ext cx="5470525" cy="362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Text Box 9">
            <a:extLst>
              <a:ext uri="{FF2B5EF4-FFF2-40B4-BE49-F238E27FC236}">
                <a16:creationId xmlns:a16="http://schemas.microsoft.com/office/drawing/2014/main" id="{CCE73133-E0D3-2385-C968-E733E61A590F}"/>
              </a:ext>
            </a:extLst>
          </p:cNvPr>
          <p:cNvSpPr txBox="1">
            <a:spLocks noChangeArrowheads="1"/>
          </p:cNvSpPr>
          <p:nvPr/>
        </p:nvSpPr>
        <p:spPr bwMode="auto">
          <a:xfrm>
            <a:off x="7062788" y="4854575"/>
            <a:ext cx="3435350" cy="23495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a:latin typeface="Arial" panose="020B0604020202020204" pitchFamily="34" charset="0"/>
              </a:rPr>
              <a:t>Main Icing Tunnel</a:t>
            </a:r>
          </a:p>
          <a:p>
            <a:pPr>
              <a:buFontTx/>
              <a:buAutoNum type="arabicPeriod"/>
            </a:pPr>
            <a:r>
              <a:rPr lang="en-GB" altLang="en-US" sz="1800">
                <a:latin typeface="Arial" panose="020B0604020202020204" pitchFamily="34" charset="0"/>
              </a:rPr>
              <a:t>761 x 761 mm main section</a:t>
            </a:r>
          </a:p>
          <a:p>
            <a:pPr>
              <a:buFontTx/>
              <a:buAutoNum type="arabicPeriod"/>
            </a:pPr>
            <a:r>
              <a:rPr lang="en-GB" altLang="en-US" sz="1800">
                <a:latin typeface="Arial" panose="020B0604020202020204" pitchFamily="34" charset="0"/>
              </a:rPr>
              <a:t>Mach 0.4</a:t>
            </a:r>
          </a:p>
          <a:p>
            <a:pPr>
              <a:buFontTx/>
              <a:buAutoNum type="arabicPeriod"/>
            </a:pPr>
            <a:r>
              <a:rPr lang="en-GB" altLang="en-US" sz="1800">
                <a:latin typeface="Arial" panose="020B0604020202020204" pitchFamily="34" charset="0"/>
              </a:rPr>
              <a:t>500 KW cooling capacity</a:t>
            </a:r>
          </a:p>
          <a:p>
            <a:pPr>
              <a:buFontTx/>
              <a:buAutoNum type="arabicPeriod"/>
            </a:pPr>
            <a:r>
              <a:rPr lang="en-GB" altLang="en-US" sz="1800">
                <a:latin typeface="Arial" panose="020B0604020202020204" pitchFamily="34" charset="0"/>
              </a:rPr>
              <a:t>+ 30 to – 40 </a:t>
            </a:r>
            <a:r>
              <a:rPr lang="en-US" altLang="en-US" sz="1800">
                <a:latin typeface="Arial" panose="020B0604020202020204" pitchFamily="34" charset="0"/>
                <a:cs typeface="Arial" panose="020B0604020202020204" pitchFamily="34" charset="0"/>
              </a:rPr>
              <a:t>º</a:t>
            </a:r>
            <a:r>
              <a:rPr lang="en-GB" altLang="en-US" sz="1800">
                <a:latin typeface="Arial" panose="020B0604020202020204" pitchFamily="34" charset="0"/>
              </a:rPr>
              <a:t>C (total)</a:t>
            </a:r>
          </a:p>
          <a:p>
            <a:pPr>
              <a:buFontTx/>
              <a:buAutoNum type="arabicPeriod"/>
            </a:pPr>
            <a:r>
              <a:rPr lang="en-GB" altLang="en-US" sz="1800">
                <a:latin typeface="Arial" panose="020B0604020202020204" pitchFamily="34" charset="0"/>
              </a:rPr>
              <a:t>SLD friendly shape</a:t>
            </a:r>
          </a:p>
          <a:p>
            <a:pPr>
              <a:buFontTx/>
              <a:buAutoNum type="arabicPeriod"/>
            </a:pPr>
            <a:r>
              <a:rPr lang="en-GB" altLang="en-US" sz="1800">
                <a:latin typeface="Arial" panose="020B0604020202020204" pitchFamily="34" charset="0"/>
              </a:rPr>
              <a:t>Range of nozzles</a:t>
            </a:r>
          </a:p>
          <a:p>
            <a:endParaRPr lang="en-GB" altLang="en-US" sz="2000">
              <a:latin typeface="Arial" panose="020B0604020202020204" pitchFamily="34" charset="0"/>
            </a:endParaRPr>
          </a:p>
        </p:txBody>
      </p:sp>
      <p:sp>
        <p:nvSpPr>
          <p:cNvPr id="11269" name="Text Box 10">
            <a:extLst>
              <a:ext uri="{FF2B5EF4-FFF2-40B4-BE49-F238E27FC236}">
                <a16:creationId xmlns:a16="http://schemas.microsoft.com/office/drawing/2014/main" id="{6659B1DC-44C8-F622-E9DC-44CCEC54C384}"/>
              </a:ext>
            </a:extLst>
          </p:cNvPr>
          <p:cNvSpPr txBox="1">
            <a:spLocks noChangeArrowheads="1"/>
          </p:cNvSpPr>
          <p:nvPr/>
        </p:nvSpPr>
        <p:spPr bwMode="auto">
          <a:xfrm>
            <a:off x="265113" y="1457325"/>
            <a:ext cx="3346450" cy="2319338"/>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000" b="1">
                <a:latin typeface="Arial" panose="020B0604020202020204" pitchFamily="34" charset="0"/>
              </a:rPr>
              <a:t>Vertical Icing Tunnel</a:t>
            </a:r>
          </a:p>
          <a:p>
            <a:pPr>
              <a:buFontTx/>
              <a:buAutoNum type="arabicPeriod"/>
            </a:pPr>
            <a:r>
              <a:rPr lang="en-GB" altLang="en-US" sz="1800">
                <a:latin typeface="Arial" panose="020B0604020202020204" pitchFamily="34" charset="0"/>
              </a:rPr>
              <a:t>216 x 216 working section </a:t>
            </a:r>
          </a:p>
          <a:p>
            <a:pPr>
              <a:buFontTx/>
              <a:buAutoNum type="arabicPeriod"/>
            </a:pPr>
            <a:r>
              <a:rPr lang="en-GB" altLang="en-US" sz="1800">
                <a:latin typeface="Arial" panose="020B0604020202020204" pitchFamily="34" charset="0"/>
              </a:rPr>
              <a:t>Mach 0.4</a:t>
            </a:r>
          </a:p>
          <a:p>
            <a:pPr>
              <a:buFontTx/>
              <a:buAutoNum type="arabicPeriod"/>
            </a:pPr>
            <a:r>
              <a:rPr lang="en-GB" altLang="en-US" sz="1800">
                <a:latin typeface="Arial" panose="020B0604020202020204" pitchFamily="34" charset="0"/>
              </a:rPr>
              <a:t>100 KW cooling capacity</a:t>
            </a:r>
          </a:p>
          <a:p>
            <a:pPr>
              <a:buFontTx/>
              <a:buAutoNum type="arabicPeriod"/>
            </a:pPr>
            <a:r>
              <a:rPr lang="en-GB" altLang="en-US" sz="1800">
                <a:latin typeface="Arial" panose="020B0604020202020204" pitchFamily="34" charset="0"/>
              </a:rPr>
              <a:t>+ 30 to </a:t>
            </a:r>
            <a:r>
              <a:rPr lang="en-US" altLang="en-US" sz="1800">
                <a:latin typeface="Arial" panose="020B0604020202020204" pitchFamily="34" charset="0"/>
                <a:cs typeface="Arial" panose="020B0604020202020204" pitchFamily="34" charset="0"/>
              </a:rPr>
              <a:t>− </a:t>
            </a:r>
            <a:r>
              <a:rPr lang="en-GB" altLang="en-US" sz="1800">
                <a:latin typeface="Arial" panose="020B0604020202020204" pitchFamily="34" charset="0"/>
              </a:rPr>
              <a:t>40 </a:t>
            </a:r>
            <a:r>
              <a:rPr lang="en-US" altLang="en-US" sz="1800">
                <a:latin typeface="Arial" panose="020B0604020202020204" pitchFamily="34" charset="0"/>
                <a:cs typeface="Arial" panose="020B0604020202020204" pitchFamily="34" charset="0"/>
              </a:rPr>
              <a:t>º</a:t>
            </a:r>
            <a:r>
              <a:rPr lang="en-GB" altLang="en-US" sz="1800">
                <a:latin typeface="Arial" panose="020B0604020202020204" pitchFamily="34" charset="0"/>
              </a:rPr>
              <a:t>C (total)</a:t>
            </a:r>
          </a:p>
          <a:p>
            <a:pPr>
              <a:buFontTx/>
              <a:buAutoNum type="arabicPeriod"/>
            </a:pPr>
            <a:r>
              <a:rPr lang="en-GB" altLang="en-US" sz="1800">
                <a:latin typeface="Arial" panose="020B0604020202020204" pitchFamily="34" charset="0"/>
              </a:rPr>
              <a:t>SLD friendly shape</a:t>
            </a:r>
          </a:p>
          <a:p>
            <a:pPr>
              <a:buFontTx/>
              <a:buAutoNum type="arabicPeriod"/>
            </a:pPr>
            <a:r>
              <a:rPr lang="en-GB" altLang="en-US" sz="1800">
                <a:latin typeface="Arial" panose="020B0604020202020204" pitchFamily="34" charset="0"/>
              </a:rPr>
              <a:t>Mono dispersed droplets</a:t>
            </a:r>
          </a:p>
          <a:p>
            <a:endParaRPr lang="en-GB" altLang="en-US" sz="1800">
              <a:latin typeface="Arial" panose="020B0604020202020204" pitchFamily="34" charset="0"/>
            </a:endParaRPr>
          </a:p>
        </p:txBody>
      </p:sp>
      <p:sp>
        <p:nvSpPr>
          <p:cNvPr id="11270" name="Text Box 11">
            <a:extLst>
              <a:ext uri="{FF2B5EF4-FFF2-40B4-BE49-F238E27FC236}">
                <a16:creationId xmlns:a16="http://schemas.microsoft.com/office/drawing/2014/main" id="{9BAC56CB-03E3-077B-6551-E13CC8DB0AB9}"/>
              </a:ext>
            </a:extLst>
          </p:cNvPr>
          <p:cNvSpPr txBox="1">
            <a:spLocks noChangeArrowheads="1"/>
          </p:cNvSpPr>
          <p:nvPr/>
        </p:nvSpPr>
        <p:spPr bwMode="auto">
          <a:xfrm>
            <a:off x="498475" y="190500"/>
            <a:ext cx="18415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1271" name="Text Box 12">
            <a:extLst>
              <a:ext uri="{FF2B5EF4-FFF2-40B4-BE49-F238E27FC236}">
                <a16:creationId xmlns:a16="http://schemas.microsoft.com/office/drawing/2014/main" id="{7BEDF60C-8D11-2387-DE22-11C509180FFB}"/>
              </a:ext>
            </a:extLst>
          </p:cNvPr>
          <p:cNvSpPr txBox="1">
            <a:spLocks noChangeArrowheads="1"/>
          </p:cNvSpPr>
          <p:nvPr/>
        </p:nvSpPr>
        <p:spPr bwMode="auto">
          <a:xfrm>
            <a:off x="749300" y="241300"/>
            <a:ext cx="4770438" cy="519113"/>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800" b="1">
                <a:latin typeface="Arial" panose="020B0604020202020204" pitchFamily="34" charset="0"/>
              </a:rPr>
              <a:t>Icing Facilities at Cranfield</a:t>
            </a:r>
            <a:r>
              <a:rPr lang="en-GB" altLang="en-US"/>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3">
            <a:extLst>
              <a:ext uri="{FF2B5EF4-FFF2-40B4-BE49-F238E27FC236}">
                <a16:creationId xmlns:a16="http://schemas.microsoft.com/office/drawing/2014/main" id="{E7C0B760-598B-E858-5BBA-E1306A280D79}"/>
              </a:ext>
            </a:extLst>
          </p:cNvPr>
          <p:cNvSpPr txBox="1">
            <a:spLocks noChangeArrowheads="1"/>
          </p:cNvSpPr>
          <p:nvPr/>
        </p:nvSpPr>
        <p:spPr bwMode="auto">
          <a:xfrm>
            <a:off x="395288" y="525463"/>
            <a:ext cx="31099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3600">
                <a:latin typeface="Arial" panose="020B0604020202020204" pitchFamily="34" charset="0"/>
              </a:rPr>
              <a:t>Thin film flows</a:t>
            </a:r>
          </a:p>
        </p:txBody>
      </p:sp>
      <p:graphicFrame>
        <p:nvGraphicFramePr>
          <p:cNvPr id="12291" name="Object 4">
            <a:extLst>
              <a:ext uri="{FF2B5EF4-FFF2-40B4-BE49-F238E27FC236}">
                <a16:creationId xmlns:a16="http://schemas.microsoft.com/office/drawing/2014/main" id="{13A4DC5E-16F2-02D7-B48B-ABD8F5C1918A}"/>
              </a:ext>
            </a:extLst>
          </p:cNvPr>
          <p:cNvGraphicFramePr>
            <a:graphicFrameLocks noChangeAspect="1"/>
          </p:cNvGraphicFramePr>
          <p:nvPr/>
        </p:nvGraphicFramePr>
        <p:xfrm>
          <a:off x="838200" y="2362200"/>
          <a:ext cx="2054225" cy="868363"/>
        </p:xfrm>
        <a:graphic>
          <a:graphicData uri="http://schemas.openxmlformats.org/presentationml/2006/ole">
            <mc:AlternateContent xmlns:mc="http://schemas.openxmlformats.org/markup-compatibility/2006">
              <mc:Choice xmlns:v="urn:schemas-microsoft-com:vml" Requires="v">
                <p:oleObj name="Equation" r:id="rId3" imgW="952500" imgH="406400" progId="Equation.3">
                  <p:embed/>
                </p:oleObj>
              </mc:Choice>
              <mc:Fallback>
                <p:oleObj name="Equation" r:id="rId3" imgW="952500" imgH="406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362200"/>
                        <a:ext cx="2054225"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2" name="Object 5">
            <a:extLst>
              <a:ext uri="{FF2B5EF4-FFF2-40B4-BE49-F238E27FC236}">
                <a16:creationId xmlns:a16="http://schemas.microsoft.com/office/drawing/2014/main" id="{6C3CF32F-94B5-8381-1328-F08A423B34B0}"/>
              </a:ext>
            </a:extLst>
          </p:cNvPr>
          <p:cNvGraphicFramePr>
            <a:graphicFrameLocks noChangeAspect="1"/>
          </p:cNvGraphicFramePr>
          <p:nvPr/>
        </p:nvGraphicFramePr>
        <p:xfrm>
          <a:off x="838200" y="5105400"/>
          <a:ext cx="7235825" cy="976313"/>
        </p:xfrm>
        <a:graphic>
          <a:graphicData uri="http://schemas.openxmlformats.org/presentationml/2006/ole">
            <mc:AlternateContent xmlns:mc="http://schemas.openxmlformats.org/markup-compatibility/2006">
              <mc:Choice xmlns:v="urn:schemas-microsoft-com:vml" Requires="v">
                <p:oleObj name="Equation" r:id="rId5" imgW="3416300" imgH="469900" progId="Equation.3">
                  <p:embed/>
                </p:oleObj>
              </mc:Choice>
              <mc:Fallback>
                <p:oleObj name="Equation" r:id="rId5" imgW="3416300" imgH="4699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5105400"/>
                        <a:ext cx="7235825" cy="97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3" name="Object 6">
            <a:extLst>
              <a:ext uri="{FF2B5EF4-FFF2-40B4-BE49-F238E27FC236}">
                <a16:creationId xmlns:a16="http://schemas.microsoft.com/office/drawing/2014/main" id="{1275795F-AF93-F48A-4CEA-20D139399FA8}"/>
              </a:ext>
            </a:extLst>
          </p:cNvPr>
          <p:cNvGraphicFramePr>
            <a:graphicFrameLocks noChangeAspect="1"/>
          </p:cNvGraphicFramePr>
          <p:nvPr/>
        </p:nvGraphicFramePr>
        <p:xfrm>
          <a:off x="1216025" y="3886200"/>
          <a:ext cx="3736975" cy="534988"/>
        </p:xfrm>
        <a:graphic>
          <a:graphicData uri="http://schemas.openxmlformats.org/presentationml/2006/ole">
            <mc:AlternateContent xmlns:mc="http://schemas.openxmlformats.org/markup-compatibility/2006">
              <mc:Choice xmlns:v="urn:schemas-microsoft-com:vml" Requires="v">
                <p:oleObj name="Equation" r:id="rId7" imgW="36576000" imgH="5270500" progId="Equation.3">
                  <p:embed/>
                </p:oleObj>
              </mc:Choice>
              <mc:Fallback>
                <p:oleObj name="Equation" r:id="rId7" imgW="36576000" imgH="52705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6025" y="3886200"/>
                        <a:ext cx="37369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294" name="Text Box 7">
            <a:extLst>
              <a:ext uri="{FF2B5EF4-FFF2-40B4-BE49-F238E27FC236}">
                <a16:creationId xmlns:a16="http://schemas.microsoft.com/office/drawing/2014/main" id="{FE111175-7426-9D2C-DA74-57367A38C6C1}"/>
              </a:ext>
            </a:extLst>
          </p:cNvPr>
          <p:cNvSpPr txBox="1">
            <a:spLocks noChangeArrowheads="1"/>
          </p:cNvSpPr>
          <p:nvPr/>
        </p:nvSpPr>
        <p:spPr bwMode="auto">
          <a:xfrm>
            <a:off x="838200" y="1828800"/>
            <a:ext cx="206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a:latin typeface="Arial" panose="020B0604020202020204" pitchFamily="34" charset="0"/>
              </a:rPr>
              <a:t>Mass balance</a:t>
            </a:r>
            <a:endParaRPr lang="en-GB" altLang="en-US"/>
          </a:p>
        </p:txBody>
      </p:sp>
      <p:sp>
        <p:nvSpPr>
          <p:cNvPr id="12295" name="Text Box 8">
            <a:extLst>
              <a:ext uri="{FF2B5EF4-FFF2-40B4-BE49-F238E27FC236}">
                <a16:creationId xmlns:a16="http://schemas.microsoft.com/office/drawing/2014/main" id="{193FD9A4-AB48-B1F3-99D4-3504916027C7}"/>
              </a:ext>
            </a:extLst>
          </p:cNvPr>
          <p:cNvSpPr txBox="1">
            <a:spLocks noChangeArrowheads="1"/>
          </p:cNvSpPr>
          <p:nvPr/>
        </p:nvSpPr>
        <p:spPr bwMode="auto">
          <a:xfrm>
            <a:off x="838200" y="3429000"/>
            <a:ext cx="2117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a:latin typeface="Arial" panose="020B0604020202020204" pitchFamily="34" charset="0"/>
              </a:rPr>
              <a:t>Fluid pressure</a:t>
            </a:r>
            <a:endParaRPr lang="en-GB" altLang="en-US"/>
          </a:p>
        </p:txBody>
      </p:sp>
      <p:sp>
        <p:nvSpPr>
          <p:cNvPr id="12296" name="Text Box 9">
            <a:extLst>
              <a:ext uri="{FF2B5EF4-FFF2-40B4-BE49-F238E27FC236}">
                <a16:creationId xmlns:a16="http://schemas.microsoft.com/office/drawing/2014/main" id="{EE82F762-C46B-D102-813E-80F6CAB0676B}"/>
              </a:ext>
            </a:extLst>
          </p:cNvPr>
          <p:cNvSpPr txBox="1">
            <a:spLocks noChangeArrowheads="1"/>
          </p:cNvSpPr>
          <p:nvPr/>
        </p:nvSpPr>
        <p:spPr bwMode="auto">
          <a:xfrm>
            <a:off x="815975" y="4537075"/>
            <a:ext cx="1404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a:latin typeface="Arial" panose="020B0604020202020204" pitchFamily="34" charset="0"/>
              </a:rPr>
              <a:t>Fluid flux</a:t>
            </a:r>
            <a:endParaRPr lang="en-GB" altLang="en-US"/>
          </a:p>
        </p:txBody>
      </p:sp>
      <p:sp>
        <p:nvSpPr>
          <p:cNvPr id="12297" name="AutoShape 10">
            <a:extLst>
              <a:ext uri="{FF2B5EF4-FFF2-40B4-BE49-F238E27FC236}">
                <a16:creationId xmlns:a16="http://schemas.microsoft.com/office/drawing/2014/main" id="{9DAC33ED-9EF8-0B7B-94E2-96ED38FBE446}"/>
              </a:ext>
            </a:extLst>
          </p:cNvPr>
          <p:cNvSpPr>
            <a:spLocks noChangeArrowheads="1"/>
          </p:cNvSpPr>
          <p:nvPr/>
        </p:nvSpPr>
        <p:spPr bwMode="auto">
          <a:xfrm>
            <a:off x="838200" y="1828800"/>
            <a:ext cx="8226425" cy="4416425"/>
          </a:xfrm>
          <a:prstGeom prst="roundRect">
            <a:avLst>
              <a:gd name="adj" fmla="val 32"/>
            </a:avLst>
          </a:prstGeom>
          <a:noFill/>
          <a:ln w="28440">
            <a:solidFill>
              <a:srgbClr val="66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2298" name="Text Box 11">
            <a:extLst>
              <a:ext uri="{FF2B5EF4-FFF2-40B4-BE49-F238E27FC236}">
                <a16:creationId xmlns:a16="http://schemas.microsoft.com/office/drawing/2014/main" id="{81D6696C-C2F9-BAE3-9F0A-03532FBB23B2}"/>
              </a:ext>
            </a:extLst>
          </p:cNvPr>
          <p:cNvSpPr txBox="1">
            <a:spLocks noChangeArrowheads="1"/>
          </p:cNvSpPr>
          <p:nvPr/>
        </p:nvSpPr>
        <p:spPr bwMode="auto">
          <a:xfrm>
            <a:off x="6248400" y="1828800"/>
            <a:ext cx="1963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Fluid film height</a:t>
            </a:r>
            <a:endParaRPr lang="en-GB" altLang="en-US" sz="2000"/>
          </a:p>
        </p:txBody>
      </p:sp>
      <p:sp>
        <p:nvSpPr>
          <p:cNvPr id="12299" name="Text Box 12">
            <a:extLst>
              <a:ext uri="{FF2B5EF4-FFF2-40B4-BE49-F238E27FC236}">
                <a16:creationId xmlns:a16="http://schemas.microsoft.com/office/drawing/2014/main" id="{CDF26716-E391-B3B4-DA14-0F90475F1481}"/>
              </a:ext>
            </a:extLst>
          </p:cNvPr>
          <p:cNvSpPr txBox="1">
            <a:spLocks noChangeArrowheads="1"/>
          </p:cNvSpPr>
          <p:nvPr/>
        </p:nvSpPr>
        <p:spPr bwMode="auto">
          <a:xfrm>
            <a:off x="6248400" y="2286000"/>
            <a:ext cx="2397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Incoming mass rate</a:t>
            </a:r>
            <a:endParaRPr lang="en-GB" altLang="en-US" sz="2000"/>
          </a:p>
        </p:txBody>
      </p:sp>
      <p:sp>
        <p:nvSpPr>
          <p:cNvPr id="12300" name="Text Box 13">
            <a:extLst>
              <a:ext uri="{FF2B5EF4-FFF2-40B4-BE49-F238E27FC236}">
                <a16:creationId xmlns:a16="http://schemas.microsoft.com/office/drawing/2014/main" id="{BBC31B4C-9D52-0C00-281E-191069615722}"/>
              </a:ext>
            </a:extLst>
          </p:cNvPr>
          <p:cNvSpPr txBox="1">
            <a:spLocks noChangeArrowheads="1"/>
          </p:cNvSpPr>
          <p:nvPr/>
        </p:nvSpPr>
        <p:spPr bwMode="auto">
          <a:xfrm>
            <a:off x="6248400" y="2667000"/>
            <a:ext cx="1611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Fluid density</a:t>
            </a:r>
            <a:endParaRPr lang="en-GB" altLang="en-US" sz="2000"/>
          </a:p>
        </p:txBody>
      </p:sp>
      <p:sp>
        <p:nvSpPr>
          <p:cNvPr id="12301" name="Text Box 14">
            <a:extLst>
              <a:ext uri="{FF2B5EF4-FFF2-40B4-BE49-F238E27FC236}">
                <a16:creationId xmlns:a16="http://schemas.microsoft.com/office/drawing/2014/main" id="{F52A3C66-32C4-9C8C-A3C8-C04FF36B2DD2}"/>
              </a:ext>
            </a:extLst>
          </p:cNvPr>
          <p:cNvSpPr txBox="1">
            <a:spLocks noChangeArrowheads="1"/>
          </p:cNvSpPr>
          <p:nvPr/>
        </p:nvSpPr>
        <p:spPr bwMode="auto">
          <a:xfrm>
            <a:off x="6248400" y="3048000"/>
            <a:ext cx="2312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Gravity component</a:t>
            </a:r>
            <a:endParaRPr lang="en-GB" altLang="en-US" sz="2000"/>
          </a:p>
        </p:txBody>
      </p:sp>
      <p:sp>
        <p:nvSpPr>
          <p:cNvPr id="12302" name="Text Box 15">
            <a:extLst>
              <a:ext uri="{FF2B5EF4-FFF2-40B4-BE49-F238E27FC236}">
                <a16:creationId xmlns:a16="http://schemas.microsoft.com/office/drawing/2014/main" id="{93EFEB96-5383-5670-8ABE-6DFAB5EE9B00}"/>
              </a:ext>
            </a:extLst>
          </p:cNvPr>
          <p:cNvSpPr txBox="1">
            <a:spLocks noChangeArrowheads="1"/>
          </p:cNvSpPr>
          <p:nvPr/>
        </p:nvSpPr>
        <p:spPr bwMode="auto">
          <a:xfrm>
            <a:off x="6248400" y="3505200"/>
            <a:ext cx="1947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Surface tension</a:t>
            </a:r>
            <a:endParaRPr lang="en-GB" altLang="en-US" sz="2000"/>
          </a:p>
        </p:txBody>
      </p:sp>
      <p:sp>
        <p:nvSpPr>
          <p:cNvPr id="12303" name="Text Box 16">
            <a:extLst>
              <a:ext uri="{FF2B5EF4-FFF2-40B4-BE49-F238E27FC236}">
                <a16:creationId xmlns:a16="http://schemas.microsoft.com/office/drawing/2014/main" id="{04C29BFF-A2E6-B3DF-9C73-DF9D607B9AD1}"/>
              </a:ext>
            </a:extLst>
          </p:cNvPr>
          <p:cNvSpPr txBox="1">
            <a:spLocks noChangeArrowheads="1"/>
          </p:cNvSpPr>
          <p:nvPr/>
        </p:nvSpPr>
        <p:spPr bwMode="auto">
          <a:xfrm>
            <a:off x="6248400" y="3886200"/>
            <a:ext cx="17668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Fluid viscosity</a:t>
            </a:r>
            <a:endParaRPr lang="en-GB" altLang="en-US" sz="2000"/>
          </a:p>
        </p:txBody>
      </p:sp>
      <p:sp>
        <p:nvSpPr>
          <p:cNvPr id="12304" name="Text Box 17">
            <a:extLst>
              <a:ext uri="{FF2B5EF4-FFF2-40B4-BE49-F238E27FC236}">
                <a16:creationId xmlns:a16="http://schemas.microsoft.com/office/drawing/2014/main" id="{30536977-163A-6300-C016-0576CBBFF206}"/>
              </a:ext>
            </a:extLst>
          </p:cNvPr>
          <p:cNvSpPr txBox="1">
            <a:spLocks noChangeArrowheads="1"/>
          </p:cNvSpPr>
          <p:nvPr/>
        </p:nvSpPr>
        <p:spPr bwMode="auto">
          <a:xfrm>
            <a:off x="6248400" y="4343400"/>
            <a:ext cx="1946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Air shear stress</a:t>
            </a:r>
            <a:endParaRPr lang="en-GB" altLang="en-US" sz="2000"/>
          </a:p>
        </p:txBody>
      </p:sp>
      <p:sp>
        <p:nvSpPr>
          <p:cNvPr id="12305" name="AutoShape 18">
            <a:extLst>
              <a:ext uri="{FF2B5EF4-FFF2-40B4-BE49-F238E27FC236}">
                <a16:creationId xmlns:a16="http://schemas.microsoft.com/office/drawing/2014/main" id="{06E920A2-54A0-C503-47DF-2E9E41B1354D}"/>
              </a:ext>
            </a:extLst>
          </p:cNvPr>
          <p:cNvSpPr>
            <a:spLocks noChangeArrowheads="1"/>
          </p:cNvSpPr>
          <p:nvPr/>
        </p:nvSpPr>
        <p:spPr bwMode="auto">
          <a:xfrm>
            <a:off x="5562600" y="1828800"/>
            <a:ext cx="3502025" cy="2968625"/>
          </a:xfrm>
          <a:prstGeom prst="roundRect">
            <a:avLst>
              <a:gd name="adj" fmla="val 51"/>
            </a:avLst>
          </a:prstGeom>
          <a:noFill/>
          <a:ln w="28440">
            <a:solidFill>
              <a:srgbClr val="66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aphicFrame>
        <p:nvGraphicFramePr>
          <p:cNvPr id="12306" name="Object 19">
            <a:extLst>
              <a:ext uri="{FF2B5EF4-FFF2-40B4-BE49-F238E27FC236}">
                <a16:creationId xmlns:a16="http://schemas.microsoft.com/office/drawing/2014/main" id="{6AB368EC-3DAB-DB2C-15FA-98C422079215}"/>
              </a:ext>
            </a:extLst>
          </p:cNvPr>
          <p:cNvGraphicFramePr>
            <a:graphicFrameLocks noChangeAspect="1"/>
          </p:cNvGraphicFramePr>
          <p:nvPr/>
        </p:nvGraphicFramePr>
        <p:xfrm>
          <a:off x="5791200" y="1828800"/>
          <a:ext cx="300038" cy="2816225"/>
        </p:xfrm>
        <a:graphic>
          <a:graphicData uri="http://schemas.openxmlformats.org/presentationml/2006/ole">
            <mc:AlternateContent xmlns:mc="http://schemas.openxmlformats.org/markup-compatibility/2006">
              <mc:Choice xmlns:v="urn:schemas-microsoft-com:vml" Requires="v">
                <p:oleObj name="Equation" r:id="rId9" imgW="3797300" imgH="35394900" progId="Equation.3">
                  <p:embed/>
                </p:oleObj>
              </mc:Choice>
              <mc:Fallback>
                <p:oleObj name="Equation" r:id="rId9" imgW="3797300" imgH="35394900"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91200" y="1828800"/>
                        <a:ext cx="300038" cy="281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trips dir="l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a:extLst>
              <a:ext uri="{FF2B5EF4-FFF2-40B4-BE49-F238E27FC236}">
                <a16:creationId xmlns:a16="http://schemas.microsoft.com/office/drawing/2014/main" id="{E5B478F7-8894-7479-CD5A-D0A9E6EA3B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71600"/>
            <a:ext cx="2435225" cy="243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5" name="Picture 3">
            <a:extLst>
              <a:ext uri="{FF2B5EF4-FFF2-40B4-BE49-F238E27FC236}">
                <a16:creationId xmlns:a16="http://schemas.microsoft.com/office/drawing/2014/main" id="{D7B1EAD4-AB89-33D1-A205-E5FD88D794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2286000"/>
            <a:ext cx="2359025" cy="235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4">
            <a:extLst>
              <a:ext uri="{FF2B5EF4-FFF2-40B4-BE49-F238E27FC236}">
                <a16:creationId xmlns:a16="http://schemas.microsoft.com/office/drawing/2014/main" id="{B0554097-2E7D-BA85-0E71-216EF0185F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0" y="3124200"/>
            <a:ext cx="2359025" cy="235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5">
            <a:extLst>
              <a:ext uri="{FF2B5EF4-FFF2-40B4-BE49-F238E27FC236}">
                <a16:creationId xmlns:a16="http://schemas.microsoft.com/office/drawing/2014/main" id="{8D309F2D-35D7-7D8D-7D03-10EBDA8D35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3800" y="3962400"/>
            <a:ext cx="2359025" cy="235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Text Box 7">
            <a:extLst>
              <a:ext uri="{FF2B5EF4-FFF2-40B4-BE49-F238E27FC236}">
                <a16:creationId xmlns:a16="http://schemas.microsoft.com/office/drawing/2014/main" id="{BCEE4F8E-3B5D-56DD-CB86-4F814748CDED}"/>
              </a:ext>
            </a:extLst>
          </p:cNvPr>
          <p:cNvSpPr txBox="1">
            <a:spLocks noChangeArrowheads="1"/>
          </p:cNvSpPr>
          <p:nvPr/>
        </p:nvSpPr>
        <p:spPr bwMode="auto">
          <a:xfrm>
            <a:off x="496888" y="301625"/>
            <a:ext cx="31781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4000">
                <a:latin typeface="Arial" panose="020B0604020202020204" pitchFamily="34" charset="0"/>
              </a:rPr>
              <a:t>Thin film flow</a:t>
            </a:r>
          </a:p>
        </p:txBody>
      </p:sp>
      <p:sp>
        <p:nvSpPr>
          <p:cNvPr id="13319" name="Text Box 8">
            <a:extLst>
              <a:ext uri="{FF2B5EF4-FFF2-40B4-BE49-F238E27FC236}">
                <a16:creationId xmlns:a16="http://schemas.microsoft.com/office/drawing/2014/main" id="{46D70E98-0B14-C88C-0F8F-EC76CF65CE3C}"/>
              </a:ext>
            </a:extLst>
          </p:cNvPr>
          <p:cNvSpPr txBox="1">
            <a:spLocks noChangeArrowheads="1"/>
          </p:cNvSpPr>
          <p:nvPr/>
        </p:nvSpPr>
        <p:spPr bwMode="auto">
          <a:xfrm>
            <a:off x="228600" y="5310188"/>
            <a:ext cx="63246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sz="2000">
                <a:latin typeface="Arial" panose="020B0604020202020204" pitchFamily="34" charset="0"/>
              </a:rPr>
              <a:t>Fluid layer developing from an incoming</a:t>
            </a:r>
          </a:p>
          <a:p>
            <a:r>
              <a:rPr lang="en-GB" altLang="en-US" sz="2000">
                <a:latin typeface="Arial" panose="020B0604020202020204" pitchFamily="34" charset="0"/>
              </a:rPr>
              <a:t>Gaussian source near x=0, at times t=1,5,7,15s.</a:t>
            </a:r>
          </a:p>
          <a:p>
            <a:r>
              <a:rPr lang="en-GB" altLang="en-US" sz="2000">
                <a:latin typeface="Arial" panose="020B0604020202020204" pitchFamily="34" charset="0"/>
              </a:rPr>
              <a:t>Air shear is the main driving force.</a:t>
            </a:r>
            <a:endParaRPr lang="en-GB" altLang="en-US">
              <a:latin typeface="Arial" panose="020B0604020202020204" pitchFamily="34" charset="0"/>
            </a:endParaRPr>
          </a:p>
        </p:txBody>
      </p:sp>
    </p:spTree>
  </p:cSld>
  <p:clrMapOvr>
    <a:masterClrMapping/>
  </p:clrMapOvr>
  <p:transition>
    <p:strips dir="l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3">
            <a:extLst>
              <a:ext uri="{FF2B5EF4-FFF2-40B4-BE49-F238E27FC236}">
                <a16:creationId xmlns:a16="http://schemas.microsoft.com/office/drawing/2014/main" id="{51DCA414-F816-B392-8581-867F9E7DD899}"/>
              </a:ext>
            </a:extLst>
          </p:cNvPr>
          <p:cNvSpPr txBox="1">
            <a:spLocks noChangeArrowheads="1"/>
          </p:cNvSpPr>
          <p:nvPr/>
        </p:nvSpPr>
        <p:spPr bwMode="auto">
          <a:xfrm>
            <a:off x="395288" y="204788"/>
            <a:ext cx="449262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sz="3200">
                <a:latin typeface="Arial" panose="020B0604020202020204" pitchFamily="34" charset="0"/>
              </a:rPr>
              <a:t>Phase change with flow</a:t>
            </a:r>
          </a:p>
        </p:txBody>
      </p:sp>
      <p:graphicFrame>
        <p:nvGraphicFramePr>
          <p:cNvPr id="14339" name="Object 4">
            <a:extLst>
              <a:ext uri="{FF2B5EF4-FFF2-40B4-BE49-F238E27FC236}">
                <a16:creationId xmlns:a16="http://schemas.microsoft.com/office/drawing/2014/main" id="{78AB8B69-910C-8377-C01F-DB176D826A6E}"/>
              </a:ext>
            </a:extLst>
          </p:cNvPr>
          <p:cNvGraphicFramePr>
            <a:graphicFrameLocks noChangeAspect="1"/>
          </p:cNvGraphicFramePr>
          <p:nvPr/>
        </p:nvGraphicFramePr>
        <p:xfrm>
          <a:off x="1295400" y="2362200"/>
          <a:ext cx="3162300" cy="868363"/>
        </p:xfrm>
        <a:graphic>
          <a:graphicData uri="http://schemas.openxmlformats.org/presentationml/2006/ole">
            <mc:AlternateContent xmlns:mc="http://schemas.openxmlformats.org/markup-compatibility/2006">
              <mc:Choice xmlns:v="urn:schemas-microsoft-com:vml" Requires="v">
                <p:oleObj name="Equation" r:id="rId3" imgW="1460500" imgH="406400" progId="Equation.3">
                  <p:embed/>
                </p:oleObj>
              </mc:Choice>
              <mc:Fallback>
                <p:oleObj name="Equation" r:id="rId3" imgW="1460500" imgH="406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2362200"/>
                        <a:ext cx="3162300"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40" name="Text Box 5">
            <a:extLst>
              <a:ext uri="{FF2B5EF4-FFF2-40B4-BE49-F238E27FC236}">
                <a16:creationId xmlns:a16="http://schemas.microsoft.com/office/drawing/2014/main" id="{00ED7573-B734-391E-5D91-DE3A990D0DF3}"/>
              </a:ext>
            </a:extLst>
          </p:cNvPr>
          <p:cNvSpPr txBox="1">
            <a:spLocks noChangeArrowheads="1"/>
          </p:cNvSpPr>
          <p:nvPr/>
        </p:nvSpPr>
        <p:spPr bwMode="auto">
          <a:xfrm>
            <a:off x="762000" y="1752600"/>
            <a:ext cx="206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a:latin typeface="Arial" panose="020B0604020202020204" pitchFamily="34" charset="0"/>
              </a:rPr>
              <a:t>Mass balance</a:t>
            </a:r>
            <a:endParaRPr lang="en-GB" altLang="en-US"/>
          </a:p>
        </p:txBody>
      </p:sp>
      <p:sp>
        <p:nvSpPr>
          <p:cNvPr id="14341" name="AutoShape 6">
            <a:extLst>
              <a:ext uri="{FF2B5EF4-FFF2-40B4-BE49-F238E27FC236}">
                <a16:creationId xmlns:a16="http://schemas.microsoft.com/office/drawing/2014/main" id="{E0C21B50-5A4B-B2C1-816F-3D667AB01515}"/>
              </a:ext>
            </a:extLst>
          </p:cNvPr>
          <p:cNvSpPr>
            <a:spLocks noChangeArrowheads="1"/>
          </p:cNvSpPr>
          <p:nvPr/>
        </p:nvSpPr>
        <p:spPr bwMode="auto">
          <a:xfrm>
            <a:off x="838200" y="1828800"/>
            <a:ext cx="8226425" cy="4416425"/>
          </a:xfrm>
          <a:prstGeom prst="roundRect">
            <a:avLst>
              <a:gd name="adj" fmla="val 32"/>
            </a:avLst>
          </a:prstGeom>
          <a:noFill/>
          <a:ln w="28440">
            <a:solidFill>
              <a:srgbClr val="66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4342" name="Text Box 7">
            <a:extLst>
              <a:ext uri="{FF2B5EF4-FFF2-40B4-BE49-F238E27FC236}">
                <a16:creationId xmlns:a16="http://schemas.microsoft.com/office/drawing/2014/main" id="{56422BA4-08A4-F329-9052-C9DB2333C44A}"/>
              </a:ext>
            </a:extLst>
          </p:cNvPr>
          <p:cNvSpPr txBox="1">
            <a:spLocks noChangeArrowheads="1"/>
          </p:cNvSpPr>
          <p:nvPr/>
        </p:nvSpPr>
        <p:spPr bwMode="auto">
          <a:xfrm>
            <a:off x="6276975" y="1841500"/>
            <a:ext cx="1963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Fluid film height</a:t>
            </a:r>
            <a:endParaRPr lang="en-GB" altLang="en-US" sz="2000"/>
          </a:p>
        </p:txBody>
      </p:sp>
      <p:sp>
        <p:nvSpPr>
          <p:cNvPr id="14343" name="Text Box 8">
            <a:extLst>
              <a:ext uri="{FF2B5EF4-FFF2-40B4-BE49-F238E27FC236}">
                <a16:creationId xmlns:a16="http://schemas.microsoft.com/office/drawing/2014/main" id="{11F9EED6-FD2B-E170-6360-3F961FF79878}"/>
              </a:ext>
            </a:extLst>
          </p:cNvPr>
          <p:cNvSpPr txBox="1">
            <a:spLocks noChangeArrowheads="1"/>
          </p:cNvSpPr>
          <p:nvPr/>
        </p:nvSpPr>
        <p:spPr bwMode="auto">
          <a:xfrm>
            <a:off x="6248400" y="3124200"/>
            <a:ext cx="23971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Incoming mass rate</a:t>
            </a:r>
            <a:endParaRPr lang="en-GB" altLang="en-US" sz="2000"/>
          </a:p>
        </p:txBody>
      </p:sp>
      <p:sp>
        <p:nvSpPr>
          <p:cNvPr id="14344" name="Text Box 9">
            <a:extLst>
              <a:ext uri="{FF2B5EF4-FFF2-40B4-BE49-F238E27FC236}">
                <a16:creationId xmlns:a16="http://schemas.microsoft.com/office/drawing/2014/main" id="{2509AE03-8D40-31A3-64B2-7254826E7B0A}"/>
              </a:ext>
            </a:extLst>
          </p:cNvPr>
          <p:cNvSpPr txBox="1">
            <a:spLocks noChangeArrowheads="1"/>
          </p:cNvSpPr>
          <p:nvPr/>
        </p:nvSpPr>
        <p:spPr bwMode="auto">
          <a:xfrm>
            <a:off x="6257925" y="3530600"/>
            <a:ext cx="1611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Fluid density</a:t>
            </a:r>
            <a:endParaRPr lang="en-GB" altLang="en-US" sz="2000"/>
          </a:p>
        </p:txBody>
      </p:sp>
      <p:sp>
        <p:nvSpPr>
          <p:cNvPr id="14345" name="Text Box 10">
            <a:extLst>
              <a:ext uri="{FF2B5EF4-FFF2-40B4-BE49-F238E27FC236}">
                <a16:creationId xmlns:a16="http://schemas.microsoft.com/office/drawing/2014/main" id="{14E5B6F1-45EF-1A2D-3D60-84508EF1354F}"/>
              </a:ext>
            </a:extLst>
          </p:cNvPr>
          <p:cNvSpPr txBox="1">
            <a:spLocks noChangeArrowheads="1"/>
          </p:cNvSpPr>
          <p:nvPr/>
        </p:nvSpPr>
        <p:spPr bwMode="auto">
          <a:xfrm>
            <a:off x="6226175" y="4375150"/>
            <a:ext cx="23129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Gravity component</a:t>
            </a:r>
            <a:endParaRPr lang="en-GB" altLang="en-US" sz="2000"/>
          </a:p>
        </p:txBody>
      </p:sp>
      <p:sp>
        <p:nvSpPr>
          <p:cNvPr id="14346" name="Text Box 11">
            <a:extLst>
              <a:ext uri="{FF2B5EF4-FFF2-40B4-BE49-F238E27FC236}">
                <a16:creationId xmlns:a16="http://schemas.microsoft.com/office/drawing/2014/main" id="{4D841CCE-7DD0-62B2-4098-32D23FD337CB}"/>
              </a:ext>
            </a:extLst>
          </p:cNvPr>
          <p:cNvSpPr txBox="1">
            <a:spLocks noChangeArrowheads="1"/>
          </p:cNvSpPr>
          <p:nvPr/>
        </p:nvSpPr>
        <p:spPr bwMode="auto">
          <a:xfrm>
            <a:off x="6210300" y="4799013"/>
            <a:ext cx="1947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Surface tension</a:t>
            </a:r>
            <a:endParaRPr lang="en-GB" altLang="en-US" sz="2000"/>
          </a:p>
        </p:txBody>
      </p:sp>
      <p:sp>
        <p:nvSpPr>
          <p:cNvPr id="14347" name="AutoShape 12">
            <a:extLst>
              <a:ext uri="{FF2B5EF4-FFF2-40B4-BE49-F238E27FC236}">
                <a16:creationId xmlns:a16="http://schemas.microsoft.com/office/drawing/2014/main" id="{0CD0D22E-9C5A-EAC4-6B77-C872E8A11C27}"/>
              </a:ext>
            </a:extLst>
          </p:cNvPr>
          <p:cNvSpPr>
            <a:spLocks noChangeArrowheads="1"/>
          </p:cNvSpPr>
          <p:nvPr/>
        </p:nvSpPr>
        <p:spPr bwMode="auto">
          <a:xfrm>
            <a:off x="5562600" y="1828800"/>
            <a:ext cx="3502025" cy="3425825"/>
          </a:xfrm>
          <a:prstGeom prst="roundRect">
            <a:avLst>
              <a:gd name="adj" fmla="val 46"/>
            </a:avLst>
          </a:prstGeom>
          <a:noFill/>
          <a:ln w="28440">
            <a:solidFill>
              <a:srgbClr val="6600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4348" name="Text Box 13">
            <a:extLst>
              <a:ext uri="{FF2B5EF4-FFF2-40B4-BE49-F238E27FC236}">
                <a16:creationId xmlns:a16="http://schemas.microsoft.com/office/drawing/2014/main" id="{1EEB4C69-9FAD-641D-4966-678DC3E8C480}"/>
              </a:ext>
            </a:extLst>
          </p:cNvPr>
          <p:cNvSpPr txBox="1">
            <a:spLocks noChangeArrowheads="1"/>
          </p:cNvSpPr>
          <p:nvPr/>
        </p:nvSpPr>
        <p:spPr bwMode="auto">
          <a:xfrm>
            <a:off x="781050" y="3468688"/>
            <a:ext cx="2305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a:latin typeface="Arial" panose="020B0604020202020204" pitchFamily="34" charset="0"/>
              </a:rPr>
              <a:t>Energy balance</a:t>
            </a:r>
            <a:endParaRPr lang="en-GB" altLang="en-US"/>
          </a:p>
        </p:txBody>
      </p:sp>
      <p:graphicFrame>
        <p:nvGraphicFramePr>
          <p:cNvPr id="14349" name="Object 14">
            <a:extLst>
              <a:ext uri="{FF2B5EF4-FFF2-40B4-BE49-F238E27FC236}">
                <a16:creationId xmlns:a16="http://schemas.microsoft.com/office/drawing/2014/main" id="{F576A7B3-84C6-17C0-D1FA-9F66185AC252}"/>
              </a:ext>
            </a:extLst>
          </p:cNvPr>
          <p:cNvGraphicFramePr>
            <a:graphicFrameLocks noChangeAspect="1"/>
          </p:cNvGraphicFramePr>
          <p:nvPr/>
        </p:nvGraphicFramePr>
        <p:xfrm>
          <a:off x="1295400" y="5334000"/>
          <a:ext cx="4522788" cy="534988"/>
        </p:xfrm>
        <a:graphic>
          <a:graphicData uri="http://schemas.openxmlformats.org/presentationml/2006/ole">
            <mc:AlternateContent xmlns:mc="http://schemas.openxmlformats.org/markup-compatibility/2006">
              <mc:Choice xmlns:v="urn:schemas-microsoft-com:vml" Requires="v">
                <p:oleObj name="Equation" r:id="rId5" imgW="1841500" imgH="215900" progId="Equation.3">
                  <p:embed/>
                </p:oleObj>
              </mc:Choice>
              <mc:Fallback>
                <p:oleObj name="Equation" r:id="rId5" imgW="1841500" imgH="215900"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5400" y="5334000"/>
                        <a:ext cx="452278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50" name="Text Box 15">
            <a:extLst>
              <a:ext uri="{FF2B5EF4-FFF2-40B4-BE49-F238E27FC236}">
                <a16:creationId xmlns:a16="http://schemas.microsoft.com/office/drawing/2014/main" id="{8B8F0B34-FE70-283A-9F8A-9BEA116623AA}"/>
              </a:ext>
            </a:extLst>
          </p:cNvPr>
          <p:cNvSpPr txBox="1">
            <a:spLocks noChangeArrowheads="1"/>
          </p:cNvSpPr>
          <p:nvPr/>
        </p:nvSpPr>
        <p:spPr bwMode="auto">
          <a:xfrm>
            <a:off x="762000" y="4876800"/>
            <a:ext cx="2117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a:latin typeface="Arial" panose="020B0604020202020204" pitchFamily="34" charset="0"/>
              </a:rPr>
              <a:t>Fluid pressure</a:t>
            </a:r>
            <a:endParaRPr lang="en-GB" altLang="en-US"/>
          </a:p>
        </p:txBody>
      </p:sp>
      <p:graphicFrame>
        <p:nvGraphicFramePr>
          <p:cNvPr id="14351" name="Object 16">
            <a:extLst>
              <a:ext uri="{FF2B5EF4-FFF2-40B4-BE49-F238E27FC236}">
                <a16:creationId xmlns:a16="http://schemas.microsoft.com/office/drawing/2014/main" id="{EBF7671E-E724-3010-154E-9E91A0B7E531}"/>
              </a:ext>
            </a:extLst>
          </p:cNvPr>
          <p:cNvGraphicFramePr>
            <a:graphicFrameLocks noChangeAspect="1"/>
          </p:cNvGraphicFramePr>
          <p:nvPr/>
        </p:nvGraphicFramePr>
        <p:xfrm>
          <a:off x="1295400" y="3962400"/>
          <a:ext cx="2333625" cy="817563"/>
        </p:xfrm>
        <a:graphic>
          <a:graphicData uri="http://schemas.openxmlformats.org/presentationml/2006/ole">
            <mc:AlternateContent xmlns:mc="http://schemas.openxmlformats.org/markup-compatibility/2006">
              <mc:Choice xmlns:v="urn:schemas-microsoft-com:vml" Requires="v">
                <p:oleObj name="Equation" r:id="rId7" imgW="1066800" imgH="381000" progId="Equation.3">
                  <p:embed/>
                </p:oleObj>
              </mc:Choice>
              <mc:Fallback>
                <p:oleObj name="Equation" r:id="rId7" imgW="1066800" imgH="381000"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5400" y="3962400"/>
                        <a:ext cx="2333625"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52" name="Text Box 17">
            <a:extLst>
              <a:ext uri="{FF2B5EF4-FFF2-40B4-BE49-F238E27FC236}">
                <a16:creationId xmlns:a16="http://schemas.microsoft.com/office/drawing/2014/main" id="{AF6E64E2-21F0-4E3C-3289-60814CFB34CE}"/>
              </a:ext>
            </a:extLst>
          </p:cNvPr>
          <p:cNvSpPr txBox="1">
            <a:spLocks noChangeArrowheads="1"/>
          </p:cNvSpPr>
          <p:nvPr/>
        </p:nvSpPr>
        <p:spPr bwMode="auto">
          <a:xfrm>
            <a:off x="6302375" y="2686050"/>
            <a:ext cx="12017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Fluid flux</a:t>
            </a:r>
            <a:endParaRPr lang="en-GB" altLang="en-US" sz="2000"/>
          </a:p>
        </p:txBody>
      </p:sp>
      <p:sp>
        <p:nvSpPr>
          <p:cNvPr id="14353" name="Text Box 18">
            <a:extLst>
              <a:ext uri="{FF2B5EF4-FFF2-40B4-BE49-F238E27FC236}">
                <a16:creationId xmlns:a16="http://schemas.microsoft.com/office/drawing/2014/main" id="{476709E9-9E5A-20FA-2E9C-E0066B1E54DC}"/>
              </a:ext>
            </a:extLst>
          </p:cNvPr>
          <p:cNvSpPr txBox="1">
            <a:spLocks noChangeArrowheads="1"/>
          </p:cNvSpPr>
          <p:nvPr/>
        </p:nvSpPr>
        <p:spPr bwMode="auto">
          <a:xfrm>
            <a:off x="6259513" y="2263775"/>
            <a:ext cx="15128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Solid height</a:t>
            </a:r>
            <a:endParaRPr lang="en-GB" altLang="en-US" sz="2000"/>
          </a:p>
        </p:txBody>
      </p:sp>
      <p:sp>
        <p:nvSpPr>
          <p:cNvPr id="14354" name="Text Box 19">
            <a:extLst>
              <a:ext uri="{FF2B5EF4-FFF2-40B4-BE49-F238E27FC236}">
                <a16:creationId xmlns:a16="http://schemas.microsoft.com/office/drawing/2014/main" id="{A5462607-CD4F-03C4-F2E0-F91C35A02D71}"/>
              </a:ext>
            </a:extLst>
          </p:cNvPr>
          <p:cNvSpPr txBox="1">
            <a:spLocks noChangeArrowheads="1"/>
          </p:cNvSpPr>
          <p:nvPr/>
        </p:nvSpPr>
        <p:spPr bwMode="auto">
          <a:xfrm>
            <a:off x="6238875" y="3952875"/>
            <a:ext cx="22018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Energy coefficient</a:t>
            </a:r>
            <a:endParaRPr lang="en-GB" altLang="en-US" sz="2000"/>
          </a:p>
        </p:txBody>
      </p:sp>
      <p:graphicFrame>
        <p:nvGraphicFramePr>
          <p:cNvPr id="14355" name="Object 20">
            <a:extLst>
              <a:ext uri="{FF2B5EF4-FFF2-40B4-BE49-F238E27FC236}">
                <a16:creationId xmlns:a16="http://schemas.microsoft.com/office/drawing/2014/main" id="{6F7707C1-6EEE-CE1C-2B25-62C92648A7F5}"/>
              </a:ext>
            </a:extLst>
          </p:cNvPr>
          <p:cNvGraphicFramePr>
            <a:graphicFrameLocks noChangeAspect="1"/>
          </p:cNvGraphicFramePr>
          <p:nvPr/>
        </p:nvGraphicFramePr>
        <p:xfrm>
          <a:off x="5772150" y="1876425"/>
          <a:ext cx="300038" cy="3259138"/>
        </p:xfrm>
        <a:graphic>
          <a:graphicData uri="http://schemas.openxmlformats.org/presentationml/2006/ole">
            <mc:AlternateContent xmlns:mc="http://schemas.openxmlformats.org/markup-compatibility/2006">
              <mc:Choice xmlns:v="urn:schemas-microsoft-com:vml" Requires="v">
                <p:oleObj name="Equation" r:id="rId9" imgW="3797300" imgH="40957500" progId="Equation.3">
                  <p:embed/>
                </p:oleObj>
              </mc:Choice>
              <mc:Fallback>
                <p:oleObj name="Equation" r:id="rId9" imgW="3797300" imgH="40957500" progId="Equation.3">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72150" y="1876425"/>
                        <a:ext cx="300038" cy="3259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trips dir="l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3">
            <a:extLst>
              <a:ext uri="{FF2B5EF4-FFF2-40B4-BE49-F238E27FC236}">
                <a16:creationId xmlns:a16="http://schemas.microsoft.com/office/drawing/2014/main" id="{EF140A0B-DEEA-7B08-9421-34D4664BBAF9}"/>
              </a:ext>
            </a:extLst>
          </p:cNvPr>
          <p:cNvSpPr txBox="1">
            <a:spLocks noChangeArrowheads="1"/>
          </p:cNvSpPr>
          <p:nvPr/>
        </p:nvSpPr>
        <p:spPr bwMode="auto">
          <a:xfrm>
            <a:off x="446088" y="365125"/>
            <a:ext cx="44910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sz="3200">
                <a:latin typeface="Arial" panose="020B0604020202020204" pitchFamily="34" charset="0"/>
              </a:rPr>
              <a:t>Phase change with flow</a:t>
            </a:r>
            <a:endParaRPr lang="en-GB" altLang="en-US" sz="3200"/>
          </a:p>
        </p:txBody>
      </p:sp>
      <p:pic>
        <p:nvPicPr>
          <p:cNvPr id="15363" name="Picture 4">
            <a:extLst>
              <a:ext uri="{FF2B5EF4-FFF2-40B4-BE49-F238E27FC236}">
                <a16:creationId xmlns:a16="http://schemas.microsoft.com/office/drawing/2014/main" id="{FD911036-36E7-7AA0-EDE4-3CA9A49CDE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76400"/>
            <a:ext cx="228282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Picture 5">
            <a:extLst>
              <a:ext uri="{FF2B5EF4-FFF2-40B4-BE49-F238E27FC236}">
                <a16:creationId xmlns:a16="http://schemas.microsoft.com/office/drawing/2014/main" id="{34FBBADB-0D7F-A75A-1E15-CC926AE394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4114800"/>
            <a:ext cx="228282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6">
            <a:extLst>
              <a:ext uri="{FF2B5EF4-FFF2-40B4-BE49-F238E27FC236}">
                <a16:creationId xmlns:a16="http://schemas.microsoft.com/office/drawing/2014/main" id="{9AEA0C0E-009B-E112-A5EA-529128C328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1676400"/>
            <a:ext cx="228282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Picture 7">
            <a:extLst>
              <a:ext uri="{FF2B5EF4-FFF2-40B4-BE49-F238E27FC236}">
                <a16:creationId xmlns:a16="http://schemas.microsoft.com/office/drawing/2014/main" id="{B4462394-412C-CC4D-8C09-FC03F55979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9000" y="4143375"/>
            <a:ext cx="2254250" cy="225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Text Box 8">
            <a:extLst>
              <a:ext uri="{FF2B5EF4-FFF2-40B4-BE49-F238E27FC236}">
                <a16:creationId xmlns:a16="http://schemas.microsoft.com/office/drawing/2014/main" id="{1F0F0607-4F06-5812-90E9-3B3A65CF22D1}"/>
              </a:ext>
            </a:extLst>
          </p:cNvPr>
          <p:cNvSpPr txBox="1">
            <a:spLocks noChangeArrowheads="1"/>
          </p:cNvSpPr>
          <p:nvPr/>
        </p:nvSpPr>
        <p:spPr bwMode="auto">
          <a:xfrm>
            <a:off x="336550" y="5108575"/>
            <a:ext cx="4710113"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a:latin typeface="Arial" panose="020B0604020202020204" pitchFamily="34" charset="0"/>
              </a:rPr>
              <a:t>Ice accretion from incoming </a:t>
            </a:r>
          </a:p>
          <a:p>
            <a:r>
              <a:rPr lang="en-GB" altLang="en-US">
                <a:latin typeface="Arial" panose="020B0604020202020204" pitchFamily="34" charset="0"/>
              </a:rPr>
              <a:t>Gaussian fluid source, t=30,60s.</a:t>
            </a:r>
          </a:p>
          <a:p>
            <a:r>
              <a:rPr lang="en-GB" altLang="en-US">
                <a:latin typeface="Arial" panose="020B0604020202020204" pitchFamily="34" charset="0"/>
              </a:rPr>
              <a:t>Gravity and air shear driving flow.</a:t>
            </a:r>
            <a:endParaRPr lang="en-GB" altLang="en-US"/>
          </a:p>
        </p:txBody>
      </p:sp>
      <p:sp>
        <p:nvSpPr>
          <p:cNvPr id="15368" name="Text Box 9">
            <a:extLst>
              <a:ext uri="{FF2B5EF4-FFF2-40B4-BE49-F238E27FC236}">
                <a16:creationId xmlns:a16="http://schemas.microsoft.com/office/drawing/2014/main" id="{3230D0F0-FF55-1B81-4F11-827BE3603EC4}"/>
              </a:ext>
            </a:extLst>
          </p:cNvPr>
          <p:cNvSpPr txBox="1">
            <a:spLocks noChangeArrowheads="1"/>
          </p:cNvSpPr>
          <p:nvPr/>
        </p:nvSpPr>
        <p:spPr bwMode="auto">
          <a:xfrm>
            <a:off x="5561013" y="4205288"/>
            <a:ext cx="495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t>Ice</a:t>
            </a:r>
          </a:p>
        </p:txBody>
      </p:sp>
      <p:sp>
        <p:nvSpPr>
          <p:cNvPr id="15369" name="Text Box 10">
            <a:extLst>
              <a:ext uri="{FF2B5EF4-FFF2-40B4-BE49-F238E27FC236}">
                <a16:creationId xmlns:a16="http://schemas.microsoft.com/office/drawing/2014/main" id="{8F65F7CC-7EE8-AF2C-829C-E6579AFF7CBA}"/>
              </a:ext>
            </a:extLst>
          </p:cNvPr>
          <p:cNvSpPr txBox="1">
            <a:spLocks noChangeArrowheads="1"/>
          </p:cNvSpPr>
          <p:nvPr/>
        </p:nvSpPr>
        <p:spPr bwMode="auto">
          <a:xfrm>
            <a:off x="4037013" y="3824288"/>
            <a:ext cx="8032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t>Water</a:t>
            </a:r>
          </a:p>
        </p:txBody>
      </p:sp>
      <p:sp>
        <p:nvSpPr>
          <p:cNvPr id="15370" name="Text Box 11">
            <a:extLst>
              <a:ext uri="{FF2B5EF4-FFF2-40B4-BE49-F238E27FC236}">
                <a16:creationId xmlns:a16="http://schemas.microsoft.com/office/drawing/2014/main" id="{9906AF22-F88E-643F-A560-CDB83C9B0125}"/>
              </a:ext>
            </a:extLst>
          </p:cNvPr>
          <p:cNvSpPr txBox="1">
            <a:spLocks noChangeArrowheads="1"/>
          </p:cNvSpPr>
          <p:nvPr/>
        </p:nvSpPr>
        <p:spPr bwMode="auto">
          <a:xfrm>
            <a:off x="1049338" y="3824288"/>
            <a:ext cx="4953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t>Ice</a:t>
            </a:r>
          </a:p>
        </p:txBody>
      </p:sp>
      <p:sp>
        <p:nvSpPr>
          <p:cNvPr id="15371" name="Text Box 12">
            <a:extLst>
              <a:ext uri="{FF2B5EF4-FFF2-40B4-BE49-F238E27FC236}">
                <a16:creationId xmlns:a16="http://schemas.microsoft.com/office/drawing/2014/main" id="{F59B70D6-2F73-B00E-01AD-21E18D28B738}"/>
              </a:ext>
            </a:extLst>
          </p:cNvPr>
          <p:cNvSpPr txBox="1">
            <a:spLocks noChangeArrowheads="1"/>
          </p:cNvSpPr>
          <p:nvPr/>
        </p:nvSpPr>
        <p:spPr bwMode="auto">
          <a:xfrm>
            <a:off x="7756525" y="4205288"/>
            <a:ext cx="8032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t>Water</a:t>
            </a:r>
          </a:p>
        </p:txBody>
      </p:sp>
    </p:spTree>
  </p:cSld>
  <p:clrMapOvr>
    <a:masterClrMapping/>
  </p:clrMapOvr>
  <p:transition>
    <p:strips dir="l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a:extLst>
              <a:ext uri="{FF2B5EF4-FFF2-40B4-BE49-F238E27FC236}">
                <a16:creationId xmlns:a16="http://schemas.microsoft.com/office/drawing/2014/main" id="{5CBD91C0-E9C4-7B39-CBAD-ACB4C83D71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3733800"/>
            <a:ext cx="3425825" cy="264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3">
            <a:extLst>
              <a:ext uri="{FF2B5EF4-FFF2-40B4-BE49-F238E27FC236}">
                <a16:creationId xmlns:a16="http://schemas.microsoft.com/office/drawing/2014/main" id="{EBC1876A-2371-F491-7D75-F230C35578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1143000"/>
            <a:ext cx="3425825" cy="264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Text Box 5">
            <a:extLst>
              <a:ext uri="{FF2B5EF4-FFF2-40B4-BE49-F238E27FC236}">
                <a16:creationId xmlns:a16="http://schemas.microsoft.com/office/drawing/2014/main" id="{4CF62D73-65C9-CB34-1F74-96EE5751CB9B}"/>
              </a:ext>
            </a:extLst>
          </p:cNvPr>
          <p:cNvSpPr txBox="1">
            <a:spLocks noChangeArrowheads="1"/>
          </p:cNvSpPr>
          <p:nvPr/>
        </p:nvSpPr>
        <p:spPr bwMode="auto">
          <a:xfrm>
            <a:off x="492125" y="449263"/>
            <a:ext cx="244157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sz="3200">
                <a:latin typeface="Arial" panose="020B0604020202020204" pitchFamily="34" charset="0"/>
              </a:rPr>
              <a:t>Aircraft icing</a:t>
            </a:r>
            <a:endParaRPr lang="en-GB" altLang="en-US" sz="3200"/>
          </a:p>
        </p:txBody>
      </p:sp>
      <p:pic>
        <p:nvPicPr>
          <p:cNvPr id="16389" name="Picture 6">
            <a:extLst>
              <a:ext uri="{FF2B5EF4-FFF2-40B4-BE49-F238E27FC236}">
                <a16:creationId xmlns:a16="http://schemas.microsoft.com/office/drawing/2014/main" id="{3C1AC0B8-FCD0-1667-4AAE-90528C8FB6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143000"/>
            <a:ext cx="3425825" cy="264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0" name="Picture 7">
            <a:extLst>
              <a:ext uri="{FF2B5EF4-FFF2-40B4-BE49-F238E27FC236}">
                <a16:creationId xmlns:a16="http://schemas.microsoft.com/office/drawing/2014/main" id="{877351F1-7B62-C85C-E10C-0C9689C7A56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90800" y="3733800"/>
            <a:ext cx="3425825" cy="264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Text Box 8">
            <a:extLst>
              <a:ext uri="{FF2B5EF4-FFF2-40B4-BE49-F238E27FC236}">
                <a16:creationId xmlns:a16="http://schemas.microsoft.com/office/drawing/2014/main" id="{873FF8BF-3BD6-B81B-B71F-5851A8743CB3}"/>
              </a:ext>
            </a:extLst>
          </p:cNvPr>
          <p:cNvSpPr txBox="1">
            <a:spLocks noChangeArrowheads="1"/>
          </p:cNvSpPr>
          <p:nvPr/>
        </p:nvSpPr>
        <p:spPr bwMode="auto">
          <a:xfrm>
            <a:off x="1095375" y="3352800"/>
            <a:ext cx="1484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Swept wing</a:t>
            </a:r>
            <a:endParaRPr lang="en-GB" altLang="en-US" sz="2000"/>
          </a:p>
        </p:txBody>
      </p:sp>
      <p:sp>
        <p:nvSpPr>
          <p:cNvPr id="16392" name="Text Box 9">
            <a:extLst>
              <a:ext uri="{FF2B5EF4-FFF2-40B4-BE49-F238E27FC236}">
                <a16:creationId xmlns:a16="http://schemas.microsoft.com/office/drawing/2014/main" id="{3FE99A89-FAC5-89FD-9463-D3EA636D33EF}"/>
              </a:ext>
            </a:extLst>
          </p:cNvPr>
          <p:cNvSpPr txBox="1">
            <a:spLocks noChangeArrowheads="1"/>
          </p:cNvSpPr>
          <p:nvPr/>
        </p:nvSpPr>
        <p:spPr bwMode="auto">
          <a:xfrm>
            <a:off x="4325938" y="3352800"/>
            <a:ext cx="2273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Rime ice accretion</a:t>
            </a:r>
            <a:endParaRPr lang="en-GB" altLang="en-US" sz="2000"/>
          </a:p>
        </p:txBody>
      </p:sp>
      <p:sp>
        <p:nvSpPr>
          <p:cNvPr id="16393" name="Text Box 10">
            <a:extLst>
              <a:ext uri="{FF2B5EF4-FFF2-40B4-BE49-F238E27FC236}">
                <a16:creationId xmlns:a16="http://schemas.microsoft.com/office/drawing/2014/main" id="{87B61096-449A-B825-AD9F-4A3010359103}"/>
              </a:ext>
            </a:extLst>
          </p:cNvPr>
          <p:cNvSpPr txBox="1">
            <a:spLocks noChangeArrowheads="1"/>
          </p:cNvSpPr>
          <p:nvPr/>
        </p:nvSpPr>
        <p:spPr bwMode="auto">
          <a:xfrm>
            <a:off x="3302000" y="5867400"/>
            <a:ext cx="2343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Glaze ice accretion</a:t>
            </a:r>
            <a:endParaRPr lang="en-GB" altLang="en-US" sz="2000"/>
          </a:p>
        </p:txBody>
      </p:sp>
      <p:sp>
        <p:nvSpPr>
          <p:cNvPr id="16394" name="Text Box 11">
            <a:extLst>
              <a:ext uri="{FF2B5EF4-FFF2-40B4-BE49-F238E27FC236}">
                <a16:creationId xmlns:a16="http://schemas.microsoft.com/office/drawing/2014/main" id="{448B6371-090B-9129-5CD4-615152EE3104}"/>
              </a:ext>
            </a:extLst>
          </p:cNvPr>
          <p:cNvSpPr txBox="1">
            <a:spLocks noChangeArrowheads="1"/>
          </p:cNvSpPr>
          <p:nvPr/>
        </p:nvSpPr>
        <p:spPr bwMode="auto">
          <a:xfrm>
            <a:off x="7107238" y="5867400"/>
            <a:ext cx="14811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Water layer</a:t>
            </a:r>
            <a:endParaRPr lang="en-GB" altLang="en-US" sz="2000"/>
          </a:p>
        </p:txBody>
      </p:sp>
    </p:spTree>
  </p:cSld>
  <p:clrMapOvr>
    <a:masterClrMapping/>
  </p:clrMapOvr>
  <p:transition>
    <p:strips dir="l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3">
            <a:extLst>
              <a:ext uri="{FF2B5EF4-FFF2-40B4-BE49-F238E27FC236}">
                <a16:creationId xmlns:a16="http://schemas.microsoft.com/office/drawing/2014/main" id="{B9141CBA-DBB0-E8D3-A7BA-937FFF3D9F6F}"/>
              </a:ext>
            </a:extLst>
          </p:cNvPr>
          <p:cNvSpPr txBox="1">
            <a:spLocks noChangeArrowheads="1"/>
          </p:cNvSpPr>
          <p:nvPr/>
        </p:nvSpPr>
        <p:spPr bwMode="auto">
          <a:xfrm>
            <a:off x="909638" y="271463"/>
            <a:ext cx="2441575"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r>
              <a:rPr lang="en-GB" altLang="en-US" sz="3200">
                <a:latin typeface="Arial" panose="020B0604020202020204" pitchFamily="34" charset="0"/>
              </a:rPr>
              <a:t>Aircraft icing</a:t>
            </a:r>
            <a:endParaRPr lang="en-GB" altLang="en-US" sz="3200"/>
          </a:p>
        </p:txBody>
      </p:sp>
      <p:pic>
        <p:nvPicPr>
          <p:cNvPr id="17411" name="Picture 4">
            <a:extLst>
              <a:ext uri="{FF2B5EF4-FFF2-40B4-BE49-F238E27FC236}">
                <a16:creationId xmlns:a16="http://schemas.microsoft.com/office/drawing/2014/main" id="{37CDA6FA-FF91-074B-8193-2C4E3ACF29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4638" y="1447800"/>
            <a:ext cx="4090987" cy="328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2" name="Picture 5">
            <a:extLst>
              <a:ext uri="{FF2B5EF4-FFF2-40B4-BE49-F238E27FC236}">
                <a16:creationId xmlns:a16="http://schemas.microsoft.com/office/drawing/2014/main" id="{116C913C-718D-B468-7F46-CB5660C579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075" y="2576513"/>
            <a:ext cx="4445000" cy="355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3" name="Text Box 9">
            <a:extLst>
              <a:ext uri="{FF2B5EF4-FFF2-40B4-BE49-F238E27FC236}">
                <a16:creationId xmlns:a16="http://schemas.microsoft.com/office/drawing/2014/main" id="{56FC987D-AEE1-2ED4-4C95-E26BA679FDA7}"/>
              </a:ext>
            </a:extLst>
          </p:cNvPr>
          <p:cNvSpPr txBox="1">
            <a:spLocks noChangeArrowheads="1"/>
          </p:cNvSpPr>
          <p:nvPr/>
        </p:nvSpPr>
        <p:spPr bwMode="auto">
          <a:xfrm>
            <a:off x="3946525" y="984250"/>
            <a:ext cx="19367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Aerofoil leading</a:t>
            </a:r>
          </a:p>
          <a:p>
            <a:pPr>
              <a:buSzPct val="98000"/>
            </a:pPr>
            <a:r>
              <a:rPr lang="en-GB" altLang="en-US" sz="2000">
                <a:latin typeface="Arial" panose="020B0604020202020204" pitchFamily="34" charset="0"/>
              </a:rPr>
              <a:t>edge</a:t>
            </a:r>
            <a:endParaRPr lang="en-GB" altLang="en-US" sz="2000"/>
          </a:p>
        </p:txBody>
      </p:sp>
      <p:sp>
        <p:nvSpPr>
          <p:cNvPr id="17414" name="Text Box 11">
            <a:extLst>
              <a:ext uri="{FF2B5EF4-FFF2-40B4-BE49-F238E27FC236}">
                <a16:creationId xmlns:a16="http://schemas.microsoft.com/office/drawing/2014/main" id="{19390D8C-2BFE-E42D-77B1-EF7BE60862B8}"/>
              </a:ext>
            </a:extLst>
          </p:cNvPr>
          <p:cNvSpPr txBox="1">
            <a:spLocks noChangeArrowheads="1"/>
          </p:cNvSpPr>
          <p:nvPr/>
        </p:nvSpPr>
        <p:spPr bwMode="auto">
          <a:xfrm>
            <a:off x="3743325" y="6284913"/>
            <a:ext cx="301466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160" tIns="46080" rIns="92160" bIns="46080" anchor="ctr" anchorCtr="1">
            <a:spAutoFit/>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1pPr>
            <a:lvl2pPr marL="742950" indent="-28575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2pPr>
            <a:lvl3pPr marL="11430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3pPr>
            <a:lvl4pPr marL="16002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4pPr>
            <a:lvl5pPr marL="2057400" indent="-22860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400">
                <a:solidFill>
                  <a:schemeClr val="tx1"/>
                </a:solidFill>
                <a:latin typeface="Times New Roman" panose="02020603050405020304" pitchFamily="18" charset="0"/>
              </a:defRPr>
            </a:lvl9pPr>
          </a:lstStyle>
          <a:p>
            <a:pPr>
              <a:buSzPct val="98000"/>
            </a:pPr>
            <a:r>
              <a:rPr lang="en-GB" altLang="en-US" sz="2000">
                <a:latin typeface="Arial" panose="020B0604020202020204" pitchFamily="34" charset="0"/>
              </a:rPr>
              <a:t>Thin section of ice:</a:t>
            </a:r>
          </a:p>
          <a:p>
            <a:pPr>
              <a:buSzPct val="98000"/>
            </a:pPr>
            <a:r>
              <a:rPr lang="en-GB" altLang="en-US" sz="2000">
                <a:latin typeface="Arial" panose="020B0604020202020204" pitchFamily="34" charset="0"/>
              </a:rPr>
              <a:t>		Note rime ice region</a:t>
            </a:r>
            <a:r>
              <a:rPr lang="en-GB" altLang="en-US" sz="2000"/>
              <a:t> </a:t>
            </a:r>
          </a:p>
          <a:p>
            <a:pPr>
              <a:buSzPct val="98000"/>
            </a:pPr>
            <a:endParaRPr lang="en-GB" altLang="en-US" sz="2000"/>
          </a:p>
        </p:txBody>
      </p:sp>
    </p:spTree>
  </p:cSld>
  <p:clrMapOvr>
    <a:masterClrMapping/>
  </p:clrMapOvr>
  <p:transition>
    <p:strips dir="l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E161A81-9BE5-E916-C027-2DD2684B35B3}"/>
              </a:ext>
            </a:extLst>
          </p:cNvPr>
          <p:cNvSpPr>
            <a:spLocks noGrp="1" noChangeArrowheads="1"/>
          </p:cNvSpPr>
          <p:nvPr>
            <p:ph type="title"/>
          </p:nvPr>
        </p:nvSpPr>
        <p:spPr>
          <a:xfrm>
            <a:off x="260350" y="584200"/>
            <a:ext cx="4230688" cy="625475"/>
          </a:xfrm>
        </p:spPr>
        <p:txBody>
          <a:bodyPr/>
          <a:lstStyle/>
          <a:p>
            <a:pPr algn="l"/>
            <a:r>
              <a:rPr lang="en-GB" altLang="en-US" sz="3600" b="0"/>
              <a:t>Icing model</a:t>
            </a:r>
          </a:p>
        </p:txBody>
      </p:sp>
      <p:sp>
        <p:nvSpPr>
          <p:cNvPr id="18435" name="Rectangle 3">
            <a:extLst>
              <a:ext uri="{FF2B5EF4-FFF2-40B4-BE49-F238E27FC236}">
                <a16:creationId xmlns:a16="http://schemas.microsoft.com/office/drawing/2014/main" id="{DB397E19-0D52-2254-B788-11D0C6C7B62E}"/>
              </a:ext>
            </a:extLst>
          </p:cNvPr>
          <p:cNvSpPr>
            <a:spLocks noGrp="1" noChangeArrowheads="1"/>
          </p:cNvSpPr>
          <p:nvPr>
            <p:ph type="body" sz="half" idx="1"/>
          </p:nvPr>
        </p:nvSpPr>
        <p:spPr>
          <a:xfrm>
            <a:off x="801688" y="2184400"/>
            <a:ext cx="4462462" cy="4535488"/>
          </a:xfrm>
        </p:spPr>
        <p:txBody>
          <a:bodyPr/>
          <a:lstStyle/>
          <a:p>
            <a:pPr>
              <a:lnSpc>
                <a:spcPct val="90000"/>
              </a:lnSpc>
            </a:pPr>
            <a:r>
              <a:rPr lang="en-GB" altLang="en-US" sz="2300"/>
              <a:t>Equation modelling the ice growth and the water flux:</a:t>
            </a:r>
          </a:p>
          <a:p>
            <a:pPr>
              <a:lnSpc>
                <a:spcPct val="90000"/>
              </a:lnSpc>
            </a:pPr>
            <a:endParaRPr lang="en-GB" altLang="en-US" sz="2300"/>
          </a:p>
          <a:p>
            <a:pPr>
              <a:lnSpc>
                <a:spcPct val="90000"/>
              </a:lnSpc>
            </a:pPr>
            <a:endParaRPr lang="en-GB" altLang="en-US" sz="2300"/>
          </a:p>
          <a:p>
            <a:pPr>
              <a:lnSpc>
                <a:spcPct val="90000"/>
              </a:lnSpc>
            </a:pPr>
            <a:endParaRPr lang="en-GB" altLang="en-US" sz="2300"/>
          </a:p>
          <a:p>
            <a:pPr>
              <a:lnSpc>
                <a:spcPct val="90000"/>
              </a:lnSpc>
            </a:pPr>
            <a:endParaRPr lang="en-GB" altLang="en-US" sz="2300"/>
          </a:p>
          <a:p>
            <a:pPr>
              <a:lnSpc>
                <a:spcPct val="90000"/>
              </a:lnSpc>
            </a:pPr>
            <a:r>
              <a:rPr lang="en-GB" altLang="en-US" sz="2300"/>
              <a:t>Where: </a:t>
            </a:r>
          </a:p>
          <a:p>
            <a:pPr>
              <a:lnSpc>
                <a:spcPct val="90000"/>
              </a:lnSpc>
            </a:pPr>
            <a:endParaRPr lang="en-GB" altLang="en-US" sz="2300"/>
          </a:p>
          <a:p>
            <a:pPr>
              <a:lnSpc>
                <a:spcPct val="90000"/>
              </a:lnSpc>
            </a:pPr>
            <a:endParaRPr lang="en-GB" altLang="en-US" sz="2300"/>
          </a:p>
          <a:p>
            <a:pPr>
              <a:lnSpc>
                <a:spcPct val="90000"/>
              </a:lnSpc>
            </a:pPr>
            <a:endParaRPr lang="en-GB" altLang="en-US" sz="2300"/>
          </a:p>
          <a:p>
            <a:pPr>
              <a:lnSpc>
                <a:spcPct val="90000"/>
              </a:lnSpc>
            </a:pPr>
            <a:r>
              <a:rPr lang="en-GB" altLang="en-US" sz="2300"/>
              <a:t>Conservative scheme:</a:t>
            </a:r>
          </a:p>
          <a:p>
            <a:pPr>
              <a:lnSpc>
                <a:spcPct val="90000"/>
              </a:lnSpc>
              <a:buFont typeface="Webdings" pitchFamily="2" charset="2"/>
              <a:buNone/>
            </a:pPr>
            <a:r>
              <a:rPr lang="en-GB" altLang="en-US" sz="2300"/>
              <a:t>     (explicit)</a:t>
            </a:r>
          </a:p>
          <a:p>
            <a:pPr>
              <a:lnSpc>
                <a:spcPct val="90000"/>
              </a:lnSpc>
            </a:pPr>
            <a:endParaRPr lang="en-GB" altLang="en-US" sz="2300"/>
          </a:p>
          <a:p>
            <a:pPr>
              <a:lnSpc>
                <a:spcPct val="90000"/>
              </a:lnSpc>
            </a:pPr>
            <a:endParaRPr lang="en-GB" altLang="en-US" sz="2300"/>
          </a:p>
        </p:txBody>
      </p:sp>
      <p:graphicFrame>
        <p:nvGraphicFramePr>
          <p:cNvPr id="18436" name="Object 4">
            <a:extLst>
              <a:ext uri="{FF2B5EF4-FFF2-40B4-BE49-F238E27FC236}">
                <a16:creationId xmlns:a16="http://schemas.microsoft.com/office/drawing/2014/main" id="{15F8CC9B-79FB-120C-CBB4-C7DC3EF65640}"/>
              </a:ext>
            </a:extLst>
          </p:cNvPr>
          <p:cNvGraphicFramePr>
            <a:graphicFrameLocks noChangeAspect="1"/>
          </p:cNvGraphicFramePr>
          <p:nvPr>
            <p:ph sz="quarter" idx="2"/>
          </p:nvPr>
        </p:nvGraphicFramePr>
        <p:xfrm>
          <a:off x="2668588" y="2990850"/>
          <a:ext cx="5130800" cy="1254125"/>
        </p:xfrm>
        <a:graphic>
          <a:graphicData uri="http://schemas.openxmlformats.org/presentationml/2006/ole">
            <mc:AlternateContent xmlns:mc="http://schemas.openxmlformats.org/markup-compatibility/2006">
              <mc:Choice xmlns:v="urn:schemas-microsoft-com:vml" Requires="v">
                <p:oleObj name="Equation" r:id="rId3" imgW="2197100" imgH="546100" progId="Equation.3">
                  <p:embed/>
                </p:oleObj>
              </mc:Choice>
              <mc:Fallback>
                <p:oleObj name="Equation" r:id="rId3" imgW="2197100" imgH="546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8588" y="2990850"/>
                        <a:ext cx="5130800" cy="1254125"/>
                      </a:xfrm>
                      <a:prstGeom prst="rect">
                        <a:avLst/>
                      </a:prstGeom>
                      <a:noFill/>
                      <a:ln>
                        <a:noFill/>
                      </a:ln>
                      <a:effectLst/>
                      <a:extLst>
                        <a:ext uri="{909E8E84-426E-40DD-AFC4-6F175D3DCCD1}">
                          <a14:hiddenFill xmlns:a14="http://schemas.microsoft.com/office/drawing/2010/main">
                            <a:solidFill>
                              <a:srgbClr val="FFB549"/>
                            </a:solidFill>
                          </a14:hiddenFill>
                        </a:ext>
                        <a:ext uri="{91240B29-F687-4F45-9708-019B960494DF}">
                          <a14:hiddenLine xmlns:a14="http://schemas.microsoft.com/office/drawing/2010/main" w="9525">
                            <a:solidFill>
                              <a:srgbClr val="CC99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7" name="Object 5">
            <a:extLst>
              <a:ext uri="{FF2B5EF4-FFF2-40B4-BE49-F238E27FC236}">
                <a16:creationId xmlns:a16="http://schemas.microsoft.com/office/drawing/2014/main" id="{AB28D17C-92CF-F610-39B9-CF9160EC0DC8}"/>
              </a:ext>
            </a:extLst>
          </p:cNvPr>
          <p:cNvGraphicFramePr>
            <a:graphicFrameLocks noChangeAspect="1"/>
          </p:cNvGraphicFramePr>
          <p:nvPr>
            <p:ph sz="quarter" idx="3"/>
          </p:nvPr>
        </p:nvGraphicFramePr>
        <p:xfrm>
          <a:off x="3476625" y="4494213"/>
          <a:ext cx="3502025" cy="903287"/>
        </p:xfrm>
        <a:graphic>
          <a:graphicData uri="http://schemas.openxmlformats.org/presentationml/2006/ole">
            <mc:AlternateContent xmlns:mc="http://schemas.openxmlformats.org/markup-compatibility/2006">
              <mc:Choice xmlns:v="urn:schemas-microsoft-com:vml" Requires="v">
                <p:oleObj name="Equation" r:id="rId5" imgW="2146300" imgH="571500" progId="Equation.3">
                  <p:embed/>
                </p:oleObj>
              </mc:Choice>
              <mc:Fallback>
                <p:oleObj name="Equation" r:id="rId5" imgW="2146300" imgH="5715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76625" y="4494213"/>
                        <a:ext cx="3502025" cy="903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8" name="Object 6">
            <a:extLst>
              <a:ext uri="{FF2B5EF4-FFF2-40B4-BE49-F238E27FC236}">
                <a16:creationId xmlns:a16="http://schemas.microsoft.com/office/drawing/2014/main" id="{8DFB75F4-580E-B47A-2076-8A9BD166DE6B}"/>
              </a:ext>
            </a:extLst>
          </p:cNvPr>
          <p:cNvGraphicFramePr>
            <a:graphicFrameLocks noChangeAspect="1"/>
          </p:cNvGraphicFramePr>
          <p:nvPr/>
        </p:nvGraphicFramePr>
        <p:xfrm>
          <a:off x="4924425" y="6002338"/>
          <a:ext cx="4967288" cy="801687"/>
        </p:xfrm>
        <a:graphic>
          <a:graphicData uri="http://schemas.openxmlformats.org/presentationml/2006/ole">
            <mc:AlternateContent xmlns:mc="http://schemas.openxmlformats.org/markup-compatibility/2006">
              <mc:Choice xmlns:v="urn:schemas-microsoft-com:vml" Requires="v">
                <p:oleObj name="Equation" r:id="rId7" imgW="3162300" imgH="546100" progId="Equation.3">
                  <p:embed/>
                </p:oleObj>
              </mc:Choice>
              <mc:Fallback>
                <p:oleObj name="Equation" r:id="rId7" imgW="3162300" imgH="5461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24425" y="6002338"/>
                        <a:ext cx="4967288" cy="801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D6DBCB7F-E32B-61F1-9486-31082DD16477}"/>
              </a:ext>
            </a:extLst>
          </p:cNvPr>
          <p:cNvSpPr>
            <a:spLocks noGrp="1" noChangeArrowheads="1"/>
          </p:cNvSpPr>
          <p:nvPr>
            <p:ph type="title"/>
          </p:nvPr>
        </p:nvSpPr>
        <p:spPr/>
        <p:txBody>
          <a:bodyPr/>
          <a:lstStyle/>
          <a:p>
            <a:pPr algn="l"/>
            <a:r>
              <a:rPr lang="en-GB" altLang="en-US"/>
              <a:t>Error control - Objectives</a:t>
            </a:r>
          </a:p>
        </p:txBody>
      </p:sp>
      <p:sp>
        <p:nvSpPr>
          <p:cNvPr id="19459" name="Rectangle 3">
            <a:extLst>
              <a:ext uri="{FF2B5EF4-FFF2-40B4-BE49-F238E27FC236}">
                <a16:creationId xmlns:a16="http://schemas.microsoft.com/office/drawing/2014/main" id="{6960DEBC-CBE8-A316-E2ED-ABC82E560A60}"/>
              </a:ext>
            </a:extLst>
          </p:cNvPr>
          <p:cNvSpPr>
            <a:spLocks noGrp="1" noChangeArrowheads="1"/>
          </p:cNvSpPr>
          <p:nvPr>
            <p:ph type="body" idx="1"/>
          </p:nvPr>
        </p:nvSpPr>
        <p:spPr/>
        <p:txBody>
          <a:bodyPr/>
          <a:lstStyle/>
          <a:p>
            <a:r>
              <a:rPr lang="en-GB" altLang="en-US"/>
              <a:t>Enhance robustness of code</a:t>
            </a:r>
          </a:p>
          <a:p>
            <a:pPr lvl="1"/>
            <a:r>
              <a:rPr lang="en-GB" altLang="en-US"/>
              <a:t>Stability</a:t>
            </a:r>
          </a:p>
          <a:p>
            <a:r>
              <a:rPr lang="en-GB" altLang="en-US"/>
              <a:t>Improve accuracy</a:t>
            </a:r>
          </a:p>
          <a:p>
            <a:r>
              <a:rPr lang="en-GB" altLang="en-US"/>
              <a:t>Provide error control</a:t>
            </a:r>
          </a:p>
          <a:p>
            <a:r>
              <a:rPr lang="en-GB" altLang="en-US"/>
              <a:t>Fully automatic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2CCFC390-84B2-F692-B19C-91F03E9C66AD}"/>
              </a:ext>
            </a:extLst>
          </p:cNvPr>
          <p:cNvSpPr>
            <a:spLocks noGrp="1" noChangeArrowheads="1"/>
          </p:cNvSpPr>
          <p:nvPr>
            <p:ph type="title"/>
          </p:nvPr>
        </p:nvSpPr>
        <p:spPr>
          <a:xfrm>
            <a:off x="695325" y="523875"/>
            <a:ext cx="4391025" cy="625475"/>
          </a:xfrm>
        </p:spPr>
        <p:txBody>
          <a:bodyPr/>
          <a:lstStyle/>
          <a:p>
            <a:pPr algn="l"/>
            <a:r>
              <a:rPr lang="en-GB" altLang="en-US"/>
              <a:t>Numerical Schemes:</a:t>
            </a:r>
          </a:p>
        </p:txBody>
      </p:sp>
      <p:graphicFrame>
        <p:nvGraphicFramePr>
          <p:cNvPr id="20483" name="Object 6">
            <a:extLst>
              <a:ext uri="{FF2B5EF4-FFF2-40B4-BE49-F238E27FC236}">
                <a16:creationId xmlns:a16="http://schemas.microsoft.com/office/drawing/2014/main" id="{DA7CBC62-A24E-409B-CF7E-E42B6BC60674}"/>
              </a:ext>
            </a:extLst>
          </p:cNvPr>
          <p:cNvGraphicFramePr>
            <a:graphicFrameLocks noChangeAspect="1"/>
          </p:cNvGraphicFramePr>
          <p:nvPr/>
        </p:nvGraphicFramePr>
        <p:xfrm>
          <a:off x="530225" y="2324100"/>
          <a:ext cx="9375775" cy="3930650"/>
        </p:xfrm>
        <a:graphic>
          <a:graphicData uri="http://schemas.openxmlformats.org/presentationml/2006/ole">
            <mc:AlternateContent xmlns:mc="http://schemas.openxmlformats.org/markup-compatibility/2006">
              <mc:Choice xmlns:v="urn:schemas-microsoft-com:vml" Requires="v">
                <p:oleObj name="Equation" r:id="rId3" imgW="6477000" imgH="2667000" progId="Equation.DSMT4">
                  <p:embed/>
                </p:oleObj>
              </mc:Choice>
              <mc:Fallback>
                <p:oleObj name="Equation" r:id="rId3" imgW="6477000" imgH="26670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225" y="2324100"/>
                        <a:ext cx="9375775" cy="3930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F4D9BD9-EBEA-E5F3-46CE-2DAABE80D856}"/>
              </a:ext>
            </a:extLst>
          </p:cNvPr>
          <p:cNvSpPr>
            <a:spLocks noGrp="1" noChangeArrowheads="1"/>
          </p:cNvSpPr>
          <p:nvPr>
            <p:ph type="title"/>
          </p:nvPr>
        </p:nvSpPr>
        <p:spPr>
          <a:xfrm>
            <a:off x="822325" y="671513"/>
            <a:ext cx="9088438" cy="1260475"/>
          </a:xfrm>
        </p:spPr>
        <p:txBody>
          <a:bodyPr/>
          <a:lstStyle/>
          <a:p>
            <a:pPr algn="l"/>
            <a:r>
              <a:rPr lang="en-US" altLang="en-US"/>
              <a:t>Flux Limiter</a:t>
            </a:r>
            <a:endParaRPr lang="en-GB" altLang="en-US"/>
          </a:p>
        </p:txBody>
      </p:sp>
      <p:graphicFrame>
        <p:nvGraphicFramePr>
          <p:cNvPr id="21507" name="Object 4">
            <a:extLst>
              <a:ext uri="{FF2B5EF4-FFF2-40B4-BE49-F238E27FC236}">
                <a16:creationId xmlns:a16="http://schemas.microsoft.com/office/drawing/2014/main" id="{BF34185C-98F7-8231-303D-DB9300406933}"/>
              </a:ext>
            </a:extLst>
          </p:cNvPr>
          <p:cNvGraphicFramePr>
            <a:graphicFrameLocks noChangeAspect="1"/>
          </p:cNvGraphicFramePr>
          <p:nvPr>
            <p:ph sz="half" idx="1"/>
          </p:nvPr>
        </p:nvGraphicFramePr>
        <p:xfrm>
          <a:off x="4251325" y="2192338"/>
          <a:ext cx="4967288" cy="857250"/>
        </p:xfrm>
        <a:graphic>
          <a:graphicData uri="http://schemas.openxmlformats.org/presentationml/2006/ole">
            <mc:AlternateContent xmlns:mc="http://schemas.openxmlformats.org/markup-compatibility/2006">
              <mc:Choice xmlns:v="urn:schemas-microsoft-com:vml" Requires="v">
                <p:oleObj name="Equation" r:id="rId3" imgW="2565400" imgH="444500" progId="Equation.3">
                  <p:embed/>
                </p:oleObj>
              </mc:Choice>
              <mc:Fallback>
                <p:oleObj name="Equation" r:id="rId3" imgW="2565400" imgH="4445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1325" y="2192338"/>
                        <a:ext cx="4967288"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508" name="Object 16">
            <a:extLst>
              <a:ext uri="{FF2B5EF4-FFF2-40B4-BE49-F238E27FC236}">
                <a16:creationId xmlns:a16="http://schemas.microsoft.com/office/drawing/2014/main" id="{B6F65E29-364D-7A2F-036C-44370E6E8EC9}"/>
              </a:ext>
            </a:extLst>
          </p:cNvPr>
          <p:cNvGraphicFramePr>
            <a:graphicFrameLocks noChangeAspect="1"/>
          </p:cNvGraphicFramePr>
          <p:nvPr>
            <p:ph sz="quarter" idx="2"/>
          </p:nvPr>
        </p:nvGraphicFramePr>
        <p:xfrm>
          <a:off x="4419600" y="3621088"/>
          <a:ext cx="4967288" cy="447675"/>
        </p:xfrm>
        <a:graphic>
          <a:graphicData uri="http://schemas.openxmlformats.org/presentationml/2006/ole">
            <mc:AlternateContent xmlns:mc="http://schemas.openxmlformats.org/markup-compatibility/2006">
              <mc:Choice xmlns:v="urn:schemas-microsoft-com:vml" Requires="v">
                <p:oleObj name="Equation" r:id="rId5" imgW="2806700" imgH="241300" progId="Equation.3">
                  <p:embed/>
                </p:oleObj>
              </mc:Choice>
              <mc:Fallback>
                <p:oleObj name="Equation" r:id="rId5" imgW="2806700" imgH="241300" progId="Equation.3">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9600" y="3621088"/>
                        <a:ext cx="4967288"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09" name="Rectangle 6">
            <a:extLst>
              <a:ext uri="{FF2B5EF4-FFF2-40B4-BE49-F238E27FC236}">
                <a16:creationId xmlns:a16="http://schemas.microsoft.com/office/drawing/2014/main" id="{844C74F0-77EE-B190-7487-BEDB6C011F0C}"/>
              </a:ext>
            </a:extLst>
          </p:cNvPr>
          <p:cNvSpPr>
            <a:spLocks noChangeArrowheads="1"/>
          </p:cNvSpPr>
          <p:nvPr/>
        </p:nvSpPr>
        <p:spPr bwMode="auto">
          <a:xfrm>
            <a:off x="714375" y="1954213"/>
            <a:ext cx="4462463" cy="421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lvl1pPr marL="390525" indent="-390525">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824038" indent="-26035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buClr>
                <a:srgbClr val="6699FF"/>
              </a:buClr>
            </a:pPr>
            <a:endParaRPr lang="en-GB" altLang="en-US" sz="2300" b="1">
              <a:latin typeface="Arial" panose="020B0604020202020204" pitchFamily="34" charset="0"/>
            </a:endParaRPr>
          </a:p>
          <a:p>
            <a:pPr>
              <a:spcBef>
                <a:spcPct val="20000"/>
              </a:spcBef>
              <a:buClr>
                <a:srgbClr val="6699FF"/>
              </a:buClr>
              <a:buFont typeface="Webdings" pitchFamily="2" charset="2"/>
              <a:buChar char="&lt;"/>
            </a:pPr>
            <a:r>
              <a:rPr lang="en-US" altLang="en-US" sz="2300" b="1">
                <a:latin typeface="Arial" panose="020B0604020202020204" pitchFamily="34" charset="0"/>
              </a:rPr>
              <a:t>Superbee limiter:</a:t>
            </a:r>
          </a:p>
          <a:p>
            <a:pPr>
              <a:spcBef>
                <a:spcPct val="20000"/>
              </a:spcBef>
              <a:buClr>
                <a:srgbClr val="6699FF"/>
              </a:buClr>
            </a:pPr>
            <a:r>
              <a:rPr lang="en-US" altLang="en-US" sz="2300" b="1">
                <a:latin typeface="Arial" panose="020B0604020202020204" pitchFamily="34" charset="0"/>
              </a:rPr>
              <a:t> 		</a:t>
            </a:r>
          </a:p>
          <a:p>
            <a:pPr>
              <a:spcBef>
                <a:spcPct val="20000"/>
              </a:spcBef>
              <a:buClr>
                <a:srgbClr val="6699FF"/>
              </a:buClr>
              <a:buFont typeface="Webdings" pitchFamily="2" charset="2"/>
              <a:buChar char="&lt;"/>
            </a:pPr>
            <a:endParaRPr lang="en-US" altLang="en-US" sz="2300" b="1">
              <a:latin typeface="Arial" panose="020B0604020202020204" pitchFamily="34" charset="0"/>
            </a:endParaRPr>
          </a:p>
          <a:p>
            <a:pPr lvl="3">
              <a:spcBef>
                <a:spcPct val="20000"/>
              </a:spcBef>
              <a:buFontTx/>
              <a:buChar char="–"/>
            </a:pPr>
            <a:r>
              <a:rPr lang="en-US" altLang="en-US" sz="2300" b="1">
                <a:latin typeface="Arial" panose="020B0604020202020204" pitchFamily="34" charset="0"/>
              </a:rPr>
              <a:t>with : </a:t>
            </a:r>
          </a:p>
          <a:p>
            <a:pPr>
              <a:spcBef>
                <a:spcPct val="20000"/>
              </a:spcBef>
              <a:buClr>
                <a:srgbClr val="6699FF"/>
              </a:buClr>
              <a:buFont typeface="Webdings" pitchFamily="2" charset="2"/>
              <a:buChar char="&lt;"/>
            </a:pPr>
            <a:endParaRPr lang="en-GB" altLang="en-US" sz="2300" b="1">
              <a:latin typeface="Arial" panose="020B0604020202020204" pitchFamily="34" charset="0"/>
            </a:endParaRPr>
          </a:p>
          <a:p>
            <a:pPr>
              <a:spcBef>
                <a:spcPct val="20000"/>
              </a:spcBef>
              <a:buClr>
                <a:srgbClr val="6699FF"/>
              </a:buClr>
            </a:pPr>
            <a:r>
              <a:rPr lang="en-US" altLang="en-US" sz="2300" b="1">
                <a:latin typeface="Arial" panose="020B0604020202020204" pitchFamily="34" charset="0"/>
              </a:rPr>
              <a:t>			</a:t>
            </a:r>
          </a:p>
          <a:p>
            <a:pPr>
              <a:spcBef>
                <a:spcPct val="20000"/>
              </a:spcBef>
              <a:buClr>
                <a:srgbClr val="6699FF"/>
              </a:buClr>
            </a:pPr>
            <a:r>
              <a:rPr lang="en-US" altLang="en-US" sz="2300" b="1">
                <a:latin typeface="Arial" panose="020B0604020202020204" pitchFamily="34" charset="0"/>
              </a:rPr>
              <a:t>			and:	</a:t>
            </a:r>
            <a:endParaRPr lang="en-GB" altLang="en-US" sz="2300" b="1">
              <a:latin typeface="Arial" panose="020B0604020202020204" pitchFamily="34" charset="0"/>
            </a:endParaRPr>
          </a:p>
          <a:p>
            <a:pPr>
              <a:spcBef>
                <a:spcPct val="20000"/>
              </a:spcBef>
              <a:buClr>
                <a:srgbClr val="6699FF"/>
              </a:buClr>
              <a:buFont typeface="Webdings" pitchFamily="2" charset="2"/>
              <a:buChar char="&lt;"/>
            </a:pPr>
            <a:endParaRPr lang="en-US" altLang="en-US" sz="2300" b="1">
              <a:latin typeface="Arial" panose="020B0604020202020204" pitchFamily="34" charset="0"/>
            </a:endParaRPr>
          </a:p>
          <a:p>
            <a:pPr>
              <a:spcBef>
                <a:spcPct val="20000"/>
              </a:spcBef>
              <a:buClr>
                <a:srgbClr val="6699FF"/>
              </a:buClr>
              <a:buFont typeface="Webdings" pitchFamily="2" charset="2"/>
              <a:buChar char="&lt;"/>
            </a:pPr>
            <a:endParaRPr lang="en-GB" altLang="en-US" sz="2300" b="1">
              <a:latin typeface="Arial" panose="020B0604020202020204" pitchFamily="34" charset="0"/>
            </a:endParaRPr>
          </a:p>
          <a:p>
            <a:pPr>
              <a:spcBef>
                <a:spcPct val="20000"/>
              </a:spcBef>
              <a:buClr>
                <a:srgbClr val="6699FF"/>
              </a:buClr>
              <a:buFont typeface="Webdings" pitchFamily="2" charset="2"/>
              <a:buChar char="&lt;"/>
            </a:pPr>
            <a:endParaRPr lang="en-GB" altLang="en-US" sz="2300" b="1">
              <a:latin typeface="Arial" panose="020B0604020202020204" pitchFamily="34" charset="0"/>
            </a:endParaRPr>
          </a:p>
        </p:txBody>
      </p:sp>
      <p:graphicFrame>
        <p:nvGraphicFramePr>
          <p:cNvPr id="21510" name="Object 18">
            <a:extLst>
              <a:ext uri="{FF2B5EF4-FFF2-40B4-BE49-F238E27FC236}">
                <a16:creationId xmlns:a16="http://schemas.microsoft.com/office/drawing/2014/main" id="{D6278356-4678-1645-54F7-66FF4DAB9313}"/>
              </a:ext>
            </a:extLst>
          </p:cNvPr>
          <p:cNvGraphicFramePr>
            <a:graphicFrameLocks noChangeAspect="1"/>
          </p:cNvGraphicFramePr>
          <p:nvPr>
            <p:ph sz="quarter" idx="3"/>
          </p:nvPr>
        </p:nvGraphicFramePr>
        <p:xfrm>
          <a:off x="4419600" y="4337050"/>
          <a:ext cx="4546600" cy="2100263"/>
        </p:xfrm>
        <a:graphic>
          <a:graphicData uri="http://schemas.openxmlformats.org/presentationml/2006/ole">
            <mc:AlternateContent xmlns:mc="http://schemas.openxmlformats.org/markup-compatibility/2006">
              <mc:Choice xmlns:v="urn:schemas-microsoft-com:vml" Requires="v">
                <p:oleObj name="Equation" r:id="rId7" imgW="2603500" imgH="1257300" progId="Equation.3">
                  <p:embed/>
                </p:oleObj>
              </mc:Choice>
              <mc:Fallback>
                <p:oleObj name="Equation" r:id="rId7" imgW="2603500" imgH="125730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9600" y="4337050"/>
                        <a:ext cx="4546600" cy="2100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21AA99CF-E529-33E7-ED27-EFB48F8E048B}"/>
              </a:ext>
            </a:extLst>
          </p:cNvPr>
          <p:cNvSpPr>
            <a:spLocks noGrp="1" noChangeArrowheads="1"/>
          </p:cNvSpPr>
          <p:nvPr>
            <p:ph type="title"/>
          </p:nvPr>
        </p:nvSpPr>
        <p:spPr>
          <a:xfrm>
            <a:off x="461963" y="404813"/>
            <a:ext cx="8140700" cy="625475"/>
          </a:xfrm>
        </p:spPr>
        <p:txBody>
          <a:bodyPr/>
          <a:lstStyle/>
          <a:p>
            <a:pPr algn="l"/>
            <a:r>
              <a:rPr lang="en-GB" altLang="en-US" sz="3200"/>
              <a:t>Unstructured formulation</a:t>
            </a:r>
          </a:p>
        </p:txBody>
      </p:sp>
      <p:sp>
        <p:nvSpPr>
          <p:cNvPr id="22531" name="Rectangle 3">
            <a:extLst>
              <a:ext uri="{FF2B5EF4-FFF2-40B4-BE49-F238E27FC236}">
                <a16:creationId xmlns:a16="http://schemas.microsoft.com/office/drawing/2014/main" id="{1DEB1331-C636-4DEF-E685-E204F6B0FCDC}"/>
              </a:ext>
            </a:extLst>
          </p:cNvPr>
          <p:cNvSpPr>
            <a:spLocks noGrp="1" noChangeArrowheads="1"/>
          </p:cNvSpPr>
          <p:nvPr>
            <p:ph type="body" sz="half" idx="1"/>
          </p:nvPr>
        </p:nvSpPr>
        <p:spPr>
          <a:xfrm>
            <a:off x="260350" y="1873250"/>
            <a:ext cx="4614863" cy="4000500"/>
          </a:xfrm>
        </p:spPr>
        <p:txBody>
          <a:bodyPr/>
          <a:lstStyle/>
          <a:p>
            <a:r>
              <a:rPr lang="en-GB" altLang="en-US" sz="2300"/>
              <a:t>Edge-based formulation: (case where s=1)</a:t>
            </a:r>
          </a:p>
          <a:p>
            <a:endParaRPr lang="en-GB" altLang="en-US" sz="2300"/>
          </a:p>
          <a:p>
            <a:endParaRPr lang="en-GB" altLang="en-US" sz="2300"/>
          </a:p>
          <a:p>
            <a:endParaRPr lang="en-GB" altLang="en-US" sz="2300"/>
          </a:p>
          <a:p>
            <a:r>
              <a:rPr lang="en-GB" altLang="en-US" sz="2300"/>
              <a:t>Estimation of h:</a:t>
            </a:r>
          </a:p>
          <a:p>
            <a:endParaRPr lang="en-GB" altLang="en-US" sz="2300"/>
          </a:p>
        </p:txBody>
      </p:sp>
      <p:graphicFrame>
        <p:nvGraphicFramePr>
          <p:cNvPr id="22532" name="Object 4">
            <a:extLst>
              <a:ext uri="{FF2B5EF4-FFF2-40B4-BE49-F238E27FC236}">
                <a16:creationId xmlns:a16="http://schemas.microsoft.com/office/drawing/2014/main" id="{23415B9F-19A3-716A-6663-0E7888992211}"/>
              </a:ext>
            </a:extLst>
          </p:cNvPr>
          <p:cNvGraphicFramePr>
            <a:graphicFrameLocks noChangeAspect="1"/>
          </p:cNvGraphicFramePr>
          <p:nvPr>
            <p:ph sz="quarter" idx="2"/>
          </p:nvPr>
        </p:nvGraphicFramePr>
        <p:xfrm>
          <a:off x="5010150" y="1830388"/>
          <a:ext cx="5362575" cy="1319212"/>
        </p:xfrm>
        <a:graphic>
          <a:graphicData uri="http://schemas.openxmlformats.org/presentationml/2006/ole">
            <mc:AlternateContent xmlns:mc="http://schemas.openxmlformats.org/markup-compatibility/2006">
              <mc:Choice xmlns:v="urn:schemas-microsoft-com:vml" Requires="v">
                <p:oleObj name="Equation" r:id="rId2" imgW="2705100" imgH="685800" progId="Equation.3">
                  <p:embed/>
                </p:oleObj>
              </mc:Choice>
              <mc:Fallback>
                <p:oleObj name="Equation" r:id="rId2" imgW="2705100" imgH="6858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0150" y="1830388"/>
                        <a:ext cx="5362575" cy="1319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33" name="Object 8">
            <a:extLst>
              <a:ext uri="{FF2B5EF4-FFF2-40B4-BE49-F238E27FC236}">
                <a16:creationId xmlns:a16="http://schemas.microsoft.com/office/drawing/2014/main" id="{33CC3A68-4C92-DE6C-2C44-E03F7CDF926E}"/>
              </a:ext>
            </a:extLst>
          </p:cNvPr>
          <p:cNvGraphicFramePr>
            <a:graphicFrameLocks noChangeAspect="1"/>
          </p:cNvGraphicFramePr>
          <p:nvPr/>
        </p:nvGraphicFramePr>
        <p:xfrm>
          <a:off x="461963" y="4891088"/>
          <a:ext cx="5113337" cy="1481137"/>
        </p:xfrm>
        <a:graphic>
          <a:graphicData uri="http://schemas.openxmlformats.org/presentationml/2006/ole">
            <mc:AlternateContent xmlns:mc="http://schemas.openxmlformats.org/markup-compatibility/2006">
              <mc:Choice xmlns:v="urn:schemas-microsoft-com:vml" Requires="v">
                <p:oleObj name="Equation" r:id="rId4" imgW="2730500" imgH="825500" progId="Equation.3">
                  <p:embed/>
                </p:oleObj>
              </mc:Choice>
              <mc:Fallback>
                <p:oleObj name="Equation" r:id="rId4" imgW="2730500" imgH="8255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1963" y="4891088"/>
                        <a:ext cx="5113337" cy="1481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2534" name="Picture 14" descr="stencil4">
            <a:extLst>
              <a:ext uri="{FF2B5EF4-FFF2-40B4-BE49-F238E27FC236}">
                <a16:creationId xmlns:a16="http://schemas.microsoft.com/office/drawing/2014/main" id="{017D7AC4-9C38-4C55-355E-55FD2DC0AD2B}"/>
              </a:ext>
            </a:extLst>
          </p:cNvPr>
          <p:cNvPicPr>
            <a:picLocks noChangeAspect="1" noChangeArrowheads="1"/>
          </p:cNvPicPr>
          <p:nvPr>
            <p:ph sz="quarter" idx="3"/>
          </p:nvPr>
        </p:nvPicPr>
        <p:blipFill>
          <a:blip r:embed="rId6">
            <a:extLst>
              <a:ext uri="{28A0092B-C50C-407E-A947-70E740481C1C}">
                <a14:useLocalDpi xmlns:a14="http://schemas.microsoft.com/office/drawing/2010/main" val="0"/>
              </a:ext>
            </a:extLst>
          </a:blip>
          <a:srcRect/>
          <a:stretch>
            <a:fillRect/>
          </a:stretch>
        </p:blipFill>
        <p:spPr>
          <a:xfrm>
            <a:off x="6019800" y="3586163"/>
            <a:ext cx="4040188" cy="3221037"/>
          </a:xfrm>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F789E9FA-CFF5-5BB0-F01B-EC7C0DF1F6C6}"/>
              </a:ext>
            </a:extLst>
          </p:cNvPr>
          <p:cNvSpPr>
            <a:spLocks noGrp="1" noChangeArrowheads="1"/>
          </p:cNvSpPr>
          <p:nvPr>
            <p:ph type="title"/>
          </p:nvPr>
        </p:nvSpPr>
        <p:spPr/>
        <p:txBody>
          <a:bodyPr/>
          <a:lstStyle/>
          <a:p>
            <a:pPr algn="l"/>
            <a:r>
              <a:rPr lang="en-GB" altLang="en-US"/>
              <a:t>Rotation (Press)</a:t>
            </a:r>
          </a:p>
        </p:txBody>
      </p:sp>
      <p:sp>
        <p:nvSpPr>
          <p:cNvPr id="23555" name="Rectangle 3">
            <a:extLst>
              <a:ext uri="{FF2B5EF4-FFF2-40B4-BE49-F238E27FC236}">
                <a16:creationId xmlns:a16="http://schemas.microsoft.com/office/drawing/2014/main" id="{E7FC9F24-FC6D-AE8F-CD3E-7AD4D8FC5A1A}"/>
              </a:ext>
            </a:extLst>
          </p:cNvPr>
          <p:cNvSpPr>
            <a:spLocks noGrp="1" noChangeArrowheads="1"/>
          </p:cNvSpPr>
          <p:nvPr>
            <p:ph type="body" idx="1"/>
          </p:nvPr>
        </p:nvSpPr>
        <p:spPr/>
        <p:txBody>
          <a:bodyPr/>
          <a:lstStyle/>
          <a:p>
            <a:pPr>
              <a:lnSpc>
                <a:spcPct val="90000"/>
              </a:lnSpc>
            </a:pPr>
            <a:endParaRPr lang="en-US" altLang="en-US">
              <a:latin typeface="Sgreek Fixed"/>
            </a:endParaRPr>
          </a:p>
          <a:p>
            <a:pPr>
              <a:lnSpc>
                <a:spcPct val="90000"/>
              </a:lnSpc>
            </a:pPr>
            <a:endParaRPr lang="en-US" altLang="en-US">
              <a:latin typeface="Sgreek Fixed"/>
            </a:endParaRPr>
          </a:p>
          <a:p>
            <a:pPr>
              <a:lnSpc>
                <a:spcPct val="90000"/>
              </a:lnSpc>
            </a:pPr>
            <a:endParaRPr lang="en-US" altLang="en-US">
              <a:latin typeface="Sgreek Fixed"/>
            </a:endParaRPr>
          </a:p>
          <a:p>
            <a:pPr>
              <a:lnSpc>
                <a:spcPct val="90000"/>
              </a:lnSpc>
            </a:pPr>
            <a:endParaRPr lang="en-US" altLang="en-US">
              <a:latin typeface="Sgreek Fixed"/>
            </a:endParaRPr>
          </a:p>
          <a:p>
            <a:pPr>
              <a:lnSpc>
                <a:spcPct val="90000"/>
              </a:lnSpc>
            </a:pPr>
            <a:endParaRPr lang="en-US" altLang="en-US">
              <a:latin typeface="Sgreek Fixed"/>
            </a:endParaRPr>
          </a:p>
          <a:p>
            <a:pPr>
              <a:lnSpc>
                <a:spcPct val="90000"/>
              </a:lnSpc>
            </a:pPr>
            <a:endParaRPr lang="en-US" altLang="en-US">
              <a:latin typeface="Sgreek Fixed"/>
            </a:endParaRPr>
          </a:p>
          <a:p>
            <a:pPr>
              <a:lnSpc>
                <a:spcPct val="90000"/>
              </a:lnSpc>
            </a:pPr>
            <a:r>
              <a:rPr lang="en-US" altLang="en-US">
                <a:latin typeface="Sgreek Fixed"/>
              </a:rPr>
              <a:t>W</a:t>
            </a:r>
            <a:r>
              <a:rPr lang="en-US" altLang="en-US"/>
              <a:t>=200 rads/sec</a:t>
            </a:r>
          </a:p>
          <a:p>
            <a:pPr>
              <a:lnSpc>
                <a:spcPct val="90000"/>
              </a:lnSpc>
            </a:pPr>
            <a:r>
              <a:rPr lang="en-US" altLang="en-US"/>
              <a:t>Upwind – unstable</a:t>
            </a:r>
          </a:p>
          <a:p>
            <a:pPr>
              <a:lnSpc>
                <a:spcPct val="90000"/>
              </a:lnSpc>
            </a:pPr>
            <a:r>
              <a:rPr lang="en-US" altLang="en-US"/>
              <a:t>Central – unstable</a:t>
            </a:r>
          </a:p>
          <a:p>
            <a:pPr>
              <a:lnSpc>
                <a:spcPct val="90000"/>
              </a:lnSpc>
            </a:pPr>
            <a:r>
              <a:rPr lang="en-US" altLang="en-US"/>
              <a:t>Lax-Wendroff – OK?</a:t>
            </a:r>
            <a:endParaRPr lang="en-US" altLang="en-US">
              <a:latin typeface="Sgreek Fixed"/>
            </a:endParaRPr>
          </a:p>
        </p:txBody>
      </p:sp>
      <p:grpSp>
        <p:nvGrpSpPr>
          <p:cNvPr id="23556" name="Group 4">
            <a:extLst>
              <a:ext uri="{FF2B5EF4-FFF2-40B4-BE49-F238E27FC236}">
                <a16:creationId xmlns:a16="http://schemas.microsoft.com/office/drawing/2014/main" id="{83A2759C-7B30-68F3-3842-9072DF3EC3F6}"/>
              </a:ext>
            </a:extLst>
          </p:cNvPr>
          <p:cNvGrpSpPr>
            <a:grpSpLocks/>
          </p:cNvGrpSpPr>
          <p:nvPr/>
        </p:nvGrpSpPr>
        <p:grpSpPr bwMode="auto">
          <a:xfrm>
            <a:off x="4083050" y="2906713"/>
            <a:ext cx="4714875" cy="2560637"/>
            <a:chOff x="937" y="1379"/>
            <a:chExt cx="2540" cy="1463"/>
          </a:xfrm>
        </p:grpSpPr>
        <p:pic>
          <p:nvPicPr>
            <p:cNvPr id="23557" name="Picture 5">
              <a:extLst>
                <a:ext uri="{FF2B5EF4-FFF2-40B4-BE49-F238E27FC236}">
                  <a16:creationId xmlns:a16="http://schemas.microsoft.com/office/drawing/2014/main" id="{8E924323-4452-B2AB-0DF5-FDA254E065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328" t="26228" r="2336" b="17575"/>
            <a:stretch>
              <a:fillRect/>
            </a:stretch>
          </p:blipFill>
          <p:spPr bwMode="auto">
            <a:xfrm>
              <a:off x="937" y="1478"/>
              <a:ext cx="2399" cy="1078"/>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3558" name="Line 6">
              <a:extLst>
                <a:ext uri="{FF2B5EF4-FFF2-40B4-BE49-F238E27FC236}">
                  <a16:creationId xmlns:a16="http://schemas.microsoft.com/office/drawing/2014/main" id="{129C3E88-6E98-6D31-3D5F-06C193D69E43}"/>
                </a:ext>
              </a:extLst>
            </p:cNvPr>
            <p:cNvSpPr>
              <a:spLocks noChangeShapeType="1"/>
            </p:cNvSpPr>
            <p:nvPr/>
          </p:nvSpPr>
          <p:spPr bwMode="auto">
            <a:xfrm flipV="1">
              <a:off x="2432" y="2236"/>
              <a:ext cx="0" cy="606"/>
            </a:xfrm>
            <a:prstGeom prst="line">
              <a:avLst/>
            </a:prstGeom>
            <a:noFill/>
            <a:ln w="381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559" name="Line 7">
              <a:extLst>
                <a:ext uri="{FF2B5EF4-FFF2-40B4-BE49-F238E27FC236}">
                  <a16:creationId xmlns:a16="http://schemas.microsoft.com/office/drawing/2014/main" id="{3DDA7553-52EA-8D71-B93B-4EEC6B49967F}"/>
                </a:ext>
              </a:extLst>
            </p:cNvPr>
            <p:cNvSpPr>
              <a:spLocks noChangeShapeType="1"/>
            </p:cNvSpPr>
            <p:nvPr/>
          </p:nvSpPr>
          <p:spPr bwMode="auto">
            <a:xfrm flipV="1">
              <a:off x="2121" y="1379"/>
              <a:ext cx="0" cy="659"/>
            </a:xfrm>
            <a:prstGeom prst="line">
              <a:avLst/>
            </a:prstGeom>
            <a:noFill/>
            <a:ln w="381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3560" name="Line 8">
              <a:extLst>
                <a:ext uri="{FF2B5EF4-FFF2-40B4-BE49-F238E27FC236}">
                  <a16:creationId xmlns:a16="http://schemas.microsoft.com/office/drawing/2014/main" id="{AC805931-CE07-C0E4-D7C1-6206F1646AEE}"/>
                </a:ext>
              </a:extLst>
            </p:cNvPr>
            <p:cNvSpPr>
              <a:spLocks noChangeShapeType="1"/>
            </p:cNvSpPr>
            <p:nvPr/>
          </p:nvSpPr>
          <p:spPr bwMode="auto">
            <a:xfrm flipV="1">
              <a:off x="2301" y="1743"/>
              <a:ext cx="1176" cy="886"/>
            </a:xfrm>
            <a:prstGeom prst="line">
              <a:avLst/>
            </a:prstGeom>
            <a:noFill/>
            <a:ln w="381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a:extLst>
              <a:ext uri="{FF2B5EF4-FFF2-40B4-BE49-F238E27FC236}">
                <a16:creationId xmlns:a16="http://schemas.microsoft.com/office/drawing/2014/main" id="{4A67BCCE-D920-25B7-EEE0-16510B2664D5}"/>
              </a:ext>
            </a:extLst>
          </p:cNvPr>
          <p:cNvSpPr>
            <a:spLocks noGrp="1" noChangeArrowheads="1"/>
          </p:cNvSpPr>
          <p:nvPr>
            <p:ph type="title"/>
          </p:nvPr>
        </p:nvSpPr>
        <p:spPr>
          <a:xfrm>
            <a:off x="530225" y="404813"/>
            <a:ext cx="4051300" cy="625475"/>
          </a:xfrm>
        </p:spPr>
        <p:txBody>
          <a:bodyPr/>
          <a:lstStyle/>
          <a:p>
            <a:pPr algn="l"/>
            <a:r>
              <a:rPr lang="en-GB" altLang="en-US" sz="3200"/>
              <a:t>Rotation results</a:t>
            </a:r>
          </a:p>
        </p:txBody>
      </p:sp>
      <p:grpSp>
        <p:nvGrpSpPr>
          <p:cNvPr id="24579" name="Group 26">
            <a:extLst>
              <a:ext uri="{FF2B5EF4-FFF2-40B4-BE49-F238E27FC236}">
                <a16:creationId xmlns:a16="http://schemas.microsoft.com/office/drawing/2014/main" id="{C0724BF7-789E-0CF8-80BC-EC0982D84F61}"/>
              </a:ext>
            </a:extLst>
          </p:cNvPr>
          <p:cNvGrpSpPr>
            <a:grpSpLocks/>
          </p:cNvGrpSpPr>
          <p:nvPr/>
        </p:nvGrpSpPr>
        <p:grpSpPr bwMode="auto">
          <a:xfrm>
            <a:off x="1725613" y="2509838"/>
            <a:ext cx="7324725" cy="4224337"/>
            <a:chOff x="980" y="1150"/>
            <a:chExt cx="9866" cy="6035"/>
          </a:xfrm>
        </p:grpSpPr>
        <p:grpSp>
          <p:nvGrpSpPr>
            <p:cNvPr id="24581" name="Group 27">
              <a:extLst>
                <a:ext uri="{FF2B5EF4-FFF2-40B4-BE49-F238E27FC236}">
                  <a16:creationId xmlns:a16="http://schemas.microsoft.com/office/drawing/2014/main" id="{10316E60-24EF-B724-8F1A-607EBC1E9197}"/>
                </a:ext>
              </a:extLst>
            </p:cNvPr>
            <p:cNvGrpSpPr>
              <a:grpSpLocks/>
            </p:cNvGrpSpPr>
            <p:nvPr/>
          </p:nvGrpSpPr>
          <p:grpSpPr bwMode="auto">
            <a:xfrm>
              <a:off x="3743" y="4207"/>
              <a:ext cx="5333" cy="2978"/>
              <a:chOff x="3233" y="7312"/>
              <a:chExt cx="5333" cy="2978"/>
            </a:xfrm>
          </p:grpSpPr>
          <p:pic>
            <p:nvPicPr>
              <p:cNvPr id="24588" name="Picture 28">
                <a:extLst>
                  <a:ext uri="{FF2B5EF4-FFF2-40B4-BE49-F238E27FC236}">
                    <a16:creationId xmlns:a16="http://schemas.microsoft.com/office/drawing/2014/main" id="{FDAD1B99-65B2-5746-23B4-1506F62D09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942" t="28339" r="5971" b="14333"/>
              <a:stretch>
                <a:fillRect/>
              </a:stretch>
            </p:blipFill>
            <p:spPr bwMode="auto">
              <a:xfrm>
                <a:off x="3233" y="7312"/>
                <a:ext cx="5108" cy="2773"/>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589" name="Line 29">
                <a:extLst>
                  <a:ext uri="{FF2B5EF4-FFF2-40B4-BE49-F238E27FC236}">
                    <a16:creationId xmlns:a16="http://schemas.microsoft.com/office/drawing/2014/main" id="{85737CD0-1176-1DD4-3B88-2F85C82F6989}"/>
                  </a:ext>
                </a:extLst>
              </p:cNvPr>
              <p:cNvSpPr>
                <a:spLocks noChangeShapeType="1"/>
              </p:cNvSpPr>
              <p:nvPr/>
            </p:nvSpPr>
            <p:spPr bwMode="auto">
              <a:xfrm flipV="1">
                <a:off x="6433" y="8247"/>
                <a:ext cx="2133" cy="2043"/>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24582" name="Group 30">
              <a:extLst>
                <a:ext uri="{FF2B5EF4-FFF2-40B4-BE49-F238E27FC236}">
                  <a16:creationId xmlns:a16="http://schemas.microsoft.com/office/drawing/2014/main" id="{64895B68-1A9E-8AE5-C932-10843224A556}"/>
                </a:ext>
              </a:extLst>
            </p:cNvPr>
            <p:cNvGrpSpPr>
              <a:grpSpLocks/>
            </p:cNvGrpSpPr>
            <p:nvPr/>
          </p:nvGrpSpPr>
          <p:grpSpPr bwMode="auto">
            <a:xfrm>
              <a:off x="980" y="1612"/>
              <a:ext cx="5006" cy="2565"/>
              <a:chOff x="3230" y="1537"/>
              <a:chExt cx="5006" cy="2565"/>
            </a:xfrm>
          </p:grpSpPr>
          <p:pic>
            <p:nvPicPr>
              <p:cNvPr id="24586" name="Picture 31">
                <a:extLst>
                  <a:ext uri="{FF2B5EF4-FFF2-40B4-BE49-F238E27FC236}">
                    <a16:creationId xmlns:a16="http://schemas.microsoft.com/office/drawing/2014/main" id="{B5D0D7A3-285A-DFFC-221D-C2680B19E4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428" t="30446" r="4587" b="14333"/>
              <a:stretch>
                <a:fillRect/>
              </a:stretch>
            </p:blipFill>
            <p:spPr bwMode="auto">
              <a:xfrm>
                <a:off x="3230" y="1537"/>
                <a:ext cx="5006" cy="2565"/>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587" name="Line 32">
                <a:extLst>
                  <a:ext uri="{FF2B5EF4-FFF2-40B4-BE49-F238E27FC236}">
                    <a16:creationId xmlns:a16="http://schemas.microsoft.com/office/drawing/2014/main" id="{178C50AD-1674-12BA-FC3F-C9C042CDEC61}"/>
                  </a:ext>
                </a:extLst>
              </p:cNvPr>
              <p:cNvSpPr>
                <a:spLocks noChangeShapeType="1"/>
              </p:cNvSpPr>
              <p:nvPr/>
            </p:nvSpPr>
            <p:spPr bwMode="auto">
              <a:xfrm>
                <a:off x="5703" y="1595"/>
                <a:ext cx="0" cy="695"/>
              </a:xfrm>
              <a:prstGeom prst="line">
                <a:avLst/>
              </a:prstGeom>
              <a:noFill/>
              <a:ln w="2857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grpSp>
        <p:grpSp>
          <p:nvGrpSpPr>
            <p:cNvPr id="24583" name="Group 33">
              <a:extLst>
                <a:ext uri="{FF2B5EF4-FFF2-40B4-BE49-F238E27FC236}">
                  <a16:creationId xmlns:a16="http://schemas.microsoft.com/office/drawing/2014/main" id="{FEB940CE-A3C5-EAD3-22F0-2AD30E0BCC56}"/>
                </a:ext>
              </a:extLst>
            </p:cNvPr>
            <p:cNvGrpSpPr>
              <a:grpSpLocks/>
            </p:cNvGrpSpPr>
            <p:nvPr/>
          </p:nvGrpSpPr>
          <p:grpSpPr bwMode="auto">
            <a:xfrm>
              <a:off x="5905" y="1150"/>
              <a:ext cx="4941" cy="3235"/>
              <a:chOff x="3235" y="4225"/>
              <a:chExt cx="4941" cy="3235"/>
            </a:xfrm>
          </p:grpSpPr>
          <p:pic>
            <p:nvPicPr>
              <p:cNvPr id="24584" name="Picture 34">
                <a:extLst>
                  <a:ext uri="{FF2B5EF4-FFF2-40B4-BE49-F238E27FC236}">
                    <a16:creationId xmlns:a16="http://schemas.microsoft.com/office/drawing/2014/main" id="{5A7EB840-9A05-0E43-C191-FD0162DDFA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9174" t="23466" r="9529" b="17471"/>
              <a:stretch>
                <a:fillRect/>
              </a:stretch>
            </p:blipFill>
            <p:spPr bwMode="auto">
              <a:xfrm>
                <a:off x="3235" y="4225"/>
                <a:ext cx="4941" cy="303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4585" name="Line 35">
                <a:extLst>
                  <a:ext uri="{FF2B5EF4-FFF2-40B4-BE49-F238E27FC236}">
                    <a16:creationId xmlns:a16="http://schemas.microsoft.com/office/drawing/2014/main" id="{3E0CFA9E-BC9C-14C8-B75B-4D2BBBFBD1BA}"/>
                  </a:ext>
                </a:extLst>
              </p:cNvPr>
              <p:cNvSpPr>
                <a:spLocks noChangeShapeType="1"/>
              </p:cNvSpPr>
              <p:nvPr/>
            </p:nvSpPr>
            <p:spPr bwMode="auto">
              <a:xfrm>
                <a:off x="6498" y="6475"/>
                <a:ext cx="0" cy="985"/>
              </a:xfrm>
              <a:prstGeom prst="line">
                <a:avLst/>
              </a:prstGeom>
              <a:noFill/>
              <a:ln w="2857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grpSp>
      </p:grpSp>
      <p:sp>
        <p:nvSpPr>
          <p:cNvPr id="24580" name="Text Box 36">
            <a:extLst>
              <a:ext uri="{FF2B5EF4-FFF2-40B4-BE49-F238E27FC236}">
                <a16:creationId xmlns:a16="http://schemas.microsoft.com/office/drawing/2014/main" id="{F1884BB6-8F49-88D6-33A4-B05F64355310}"/>
              </a:ext>
            </a:extLst>
          </p:cNvPr>
          <p:cNvSpPr txBox="1">
            <a:spLocks noChangeArrowheads="1"/>
          </p:cNvSpPr>
          <p:nvPr/>
        </p:nvSpPr>
        <p:spPr bwMode="auto">
          <a:xfrm>
            <a:off x="169863" y="5303838"/>
            <a:ext cx="3776662" cy="84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a:latin typeface="Arial" panose="020B0604020202020204" pitchFamily="34" charset="0"/>
              </a:rPr>
              <a:t>Film heights are</a:t>
            </a:r>
          </a:p>
          <a:p>
            <a:r>
              <a:rPr lang="en-GB" altLang="en-US">
                <a:latin typeface="Arial" panose="020B0604020202020204" pitchFamily="34" charset="0"/>
              </a:rPr>
              <a:t>	~15-20 </a:t>
            </a:r>
            <a:r>
              <a:rPr lang="en-GB" altLang="en-US">
                <a:latin typeface="Arial" panose="020B0604020202020204" pitchFamily="34" charset="0"/>
                <a:sym typeface="Math1"/>
              </a:rPr>
              <a:t>microns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84549920-7B71-8B7A-1DD3-E47862FF6508}"/>
              </a:ext>
            </a:extLst>
          </p:cNvPr>
          <p:cNvSpPr>
            <a:spLocks noGrp="1" noChangeArrowheads="1"/>
          </p:cNvSpPr>
          <p:nvPr>
            <p:ph type="title"/>
          </p:nvPr>
        </p:nvSpPr>
        <p:spPr>
          <a:xfrm>
            <a:off x="379413" y="671513"/>
            <a:ext cx="9932987" cy="1044575"/>
          </a:xfrm>
        </p:spPr>
        <p:txBody>
          <a:bodyPr/>
          <a:lstStyle/>
          <a:p>
            <a:pPr algn="l"/>
            <a:r>
              <a:rPr lang="en-US" altLang="en-US" sz="4600"/>
              <a:t>Error estimation: dual discretisation</a:t>
            </a:r>
            <a:endParaRPr lang="en-GB" altLang="en-US" sz="4600"/>
          </a:p>
        </p:txBody>
      </p:sp>
      <p:sp>
        <p:nvSpPr>
          <p:cNvPr id="25603" name="Rectangle 3">
            <a:extLst>
              <a:ext uri="{FF2B5EF4-FFF2-40B4-BE49-F238E27FC236}">
                <a16:creationId xmlns:a16="http://schemas.microsoft.com/office/drawing/2014/main" id="{FBB2EA6F-8113-F327-C0F5-7A3A2B265AF4}"/>
              </a:ext>
            </a:extLst>
          </p:cNvPr>
          <p:cNvSpPr>
            <a:spLocks noGrp="1" noChangeArrowheads="1"/>
          </p:cNvSpPr>
          <p:nvPr>
            <p:ph type="body" idx="1"/>
          </p:nvPr>
        </p:nvSpPr>
        <p:spPr>
          <a:xfrm>
            <a:off x="215900" y="2184400"/>
            <a:ext cx="5386388" cy="4535488"/>
          </a:xfrm>
        </p:spPr>
        <p:txBody>
          <a:bodyPr/>
          <a:lstStyle/>
          <a:p>
            <a:pPr>
              <a:defRPr/>
            </a:pPr>
            <a:r>
              <a:rPr lang="en-US" dirty="0"/>
              <a:t>Numerical schemes:</a:t>
            </a:r>
          </a:p>
          <a:p>
            <a:pPr lvl="1">
              <a:defRPr/>
            </a:pPr>
            <a:r>
              <a:rPr lang="en-US" dirty="0"/>
              <a:t>Lax-</a:t>
            </a:r>
            <a:r>
              <a:rPr lang="en-US" dirty="0" err="1"/>
              <a:t>Wendroff</a:t>
            </a:r>
            <a:r>
              <a:rPr lang="en-US" dirty="0"/>
              <a:t> + Flux limiter		O(h</a:t>
            </a:r>
            <a:r>
              <a:rPr lang="en-US" baseline="30000" dirty="0"/>
              <a:t>2</a:t>
            </a:r>
            <a:r>
              <a:rPr lang="en-US" dirty="0"/>
              <a:t>)</a:t>
            </a:r>
          </a:p>
          <a:p>
            <a:pPr lvl="1">
              <a:defRPr/>
            </a:pPr>
            <a:r>
              <a:rPr lang="en-US" dirty="0"/>
              <a:t>Upwind 	O(h) </a:t>
            </a:r>
          </a:p>
          <a:p>
            <a:pPr lvl="1">
              <a:defRPr/>
            </a:pPr>
            <a:r>
              <a:rPr lang="en-US" dirty="0"/>
              <a:t>Error estimator based on dual </a:t>
            </a:r>
            <a:r>
              <a:rPr lang="en-US" dirty="0" err="1"/>
              <a:t>discretisation</a:t>
            </a:r>
            <a:endParaRPr lang="en-US" dirty="0"/>
          </a:p>
          <a:p>
            <a:pPr lvl="1">
              <a:defRPr/>
            </a:pPr>
            <a:r>
              <a:rPr lang="en-US" dirty="0"/>
              <a:t>Detects advancing </a:t>
            </a:r>
          </a:p>
          <a:p>
            <a:pPr marL="457200" lvl="1" indent="0">
              <a:buFont typeface="Wingdings" pitchFamily="2" charset="2"/>
              <a:buNone/>
              <a:defRPr/>
            </a:pPr>
            <a:r>
              <a:rPr lang="en-US" dirty="0"/>
              <a:t>				fronts</a:t>
            </a:r>
            <a:endParaRPr lang="en-GB" dirty="0"/>
          </a:p>
        </p:txBody>
      </p:sp>
      <p:pic>
        <p:nvPicPr>
          <p:cNvPr id="100356" name="Picture 4" descr="error">
            <a:extLst>
              <a:ext uri="{FF2B5EF4-FFF2-40B4-BE49-F238E27FC236}">
                <a16:creationId xmlns:a16="http://schemas.microsoft.com/office/drawing/2014/main" id="{53D07B50-18A0-184E-B6F2-8FC25FA7D6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4844257" y="2112169"/>
            <a:ext cx="3517900" cy="62182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0356"/>
                                        </p:tgtEl>
                                        <p:attrNameLst>
                                          <p:attrName>style.visibility</p:attrName>
                                        </p:attrNameLst>
                                      </p:cBhvr>
                                      <p:to>
                                        <p:strVal val="visible"/>
                                      </p:to>
                                    </p:set>
                                    <p:anim calcmode="lin" valueType="num">
                                      <p:cBhvr additive="base">
                                        <p:cTn id="7" dur="500" fill="hold"/>
                                        <p:tgtEl>
                                          <p:spTgt spid="100356"/>
                                        </p:tgtEl>
                                        <p:attrNameLst>
                                          <p:attrName>ppt_x</p:attrName>
                                        </p:attrNameLst>
                                      </p:cBhvr>
                                      <p:tavLst>
                                        <p:tav tm="0">
                                          <p:val>
                                            <p:strVal val="#ppt_x"/>
                                          </p:val>
                                        </p:tav>
                                        <p:tav tm="100000">
                                          <p:val>
                                            <p:strVal val="#ppt_x"/>
                                          </p:val>
                                        </p:tav>
                                      </p:tavLst>
                                    </p:anim>
                                    <p:anim calcmode="lin" valueType="num">
                                      <p:cBhvr additive="base">
                                        <p:cTn id="8" dur="500" fill="hold"/>
                                        <p:tgtEl>
                                          <p:spTgt spid="1003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grid1">
            <a:extLst>
              <a:ext uri="{FF2B5EF4-FFF2-40B4-BE49-F238E27FC236}">
                <a16:creationId xmlns:a16="http://schemas.microsoft.com/office/drawing/2014/main" id="{FD6B4924-D6A2-62D4-4C38-116EDC865B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775" y="1579563"/>
            <a:ext cx="5743575" cy="533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1" name="Picture 3" descr="grid2">
            <a:extLst>
              <a:ext uri="{FF2B5EF4-FFF2-40B4-BE49-F238E27FC236}">
                <a16:creationId xmlns:a16="http://schemas.microsoft.com/office/drawing/2014/main" id="{CB1A4092-5A02-3DE8-229F-320AAB65B6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825" y="1579563"/>
            <a:ext cx="5808663" cy="542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2" name="Picture 4" descr="grid3">
            <a:extLst>
              <a:ext uri="{FF2B5EF4-FFF2-40B4-BE49-F238E27FC236}">
                <a16:creationId xmlns:a16="http://schemas.microsoft.com/office/drawing/2014/main" id="{09AF19A5-FAE7-6701-5D93-B8E27578C4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775" y="1579563"/>
            <a:ext cx="5827713" cy="541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3" name="Picture 5" descr="grid4">
            <a:extLst>
              <a:ext uri="{FF2B5EF4-FFF2-40B4-BE49-F238E27FC236}">
                <a16:creationId xmlns:a16="http://schemas.microsoft.com/office/drawing/2014/main" id="{C8693CA8-8221-B337-5E75-418644B8D1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775" y="1579563"/>
            <a:ext cx="5743575" cy="533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4" name="Picture 6" descr="grid5">
            <a:extLst>
              <a:ext uri="{FF2B5EF4-FFF2-40B4-BE49-F238E27FC236}">
                <a16:creationId xmlns:a16="http://schemas.microsoft.com/office/drawing/2014/main" id="{4F728AAE-9741-0DD3-4C02-609E1049030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4925" y="1579563"/>
            <a:ext cx="5724525" cy="532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1" name="Rectangle 7">
            <a:extLst>
              <a:ext uri="{FF2B5EF4-FFF2-40B4-BE49-F238E27FC236}">
                <a16:creationId xmlns:a16="http://schemas.microsoft.com/office/drawing/2014/main" id="{8A740573-D626-0946-4A63-73220D115B5E}"/>
              </a:ext>
            </a:extLst>
          </p:cNvPr>
          <p:cNvSpPr>
            <a:spLocks noGrp="1" noChangeArrowheads="1"/>
          </p:cNvSpPr>
          <p:nvPr>
            <p:ph type="title"/>
          </p:nvPr>
        </p:nvSpPr>
        <p:spPr>
          <a:xfrm>
            <a:off x="306388" y="358775"/>
            <a:ext cx="8140700" cy="1350963"/>
          </a:xfrm>
        </p:spPr>
        <p:txBody>
          <a:bodyPr/>
          <a:lstStyle/>
          <a:p>
            <a:pPr algn="l"/>
            <a:r>
              <a:rPr lang="en-GB" altLang="en-US" sz="4000"/>
              <a:t>Refined Grid </a:t>
            </a:r>
            <a:br>
              <a:rPr lang="en-GB" altLang="en-US" sz="4000"/>
            </a:br>
            <a:r>
              <a:rPr lang="en-GB" altLang="en-US" sz="4000"/>
              <a:t>	Advancing with Front</a:t>
            </a:r>
          </a:p>
        </p:txBody>
      </p:sp>
      <p:sp>
        <p:nvSpPr>
          <p:cNvPr id="26632" name="Line 8">
            <a:extLst>
              <a:ext uri="{FF2B5EF4-FFF2-40B4-BE49-F238E27FC236}">
                <a16:creationId xmlns:a16="http://schemas.microsoft.com/office/drawing/2014/main" id="{724356DE-C044-5AFE-87FD-ADFEC23FB25A}"/>
              </a:ext>
            </a:extLst>
          </p:cNvPr>
          <p:cNvSpPr>
            <a:spLocks noChangeShapeType="1"/>
          </p:cNvSpPr>
          <p:nvPr/>
        </p:nvSpPr>
        <p:spPr bwMode="auto">
          <a:xfrm flipV="1">
            <a:off x="4376738" y="6557963"/>
            <a:ext cx="1938337" cy="31750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4451"/>
                                        </p:tgtEl>
                                        <p:attrNameLst>
                                          <p:attrName>style.visibility</p:attrName>
                                        </p:attrNameLst>
                                      </p:cBhvr>
                                      <p:to>
                                        <p:strVal val="visible"/>
                                      </p:to>
                                    </p:set>
                                    <p:anim calcmode="lin" valueType="num">
                                      <p:cBhvr additive="base">
                                        <p:cTn id="7" dur="1000" fill="hold"/>
                                        <p:tgtEl>
                                          <p:spTgt spid="104451"/>
                                        </p:tgtEl>
                                        <p:attrNameLst>
                                          <p:attrName>ppt_x</p:attrName>
                                        </p:attrNameLst>
                                      </p:cBhvr>
                                      <p:tavLst>
                                        <p:tav tm="0">
                                          <p:val>
                                            <p:strVal val="#ppt_x"/>
                                          </p:val>
                                        </p:tav>
                                        <p:tav tm="100000">
                                          <p:val>
                                            <p:strVal val="#ppt_x"/>
                                          </p:val>
                                        </p:tav>
                                      </p:tavLst>
                                    </p:anim>
                                    <p:anim calcmode="lin" valueType="num">
                                      <p:cBhvr additive="base">
                                        <p:cTn id="8" dur="1000" fill="hold"/>
                                        <p:tgtEl>
                                          <p:spTgt spid="104451"/>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1000"/>
                            </p:stCondLst>
                            <p:childTnLst>
                              <p:par>
                                <p:cTn id="10" presetID="2" presetClass="entr" presetSubtype="4" fill="hold" nodeType="afterEffect">
                                  <p:stCondLst>
                                    <p:cond delay="0"/>
                                  </p:stCondLst>
                                  <p:childTnLst>
                                    <p:set>
                                      <p:cBhvr>
                                        <p:cTn id="11" dur="1" fill="hold">
                                          <p:stCondLst>
                                            <p:cond delay="0"/>
                                          </p:stCondLst>
                                        </p:cTn>
                                        <p:tgtEl>
                                          <p:spTgt spid="104452"/>
                                        </p:tgtEl>
                                        <p:attrNameLst>
                                          <p:attrName>style.visibility</p:attrName>
                                        </p:attrNameLst>
                                      </p:cBhvr>
                                      <p:to>
                                        <p:strVal val="visible"/>
                                      </p:to>
                                    </p:set>
                                    <p:anim calcmode="lin" valueType="num">
                                      <p:cBhvr additive="base">
                                        <p:cTn id="12" dur="1000" fill="hold"/>
                                        <p:tgtEl>
                                          <p:spTgt spid="104452"/>
                                        </p:tgtEl>
                                        <p:attrNameLst>
                                          <p:attrName>ppt_x</p:attrName>
                                        </p:attrNameLst>
                                      </p:cBhvr>
                                      <p:tavLst>
                                        <p:tav tm="0">
                                          <p:val>
                                            <p:strVal val="#ppt_x"/>
                                          </p:val>
                                        </p:tav>
                                        <p:tav tm="100000">
                                          <p:val>
                                            <p:strVal val="#ppt_x"/>
                                          </p:val>
                                        </p:tav>
                                      </p:tavLst>
                                    </p:anim>
                                    <p:anim calcmode="lin" valueType="num">
                                      <p:cBhvr additive="base">
                                        <p:cTn id="13" dur="1000" fill="hold"/>
                                        <p:tgtEl>
                                          <p:spTgt spid="104452"/>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2000"/>
                            </p:stCondLst>
                            <p:childTnLst>
                              <p:par>
                                <p:cTn id="15" presetID="2" presetClass="entr" presetSubtype="4" fill="hold" nodeType="afterEffect">
                                  <p:stCondLst>
                                    <p:cond delay="0"/>
                                  </p:stCondLst>
                                  <p:childTnLst>
                                    <p:set>
                                      <p:cBhvr>
                                        <p:cTn id="16" dur="1" fill="hold">
                                          <p:stCondLst>
                                            <p:cond delay="0"/>
                                          </p:stCondLst>
                                        </p:cTn>
                                        <p:tgtEl>
                                          <p:spTgt spid="104453"/>
                                        </p:tgtEl>
                                        <p:attrNameLst>
                                          <p:attrName>style.visibility</p:attrName>
                                        </p:attrNameLst>
                                      </p:cBhvr>
                                      <p:to>
                                        <p:strVal val="visible"/>
                                      </p:to>
                                    </p:set>
                                    <p:anim calcmode="lin" valueType="num">
                                      <p:cBhvr additive="base">
                                        <p:cTn id="17" dur="1000" fill="hold"/>
                                        <p:tgtEl>
                                          <p:spTgt spid="104453"/>
                                        </p:tgtEl>
                                        <p:attrNameLst>
                                          <p:attrName>ppt_x</p:attrName>
                                        </p:attrNameLst>
                                      </p:cBhvr>
                                      <p:tavLst>
                                        <p:tav tm="0">
                                          <p:val>
                                            <p:strVal val="#ppt_x"/>
                                          </p:val>
                                        </p:tav>
                                        <p:tav tm="100000">
                                          <p:val>
                                            <p:strVal val="#ppt_x"/>
                                          </p:val>
                                        </p:tav>
                                      </p:tavLst>
                                    </p:anim>
                                    <p:anim calcmode="lin" valueType="num">
                                      <p:cBhvr additive="base">
                                        <p:cTn id="18" dur="1000" fill="hold"/>
                                        <p:tgtEl>
                                          <p:spTgt spid="104453"/>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3000"/>
                            </p:stCondLst>
                            <p:childTnLst>
                              <p:par>
                                <p:cTn id="20" presetID="2" presetClass="entr" presetSubtype="4" fill="hold" nodeType="afterEffect">
                                  <p:stCondLst>
                                    <p:cond delay="0"/>
                                  </p:stCondLst>
                                  <p:childTnLst>
                                    <p:set>
                                      <p:cBhvr>
                                        <p:cTn id="21" dur="1" fill="hold">
                                          <p:stCondLst>
                                            <p:cond delay="0"/>
                                          </p:stCondLst>
                                        </p:cTn>
                                        <p:tgtEl>
                                          <p:spTgt spid="104454"/>
                                        </p:tgtEl>
                                        <p:attrNameLst>
                                          <p:attrName>style.visibility</p:attrName>
                                        </p:attrNameLst>
                                      </p:cBhvr>
                                      <p:to>
                                        <p:strVal val="visible"/>
                                      </p:to>
                                    </p:set>
                                    <p:anim calcmode="lin" valueType="num">
                                      <p:cBhvr additive="base">
                                        <p:cTn id="22" dur="1000" fill="hold"/>
                                        <p:tgtEl>
                                          <p:spTgt spid="104454"/>
                                        </p:tgtEl>
                                        <p:attrNameLst>
                                          <p:attrName>ppt_x</p:attrName>
                                        </p:attrNameLst>
                                      </p:cBhvr>
                                      <p:tavLst>
                                        <p:tav tm="0">
                                          <p:val>
                                            <p:strVal val="#ppt_x"/>
                                          </p:val>
                                        </p:tav>
                                        <p:tav tm="100000">
                                          <p:val>
                                            <p:strVal val="#ppt_x"/>
                                          </p:val>
                                        </p:tav>
                                      </p:tavLst>
                                    </p:anim>
                                    <p:anim calcmode="lin" valueType="num">
                                      <p:cBhvr additive="base">
                                        <p:cTn id="23" dur="1000" fill="hold"/>
                                        <p:tgtEl>
                                          <p:spTgt spid="1044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A75E5DE-7C27-F3B2-C9AB-994F1A30BFB6}"/>
              </a:ext>
            </a:extLst>
          </p:cNvPr>
          <p:cNvSpPr>
            <a:spLocks noGrp="1" noChangeArrowheads="1"/>
          </p:cNvSpPr>
          <p:nvPr>
            <p:ph type="title"/>
          </p:nvPr>
        </p:nvSpPr>
        <p:spPr>
          <a:xfrm>
            <a:off x="169863" y="404813"/>
            <a:ext cx="8140700" cy="625475"/>
          </a:xfrm>
        </p:spPr>
        <p:txBody>
          <a:bodyPr/>
          <a:lstStyle/>
          <a:p>
            <a:pPr algn="l"/>
            <a:r>
              <a:rPr lang="en-GB" altLang="en-US"/>
              <a:t>Smart inter-grid interpolation scheme</a:t>
            </a:r>
          </a:p>
        </p:txBody>
      </p:sp>
      <p:pic>
        <p:nvPicPr>
          <p:cNvPr id="27651" name="Picture 3" descr="comparison_at_180c">
            <a:extLst>
              <a:ext uri="{FF2B5EF4-FFF2-40B4-BE49-F238E27FC236}">
                <a16:creationId xmlns:a16="http://schemas.microsoft.com/office/drawing/2014/main" id="{824B6254-8937-6A98-3734-AFDDD29B37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1068388" y="638175"/>
            <a:ext cx="4146550" cy="628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0" name="Picture 4" descr="derefinedvsrefined2">
            <a:extLst>
              <a:ext uri="{FF2B5EF4-FFF2-40B4-BE49-F238E27FC236}">
                <a16:creationId xmlns:a16="http://schemas.microsoft.com/office/drawing/2014/main" id="{ACC1B20F-74C8-5334-CF52-6508D0C642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5257801" y="1482725"/>
            <a:ext cx="4248150" cy="6619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6500"/>
                                        </p:tgtEl>
                                        <p:attrNameLst>
                                          <p:attrName>style.visibility</p:attrName>
                                        </p:attrNameLst>
                                      </p:cBhvr>
                                      <p:to>
                                        <p:strVal val="visible"/>
                                      </p:to>
                                    </p:set>
                                    <p:anim calcmode="lin" valueType="num">
                                      <p:cBhvr additive="base">
                                        <p:cTn id="7" dur="500" fill="hold"/>
                                        <p:tgtEl>
                                          <p:spTgt spid="106500"/>
                                        </p:tgtEl>
                                        <p:attrNameLst>
                                          <p:attrName>ppt_x</p:attrName>
                                        </p:attrNameLst>
                                      </p:cBhvr>
                                      <p:tavLst>
                                        <p:tav tm="0">
                                          <p:val>
                                            <p:strVal val="#ppt_x"/>
                                          </p:val>
                                        </p:tav>
                                        <p:tav tm="100000">
                                          <p:val>
                                            <p:strVal val="#ppt_x"/>
                                          </p:val>
                                        </p:tav>
                                      </p:tavLst>
                                    </p:anim>
                                    <p:anim calcmode="lin" valueType="num">
                                      <p:cBhvr additive="base">
                                        <p:cTn id="8" dur="500" fill="hold"/>
                                        <p:tgtEl>
                                          <p:spTgt spid="1065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14C39DB2-FE10-8CDC-FDF7-93CB7A24C6AB}"/>
              </a:ext>
            </a:extLst>
          </p:cNvPr>
          <p:cNvSpPr>
            <a:spLocks noGrp="1" noChangeArrowheads="1"/>
          </p:cNvSpPr>
          <p:nvPr>
            <p:ph type="title"/>
          </p:nvPr>
        </p:nvSpPr>
        <p:spPr/>
        <p:txBody>
          <a:bodyPr/>
          <a:lstStyle/>
          <a:p>
            <a:pPr algn="l"/>
            <a:r>
              <a:rPr lang="en-GB" altLang="en-US"/>
              <a:t>Coarse/fine/adapted solutions</a:t>
            </a:r>
          </a:p>
        </p:txBody>
      </p:sp>
      <p:pic>
        <p:nvPicPr>
          <p:cNvPr id="28675" name="Picture 3" descr="solutionsat_400c">
            <a:extLst>
              <a:ext uri="{FF2B5EF4-FFF2-40B4-BE49-F238E27FC236}">
                <a16:creationId xmlns:a16="http://schemas.microsoft.com/office/drawing/2014/main" id="{B5CA0921-7B1F-EB37-41FB-C2EA1D4224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4540250" y="12700"/>
            <a:ext cx="4264025" cy="753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524" name="Picture 4" descr="solutionsat_400czoom">
            <a:extLst>
              <a:ext uri="{FF2B5EF4-FFF2-40B4-BE49-F238E27FC236}">
                <a16:creationId xmlns:a16="http://schemas.microsoft.com/office/drawing/2014/main" id="{96FFC9C2-D36B-CC36-B25B-5841FDDD9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1315244" y="1721644"/>
            <a:ext cx="4291012" cy="6502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7524"/>
                                        </p:tgtEl>
                                        <p:attrNameLst>
                                          <p:attrName>style.visibility</p:attrName>
                                        </p:attrNameLst>
                                      </p:cBhvr>
                                      <p:to>
                                        <p:strVal val="visible"/>
                                      </p:to>
                                    </p:set>
                                    <p:anim calcmode="lin" valueType="num">
                                      <p:cBhvr additive="base">
                                        <p:cTn id="7" dur="500" fill="hold"/>
                                        <p:tgtEl>
                                          <p:spTgt spid="107524"/>
                                        </p:tgtEl>
                                        <p:attrNameLst>
                                          <p:attrName>ppt_x</p:attrName>
                                        </p:attrNameLst>
                                      </p:cBhvr>
                                      <p:tavLst>
                                        <p:tav tm="0">
                                          <p:val>
                                            <p:strVal val="#ppt_x"/>
                                          </p:val>
                                        </p:tav>
                                        <p:tav tm="100000">
                                          <p:val>
                                            <p:strVal val="#ppt_x"/>
                                          </p:val>
                                        </p:tav>
                                      </p:tavLst>
                                    </p:anim>
                                    <p:anim calcmode="lin" valueType="num">
                                      <p:cBhvr additive="base">
                                        <p:cTn id="8" dur="500" fill="hold"/>
                                        <p:tgtEl>
                                          <p:spTgt spid="1075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2">
            <a:extLst>
              <a:ext uri="{FF2B5EF4-FFF2-40B4-BE49-F238E27FC236}">
                <a16:creationId xmlns:a16="http://schemas.microsoft.com/office/drawing/2014/main" id="{11EB4F89-B0D8-8522-0F17-CABC1BAEA5C4}"/>
              </a:ext>
            </a:extLst>
          </p:cNvPr>
          <p:cNvGrpSpPr>
            <a:grpSpLocks noChangeAspect="1"/>
          </p:cNvGrpSpPr>
          <p:nvPr/>
        </p:nvGrpSpPr>
        <p:grpSpPr bwMode="auto">
          <a:xfrm>
            <a:off x="357188" y="1008063"/>
            <a:ext cx="9948862" cy="5235575"/>
            <a:chOff x="1800" y="5856"/>
            <a:chExt cx="9801" cy="5469"/>
          </a:xfrm>
        </p:grpSpPr>
        <p:sp>
          <p:nvSpPr>
            <p:cNvPr id="29699" name="AutoShape 3">
              <a:extLst>
                <a:ext uri="{FF2B5EF4-FFF2-40B4-BE49-F238E27FC236}">
                  <a16:creationId xmlns:a16="http://schemas.microsoft.com/office/drawing/2014/main" id="{A9BD82E4-4921-B3FF-C264-62C43492629A}"/>
                </a:ext>
              </a:extLst>
            </p:cNvPr>
            <p:cNvSpPr>
              <a:spLocks noChangeAspect="1" noChangeArrowheads="1"/>
            </p:cNvSpPr>
            <p:nvPr/>
          </p:nvSpPr>
          <p:spPr bwMode="auto">
            <a:xfrm>
              <a:off x="1800" y="5856"/>
              <a:ext cx="9801" cy="5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29700" name="Text Box 4">
              <a:extLst>
                <a:ext uri="{FF2B5EF4-FFF2-40B4-BE49-F238E27FC236}">
                  <a16:creationId xmlns:a16="http://schemas.microsoft.com/office/drawing/2014/main" id="{6E638C52-DDB4-3BC1-ABD8-D8BF87159510}"/>
                </a:ext>
              </a:extLst>
            </p:cNvPr>
            <p:cNvSpPr txBox="1">
              <a:spLocks noChangeArrowheads="1"/>
            </p:cNvSpPr>
            <p:nvPr/>
          </p:nvSpPr>
          <p:spPr bwMode="auto">
            <a:xfrm>
              <a:off x="2700" y="6756"/>
              <a:ext cx="1825" cy="457"/>
            </a:xfrm>
            <a:prstGeom prst="rect">
              <a:avLst/>
            </a:prstGeom>
            <a:solidFill>
              <a:srgbClr val="FFFFFF"/>
            </a:solidFill>
            <a:ln w="9525">
              <a:solidFill>
                <a:srgbClr val="000000"/>
              </a:solidFill>
              <a:miter lim="800000"/>
              <a:headEnd/>
              <a:tailEnd/>
            </a:ln>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Arial" panose="020B0604020202020204" pitchFamily="34" charset="0"/>
                </a:rPr>
                <a:t>Base Grid </a:t>
              </a:r>
              <a:r>
                <a:rPr lang="en-GB" altLang="en-US" sz="1400">
                  <a:latin typeface="French Script MT" panose="03020402040607040605" pitchFamily="66" charset="77"/>
                </a:rPr>
                <a:t>B</a:t>
              </a:r>
              <a:endParaRPr lang="en-US" altLang="en-US"/>
            </a:p>
          </p:txBody>
        </p:sp>
        <p:sp>
          <p:nvSpPr>
            <p:cNvPr id="29701" name="Text Box 5">
              <a:extLst>
                <a:ext uri="{FF2B5EF4-FFF2-40B4-BE49-F238E27FC236}">
                  <a16:creationId xmlns:a16="http://schemas.microsoft.com/office/drawing/2014/main" id="{FF5FC076-A851-125B-3DC4-3BCE52C06FB0}"/>
                </a:ext>
              </a:extLst>
            </p:cNvPr>
            <p:cNvSpPr txBox="1">
              <a:spLocks noChangeArrowheads="1"/>
            </p:cNvSpPr>
            <p:nvPr/>
          </p:nvSpPr>
          <p:spPr bwMode="auto">
            <a:xfrm>
              <a:off x="2700" y="8916"/>
              <a:ext cx="1369" cy="913"/>
            </a:xfrm>
            <a:prstGeom prst="rect">
              <a:avLst/>
            </a:prstGeom>
            <a:solidFill>
              <a:srgbClr val="FFFFFF"/>
            </a:solidFill>
            <a:ln w="9525">
              <a:solidFill>
                <a:srgbClr val="000000"/>
              </a:solidFill>
              <a:miter lim="800000"/>
              <a:headEnd/>
              <a:tailEnd/>
            </a:ln>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Arial" panose="020B0604020202020204" pitchFamily="34" charset="0"/>
                </a:rPr>
                <a:t>Current (Refined) Grid </a:t>
              </a:r>
              <a:r>
                <a:rPr lang="en-GB" altLang="en-US" sz="1400">
                  <a:latin typeface="French Script MT" panose="03020402040607040605" pitchFamily="66" charset="77"/>
                </a:rPr>
                <a:t>G</a:t>
              </a:r>
              <a:r>
                <a:rPr lang="en-GB" altLang="en-US" sz="1400" baseline="-25000">
                  <a:latin typeface="Arial" panose="020B0604020202020204" pitchFamily="34" charset="0"/>
                </a:rPr>
                <a:t>N</a:t>
              </a:r>
              <a:endParaRPr lang="en-US" altLang="en-US"/>
            </a:p>
          </p:txBody>
        </p:sp>
        <p:cxnSp>
          <p:nvCxnSpPr>
            <p:cNvPr id="29702" name="AutoShape 6">
              <a:extLst>
                <a:ext uri="{FF2B5EF4-FFF2-40B4-BE49-F238E27FC236}">
                  <a16:creationId xmlns:a16="http://schemas.microsoft.com/office/drawing/2014/main" id="{CA3B5922-F719-B27C-AEFA-48DD655CEA96}"/>
                </a:ext>
              </a:extLst>
            </p:cNvPr>
            <p:cNvCxnSpPr>
              <a:cxnSpLocks noChangeShapeType="1"/>
              <a:stCxn id="29701" idx="0"/>
              <a:endCxn id="29700" idx="2"/>
            </p:cNvCxnSpPr>
            <p:nvPr/>
          </p:nvCxnSpPr>
          <p:spPr bwMode="auto">
            <a:xfrm rot="-5400000">
              <a:off x="2647" y="7951"/>
              <a:ext cx="1703" cy="228"/>
            </a:xfrm>
            <a:prstGeom prst="bentConnector3">
              <a:avLst>
                <a:gd name="adj1" fmla="val 50028"/>
              </a:avLst>
            </a:prstGeom>
            <a:noFill/>
            <a:ln w="9525">
              <a:solidFill>
                <a:srgbClr val="000000"/>
              </a:solidFill>
              <a:miter lim="800000"/>
              <a:headEnd/>
              <a:tailEnd type="triangle" w="lg" len="lg"/>
            </a:ln>
            <a:extLst>
              <a:ext uri="{909E8E84-426E-40DD-AFC4-6F175D3DCCD1}">
                <a14:hiddenFill xmlns:a14="http://schemas.microsoft.com/office/drawing/2010/main">
                  <a:noFill/>
                </a14:hiddenFill>
              </a:ext>
            </a:extLst>
          </p:spPr>
        </p:cxnSp>
        <p:sp>
          <p:nvSpPr>
            <p:cNvPr id="29703" name="Text Box 7">
              <a:extLst>
                <a:ext uri="{FF2B5EF4-FFF2-40B4-BE49-F238E27FC236}">
                  <a16:creationId xmlns:a16="http://schemas.microsoft.com/office/drawing/2014/main" id="{7EE887FB-D94B-C313-1518-E15469C33060}"/>
                </a:ext>
              </a:extLst>
            </p:cNvPr>
            <p:cNvSpPr txBox="1">
              <a:spLocks noChangeArrowheads="1"/>
            </p:cNvSpPr>
            <p:nvPr/>
          </p:nvSpPr>
          <p:spPr bwMode="auto">
            <a:xfrm>
              <a:off x="3600" y="7836"/>
              <a:ext cx="1216" cy="609"/>
            </a:xfrm>
            <a:prstGeom prst="rect">
              <a:avLst/>
            </a:prstGeom>
            <a:solidFill>
              <a:srgbClr val="FFFF99"/>
            </a:solidFill>
            <a:ln>
              <a:noFill/>
            </a:ln>
            <a:extLs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000" i="1">
                  <a:latin typeface="Arial" panose="020B0604020202020204" pitchFamily="34" charset="0"/>
                </a:rPr>
                <a:t>Interpolate</a:t>
              </a:r>
            </a:p>
            <a:p>
              <a:r>
                <a:rPr lang="en-GB" altLang="en-US" sz="1000" i="1">
                  <a:latin typeface="Arial" panose="020B0604020202020204" pitchFamily="34" charset="0"/>
                </a:rPr>
                <a:t>Variables</a:t>
              </a:r>
              <a:endParaRPr lang="en-US" altLang="en-US"/>
            </a:p>
          </p:txBody>
        </p:sp>
        <p:cxnSp>
          <p:nvCxnSpPr>
            <p:cNvPr id="29704" name="AutoShape 8">
              <a:extLst>
                <a:ext uri="{FF2B5EF4-FFF2-40B4-BE49-F238E27FC236}">
                  <a16:creationId xmlns:a16="http://schemas.microsoft.com/office/drawing/2014/main" id="{BF5C91F1-F2BB-EC3A-A06F-E234DC1158CE}"/>
                </a:ext>
              </a:extLst>
            </p:cNvPr>
            <p:cNvCxnSpPr>
              <a:cxnSpLocks noChangeShapeType="1"/>
              <a:stCxn id="29700" idx="3"/>
              <a:endCxn id="29714" idx="1"/>
            </p:cNvCxnSpPr>
            <p:nvPr/>
          </p:nvCxnSpPr>
          <p:spPr bwMode="auto">
            <a:xfrm>
              <a:off x="4525" y="6985"/>
              <a:ext cx="2135" cy="180"/>
            </a:xfrm>
            <a:prstGeom prst="bentConnector3">
              <a:avLst>
                <a:gd name="adj1" fmla="val 49977"/>
              </a:avLst>
            </a:prstGeom>
            <a:noFill/>
            <a:ln w="0">
              <a:solidFill>
                <a:srgbClr val="000000"/>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9705" name="AutoShape 9">
              <a:extLst>
                <a:ext uri="{FF2B5EF4-FFF2-40B4-BE49-F238E27FC236}">
                  <a16:creationId xmlns:a16="http://schemas.microsoft.com/office/drawing/2014/main" id="{6334896F-514E-4109-F3A0-E5B886DE2495}"/>
                </a:ext>
              </a:extLst>
            </p:cNvPr>
            <p:cNvCxnSpPr>
              <a:cxnSpLocks noChangeShapeType="1"/>
              <a:stCxn id="29701" idx="3"/>
              <a:endCxn id="29723" idx="2"/>
            </p:cNvCxnSpPr>
            <p:nvPr/>
          </p:nvCxnSpPr>
          <p:spPr bwMode="auto">
            <a:xfrm flipV="1">
              <a:off x="4069" y="8899"/>
              <a:ext cx="5256" cy="474"/>
            </a:xfrm>
            <a:prstGeom prst="bentConnector2">
              <a:avLst/>
            </a:prstGeom>
            <a:noFill/>
            <a:ln w="0">
              <a:solidFill>
                <a:srgbClr val="000000"/>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9706" name="Text Box 10">
              <a:extLst>
                <a:ext uri="{FF2B5EF4-FFF2-40B4-BE49-F238E27FC236}">
                  <a16:creationId xmlns:a16="http://schemas.microsoft.com/office/drawing/2014/main" id="{CE5494ED-B22F-A0AD-CAEC-233C8D552B30}"/>
                </a:ext>
              </a:extLst>
            </p:cNvPr>
            <p:cNvSpPr txBox="1">
              <a:spLocks noChangeArrowheads="1"/>
            </p:cNvSpPr>
            <p:nvPr/>
          </p:nvSpPr>
          <p:spPr bwMode="auto">
            <a:xfrm>
              <a:off x="6641" y="9366"/>
              <a:ext cx="1217" cy="609"/>
            </a:xfrm>
            <a:prstGeom prst="rect">
              <a:avLst/>
            </a:prstGeom>
            <a:solidFill>
              <a:srgbClr val="FFFF99"/>
            </a:solidFill>
            <a:ln>
              <a:noFill/>
            </a:ln>
            <a:extLs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000" i="1">
                  <a:latin typeface="Arial" panose="020B0604020202020204" pitchFamily="34" charset="0"/>
                </a:rPr>
                <a:t>Interpolate</a:t>
              </a:r>
            </a:p>
            <a:p>
              <a:r>
                <a:rPr lang="en-GB" altLang="en-US" sz="1000" i="1">
                  <a:latin typeface="Arial" panose="020B0604020202020204" pitchFamily="34" charset="0"/>
                </a:rPr>
                <a:t>Variables</a:t>
              </a:r>
              <a:endParaRPr lang="en-US" altLang="en-US"/>
            </a:p>
          </p:txBody>
        </p:sp>
        <p:sp>
          <p:nvSpPr>
            <p:cNvPr id="29707" name="Text Box 11">
              <a:extLst>
                <a:ext uri="{FF2B5EF4-FFF2-40B4-BE49-F238E27FC236}">
                  <a16:creationId xmlns:a16="http://schemas.microsoft.com/office/drawing/2014/main" id="{22E4C1E9-6560-86BB-2FDD-71A00C8DFB92}"/>
                </a:ext>
              </a:extLst>
            </p:cNvPr>
            <p:cNvSpPr txBox="1">
              <a:spLocks noChangeArrowheads="1"/>
            </p:cNvSpPr>
            <p:nvPr/>
          </p:nvSpPr>
          <p:spPr bwMode="auto">
            <a:xfrm>
              <a:off x="7200" y="10716"/>
              <a:ext cx="3802" cy="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b="1" i="1" u="sng">
                  <a:latin typeface="Arial" panose="020B0604020202020204" pitchFamily="34" charset="0"/>
                </a:rPr>
                <a:t>Grid refinement &amp; coarsening</a:t>
              </a:r>
              <a:endParaRPr lang="en-US" altLang="en-US"/>
            </a:p>
          </p:txBody>
        </p:sp>
        <p:grpSp>
          <p:nvGrpSpPr>
            <p:cNvPr id="29708" name="Group 12">
              <a:extLst>
                <a:ext uri="{FF2B5EF4-FFF2-40B4-BE49-F238E27FC236}">
                  <a16:creationId xmlns:a16="http://schemas.microsoft.com/office/drawing/2014/main" id="{879C1848-F29B-1BCA-4A29-A39DD451FD7D}"/>
                </a:ext>
              </a:extLst>
            </p:cNvPr>
            <p:cNvGrpSpPr>
              <a:grpSpLocks/>
            </p:cNvGrpSpPr>
            <p:nvPr/>
          </p:nvGrpSpPr>
          <p:grpSpPr bwMode="auto">
            <a:xfrm>
              <a:off x="8640" y="7836"/>
              <a:ext cx="2364" cy="1063"/>
              <a:chOff x="6697" y="6096"/>
              <a:chExt cx="2332" cy="1080"/>
            </a:xfrm>
          </p:grpSpPr>
          <p:sp>
            <p:nvSpPr>
              <p:cNvPr id="29723" name="Text Box 13">
                <a:extLst>
                  <a:ext uri="{FF2B5EF4-FFF2-40B4-BE49-F238E27FC236}">
                    <a16:creationId xmlns:a16="http://schemas.microsoft.com/office/drawing/2014/main" id="{C4015A3D-0E7E-21E6-6398-F731154B9714}"/>
                  </a:ext>
                </a:extLst>
              </p:cNvPr>
              <p:cNvSpPr txBox="1">
                <a:spLocks noChangeArrowheads="1"/>
              </p:cNvSpPr>
              <p:nvPr/>
            </p:nvSpPr>
            <p:spPr bwMode="auto">
              <a:xfrm>
                <a:off x="6697" y="6096"/>
                <a:ext cx="1350" cy="1080"/>
              </a:xfrm>
              <a:prstGeom prst="rect">
                <a:avLst/>
              </a:prstGeom>
              <a:solidFill>
                <a:srgbClr val="FFFFFF"/>
              </a:solidFill>
              <a:ln w="9525">
                <a:solidFill>
                  <a:srgbClr val="000000"/>
                </a:solidFill>
                <a:miter lim="800000"/>
                <a:headEnd/>
                <a:tailEnd/>
              </a:ln>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Arial" panose="020B0604020202020204" pitchFamily="34" charset="0"/>
                  </a:rPr>
                  <a:t>New (Refined) Grid </a:t>
                </a:r>
                <a:r>
                  <a:rPr lang="en-GB" altLang="en-US" sz="1400">
                    <a:latin typeface="French Script MT" panose="03020402040607040605" pitchFamily="66" charset="77"/>
                  </a:rPr>
                  <a:t>G</a:t>
                </a:r>
                <a:r>
                  <a:rPr lang="en-GB" altLang="en-US" sz="1400" baseline="-25000">
                    <a:latin typeface="Arial" panose="020B0604020202020204" pitchFamily="34" charset="0"/>
                  </a:rPr>
                  <a:t>N+1</a:t>
                </a:r>
                <a:endParaRPr lang="en-US" altLang="en-US"/>
              </a:p>
            </p:txBody>
          </p:sp>
          <p:sp>
            <p:nvSpPr>
              <p:cNvPr id="29724" name="AutoShape 14">
                <a:extLst>
                  <a:ext uri="{FF2B5EF4-FFF2-40B4-BE49-F238E27FC236}">
                    <a16:creationId xmlns:a16="http://schemas.microsoft.com/office/drawing/2014/main" id="{BB42E5CB-171A-C294-1649-3DE95C05E359}"/>
                  </a:ext>
                </a:extLst>
              </p:cNvPr>
              <p:cNvSpPr>
                <a:spLocks noChangeArrowheads="1"/>
              </p:cNvSpPr>
              <p:nvPr/>
            </p:nvSpPr>
            <p:spPr bwMode="auto">
              <a:xfrm>
                <a:off x="8047" y="6418"/>
                <a:ext cx="982" cy="309"/>
              </a:xfrm>
              <a:prstGeom prst="rightArrow">
                <a:avLst>
                  <a:gd name="adj1" fmla="val 50000"/>
                  <a:gd name="adj2" fmla="val 79450"/>
                </a:avLst>
              </a:prstGeom>
              <a:solidFill>
                <a:srgbClr val="FFFF00"/>
              </a:solidFill>
              <a:ln w="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pSp>
        <p:sp>
          <p:nvSpPr>
            <p:cNvPr id="29709" name="Text Box 15">
              <a:extLst>
                <a:ext uri="{FF2B5EF4-FFF2-40B4-BE49-F238E27FC236}">
                  <a16:creationId xmlns:a16="http://schemas.microsoft.com/office/drawing/2014/main" id="{A7A7C810-E716-25CA-EDD6-E567B87AF968}"/>
                </a:ext>
              </a:extLst>
            </p:cNvPr>
            <p:cNvSpPr txBox="1">
              <a:spLocks noChangeArrowheads="1"/>
            </p:cNvSpPr>
            <p:nvPr/>
          </p:nvSpPr>
          <p:spPr bwMode="auto">
            <a:xfrm>
              <a:off x="10080" y="8556"/>
              <a:ext cx="144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000" i="1">
                  <a:latin typeface="Arial" panose="020B0604020202020204" pitchFamily="34" charset="0"/>
                </a:rPr>
                <a:t>Next time-step</a:t>
              </a:r>
              <a:endParaRPr lang="en-US" altLang="en-US"/>
            </a:p>
          </p:txBody>
        </p:sp>
        <p:sp>
          <p:nvSpPr>
            <p:cNvPr id="29710" name="Text Box 16">
              <a:extLst>
                <a:ext uri="{FF2B5EF4-FFF2-40B4-BE49-F238E27FC236}">
                  <a16:creationId xmlns:a16="http://schemas.microsoft.com/office/drawing/2014/main" id="{1F29AF37-7F06-AE20-A02F-AF6C15683B9C}"/>
                </a:ext>
              </a:extLst>
            </p:cNvPr>
            <p:cNvSpPr txBox="1">
              <a:spLocks noChangeArrowheads="1"/>
            </p:cNvSpPr>
            <p:nvPr/>
          </p:nvSpPr>
          <p:spPr bwMode="auto">
            <a:xfrm>
              <a:off x="3420" y="10176"/>
              <a:ext cx="1260" cy="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84125" tIns="42062" rIns="84125" bIns="42062"/>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100" i="1">
                  <a:latin typeface="Arial" panose="020B0604020202020204" pitchFamily="34" charset="0"/>
                </a:rPr>
                <a:t>Accuracy </a:t>
              </a:r>
            </a:p>
            <a:p>
              <a:r>
                <a:rPr lang="en-GB" altLang="en-US" sz="1100" i="1">
                  <a:latin typeface="Arial" panose="020B0604020202020204" pitchFamily="34" charset="0"/>
                </a:rPr>
                <a:t>Failure </a:t>
              </a:r>
              <a:endParaRPr lang="en-US" altLang="en-US"/>
            </a:p>
          </p:txBody>
        </p:sp>
        <p:cxnSp>
          <p:nvCxnSpPr>
            <p:cNvPr id="29711" name="AutoShape 17">
              <a:extLst>
                <a:ext uri="{FF2B5EF4-FFF2-40B4-BE49-F238E27FC236}">
                  <a16:creationId xmlns:a16="http://schemas.microsoft.com/office/drawing/2014/main" id="{171CBABA-1B47-9040-E23B-93E2EE935E8D}"/>
                </a:ext>
              </a:extLst>
            </p:cNvPr>
            <p:cNvCxnSpPr>
              <a:cxnSpLocks noChangeShapeType="1"/>
              <a:stCxn id="29714" idx="0"/>
              <a:endCxn id="29714" idx="3"/>
            </p:cNvCxnSpPr>
            <p:nvPr/>
          </p:nvCxnSpPr>
          <p:spPr bwMode="auto">
            <a:xfrm rot="5400000" flipV="1">
              <a:off x="8165" y="6511"/>
              <a:ext cx="229" cy="1080"/>
            </a:xfrm>
            <a:prstGeom prst="bentConnector4">
              <a:avLst>
                <a:gd name="adj1" fmla="val -157204"/>
                <a:gd name="adj2" fmla="val 133333"/>
              </a:avLst>
            </a:prstGeom>
            <a:noFill/>
            <a:ln w="0">
              <a:solidFill>
                <a:srgbClr val="000000"/>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9712" name="AutoShape 18">
              <a:extLst>
                <a:ext uri="{FF2B5EF4-FFF2-40B4-BE49-F238E27FC236}">
                  <a16:creationId xmlns:a16="http://schemas.microsoft.com/office/drawing/2014/main" id="{211CF653-3375-768E-8200-62BA3D3D1152}"/>
                </a:ext>
              </a:extLst>
            </p:cNvPr>
            <p:cNvCxnSpPr>
              <a:cxnSpLocks noChangeShapeType="1"/>
              <a:stCxn id="29714" idx="2"/>
              <a:endCxn id="29723" idx="1"/>
            </p:cNvCxnSpPr>
            <p:nvPr/>
          </p:nvCxnSpPr>
          <p:spPr bwMode="auto">
            <a:xfrm rot="16200000" flipH="1">
              <a:off x="7702" y="7431"/>
              <a:ext cx="975" cy="900"/>
            </a:xfrm>
            <a:prstGeom prst="bentConnector2">
              <a:avLst/>
            </a:prstGeom>
            <a:noFill/>
            <a:ln w="0">
              <a:solidFill>
                <a:srgbClr val="000000"/>
              </a:solidFill>
              <a:miter lim="800000"/>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9713" name="Text Box 19">
              <a:extLst>
                <a:ext uri="{FF2B5EF4-FFF2-40B4-BE49-F238E27FC236}">
                  <a16:creationId xmlns:a16="http://schemas.microsoft.com/office/drawing/2014/main" id="{C80D750D-8728-6B6C-D1B2-06825EBBA29B}"/>
                </a:ext>
              </a:extLst>
            </p:cNvPr>
            <p:cNvSpPr txBox="1">
              <a:spLocks noChangeArrowheads="1"/>
            </p:cNvSpPr>
            <p:nvPr/>
          </p:nvSpPr>
          <p:spPr bwMode="auto">
            <a:xfrm>
              <a:off x="5040" y="6576"/>
              <a:ext cx="1620" cy="360"/>
            </a:xfrm>
            <a:prstGeom prst="rect">
              <a:avLst/>
            </a:prstGeom>
            <a:solidFill>
              <a:srgbClr val="FFFF99"/>
            </a:solidFill>
            <a:ln>
              <a:noFill/>
            </a:ln>
            <a:extLs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000" i="1">
                  <a:latin typeface="Arial" panose="020B0604020202020204" pitchFamily="34" charset="0"/>
                </a:rPr>
                <a:t>Error Estimator</a:t>
              </a:r>
              <a:endParaRPr lang="en-US" altLang="en-US"/>
            </a:p>
          </p:txBody>
        </p:sp>
        <p:sp>
          <p:nvSpPr>
            <p:cNvPr id="29714" name="Text Box 20">
              <a:extLst>
                <a:ext uri="{FF2B5EF4-FFF2-40B4-BE49-F238E27FC236}">
                  <a16:creationId xmlns:a16="http://schemas.microsoft.com/office/drawing/2014/main" id="{B77A27EE-5DFF-2D68-6E51-314BA7EC9684}"/>
                </a:ext>
              </a:extLst>
            </p:cNvPr>
            <p:cNvSpPr txBox="1">
              <a:spLocks noChangeArrowheads="1"/>
            </p:cNvSpPr>
            <p:nvPr/>
          </p:nvSpPr>
          <p:spPr bwMode="auto">
            <a:xfrm>
              <a:off x="6660" y="6936"/>
              <a:ext cx="2160" cy="457"/>
            </a:xfrm>
            <a:prstGeom prst="rect">
              <a:avLst/>
            </a:prstGeom>
            <a:solidFill>
              <a:srgbClr val="FFFF00"/>
            </a:solidFill>
            <a:ln w="9525">
              <a:solidFill>
                <a:srgbClr val="000000"/>
              </a:solidFill>
              <a:miter lim="800000"/>
              <a:headEnd/>
              <a:tailEnd/>
            </a:ln>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Arial" panose="020B0604020202020204" pitchFamily="34" charset="0"/>
                </a:rPr>
                <a:t>Edge subdivision</a:t>
              </a:r>
              <a:endParaRPr lang="en-US" altLang="en-US"/>
            </a:p>
          </p:txBody>
        </p:sp>
        <p:sp>
          <p:nvSpPr>
            <p:cNvPr id="29715" name="AutoShape 21">
              <a:extLst>
                <a:ext uri="{FF2B5EF4-FFF2-40B4-BE49-F238E27FC236}">
                  <a16:creationId xmlns:a16="http://schemas.microsoft.com/office/drawing/2014/main" id="{C52079D8-2808-84DA-445C-0817FF3CF541}"/>
                </a:ext>
              </a:extLst>
            </p:cNvPr>
            <p:cNvSpPr>
              <a:spLocks noChangeArrowheads="1"/>
            </p:cNvSpPr>
            <p:nvPr/>
          </p:nvSpPr>
          <p:spPr bwMode="auto">
            <a:xfrm>
              <a:off x="2880" y="9816"/>
              <a:ext cx="720" cy="720"/>
            </a:xfrm>
            <a:custGeom>
              <a:avLst/>
              <a:gdLst>
                <a:gd name="T0" fmla="*/ 1 w 21600"/>
                <a:gd name="T1" fmla="*/ 0 h 21600"/>
                <a:gd name="T2" fmla="*/ 0 w 21600"/>
                <a:gd name="T3" fmla="*/ 0 h 21600"/>
                <a:gd name="T4" fmla="*/ 0 w 21600"/>
                <a:gd name="T5" fmla="*/ 1 h 21600"/>
                <a:gd name="T6" fmla="*/ 0 w 21600"/>
                <a:gd name="T7" fmla="*/ 1 h 21600"/>
                <a:gd name="T8" fmla="*/ 1 w 21600"/>
                <a:gd name="T9" fmla="*/ 1 h 21600"/>
                <a:gd name="T10" fmla="*/ 1 w 21600"/>
                <a:gd name="T11" fmla="*/ 0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0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lnTo>
                    <a:pt x="15429" y="0"/>
                  </a:lnTo>
                  <a:close/>
                </a:path>
              </a:pathLst>
            </a:custGeom>
            <a:solidFill>
              <a:srgbClr val="FFFF00"/>
            </a:solidFill>
            <a:ln w="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716" name="Text Box 22">
              <a:extLst>
                <a:ext uri="{FF2B5EF4-FFF2-40B4-BE49-F238E27FC236}">
                  <a16:creationId xmlns:a16="http://schemas.microsoft.com/office/drawing/2014/main" id="{944B7527-D62F-4729-7788-70CF8ACDF1BA}"/>
                </a:ext>
              </a:extLst>
            </p:cNvPr>
            <p:cNvSpPr txBox="1">
              <a:spLocks noChangeArrowheads="1"/>
            </p:cNvSpPr>
            <p:nvPr/>
          </p:nvSpPr>
          <p:spPr bwMode="auto">
            <a:xfrm>
              <a:off x="8460" y="6396"/>
              <a:ext cx="90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000" i="1">
                  <a:latin typeface="Arial" panose="020B0604020202020204" pitchFamily="34" charset="0"/>
                </a:rPr>
                <a:t>L-times</a:t>
              </a:r>
              <a:endParaRPr lang="en-US" altLang="en-US"/>
            </a:p>
          </p:txBody>
        </p:sp>
        <p:sp>
          <p:nvSpPr>
            <p:cNvPr id="29717" name="Text Box 23">
              <a:extLst>
                <a:ext uri="{FF2B5EF4-FFF2-40B4-BE49-F238E27FC236}">
                  <a16:creationId xmlns:a16="http://schemas.microsoft.com/office/drawing/2014/main" id="{78D6966B-4ED3-BA7F-F02B-547E165F7755}"/>
                </a:ext>
              </a:extLst>
            </p:cNvPr>
            <p:cNvSpPr txBox="1">
              <a:spLocks noChangeArrowheads="1"/>
            </p:cNvSpPr>
            <p:nvPr/>
          </p:nvSpPr>
          <p:spPr bwMode="auto">
            <a:xfrm>
              <a:off x="2880" y="7296"/>
              <a:ext cx="90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Arial" panose="020B0604020202020204" pitchFamily="34" charset="0"/>
                </a:rPr>
                <a:t>V </a:t>
              </a:r>
              <a:r>
                <a:rPr lang="en-GB" altLang="en-US" sz="1400">
                  <a:latin typeface="French Script MT" panose="03020402040607040605" pitchFamily="66" charset="77"/>
                </a:rPr>
                <a:t>(B)</a:t>
              </a:r>
              <a:endParaRPr lang="en-US" altLang="en-US"/>
            </a:p>
          </p:txBody>
        </p:sp>
        <p:sp>
          <p:nvSpPr>
            <p:cNvPr id="29718" name="Text Box 24">
              <a:extLst>
                <a:ext uri="{FF2B5EF4-FFF2-40B4-BE49-F238E27FC236}">
                  <a16:creationId xmlns:a16="http://schemas.microsoft.com/office/drawing/2014/main" id="{3BA2244D-6D62-2B24-221D-1EA6DDA11CAB}"/>
                </a:ext>
              </a:extLst>
            </p:cNvPr>
            <p:cNvSpPr txBox="1">
              <a:spLocks noChangeArrowheads="1"/>
            </p:cNvSpPr>
            <p:nvPr/>
          </p:nvSpPr>
          <p:spPr bwMode="auto">
            <a:xfrm>
              <a:off x="2700" y="8556"/>
              <a:ext cx="90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Arial" panose="020B0604020202020204" pitchFamily="34" charset="0"/>
                </a:rPr>
                <a:t>V </a:t>
              </a:r>
              <a:r>
                <a:rPr lang="en-GB" altLang="en-US" sz="1400">
                  <a:latin typeface="French Script MT" panose="03020402040607040605" pitchFamily="66" charset="77"/>
                </a:rPr>
                <a:t>(G</a:t>
              </a:r>
              <a:r>
                <a:rPr lang="en-GB" altLang="en-US" sz="1400" baseline="-25000">
                  <a:latin typeface="Arial" panose="020B0604020202020204" pitchFamily="34" charset="0"/>
                </a:rPr>
                <a:t>N</a:t>
              </a:r>
              <a:r>
                <a:rPr lang="en-GB" altLang="en-US" sz="1400">
                  <a:latin typeface="French Script MT" panose="03020402040607040605" pitchFamily="66" charset="77"/>
                </a:rPr>
                <a:t>)</a:t>
              </a:r>
              <a:endParaRPr lang="en-US" altLang="en-US"/>
            </a:p>
          </p:txBody>
        </p:sp>
        <p:sp>
          <p:nvSpPr>
            <p:cNvPr id="29719" name="Text Box 25">
              <a:extLst>
                <a:ext uri="{FF2B5EF4-FFF2-40B4-BE49-F238E27FC236}">
                  <a16:creationId xmlns:a16="http://schemas.microsoft.com/office/drawing/2014/main" id="{DADD75D1-5725-FFAE-57CE-F0B77E97E5DB}"/>
                </a:ext>
              </a:extLst>
            </p:cNvPr>
            <p:cNvSpPr txBox="1">
              <a:spLocks noChangeArrowheads="1"/>
            </p:cNvSpPr>
            <p:nvPr/>
          </p:nvSpPr>
          <p:spPr bwMode="auto">
            <a:xfrm>
              <a:off x="4140" y="9456"/>
              <a:ext cx="90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Arial" panose="020B0604020202020204" pitchFamily="34" charset="0"/>
                </a:rPr>
                <a:t>V </a:t>
              </a:r>
              <a:r>
                <a:rPr lang="en-GB" altLang="en-US" sz="1400">
                  <a:latin typeface="French Script MT" panose="03020402040607040605" pitchFamily="66" charset="77"/>
                </a:rPr>
                <a:t>(G</a:t>
              </a:r>
              <a:r>
                <a:rPr lang="en-GB" altLang="en-US" sz="1400" baseline="-25000">
                  <a:latin typeface="Arial" panose="020B0604020202020204" pitchFamily="34" charset="0"/>
                </a:rPr>
                <a:t>N</a:t>
              </a:r>
              <a:r>
                <a:rPr lang="en-GB" altLang="en-US" sz="1400">
                  <a:latin typeface="French Script MT" panose="03020402040607040605" pitchFamily="66" charset="77"/>
                </a:rPr>
                <a:t>)</a:t>
              </a:r>
              <a:endParaRPr lang="en-US" altLang="en-US"/>
            </a:p>
          </p:txBody>
        </p:sp>
        <p:sp>
          <p:nvSpPr>
            <p:cNvPr id="29720" name="Text Box 26">
              <a:extLst>
                <a:ext uri="{FF2B5EF4-FFF2-40B4-BE49-F238E27FC236}">
                  <a16:creationId xmlns:a16="http://schemas.microsoft.com/office/drawing/2014/main" id="{F5BEBE21-CF63-1B60-D31A-081969C05CAE}"/>
                </a:ext>
              </a:extLst>
            </p:cNvPr>
            <p:cNvSpPr txBox="1">
              <a:spLocks noChangeArrowheads="1"/>
            </p:cNvSpPr>
            <p:nvPr/>
          </p:nvSpPr>
          <p:spPr bwMode="auto">
            <a:xfrm>
              <a:off x="9360" y="8916"/>
              <a:ext cx="10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Arial" panose="020B0604020202020204" pitchFamily="34" charset="0"/>
                </a:rPr>
                <a:t>V </a:t>
              </a:r>
              <a:r>
                <a:rPr lang="en-GB" altLang="en-US" sz="1400">
                  <a:latin typeface="French Script MT" panose="03020402040607040605" pitchFamily="66" charset="77"/>
                </a:rPr>
                <a:t>(G</a:t>
              </a:r>
              <a:r>
                <a:rPr lang="en-GB" altLang="en-US" sz="1400" baseline="-25000">
                  <a:latin typeface="Arial" panose="020B0604020202020204" pitchFamily="34" charset="0"/>
                </a:rPr>
                <a:t>N+1</a:t>
              </a:r>
              <a:r>
                <a:rPr lang="en-GB" altLang="en-US" sz="1400">
                  <a:latin typeface="French Script MT" panose="03020402040607040605" pitchFamily="66" charset="77"/>
                </a:rPr>
                <a:t>)</a:t>
              </a:r>
              <a:endParaRPr lang="en-US" altLang="en-US"/>
            </a:p>
          </p:txBody>
        </p:sp>
        <p:sp>
          <p:nvSpPr>
            <p:cNvPr id="29721" name="Text Box 27">
              <a:extLst>
                <a:ext uri="{FF2B5EF4-FFF2-40B4-BE49-F238E27FC236}">
                  <a16:creationId xmlns:a16="http://schemas.microsoft.com/office/drawing/2014/main" id="{FA156BB5-37FC-4B40-2754-F300A526BD9E}"/>
                </a:ext>
              </a:extLst>
            </p:cNvPr>
            <p:cNvSpPr txBox="1">
              <a:spLocks noChangeArrowheads="1"/>
            </p:cNvSpPr>
            <p:nvPr/>
          </p:nvSpPr>
          <p:spPr bwMode="auto">
            <a:xfrm>
              <a:off x="4500" y="6936"/>
              <a:ext cx="36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French Script MT" panose="03020402040607040605" pitchFamily="66" charset="77"/>
                </a:rPr>
                <a:t>B</a:t>
              </a:r>
              <a:endParaRPr lang="en-US" altLang="en-US"/>
            </a:p>
          </p:txBody>
        </p:sp>
        <p:sp>
          <p:nvSpPr>
            <p:cNvPr id="29722" name="Text Box 28">
              <a:extLst>
                <a:ext uri="{FF2B5EF4-FFF2-40B4-BE49-F238E27FC236}">
                  <a16:creationId xmlns:a16="http://schemas.microsoft.com/office/drawing/2014/main" id="{D1ED6936-0C4E-73B8-5BB1-1A7D3B55E498}"/>
                </a:ext>
              </a:extLst>
            </p:cNvPr>
            <p:cNvSpPr txBox="1">
              <a:spLocks noChangeArrowheads="1"/>
            </p:cNvSpPr>
            <p:nvPr/>
          </p:nvSpPr>
          <p:spPr bwMode="auto">
            <a:xfrm>
              <a:off x="7740" y="8016"/>
              <a:ext cx="72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lIns="77395" tIns="38697" rIns="77395" bIns="38697"/>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400">
                  <a:latin typeface="French Script MT" panose="03020402040607040605" pitchFamily="66" charset="77"/>
                </a:rPr>
                <a:t>G</a:t>
              </a:r>
              <a:r>
                <a:rPr lang="en-GB" altLang="en-US" sz="1400" baseline="-25000">
                  <a:latin typeface="Arial" panose="020B0604020202020204" pitchFamily="34" charset="0"/>
                </a:rPr>
                <a:t>N+1</a:t>
              </a:r>
              <a:endParaRPr lang="en-US" altLang="en-US"/>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EF4403A1-BAA5-1EE6-61C8-55DD0BF8650B}"/>
              </a:ext>
            </a:extLst>
          </p:cNvPr>
          <p:cNvSpPr>
            <a:spLocks noGrp="1" noChangeArrowheads="1"/>
          </p:cNvSpPr>
          <p:nvPr>
            <p:ph type="body" idx="1"/>
          </p:nvPr>
        </p:nvSpPr>
        <p:spPr>
          <a:xfrm>
            <a:off x="547688" y="684213"/>
            <a:ext cx="9088437" cy="5872162"/>
          </a:xfrm>
        </p:spPr>
        <p:txBody>
          <a:bodyPr/>
          <a:lstStyle/>
          <a:p>
            <a:pPr marL="520700" indent="-520700">
              <a:lnSpc>
                <a:spcPct val="90000"/>
              </a:lnSpc>
              <a:buFont typeface="Times New Roman" panose="02020603050405020304" pitchFamily="18" charset="0"/>
              <a:buNone/>
            </a:pPr>
            <a:r>
              <a:rPr lang="en-US" altLang="en-US" sz="3200"/>
              <a:t>Error Control : Results</a:t>
            </a:r>
          </a:p>
          <a:p>
            <a:pPr marL="520700" indent="-520700">
              <a:lnSpc>
                <a:spcPct val="90000"/>
              </a:lnSpc>
              <a:buFont typeface="Wingdings" pitchFamily="2" charset="2"/>
              <a:buChar char="v"/>
            </a:pPr>
            <a:endParaRPr lang="en-US" altLang="en-US" b="0"/>
          </a:p>
          <a:p>
            <a:pPr marL="1563688" lvl="2" indent="-520700">
              <a:lnSpc>
                <a:spcPct val="90000"/>
              </a:lnSpc>
              <a:buFont typeface="Wingdings" pitchFamily="2" charset="2"/>
              <a:buAutoNum type="arabicPeriod"/>
            </a:pPr>
            <a:r>
              <a:rPr lang="en-US" altLang="en-US" sz="2800"/>
              <a:t>Good accuracy achieved comparing coarse/adapted/fine calculations. </a:t>
            </a:r>
          </a:p>
          <a:p>
            <a:pPr marL="1563688" lvl="2" indent="-520700">
              <a:lnSpc>
                <a:spcPct val="90000"/>
              </a:lnSpc>
              <a:buFont typeface="Wingdings" pitchFamily="2" charset="2"/>
              <a:buAutoNum type="arabicPeriod"/>
            </a:pPr>
            <a:r>
              <a:rPr lang="en-US" altLang="en-US" sz="2800"/>
              <a:t>Good recovery of fine-scale features after coarsening and refinement. </a:t>
            </a:r>
          </a:p>
          <a:p>
            <a:pPr marL="1563688" lvl="2" indent="-520700">
              <a:lnSpc>
                <a:spcPct val="90000"/>
              </a:lnSpc>
              <a:buFont typeface="Wingdings" pitchFamily="2" charset="2"/>
              <a:buAutoNum type="arabicPeriod"/>
            </a:pPr>
            <a:r>
              <a:rPr lang="en-US" altLang="en-US" sz="2800"/>
              <a:t>Improved mesh structures after refinement.</a:t>
            </a:r>
          </a:p>
          <a:p>
            <a:pPr marL="1563688" lvl="2" indent="-520700">
              <a:lnSpc>
                <a:spcPct val="90000"/>
              </a:lnSpc>
              <a:buFont typeface="Times New Roman" panose="02020603050405020304" pitchFamily="18" charset="0"/>
              <a:buNone/>
            </a:pPr>
            <a:r>
              <a:rPr lang="en-US" altLang="en-US" sz="2800"/>
              <a:t>Arbitrary levels of refinement (de-refinement to base grid)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82A5B1EB-7E79-39AC-96B9-D9FD72DDA6CF}"/>
              </a:ext>
            </a:extLst>
          </p:cNvPr>
          <p:cNvSpPr>
            <a:spLocks noGrp="1" noChangeArrowheads="1"/>
          </p:cNvSpPr>
          <p:nvPr>
            <p:ph type="title"/>
          </p:nvPr>
        </p:nvSpPr>
        <p:spPr/>
        <p:txBody>
          <a:bodyPr/>
          <a:lstStyle/>
          <a:p>
            <a:r>
              <a:rPr lang="en-GB" altLang="en-US"/>
              <a:t>	Icing on Cylinder		</a:t>
            </a:r>
          </a:p>
        </p:txBody>
      </p:sp>
      <p:sp>
        <p:nvSpPr>
          <p:cNvPr id="31747" name="Rectangle 3">
            <a:extLst>
              <a:ext uri="{FF2B5EF4-FFF2-40B4-BE49-F238E27FC236}">
                <a16:creationId xmlns:a16="http://schemas.microsoft.com/office/drawing/2014/main" id="{A11248C8-B953-39F0-B407-87059FA9DD2B}"/>
              </a:ext>
            </a:extLst>
          </p:cNvPr>
          <p:cNvSpPr>
            <a:spLocks noGrp="1" noChangeArrowheads="1"/>
          </p:cNvSpPr>
          <p:nvPr>
            <p:ph type="body" sz="half" idx="1"/>
          </p:nvPr>
        </p:nvSpPr>
        <p:spPr/>
        <p:txBody>
          <a:bodyPr/>
          <a:lstStyle/>
          <a:p>
            <a:r>
              <a:rPr lang="en-GB" altLang="en-US" sz="2300"/>
              <a:t>Results before the water film reach the steady state.</a:t>
            </a:r>
          </a:p>
          <a:p>
            <a:endParaRPr lang="en-GB" altLang="en-US" sz="2300"/>
          </a:p>
          <a:p>
            <a:r>
              <a:rPr lang="en-GB" altLang="en-US" sz="2300"/>
              <a:t>Result after a long exposure time</a:t>
            </a:r>
          </a:p>
          <a:p>
            <a:endParaRPr lang="en-GB" altLang="en-US" sz="2300"/>
          </a:p>
          <a:p>
            <a:endParaRPr lang="en-GB" altLang="en-US" sz="2300"/>
          </a:p>
          <a:p>
            <a:pPr>
              <a:buFont typeface="Webdings" pitchFamily="2" charset="2"/>
              <a:buNone/>
            </a:pPr>
            <a:endParaRPr lang="en-GB" altLang="en-US" sz="2300"/>
          </a:p>
        </p:txBody>
      </p:sp>
      <p:pic>
        <p:nvPicPr>
          <p:cNvPr id="31748" name="Picture 4" descr="Cylinder_after2sec">
            <a:extLst>
              <a:ext uri="{FF2B5EF4-FFF2-40B4-BE49-F238E27FC236}">
                <a16:creationId xmlns:a16="http://schemas.microsoft.com/office/drawing/2014/main" id="{0F52E798-847D-4195-D845-292DBDC88774}"/>
              </a:ext>
            </a:extLst>
          </p:cNvPr>
          <p:cNvPicPr>
            <a:picLocks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rot="5400000">
            <a:off x="7340601" y="1054100"/>
            <a:ext cx="2184400" cy="3984625"/>
          </a:xfrm>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1749" name="Picture 6" descr="Cylinder">
            <a:extLst>
              <a:ext uri="{FF2B5EF4-FFF2-40B4-BE49-F238E27FC236}">
                <a16:creationId xmlns:a16="http://schemas.microsoft.com/office/drawing/2014/main" id="{04D3EE0B-B50B-B0D4-EA65-41C381B9D4CE}"/>
              </a:ext>
            </a:extLst>
          </p:cNvPr>
          <p:cNvPicPr>
            <a:picLocks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rot="5400000">
            <a:off x="1974851" y="1789112"/>
            <a:ext cx="3795712" cy="7745413"/>
          </a:xfrm>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D1BC5238-90A0-2496-2588-0E255D3D0FB0}"/>
              </a:ext>
            </a:extLst>
          </p:cNvPr>
          <p:cNvSpPr>
            <a:spLocks noGrp="1" noChangeArrowheads="1"/>
          </p:cNvSpPr>
          <p:nvPr>
            <p:ph type="title"/>
          </p:nvPr>
        </p:nvSpPr>
        <p:spPr/>
        <p:txBody>
          <a:bodyPr/>
          <a:lstStyle/>
          <a:p>
            <a:r>
              <a:rPr lang="en-GB" altLang="en-US"/>
              <a:t> Refinement</a:t>
            </a:r>
          </a:p>
        </p:txBody>
      </p:sp>
      <p:pic>
        <p:nvPicPr>
          <p:cNvPr id="32771" name="Picture 4" descr="Cylinder2">
            <a:extLst>
              <a:ext uri="{FF2B5EF4-FFF2-40B4-BE49-F238E27FC236}">
                <a16:creationId xmlns:a16="http://schemas.microsoft.com/office/drawing/2014/main" id="{3919A496-052B-B159-C398-EB4ABA8878DB}"/>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rot="5400000">
            <a:off x="2555875" y="217488"/>
            <a:ext cx="5500687" cy="8339138"/>
          </a:xfrm>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C685F75-CB57-5627-760A-11201061FAF4}"/>
              </a:ext>
            </a:extLst>
          </p:cNvPr>
          <p:cNvSpPr>
            <a:spLocks noGrp="1" noChangeArrowheads="1"/>
          </p:cNvSpPr>
          <p:nvPr>
            <p:ph type="title"/>
          </p:nvPr>
        </p:nvSpPr>
        <p:spPr>
          <a:xfrm>
            <a:off x="881063" y="300038"/>
            <a:ext cx="8140700" cy="1677987"/>
          </a:xfrm>
        </p:spPr>
        <p:txBody>
          <a:bodyPr/>
          <a:lstStyle/>
          <a:p>
            <a:pPr algn="l"/>
            <a:r>
              <a:rPr lang="en-GB" altLang="en-US" sz="4000"/>
              <a:t> Refinement criterion based on the gradient of b (ice height)</a:t>
            </a:r>
          </a:p>
        </p:txBody>
      </p:sp>
      <p:pic>
        <p:nvPicPr>
          <p:cNvPr id="33795" name="Picture 7" descr="Cylinder_grad2">
            <a:extLst>
              <a:ext uri="{FF2B5EF4-FFF2-40B4-BE49-F238E27FC236}">
                <a16:creationId xmlns:a16="http://schemas.microsoft.com/office/drawing/2014/main" id="{B7AA985C-5101-E005-0AD8-282D89E43AE1}"/>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rot="5400000">
            <a:off x="3085307" y="583406"/>
            <a:ext cx="5113338" cy="8169275"/>
          </a:xfrm>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C6D254E6-702E-4725-01DB-2AD0A2D75463}"/>
              </a:ext>
            </a:extLst>
          </p:cNvPr>
          <p:cNvSpPr>
            <a:spLocks noGrp="1"/>
          </p:cNvSpPr>
          <p:nvPr>
            <p:ph type="sldNum" sz="quarter" idx="4294967295"/>
          </p:nvPr>
        </p:nvSpPr>
        <p:spPr bwMode="auto">
          <a:xfrm>
            <a:off x="7662863" y="6888163"/>
            <a:ext cx="2227262" cy="5032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6F6A856-4E34-1E4A-BDFB-933EB8F2103C}" type="slidenum">
              <a:rPr lang="en-GB" altLang="en-US" sz="1600"/>
              <a:pPr/>
              <a:t>30</a:t>
            </a:fld>
            <a:endParaRPr lang="en-GB" altLang="en-US" sz="1600"/>
          </a:p>
        </p:txBody>
      </p:sp>
      <p:sp>
        <p:nvSpPr>
          <p:cNvPr id="34819" name="Rectangle 2">
            <a:extLst>
              <a:ext uri="{FF2B5EF4-FFF2-40B4-BE49-F238E27FC236}">
                <a16:creationId xmlns:a16="http://schemas.microsoft.com/office/drawing/2014/main" id="{ED6DA3A9-3333-B5CA-F1F0-A3C924A306DA}"/>
              </a:ext>
            </a:extLst>
          </p:cNvPr>
          <p:cNvSpPr>
            <a:spLocks noGrp="1" noChangeArrowheads="1"/>
          </p:cNvSpPr>
          <p:nvPr>
            <p:ph type="title"/>
          </p:nvPr>
        </p:nvSpPr>
        <p:spPr>
          <a:xfrm>
            <a:off x="1520825" y="3059113"/>
            <a:ext cx="7696200" cy="1724025"/>
          </a:xfrm>
        </p:spPr>
        <p:txBody>
          <a:bodyPr/>
          <a:lstStyle/>
          <a:p>
            <a:pPr algn="l"/>
            <a:r>
              <a:rPr lang="en-GB" altLang="en-US" sz="3600" b="0">
                <a:latin typeface="Arial Black" panose="020B0604020202020204" pitchFamily="34" charset="0"/>
              </a:rPr>
              <a:t>Geometry variation:</a:t>
            </a:r>
            <a:br>
              <a:rPr lang="en-GB" altLang="en-US" sz="3600" b="0">
                <a:latin typeface="Arial Black" panose="020B0604020202020204" pitchFamily="34" charset="0"/>
              </a:rPr>
            </a:br>
            <a:r>
              <a:rPr lang="en-GB" altLang="en-US" sz="3600" b="0">
                <a:latin typeface="Arial Black" panose="020B0604020202020204" pitchFamily="34" charset="0"/>
              </a:rPr>
              <a:t>		Multi-stepping methods</a:t>
            </a:r>
            <a:r>
              <a:rPr lang="en-GB" altLang="en-US" sz="2700" b="0"/>
              <a:t> </a:t>
            </a:r>
            <a:endParaRPr lang="en-GB" altLang="en-US" sz="4600" b="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8">
            <a:extLst>
              <a:ext uri="{FF2B5EF4-FFF2-40B4-BE49-F238E27FC236}">
                <a16:creationId xmlns:a16="http://schemas.microsoft.com/office/drawing/2014/main" id="{0CD452EA-982C-6FEE-66AE-2677BF852F49}"/>
              </a:ext>
            </a:extLst>
          </p:cNvPr>
          <p:cNvSpPr txBox="1">
            <a:spLocks noChangeArrowheads="1"/>
          </p:cNvSpPr>
          <p:nvPr/>
        </p:nvSpPr>
        <p:spPr bwMode="auto">
          <a:xfrm>
            <a:off x="4805363" y="3225800"/>
            <a:ext cx="5640387"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700" b="1">
                <a:solidFill>
                  <a:srgbClr val="000000"/>
                </a:solidFill>
                <a:latin typeface="Arial Black" panose="020B0604020202020204" pitchFamily="34" charset="0"/>
              </a:rPr>
              <a:t>SINGLE STEP ALGORITHM </a:t>
            </a:r>
            <a:endParaRPr lang="en-US" altLang="en-US" sz="2700" b="1">
              <a:solidFill>
                <a:srgbClr val="000000"/>
              </a:solidFill>
              <a:latin typeface="Arial Black" panose="020B0604020202020204" pitchFamily="34" charset="0"/>
            </a:endParaRPr>
          </a:p>
        </p:txBody>
      </p:sp>
      <p:sp>
        <p:nvSpPr>
          <p:cNvPr id="35843" name="AutoShape 29">
            <a:extLst>
              <a:ext uri="{FF2B5EF4-FFF2-40B4-BE49-F238E27FC236}">
                <a16:creationId xmlns:a16="http://schemas.microsoft.com/office/drawing/2014/main" id="{44B668A1-8FE4-50C6-D7B9-A738AA07B470}"/>
              </a:ext>
            </a:extLst>
          </p:cNvPr>
          <p:cNvSpPr>
            <a:spLocks noChangeArrowheads="1"/>
          </p:cNvSpPr>
          <p:nvPr/>
        </p:nvSpPr>
        <p:spPr bwMode="auto">
          <a:xfrm>
            <a:off x="1725613" y="765175"/>
            <a:ext cx="1346200" cy="476250"/>
          </a:xfrm>
          <a:prstGeom prst="roundRect">
            <a:avLst>
              <a:gd name="adj" fmla="val 16667"/>
            </a:avLst>
          </a:prstGeom>
          <a:solidFill>
            <a:srgbClr val="99CC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Start</a:t>
            </a:r>
          </a:p>
        </p:txBody>
      </p:sp>
      <p:sp>
        <p:nvSpPr>
          <p:cNvPr id="35844" name="Rectangle 30">
            <a:extLst>
              <a:ext uri="{FF2B5EF4-FFF2-40B4-BE49-F238E27FC236}">
                <a16:creationId xmlns:a16="http://schemas.microsoft.com/office/drawing/2014/main" id="{DC51B584-AA43-98D2-FDB0-911F51C50D46}"/>
              </a:ext>
            </a:extLst>
          </p:cNvPr>
          <p:cNvSpPr>
            <a:spLocks noChangeArrowheads="1"/>
          </p:cNvSpPr>
          <p:nvPr/>
        </p:nvSpPr>
        <p:spPr bwMode="auto">
          <a:xfrm>
            <a:off x="884238" y="1477963"/>
            <a:ext cx="3367087" cy="555625"/>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Define Substrate</a:t>
            </a:r>
          </a:p>
        </p:txBody>
      </p:sp>
      <p:sp>
        <p:nvSpPr>
          <p:cNvPr id="35845" name="Rectangle 31">
            <a:extLst>
              <a:ext uri="{FF2B5EF4-FFF2-40B4-BE49-F238E27FC236}">
                <a16:creationId xmlns:a16="http://schemas.microsoft.com/office/drawing/2014/main" id="{77ECE8DE-D182-1F82-7F23-6F9FE6E2E625}"/>
              </a:ext>
            </a:extLst>
          </p:cNvPr>
          <p:cNvSpPr>
            <a:spLocks noChangeArrowheads="1"/>
          </p:cNvSpPr>
          <p:nvPr/>
        </p:nvSpPr>
        <p:spPr bwMode="auto">
          <a:xfrm>
            <a:off x="884238" y="2430463"/>
            <a:ext cx="3367087" cy="555625"/>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GB" altLang="en-US" sz="2100" b="1">
                <a:solidFill>
                  <a:srgbClr val="000000"/>
                </a:solidFill>
              </a:rPr>
              <a:t>Create Mesh </a:t>
            </a:r>
            <a:endParaRPr lang="en-GB" altLang="en-US" sz="2100"/>
          </a:p>
        </p:txBody>
      </p:sp>
      <p:sp>
        <p:nvSpPr>
          <p:cNvPr id="35846" name="Rectangle 32">
            <a:extLst>
              <a:ext uri="{FF2B5EF4-FFF2-40B4-BE49-F238E27FC236}">
                <a16:creationId xmlns:a16="http://schemas.microsoft.com/office/drawing/2014/main" id="{5F8FA1EF-3D27-E8BD-45E6-01D73909DEEB}"/>
              </a:ext>
            </a:extLst>
          </p:cNvPr>
          <p:cNvSpPr>
            <a:spLocks noChangeArrowheads="1"/>
          </p:cNvSpPr>
          <p:nvPr/>
        </p:nvSpPr>
        <p:spPr bwMode="auto">
          <a:xfrm>
            <a:off x="884238" y="4017963"/>
            <a:ext cx="3367087" cy="554037"/>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Internal CFD ICING</a:t>
            </a:r>
          </a:p>
        </p:txBody>
      </p:sp>
      <p:sp>
        <p:nvSpPr>
          <p:cNvPr id="35847" name="Line 33">
            <a:extLst>
              <a:ext uri="{FF2B5EF4-FFF2-40B4-BE49-F238E27FC236}">
                <a16:creationId xmlns:a16="http://schemas.microsoft.com/office/drawing/2014/main" id="{ECF8ED7D-971C-CA95-2FEB-AE4AB40A3D0A}"/>
              </a:ext>
            </a:extLst>
          </p:cNvPr>
          <p:cNvSpPr>
            <a:spLocks noChangeShapeType="1"/>
          </p:cNvSpPr>
          <p:nvPr/>
        </p:nvSpPr>
        <p:spPr bwMode="auto">
          <a:xfrm>
            <a:off x="2400300" y="1241425"/>
            <a:ext cx="0" cy="239713"/>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5848" name="Line 34">
            <a:extLst>
              <a:ext uri="{FF2B5EF4-FFF2-40B4-BE49-F238E27FC236}">
                <a16:creationId xmlns:a16="http://schemas.microsoft.com/office/drawing/2014/main" id="{01578004-80EE-FCA0-70D3-14D3C027205A}"/>
              </a:ext>
            </a:extLst>
          </p:cNvPr>
          <p:cNvSpPr>
            <a:spLocks noChangeShapeType="1"/>
          </p:cNvSpPr>
          <p:nvPr/>
        </p:nvSpPr>
        <p:spPr bwMode="auto">
          <a:xfrm>
            <a:off x="2400300" y="2987675"/>
            <a:ext cx="0" cy="239713"/>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5849" name="Line 35">
            <a:extLst>
              <a:ext uri="{FF2B5EF4-FFF2-40B4-BE49-F238E27FC236}">
                <a16:creationId xmlns:a16="http://schemas.microsoft.com/office/drawing/2014/main" id="{41E513C0-7614-F392-E24C-3D7E766803E1}"/>
              </a:ext>
            </a:extLst>
          </p:cNvPr>
          <p:cNvSpPr>
            <a:spLocks noChangeShapeType="1"/>
          </p:cNvSpPr>
          <p:nvPr/>
        </p:nvSpPr>
        <p:spPr bwMode="auto">
          <a:xfrm>
            <a:off x="2398713" y="3779838"/>
            <a:ext cx="0" cy="23971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5850" name="Line 36">
            <a:extLst>
              <a:ext uri="{FF2B5EF4-FFF2-40B4-BE49-F238E27FC236}">
                <a16:creationId xmlns:a16="http://schemas.microsoft.com/office/drawing/2014/main" id="{E78FAA77-A0B9-8DCB-9A56-31D53BEBC354}"/>
              </a:ext>
            </a:extLst>
          </p:cNvPr>
          <p:cNvSpPr>
            <a:spLocks noChangeShapeType="1"/>
          </p:cNvSpPr>
          <p:nvPr/>
        </p:nvSpPr>
        <p:spPr bwMode="auto">
          <a:xfrm>
            <a:off x="2820988" y="5367338"/>
            <a:ext cx="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5851" name="Line 37">
            <a:extLst>
              <a:ext uri="{FF2B5EF4-FFF2-40B4-BE49-F238E27FC236}">
                <a16:creationId xmlns:a16="http://schemas.microsoft.com/office/drawing/2014/main" id="{6F3C4A7F-6E78-14A2-D017-D0C579668F07}"/>
              </a:ext>
            </a:extLst>
          </p:cNvPr>
          <p:cNvSpPr>
            <a:spLocks noChangeShapeType="1"/>
          </p:cNvSpPr>
          <p:nvPr/>
        </p:nvSpPr>
        <p:spPr bwMode="auto">
          <a:xfrm>
            <a:off x="2400300" y="2033588"/>
            <a:ext cx="0" cy="396875"/>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5852" name="Rectangle 39">
            <a:extLst>
              <a:ext uri="{FF2B5EF4-FFF2-40B4-BE49-F238E27FC236}">
                <a16:creationId xmlns:a16="http://schemas.microsoft.com/office/drawing/2014/main" id="{8A190CAD-2F27-ADE3-B243-C6BD0FC58192}"/>
              </a:ext>
            </a:extLst>
          </p:cNvPr>
          <p:cNvSpPr>
            <a:spLocks noChangeArrowheads="1"/>
          </p:cNvSpPr>
          <p:nvPr/>
        </p:nvSpPr>
        <p:spPr bwMode="auto">
          <a:xfrm>
            <a:off x="884238" y="3225800"/>
            <a:ext cx="3367087" cy="554038"/>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GB" altLang="en-US" sz="2100" b="1">
                <a:solidFill>
                  <a:srgbClr val="000000"/>
                </a:solidFill>
              </a:rPr>
              <a:t>Solve Flow (CFD)</a:t>
            </a:r>
          </a:p>
        </p:txBody>
      </p:sp>
      <p:sp>
        <p:nvSpPr>
          <p:cNvPr id="35853" name="Rectangle 40">
            <a:extLst>
              <a:ext uri="{FF2B5EF4-FFF2-40B4-BE49-F238E27FC236}">
                <a16:creationId xmlns:a16="http://schemas.microsoft.com/office/drawing/2014/main" id="{B684B8FB-9E7E-C882-06BF-49D04CD4D2AA}"/>
              </a:ext>
            </a:extLst>
          </p:cNvPr>
          <p:cNvSpPr>
            <a:spLocks noChangeArrowheads="1"/>
          </p:cNvSpPr>
          <p:nvPr/>
        </p:nvSpPr>
        <p:spPr bwMode="auto">
          <a:xfrm>
            <a:off x="884238" y="4811713"/>
            <a:ext cx="3367087" cy="555625"/>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GB" altLang="en-US" sz="2100" b="1">
                <a:solidFill>
                  <a:srgbClr val="000000"/>
                </a:solidFill>
              </a:rPr>
              <a:t>Predict Ice</a:t>
            </a:r>
          </a:p>
        </p:txBody>
      </p:sp>
      <p:sp>
        <p:nvSpPr>
          <p:cNvPr id="35854" name="Line 41">
            <a:extLst>
              <a:ext uri="{FF2B5EF4-FFF2-40B4-BE49-F238E27FC236}">
                <a16:creationId xmlns:a16="http://schemas.microsoft.com/office/drawing/2014/main" id="{654411A1-F42B-9ABF-7E9E-1FF7EE7A5984}"/>
              </a:ext>
            </a:extLst>
          </p:cNvPr>
          <p:cNvSpPr>
            <a:spLocks noChangeShapeType="1"/>
          </p:cNvSpPr>
          <p:nvPr/>
        </p:nvSpPr>
        <p:spPr bwMode="auto">
          <a:xfrm>
            <a:off x="2400300" y="4573588"/>
            <a:ext cx="0" cy="23971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AutoShape 8">
            <a:extLst>
              <a:ext uri="{FF2B5EF4-FFF2-40B4-BE49-F238E27FC236}">
                <a16:creationId xmlns:a16="http://schemas.microsoft.com/office/drawing/2014/main" id="{D264FC16-307C-0EA5-C46E-7BCB3D302C1A}"/>
              </a:ext>
            </a:extLst>
          </p:cNvPr>
          <p:cNvSpPr>
            <a:spLocks noChangeArrowheads="1"/>
          </p:cNvSpPr>
          <p:nvPr/>
        </p:nvSpPr>
        <p:spPr bwMode="auto">
          <a:xfrm>
            <a:off x="7115175" y="6557963"/>
            <a:ext cx="1346200" cy="476250"/>
          </a:xfrm>
          <a:prstGeom prst="roundRect">
            <a:avLst>
              <a:gd name="adj" fmla="val 16667"/>
            </a:avLst>
          </a:prstGeom>
          <a:solidFill>
            <a:srgbClr val="99CC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End</a:t>
            </a:r>
          </a:p>
        </p:txBody>
      </p:sp>
      <p:sp>
        <p:nvSpPr>
          <p:cNvPr id="36867" name="Rectangle 9">
            <a:extLst>
              <a:ext uri="{FF2B5EF4-FFF2-40B4-BE49-F238E27FC236}">
                <a16:creationId xmlns:a16="http://schemas.microsoft.com/office/drawing/2014/main" id="{3BEF86F7-2440-CF85-E72E-5BA34DA360CF}"/>
              </a:ext>
            </a:extLst>
          </p:cNvPr>
          <p:cNvSpPr>
            <a:spLocks noChangeArrowheads="1"/>
          </p:cNvSpPr>
          <p:nvPr/>
        </p:nvSpPr>
        <p:spPr bwMode="auto">
          <a:xfrm>
            <a:off x="6692900" y="3065463"/>
            <a:ext cx="2189163" cy="871537"/>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Geometry</a:t>
            </a:r>
          </a:p>
          <a:p>
            <a:pPr eaLnBrk="1" hangingPunct="1"/>
            <a:r>
              <a:rPr lang="en-GB" altLang="en-US" sz="2100" b="1">
                <a:solidFill>
                  <a:srgbClr val="000000"/>
                </a:solidFill>
              </a:rPr>
              <a:t>Update</a:t>
            </a:r>
          </a:p>
        </p:txBody>
      </p:sp>
      <p:sp>
        <p:nvSpPr>
          <p:cNvPr id="36868" name="Text Box 13">
            <a:extLst>
              <a:ext uri="{FF2B5EF4-FFF2-40B4-BE49-F238E27FC236}">
                <a16:creationId xmlns:a16="http://schemas.microsoft.com/office/drawing/2014/main" id="{E2A94CA6-426D-14EB-E885-68A22682DB8C}"/>
              </a:ext>
            </a:extLst>
          </p:cNvPr>
          <p:cNvSpPr txBox="1">
            <a:spLocks noChangeArrowheads="1"/>
          </p:cNvSpPr>
          <p:nvPr/>
        </p:nvSpPr>
        <p:spPr bwMode="auto">
          <a:xfrm>
            <a:off x="7872413" y="4494213"/>
            <a:ext cx="100965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1600" b="1">
                <a:solidFill>
                  <a:srgbClr val="000000"/>
                </a:solidFill>
                <a:latin typeface="Arial" panose="020B0604020202020204" pitchFamily="34" charset="0"/>
              </a:rPr>
              <a:t>yes</a:t>
            </a:r>
          </a:p>
        </p:txBody>
      </p:sp>
      <p:sp>
        <p:nvSpPr>
          <p:cNvPr id="36869" name="Text Box 14">
            <a:extLst>
              <a:ext uri="{FF2B5EF4-FFF2-40B4-BE49-F238E27FC236}">
                <a16:creationId xmlns:a16="http://schemas.microsoft.com/office/drawing/2014/main" id="{3CCBDD7A-9F50-8D56-6A32-5EFDF117AEB6}"/>
              </a:ext>
            </a:extLst>
          </p:cNvPr>
          <p:cNvSpPr txBox="1">
            <a:spLocks noChangeArrowheads="1"/>
          </p:cNvSpPr>
          <p:nvPr/>
        </p:nvSpPr>
        <p:spPr bwMode="auto">
          <a:xfrm>
            <a:off x="7954963" y="6240463"/>
            <a:ext cx="1011237"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1600" b="1">
                <a:solidFill>
                  <a:srgbClr val="000000"/>
                </a:solidFill>
                <a:latin typeface="Arial" panose="020B0604020202020204" pitchFamily="34" charset="0"/>
              </a:rPr>
              <a:t>no</a:t>
            </a:r>
          </a:p>
        </p:txBody>
      </p:sp>
      <p:sp>
        <p:nvSpPr>
          <p:cNvPr id="36870" name="Line 26">
            <a:extLst>
              <a:ext uri="{FF2B5EF4-FFF2-40B4-BE49-F238E27FC236}">
                <a16:creationId xmlns:a16="http://schemas.microsoft.com/office/drawing/2014/main" id="{BA5B2772-211F-974F-B678-1D6A884E52C4}"/>
              </a:ext>
            </a:extLst>
          </p:cNvPr>
          <p:cNvSpPr>
            <a:spLocks noChangeShapeType="1"/>
          </p:cNvSpPr>
          <p:nvPr/>
        </p:nvSpPr>
        <p:spPr bwMode="auto">
          <a:xfrm>
            <a:off x="3494088" y="5843588"/>
            <a:ext cx="3114675"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71" name="Text Box 28">
            <a:extLst>
              <a:ext uri="{FF2B5EF4-FFF2-40B4-BE49-F238E27FC236}">
                <a16:creationId xmlns:a16="http://schemas.microsoft.com/office/drawing/2014/main" id="{C2429A31-39AE-4716-F9F7-655934F3711C}"/>
              </a:ext>
            </a:extLst>
          </p:cNvPr>
          <p:cNvSpPr txBox="1">
            <a:spLocks noChangeArrowheads="1"/>
          </p:cNvSpPr>
          <p:nvPr/>
        </p:nvSpPr>
        <p:spPr bwMode="auto">
          <a:xfrm>
            <a:off x="3914775" y="604838"/>
            <a:ext cx="5640388"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700" b="1">
                <a:solidFill>
                  <a:srgbClr val="000000"/>
                </a:solidFill>
                <a:latin typeface="Arial Black" panose="020B0604020202020204" pitchFamily="34" charset="0"/>
              </a:rPr>
              <a:t>MULTI-STEP ALGORITHM</a:t>
            </a:r>
            <a:endParaRPr lang="en-US" altLang="en-US" sz="2700" b="1">
              <a:solidFill>
                <a:srgbClr val="000000"/>
              </a:solidFill>
              <a:latin typeface="Arial Black" panose="020B0604020202020204" pitchFamily="34" charset="0"/>
            </a:endParaRPr>
          </a:p>
        </p:txBody>
      </p:sp>
      <p:sp>
        <p:nvSpPr>
          <p:cNvPr id="36872" name="AutoShape 29">
            <a:extLst>
              <a:ext uri="{FF2B5EF4-FFF2-40B4-BE49-F238E27FC236}">
                <a16:creationId xmlns:a16="http://schemas.microsoft.com/office/drawing/2014/main" id="{A2F6FF61-B62D-883D-74EE-FF1732EB01AC}"/>
              </a:ext>
            </a:extLst>
          </p:cNvPr>
          <p:cNvSpPr>
            <a:spLocks noChangeArrowheads="1"/>
          </p:cNvSpPr>
          <p:nvPr/>
        </p:nvSpPr>
        <p:spPr bwMode="auto">
          <a:xfrm>
            <a:off x="1725613" y="765175"/>
            <a:ext cx="1346200" cy="476250"/>
          </a:xfrm>
          <a:prstGeom prst="roundRect">
            <a:avLst>
              <a:gd name="adj" fmla="val 16667"/>
            </a:avLst>
          </a:prstGeom>
          <a:solidFill>
            <a:srgbClr val="99CC00"/>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Start</a:t>
            </a:r>
          </a:p>
        </p:txBody>
      </p:sp>
      <p:sp>
        <p:nvSpPr>
          <p:cNvPr id="36873" name="Rectangle 30">
            <a:extLst>
              <a:ext uri="{FF2B5EF4-FFF2-40B4-BE49-F238E27FC236}">
                <a16:creationId xmlns:a16="http://schemas.microsoft.com/office/drawing/2014/main" id="{9D976ADB-25E8-D53C-0D66-E30BB74E8297}"/>
              </a:ext>
            </a:extLst>
          </p:cNvPr>
          <p:cNvSpPr>
            <a:spLocks noChangeArrowheads="1"/>
          </p:cNvSpPr>
          <p:nvPr/>
        </p:nvSpPr>
        <p:spPr bwMode="auto">
          <a:xfrm>
            <a:off x="884238" y="1477963"/>
            <a:ext cx="3367087" cy="555625"/>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Define Substrate</a:t>
            </a:r>
          </a:p>
        </p:txBody>
      </p:sp>
      <p:sp>
        <p:nvSpPr>
          <p:cNvPr id="36874" name="Rectangle 31">
            <a:extLst>
              <a:ext uri="{FF2B5EF4-FFF2-40B4-BE49-F238E27FC236}">
                <a16:creationId xmlns:a16="http://schemas.microsoft.com/office/drawing/2014/main" id="{9FF7E5F5-DC14-D3B9-A3A6-4B907E2ADF39}"/>
              </a:ext>
            </a:extLst>
          </p:cNvPr>
          <p:cNvSpPr>
            <a:spLocks noChangeArrowheads="1"/>
          </p:cNvSpPr>
          <p:nvPr/>
        </p:nvSpPr>
        <p:spPr bwMode="auto">
          <a:xfrm>
            <a:off x="884238" y="2430463"/>
            <a:ext cx="3367087" cy="555625"/>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GB" altLang="en-US" sz="2100" b="1">
                <a:solidFill>
                  <a:srgbClr val="000000"/>
                </a:solidFill>
              </a:rPr>
              <a:t>Create Mesh </a:t>
            </a:r>
            <a:endParaRPr lang="en-GB" altLang="en-US" sz="2100"/>
          </a:p>
        </p:txBody>
      </p:sp>
      <p:sp>
        <p:nvSpPr>
          <p:cNvPr id="36875" name="Rectangle 32">
            <a:extLst>
              <a:ext uri="{FF2B5EF4-FFF2-40B4-BE49-F238E27FC236}">
                <a16:creationId xmlns:a16="http://schemas.microsoft.com/office/drawing/2014/main" id="{43FCDF14-06A4-9350-8F1A-3B799CCC7CF0}"/>
              </a:ext>
            </a:extLst>
          </p:cNvPr>
          <p:cNvSpPr>
            <a:spLocks noChangeArrowheads="1"/>
          </p:cNvSpPr>
          <p:nvPr/>
        </p:nvSpPr>
        <p:spPr bwMode="auto">
          <a:xfrm>
            <a:off x="884238" y="4017963"/>
            <a:ext cx="3367087" cy="554037"/>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Internal CFD ICING</a:t>
            </a:r>
          </a:p>
        </p:txBody>
      </p:sp>
      <p:sp>
        <p:nvSpPr>
          <p:cNvPr id="36876" name="Line 33">
            <a:extLst>
              <a:ext uri="{FF2B5EF4-FFF2-40B4-BE49-F238E27FC236}">
                <a16:creationId xmlns:a16="http://schemas.microsoft.com/office/drawing/2014/main" id="{EDC2679D-6017-EDA5-2A92-D5680816BE0D}"/>
              </a:ext>
            </a:extLst>
          </p:cNvPr>
          <p:cNvSpPr>
            <a:spLocks noChangeShapeType="1"/>
          </p:cNvSpPr>
          <p:nvPr/>
        </p:nvSpPr>
        <p:spPr bwMode="auto">
          <a:xfrm>
            <a:off x="2400300" y="1241425"/>
            <a:ext cx="0" cy="239713"/>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77" name="Line 34">
            <a:extLst>
              <a:ext uri="{FF2B5EF4-FFF2-40B4-BE49-F238E27FC236}">
                <a16:creationId xmlns:a16="http://schemas.microsoft.com/office/drawing/2014/main" id="{B375D224-1183-6AE7-045D-D743CECBF8F7}"/>
              </a:ext>
            </a:extLst>
          </p:cNvPr>
          <p:cNvSpPr>
            <a:spLocks noChangeShapeType="1"/>
          </p:cNvSpPr>
          <p:nvPr/>
        </p:nvSpPr>
        <p:spPr bwMode="auto">
          <a:xfrm>
            <a:off x="2400300" y="2987675"/>
            <a:ext cx="0" cy="239713"/>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78" name="Line 35">
            <a:extLst>
              <a:ext uri="{FF2B5EF4-FFF2-40B4-BE49-F238E27FC236}">
                <a16:creationId xmlns:a16="http://schemas.microsoft.com/office/drawing/2014/main" id="{E0B7D4CA-4B85-0B7F-DCCC-67C8EDDEB425}"/>
              </a:ext>
            </a:extLst>
          </p:cNvPr>
          <p:cNvSpPr>
            <a:spLocks noChangeShapeType="1"/>
          </p:cNvSpPr>
          <p:nvPr/>
        </p:nvSpPr>
        <p:spPr bwMode="auto">
          <a:xfrm>
            <a:off x="2398713" y="3779838"/>
            <a:ext cx="0" cy="23971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79" name="Line 36">
            <a:extLst>
              <a:ext uri="{FF2B5EF4-FFF2-40B4-BE49-F238E27FC236}">
                <a16:creationId xmlns:a16="http://schemas.microsoft.com/office/drawing/2014/main" id="{B1C4498F-F7CD-D44D-59C4-BF881E7F4524}"/>
              </a:ext>
            </a:extLst>
          </p:cNvPr>
          <p:cNvSpPr>
            <a:spLocks noChangeShapeType="1"/>
          </p:cNvSpPr>
          <p:nvPr/>
        </p:nvSpPr>
        <p:spPr bwMode="auto">
          <a:xfrm>
            <a:off x="2820988" y="5367338"/>
            <a:ext cx="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80" name="Line 37">
            <a:extLst>
              <a:ext uri="{FF2B5EF4-FFF2-40B4-BE49-F238E27FC236}">
                <a16:creationId xmlns:a16="http://schemas.microsoft.com/office/drawing/2014/main" id="{9F58EB41-1D54-24D4-C6F1-4A0D79F604DF}"/>
              </a:ext>
            </a:extLst>
          </p:cNvPr>
          <p:cNvSpPr>
            <a:spLocks noChangeShapeType="1"/>
          </p:cNvSpPr>
          <p:nvPr/>
        </p:nvSpPr>
        <p:spPr bwMode="auto">
          <a:xfrm>
            <a:off x="2400300" y="2033588"/>
            <a:ext cx="0" cy="396875"/>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81" name="Rectangle 38">
            <a:extLst>
              <a:ext uri="{FF2B5EF4-FFF2-40B4-BE49-F238E27FC236}">
                <a16:creationId xmlns:a16="http://schemas.microsoft.com/office/drawing/2014/main" id="{2DF88513-2049-9745-C9C0-EF1F583263A9}"/>
              </a:ext>
            </a:extLst>
          </p:cNvPr>
          <p:cNvSpPr>
            <a:spLocks noChangeArrowheads="1"/>
          </p:cNvSpPr>
          <p:nvPr/>
        </p:nvSpPr>
        <p:spPr bwMode="auto">
          <a:xfrm>
            <a:off x="1304925" y="5605463"/>
            <a:ext cx="2189163" cy="871537"/>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Restart File</a:t>
            </a:r>
          </a:p>
        </p:txBody>
      </p:sp>
      <p:sp>
        <p:nvSpPr>
          <p:cNvPr id="36882" name="Rectangle 39">
            <a:extLst>
              <a:ext uri="{FF2B5EF4-FFF2-40B4-BE49-F238E27FC236}">
                <a16:creationId xmlns:a16="http://schemas.microsoft.com/office/drawing/2014/main" id="{4DC01746-A930-9448-1E55-466136E1521D}"/>
              </a:ext>
            </a:extLst>
          </p:cNvPr>
          <p:cNvSpPr>
            <a:spLocks noChangeArrowheads="1"/>
          </p:cNvSpPr>
          <p:nvPr/>
        </p:nvSpPr>
        <p:spPr bwMode="auto">
          <a:xfrm>
            <a:off x="884238" y="3225800"/>
            <a:ext cx="3367087" cy="554038"/>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GB" altLang="en-US" sz="2100" b="1">
                <a:solidFill>
                  <a:srgbClr val="000000"/>
                </a:solidFill>
              </a:rPr>
              <a:t>Solve Flow (CFD)</a:t>
            </a:r>
          </a:p>
        </p:txBody>
      </p:sp>
      <p:sp>
        <p:nvSpPr>
          <p:cNvPr id="36883" name="Rectangle 40">
            <a:extLst>
              <a:ext uri="{FF2B5EF4-FFF2-40B4-BE49-F238E27FC236}">
                <a16:creationId xmlns:a16="http://schemas.microsoft.com/office/drawing/2014/main" id="{AC9FCB94-061B-5B56-CCDB-B735EE01681B}"/>
              </a:ext>
            </a:extLst>
          </p:cNvPr>
          <p:cNvSpPr>
            <a:spLocks noChangeArrowheads="1"/>
          </p:cNvSpPr>
          <p:nvPr/>
        </p:nvSpPr>
        <p:spPr bwMode="auto">
          <a:xfrm>
            <a:off x="884238" y="4811713"/>
            <a:ext cx="3367087" cy="555625"/>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GB" altLang="en-US" sz="2100" b="1">
                <a:solidFill>
                  <a:srgbClr val="000000"/>
                </a:solidFill>
              </a:rPr>
              <a:t>Predict Ice</a:t>
            </a:r>
          </a:p>
        </p:txBody>
      </p:sp>
      <p:sp>
        <p:nvSpPr>
          <p:cNvPr id="36884" name="Line 41">
            <a:extLst>
              <a:ext uri="{FF2B5EF4-FFF2-40B4-BE49-F238E27FC236}">
                <a16:creationId xmlns:a16="http://schemas.microsoft.com/office/drawing/2014/main" id="{13D28B89-BE21-234E-DB5C-BE3351675D2D}"/>
              </a:ext>
            </a:extLst>
          </p:cNvPr>
          <p:cNvSpPr>
            <a:spLocks noChangeShapeType="1"/>
          </p:cNvSpPr>
          <p:nvPr/>
        </p:nvSpPr>
        <p:spPr bwMode="auto">
          <a:xfrm>
            <a:off x="2400300" y="4573588"/>
            <a:ext cx="0" cy="23971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85" name="Line 42">
            <a:extLst>
              <a:ext uri="{FF2B5EF4-FFF2-40B4-BE49-F238E27FC236}">
                <a16:creationId xmlns:a16="http://schemas.microsoft.com/office/drawing/2014/main" id="{25073F6A-3836-D160-2B20-E4817489F8D9}"/>
              </a:ext>
            </a:extLst>
          </p:cNvPr>
          <p:cNvSpPr>
            <a:spLocks noChangeShapeType="1"/>
          </p:cNvSpPr>
          <p:nvPr/>
        </p:nvSpPr>
        <p:spPr bwMode="auto">
          <a:xfrm>
            <a:off x="2400300" y="5367338"/>
            <a:ext cx="0" cy="23971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86" name="AutoShape 45">
            <a:extLst>
              <a:ext uri="{FF2B5EF4-FFF2-40B4-BE49-F238E27FC236}">
                <a16:creationId xmlns:a16="http://schemas.microsoft.com/office/drawing/2014/main" id="{4992ED20-88C1-812E-5113-DAD1E029B392}"/>
              </a:ext>
            </a:extLst>
          </p:cNvPr>
          <p:cNvSpPr>
            <a:spLocks noChangeArrowheads="1"/>
          </p:cNvSpPr>
          <p:nvPr/>
        </p:nvSpPr>
        <p:spPr bwMode="auto">
          <a:xfrm>
            <a:off x="6608763" y="5367338"/>
            <a:ext cx="2439987" cy="954087"/>
          </a:xfrm>
          <a:prstGeom prst="diamond">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2100" b="1">
                <a:solidFill>
                  <a:srgbClr val="000000"/>
                </a:solidFill>
              </a:rPr>
              <a:t>Multi-step</a:t>
            </a:r>
            <a:endParaRPr lang="en-US" altLang="en-US" sz="2100" b="1">
              <a:solidFill>
                <a:srgbClr val="000000"/>
              </a:solidFill>
            </a:endParaRPr>
          </a:p>
        </p:txBody>
      </p:sp>
      <p:sp>
        <p:nvSpPr>
          <p:cNvPr id="36887" name="Line 48">
            <a:extLst>
              <a:ext uri="{FF2B5EF4-FFF2-40B4-BE49-F238E27FC236}">
                <a16:creationId xmlns:a16="http://schemas.microsoft.com/office/drawing/2014/main" id="{04E683EF-8C52-7DAD-9BCE-4499F910AA83}"/>
              </a:ext>
            </a:extLst>
          </p:cNvPr>
          <p:cNvSpPr>
            <a:spLocks noChangeShapeType="1"/>
          </p:cNvSpPr>
          <p:nvPr/>
        </p:nvSpPr>
        <p:spPr bwMode="auto">
          <a:xfrm flipV="1">
            <a:off x="7786688" y="3938588"/>
            <a:ext cx="0" cy="142875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88" name="Line 51">
            <a:extLst>
              <a:ext uri="{FF2B5EF4-FFF2-40B4-BE49-F238E27FC236}">
                <a16:creationId xmlns:a16="http://schemas.microsoft.com/office/drawing/2014/main" id="{1B62C2C5-ED66-2E30-AEE4-56F5992BC82D}"/>
              </a:ext>
            </a:extLst>
          </p:cNvPr>
          <p:cNvSpPr>
            <a:spLocks noChangeShapeType="1"/>
          </p:cNvSpPr>
          <p:nvPr/>
        </p:nvSpPr>
        <p:spPr bwMode="auto">
          <a:xfrm flipV="1">
            <a:off x="7786688" y="1398588"/>
            <a:ext cx="0" cy="1666875"/>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89" name="Line 52">
            <a:extLst>
              <a:ext uri="{FF2B5EF4-FFF2-40B4-BE49-F238E27FC236}">
                <a16:creationId xmlns:a16="http://schemas.microsoft.com/office/drawing/2014/main" id="{17F9AB12-8DE0-C075-9EE5-2FEAF4C87990}"/>
              </a:ext>
            </a:extLst>
          </p:cNvPr>
          <p:cNvSpPr>
            <a:spLocks noChangeShapeType="1"/>
          </p:cNvSpPr>
          <p:nvPr/>
        </p:nvSpPr>
        <p:spPr bwMode="auto">
          <a:xfrm flipH="1">
            <a:off x="2398713" y="1398588"/>
            <a:ext cx="5387975"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36890" name="Line 53">
            <a:extLst>
              <a:ext uri="{FF2B5EF4-FFF2-40B4-BE49-F238E27FC236}">
                <a16:creationId xmlns:a16="http://schemas.microsoft.com/office/drawing/2014/main" id="{FD9B2A68-9EE5-9EF6-A98C-D1593BC62322}"/>
              </a:ext>
            </a:extLst>
          </p:cNvPr>
          <p:cNvSpPr>
            <a:spLocks noChangeShapeType="1"/>
          </p:cNvSpPr>
          <p:nvPr/>
        </p:nvSpPr>
        <p:spPr bwMode="auto">
          <a:xfrm>
            <a:off x="7786688" y="6321425"/>
            <a:ext cx="0" cy="236538"/>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6463898E-4D2E-6E3E-D584-A62208221683}"/>
              </a:ext>
            </a:extLst>
          </p:cNvPr>
          <p:cNvSpPr>
            <a:spLocks noGrp="1"/>
          </p:cNvSpPr>
          <p:nvPr>
            <p:ph type="sldNum" sz="quarter" idx="4294967295"/>
          </p:nvPr>
        </p:nvSpPr>
        <p:spPr bwMode="auto">
          <a:xfrm>
            <a:off x="7662863" y="6888163"/>
            <a:ext cx="2227262" cy="5032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CE7E784-9792-5440-AA86-945DFB2F29F5}" type="slidenum">
              <a:rPr lang="en-GB" altLang="en-US" sz="1600"/>
              <a:pPr/>
              <a:t>33</a:t>
            </a:fld>
            <a:endParaRPr lang="en-GB" altLang="en-US" sz="1600"/>
          </a:p>
        </p:txBody>
      </p:sp>
      <p:sp>
        <p:nvSpPr>
          <p:cNvPr id="37891" name="Rectangle 2">
            <a:extLst>
              <a:ext uri="{FF2B5EF4-FFF2-40B4-BE49-F238E27FC236}">
                <a16:creationId xmlns:a16="http://schemas.microsoft.com/office/drawing/2014/main" id="{DB899BF5-3148-72B1-53A0-64F4DAA53C19}"/>
              </a:ext>
            </a:extLst>
          </p:cNvPr>
          <p:cNvSpPr>
            <a:spLocks noGrp="1" noChangeArrowheads="1"/>
          </p:cNvSpPr>
          <p:nvPr>
            <p:ph type="title"/>
          </p:nvPr>
        </p:nvSpPr>
        <p:spPr>
          <a:xfrm>
            <a:off x="9525" y="404813"/>
            <a:ext cx="10691813" cy="852487"/>
          </a:xfrm>
        </p:spPr>
        <p:txBody>
          <a:bodyPr/>
          <a:lstStyle/>
          <a:p>
            <a:pPr algn="l"/>
            <a:r>
              <a:rPr lang="en-GB" altLang="en-US" sz="3600" b="0"/>
              <a:t>Limitations Multi-Stepping Procedure </a:t>
            </a:r>
          </a:p>
        </p:txBody>
      </p:sp>
      <p:sp>
        <p:nvSpPr>
          <p:cNvPr id="37892" name="Rectangle 3">
            <a:extLst>
              <a:ext uri="{FF2B5EF4-FFF2-40B4-BE49-F238E27FC236}">
                <a16:creationId xmlns:a16="http://schemas.microsoft.com/office/drawing/2014/main" id="{DB1E5BB2-0F1B-11C0-9E84-32DA7A034CC8}"/>
              </a:ext>
            </a:extLst>
          </p:cNvPr>
          <p:cNvSpPr>
            <a:spLocks noGrp="1" noChangeArrowheads="1"/>
          </p:cNvSpPr>
          <p:nvPr>
            <p:ph type="body" idx="1"/>
          </p:nvPr>
        </p:nvSpPr>
        <p:spPr>
          <a:xfrm>
            <a:off x="-379413" y="1636713"/>
            <a:ext cx="10691813" cy="3763962"/>
          </a:xfrm>
        </p:spPr>
        <p:txBody>
          <a:bodyPr/>
          <a:lstStyle/>
          <a:p>
            <a:pPr>
              <a:buFont typeface="Webdings" pitchFamily="2" charset="2"/>
              <a:buNone/>
            </a:pPr>
            <a:endParaRPr lang="en-GB" altLang="en-US" sz="3200"/>
          </a:p>
          <a:p>
            <a:pPr lvl="2">
              <a:buFont typeface="Wingdings" pitchFamily="2" charset="2"/>
              <a:buChar char="Ø"/>
            </a:pPr>
            <a:r>
              <a:rPr lang="en-GB" altLang="en-US" sz="2800"/>
              <a:t> Slow process (mesh, flow, interface CFD/Ice Code)</a:t>
            </a:r>
          </a:p>
          <a:p>
            <a:pPr lvl="2">
              <a:buFont typeface="Wingdings" pitchFamily="2" charset="2"/>
              <a:buChar char="Ø"/>
            </a:pPr>
            <a:r>
              <a:rPr lang="en-GB" altLang="en-US" sz="2800"/>
              <a:t> Difficulties to set-up droplets starting point </a:t>
            </a:r>
          </a:p>
          <a:p>
            <a:pPr lvl="2">
              <a:buFont typeface="Wingdings" pitchFamily="2" charset="2"/>
              <a:buChar char="Ø"/>
            </a:pPr>
            <a:r>
              <a:rPr lang="en-GB" altLang="en-US" sz="2800"/>
              <a:t> Problems with the particle tracking routine </a:t>
            </a:r>
          </a:p>
          <a:p>
            <a:pPr lvl="2">
              <a:buFont typeface="Wingdings" pitchFamily="2" charset="2"/>
              <a:buChar char="Ø"/>
            </a:pPr>
            <a:r>
              <a:rPr lang="en-GB" altLang="en-US" sz="2800"/>
              <a:t>Difficulties with the automatic re-meshing</a:t>
            </a:r>
          </a:p>
          <a:p>
            <a:pPr lvl="2">
              <a:buFont typeface="Wingdings" pitchFamily="2" charset="2"/>
              <a:buChar char="Ø"/>
            </a:pPr>
            <a:endParaRPr lang="en-GB" altLang="en-US" sz="2800"/>
          </a:p>
          <a:p>
            <a:pPr lvl="2">
              <a:buFont typeface="Wingdings" pitchFamily="2" charset="2"/>
              <a:buChar char="Ø"/>
            </a:pPr>
            <a:r>
              <a:rPr lang="en-GB" altLang="en-US" sz="2800"/>
              <a:t> No update of the water height between steps</a:t>
            </a:r>
          </a:p>
          <a:p>
            <a:pPr lvl="2">
              <a:buFont typeface="Wingdings" pitchFamily="2" charset="2"/>
              <a:buChar char="Ø"/>
            </a:pPr>
            <a:r>
              <a:rPr lang="en-GB" altLang="en-US" sz="2800"/>
              <a:t> No update of the surface temperature </a:t>
            </a:r>
            <a:r>
              <a:rPr lang="en-GB" altLang="en-US" sz="500"/>
              <a:t>	</a:t>
            </a:r>
          </a:p>
          <a:p>
            <a:pPr>
              <a:buFont typeface="Webdings" pitchFamily="2" charset="2"/>
              <a:buNone/>
            </a:pPr>
            <a:endParaRPr lang="en-GB" altLang="en-US" sz="500"/>
          </a:p>
          <a:p>
            <a:endParaRPr lang="en-GB" altLang="en-US" sz="5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7">
            <a:extLst>
              <a:ext uri="{FF2B5EF4-FFF2-40B4-BE49-F238E27FC236}">
                <a16:creationId xmlns:a16="http://schemas.microsoft.com/office/drawing/2014/main" id="{AE351A2D-1227-D9C9-69D5-292CC1B15A7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FFE616F-461B-AB4F-8644-9BEF4003E598}" type="slidenum">
              <a:rPr lang="en-GB" altLang="en-US" sz="1600"/>
              <a:pPr/>
              <a:t>34</a:t>
            </a:fld>
            <a:endParaRPr lang="en-GB" altLang="en-US" sz="1600"/>
          </a:p>
        </p:txBody>
      </p:sp>
      <p:graphicFrame>
        <p:nvGraphicFramePr>
          <p:cNvPr id="38915" name="Object 2">
            <a:extLst>
              <a:ext uri="{FF2B5EF4-FFF2-40B4-BE49-F238E27FC236}">
                <a16:creationId xmlns:a16="http://schemas.microsoft.com/office/drawing/2014/main" id="{50863F31-F5C2-A3A6-D0C4-C09C07955BFB}"/>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2" imgW="2628900" imgH="4102100" progId="Equation.DSMT4">
                  <p:embed/>
                </p:oleObj>
              </mc:Choice>
              <mc:Fallback>
                <p:oleObj name="Equation" r:id="rId2" imgW="2628900" imgH="41021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6" name="Object 3">
            <a:extLst>
              <a:ext uri="{FF2B5EF4-FFF2-40B4-BE49-F238E27FC236}">
                <a16:creationId xmlns:a16="http://schemas.microsoft.com/office/drawing/2014/main" id="{0BDD8B9D-4D59-88B2-273E-CC91E1207BDF}"/>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4" imgW="2628900" imgH="4102100" progId="Equation.DSMT4">
                  <p:embed/>
                </p:oleObj>
              </mc:Choice>
              <mc:Fallback>
                <p:oleObj name="Equation" r:id="rId4" imgW="2628900" imgH="41021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7" name="Text Box 4">
            <a:extLst>
              <a:ext uri="{FF2B5EF4-FFF2-40B4-BE49-F238E27FC236}">
                <a16:creationId xmlns:a16="http://schemas.microsoft.com/office/drawing/2014/main" id="{B20577E3-CA7D-8A3F-4824-A0B85DFBD0A4}"/>
              </a:ext>
            </a:extLst>
          </p:cNvPr>
          <p:cNvSpPr txBox="1">
            <a:spLocks noChangeArrowheads="1"/>
          </p:cNvSpPr>
          <p:nvPr/>
        </p:nvSpPr>
        <p:spPr bwMode="auto">
          <a:xfrm>
            <a:off x="966788" y="604838"/>
            <a:ext cx="89662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700" b="1">
                <a:solidFill>
                  <a:srgbClr val="000000"/>
                </a:solidFill>
                <a:latin typeface="Arial" panose="020B0604020202020204" pitchFamily="34" charset="0"/>
              </a:rPr>
              <a:t> NACA 0012 – T</a:t>
            </a:r>
            <a:r>
              <a:rPr lang="en-GB" altLang="en-US" sz="1400" b="1">
                <a:solidFill>
                  <a:srgbClr val="000000"/>
                </a:solidFill>
                <a:latin typeface="Arial" panose="020B0604020202020204" pitchFamily="34" charset="0"/>
              </a:rPr>
              <a:t>s </a:t>
            </a:r>
            <a:r>
              <a:rPr lang="en-GB" altLang="en-US" sz="2700" b="1">
                <a:solidFill>
                  <a:srgbClr val="000000"/>
                </a:solidFill>
                <a:latin typeface="Arial" panose="020B0604020202020204" pitchFamily="34" charset="0"/>
              </a:rPr>
              <a:t>= -26  C – T</a:t>
            </a:r>
            <a:r>
              <a:rPr lang="en-GB" altLang="en-US" sz="1400" b="1">
                <a:solidFill>
                  <a:srgbClr val="000000"/>
                </a:solidFill>
                <a:latin typeface="Arial" panose="020B0604020202020204" pitchFamily="34" charset="0"/>
              </a:rPr>
              <a:t>exp </a:t>
            </a:r>
            <a:r>
              <a:rPr lang="en-GB" altLang="en-US" sz="2700" b="1">
                <a:solidFill>
                  <a:srgbClr val="000000"/>
                </a:solidFill>
                <a:latin typeface="Arial" panose="020B0604020202020204" pitchFamily="34" charset="0"/>
              </a:rPr>
              <a:t>= 6min</a:t>
            </a:r>
            <a:endParaRPr lang="en-GB" altLang="en-US" sz="2700" b="1">
              <a:latin typeface="Arial" panose="020B0604020202020204" pitchFamily="34" charset="0"/>
            </a:endParaRPr>
          </a:p>
        </p:txBody>
      </p:sp>
      <p:sp>
        <p:nvSpPr>
          <p:cNvPr id="38918" name="Text Box 5">
            <a:extLst>
              <a:ext uri="{FF2B5EF4-FFF2-40B4-BE49-F238E27FC236}">
                <a16:creationId xmlns:a16="http://schemas.microsoft.com/office/drawing/2014/main" id="{C1812D23-A2BB-DCB5-A4DB-FF08F9D509C7}"/>
              </a:ext>
            </a:extLst>
          </p:cNvPr>
          <p:cNvSpPr txBox="1">
            <a:spLocks noChangeArrowheads="1"/>
          </p:cNvSpPr>
          <p:nvPr/>
        </p:nvSpPr>
        <p:spPr bwMode="auto">
          <a:xfrm>
            <a:off x="884238" y="6637338"/>
            <a:ext cx="488315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sp>
        <p:nvSpPr>
          <p:cNvPr id="38919" name="Text Box 6">
            <a:extLst>
              <a:ext uri="{FF2B5EF4-FFF2-40B4-BE49-F238E27FC236}">
                <a16:creationId xmlns:a16="http://schemas.microsoft.com/office/drawing/2014/main" id="{15FD056B-A556-DC37-9C79-3E3215BC2AC8}"/>
              </a:ext>
            </a:extLst>
          </p:cNvPr>
          <p:cNvSpPr txBox="1">
            <a:spLocks noChangeArrowheads="1"/>
          </p:cNvSpPr>
          <p:nvPr/>
        </p:nvSpPr>
        <p:spPr bwMode="auto">
          <a:xfrm>
            <a:off x="966788" y="6557963"/>
            <a:ext cx="2022475"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graphicFrame>
        <p:nvGraphicFramePr>
          <p:cNvPr id="38920" name="Rectangle 8">
            <a:extLst>
              <a:ext uri="{FF2B5EF4-FFF2-40B4-BE49-F238E27FC236}">
                <a16:creationId xmlns:a16="http://schemas.microsoft.com/office/drawing/2014/main" id="{CF853ECF-1EC6-42EF-801B-48695FE520F3}"/>
              </a:ext>
            </a:extLst>
          </p:cNvPr>
          <p:cNvGraphicFramePr>
            <a:graphicFrameLocks/>
          </p:cNvGraphicFramePr>
          <p:nvPr>
            <p:ph sz="quarter" idx="2"/>
          </p:nvPr>
        </p:nvGraphicFramePr>
        <p:xfrm>
          <a:off x="7662863" y="3276600"/>
          <a:ext cx="0" cy="0"/>
        </p:xfrm>
        <a:graphic>
          <a:graphicData uri="http://schemas.openxmlformats.org/presentationml/2006/ole">
            <mc:AlternateContent xmlns:mc="http://schemas.openxmlformats.org/markup-compatibility/2006">
              <mc:Choice xmlns:v="urn:schemas-microsoft-com:vml" Requires="v">
                <p:oleObj name="Equation" r:id="rId5" imgW="0" imgH="0" progId="Equation.3">
                  <p:embed/>
                </p:oleObj>
              </mc:Choice>
              <mc:Fallback>
                <p:oleObj name="Equation" r:id="rId5" imgW="0" imgH="0" progId="Equation.3">
                  <p:embed/>
                  <p:pic>
                    <p:nvPicPr>
                      <p:cNvPr id="0" name="Rectangle 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7662863" y="327660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8921" name="Picture 12" descr="T247MScomp">
            <a:extLst>
              <a:ext uri="{FF2B5EF4-FFF2-40B4-BE49-F238E27FC236}">
                <a16:creationId xmlns:a16="http://schemas.microsoft.com/office/drawing/2014/main" id="{77F86F6E-3956-378B-7475-214947614272}"/>
              </a:ext>
            </a:extLst>
          </p:cNvPr>
          <p:cNvPicPr>
            <a:picLocks noGrp="1" noChangeAspect="1" noChangeArrowheads="1"/>
          </p:cNvPicPr>
          <p:nvPr>
            <p:ph sz="half" idx="1"/>
          </p:nvPr>
        </p:nvPicPr>
        <p:blipFill>
          <a:blip r:embed="rId6">
            <a:extLst>
              <a:ext uri="{28A0092B-C50C-407E-A947-70E740481C1C}">
                <a14:useLocalDpi xmlns:a14="http://schemas.microsoft.com/office/drawing/2010/main" val="0"/>
              </a:ext>
            </a:extLst>
          </a:blip>
          <a:srcRect/>
          <a:stretch>
            <a:fillRect/>
          </a:stretch>
        </p:blipFill>
        <p:spPr>
          <a:xfrm>
            <a:off x="0" y="1081088"/>
            <a:ext cx="9555163" cy="6018212"/>
          </a:xfr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7">
            <a:extLst>
              <a:ext uri="{FF2B5EF4-FFF2-40B4-BE49-F238E27FC236}">
                <a16:creationId xmlns:a16="http://schemas.microsoft.com/office/drawing/2014/main" id="{CA2E6C1F-F6F3-2389-8A53-0EF009FED6C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15E6CF5-BDFE-834D-9D48-9642FFA9A352}" type="slidenum">
              <a:rPr lang="en-GB" altLang="en-US" sz="1600"/>
              <a:pPr/>
              <a:t>35</a:t>
            </a:fld>
            <a:endParaRPr lang="en-GB" altLang="en-US" sz="1600"/>
          </a:p>
        </p:txBody>
      </p:sp>
      <p:graphicFrame>
        <p:nvGraphicFramePr>
          <p:cNvPr id="39939" name="Object 2">
            <a:extLst>
              <a:ext uri="{FF2B5EF4-FFF2-40B4-BE49-F238E27FC236}">
                <a16:creationId xmlns:a16="http://schemas.microsoft.com/office/drawing/2014/main" id="{0F6AF8A0-312B-76CF-9B7E-7FEC2F5D50D5}"/>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2" imgW="2628900" imgH="4102100" progId="Equation.DSMT4">
                  <p:embed/>
                </p:oleObj>
              </mc:Choice>
              <mc:Fallback>
                <p:oleObj name="Equation" r:id="rId2" imgW="2628900" imgH="41021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40" name="Object 3">
            <a:extLst>
              <a:ext uri="{FF2B5EF4-FFF2-40B4-BE49-F238E27FC236}">
                <a16:creationId xmlns:a16="http://schemas.microsoft.com/office/drawing/2014/main" id="{95092009-279C-A66A-3E55-D2F35903135F}"/>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4" imgW="2628900" imgH="4102100" progId="Equation.DSMT4">
                  <p:embed/>
                </p:oleObj>
              </mc:Choice>
              <mc:Fallback>
                <p:oleObj name="Equation" r:id="rId4" imgW="2628900" imgH="41021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1" name="Text Box 4">
            <a:extLst>
              <a:ext uri="{FF2B5EF4-FFF2-40B4-BE49-F238E27FC236}">
                <a16:creationId xmlns:a16="http://schemas.microsoft.com/office/drawing/2014/main" id="{BD1E8706-4519-9776-CEC5-880BC4A1366A}"/>
              </a:ext>
            </a:extLst>
          </p:cNvPr>
          <p:cNvSpPr txBox="1">
            <a:spLocks noChangeArrowheads="1"/>
          </p:cNvSpPr>
          <p:nvPr/>
        </p:nvSpPr>
        <p:spPr bwMode="auto">
          <a:xfrm>
            <a:off x="1304925" y="684213"/>
            <a:ext cx="89662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700" b="1">
                <a:solidFill>
                  <a:srgbClr val="000000"/>
                </a:solidFill>
                <a:latin typeface="Arial" panose="020B0604020202020204" pitchFamily="34" charset="0"/>
              </a:rPr>
              <a:t> NACA 0012 – T</a:t>
            </a:r>
            <a:r>
              <a:rPr lang="en-GB" altLang="en-US" sz="1400" b="1">
                <a:solidFill>
                  <a:srgbClr val="000000"/>
                </a:solidFill>
                <a:latin typeface="Arial" panose="020B0604020202020204" pitchFamily="34" charset="0"/>
              </a:rPr>
              <a:t>s </a:t>
            </a:r>
            <a:r>
              <a:rPr lang="en-GB" altLang="en-US" sz="2700" b="1">
                <a:solidFill>
                  <a:srgbClr val="000000"/>
                </a:solidFill>
                <a:latin typeface="Arial" panose="020B0604020202020204" pitchFamily="34" charset="0"/>
              </a:rPr>
              <a:t>= - 5.6  C – T</a:t>
            </a:r>
            <a:r>
              <a:rPr lang="en-GB" altLang="en-US" sz="1400" b="1">
                <a:solidFill>
                  <a:srgbClr val="000000"/>
                </a:solidFill>
                <a:latin typeface="Arial" panose="020B0604020202020204" pitchFamily="34" charset="0"/>
              </a:rPr>
              <a:t>exp </a:t>
            </a:r>
            <a:r>
              <a:rPr lang="en-GB" altLang="en-US" sz="2700" b="1">
                <a:solidFill>
                  <a:srgbClr val="000000"/>
                </a:solidFill>
                <a:latin typeface="Arial" panose="020B0604020202020204" pitchFamily="34" charset="0"/>
              </a:rPr>
              <a:t>= 6 min – 3 steps</a:t>
            </a:r>
            <a:endParaRPr lang="en-GB" altLang="en-US" sz="2700" b="1">
              <a:latin typeface="Arial" panose="020B0604020202020204" pitchFamily="34" charset="0"/>
            </a:endParaRPr>
          </a:p>
        </p:txBody>
      </p:sp>
      <p:sp>
        <p:nvSpPr>
          <p:cNvPr id="39942" name="Text Box 5">
            <a:extLst>
              <a:ext uri="{FF2B5EF4-FFF2-40B4-BE49-F238E27FC236}">
                <a16:creationId xmlns:a16="http://schemas.microsoft.com/office/drawing/2014/main" id="{751DAA54-A7EF-5DAA-9E06-7FED1B8D86C9}"/>
              </a:ext>
            </a:extLst>
          </p:cNvPr>
          <p:cNvSpPr txBox="1">
            <a:spLocks noChangeArrowheads="1"/>
          </p:cNvSpPr>
          <p:nvPr/>
        </p:nvSpPr>
        <p:spPr bwMode="auto">
          <a:xfrm>
            <a:off x="884238" y="6637338"/>
            <a:ext cx="488315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sp>
        <p:nvSpPr>
          <p:cNvPr id="39943" name="Text Box 6">
            <a:extLst>
              <a:ext uri="{FF2B5EF4-FFF2-40B4-BE49-F238E27FC236}">
                <a16:creationId xmlns:a16="http://schemas.microsoft.com/office/drawing/2014/main" id="{839C14D8-7958-036E-26FE-78C193804840}"/>
              </a:ext>
            </a:extLst>
          </p:cNvPr>
          <p:cNvSpPr txBox="1">
            <a:spLocks noChangeArrowheads="1"/>
          </p:cNvSpPr>
          <p:nvPr/>
        </p:nvSpPr>
        <p:spPr bwMode="auto">
          <a:xfrm>
            <a:off x="966788" y="6557963"/>
            <a:ext cx="2022475"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graphicFrame>
        <p:nvGraphicFramePr>
          <p:cNvPr id="39944" name="Rectangle 7">
            <a:extLst>
              <a:ext uri="{FF2B5EF4-FFF2-40B4-BE49-F238E27FC236}">
                <a16:creationId xmlns:a16="http://schemas.microsoft.com/office/drawing/2014/main" id="{B8E3A5EE-DF7A-D58A-B92A-2A678D50AC40}"/>
              </a:ext>
            </a:extLst>
          </p:cNvPr>
          <p:cNvGraphicFramePr>
            <a:graphicFrameLocks/>
          </p:cNvGraphicFramePr>
          <p:nvPr>
            <p:ph sz="quarter" idx="2"/>
          </p:nvPr>
        </p:nvGraphicFramePr>
        <p:xfrm>
          <a:off x="7662863" y="3276600"/>
          <a:ext cx="0" cy="0"/>
        </p:xfrm>
        <a:graphic>
          <a:graphicData uri="http://schemas.openxmlformats.org/presentationml/2006/ole">
            <mc:AlternateContent xmlns:mc="http://schemas.openxmlformats.org/markup-compatibility/2006">
              <mc:Choice xmlns:v="urn:schemas-microsoft-com:vml" Requires="v">
                <p:oleObj name="Equation" r:id="rId5" imgW="0" imgH="0" progId="Equation.3">
                  <p:embed/>
                </p:oleObj>
              </mc:Choice>
              <mc:Fallback>
                <p:oleObj name="Equation" r:id="rId5" imgW="0" imgH="0" progId="Equation.3">
                  <p:embed/>
                  <p:pic>
                    <p:nvPicPr>
                      <p:cNvPr id="0" name="Rectangle 7"/>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7662863" y="327660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39945" name="Picture 10" descr="T267MScomp_3S">
            <a:extLst>
              <a:ext uri="{FF2B5EF4-FFF2-40B4-BE49-F238E27FC236}">
                <a16:creationId xmlns:a16="http://schemas.microsoft.com/office/drawing/2014/main" id="{183D5170-EFE2-5FE2-1131-9702F39C47A0}"/>
              </a:ext>
            </a:extLst>
          </p:cNvPr>
          <p:cNvPicPr>
            <a:picLocks noGrp="1" noChangeAspect="1" noChangeArrowheads="1"/>
          </p:cNvPicPr>
          <p:nvPr>
            <p:ph sz="half" idx="1"/>
          </p:nvPr>
        </p:nvPicPr>
        <p:blipFill>
          <a:blip r:embed="rId6">
            <a:extLst>
              <a:ext uri="{28A0092B-C50C-407E-A947-70E740481C1C}">
                <a14:useLocalDpi xmlns:a14="http://schemas.microsoft.com/office/drawing/2010/main" val="0"/>
              </a:ext>
            </a:extLst>
          </a:blip>
          <a:srcRect/>
          <a:stretch>
            <a:fillRect/>
          </a:stretch>
        </p:blipFill>
        <p:spPr>
          <a:xfrm>
            <a:off x="714375" y="1131888"/>
            <a:ext cx="8840788" cy="5851525"/>
          </a:xfr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a:extLst>
              <a:ext uri="{FF2B5EF4-FFF2-40B4-BE49-F238E27FC236}">
                <a16:creationId xmlns:a16="http://schemas.microsoft.com/office/drawing/2014/main" id="{C5AF3619-88C8-D541-4200-4FCE3D8A2DD8}"/>
              </a:ext>
            </a:extLst>
          </p:cNvPr>
          <p:cNvSpPr>
            <a:spLocks noGrp="1"/>
          </p:cNvSpPr>
          <p:nvPr>
            <p:ph type="sldNum" sz="quarter" idx="4294967295"/>
          </p:nvPr>
        </p:nvSpPr>
        <p:spPr bwMode="auto">
          <a:xfrm>
            <a:off x="7662863" y="6888163"/>
            <a:ext cx="2227262" cy="5032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718F303-542D-6C41-8551-EBF6FB79E338}" type="slidenum">
              <a:rPr lang="en-GB" altLang="en-US" sz="1600"/>
              <a:pPr/>
              <a:t>36</a:t>
            </a:fld>
            <a:endParaRPr lang="en-GB" altLang="en-US" sz="1600"/>
          </a:p>
        </p:txBody>
      </p:sp>
      <p:sp>
        <p:nvSpPr>
          <p:cNvPr id="40963" name="AutoShape 2">
            <a:extLst>
              <a:ext uri="{FF2B5EF4-FFF2-40B4-BE49-F238E27FC236}">
                <a16:creationId xmlns:a16="http://schemas.microsoft.com/office/drawing/2014/main" id="{7B4D412C-88BC-9D6E-970B-899618DA4361}"/>
              </a:ext>
            </a:extLst>
          </p:cNvPr>
          <p:cNvSpPr>
            <a:spLocks noChangeArrowheads="1"/>
          </p:cNvSpPr>
          <p:nvPr/>
        </p:nvSpPr>
        <p:spPr bwMode="auto">
          <a:xfrm>
            <a:off x="2147888" y="527050"/>
            <a:ext cx="1346200" cy="476250"/>
          </a:xfrm>
          <a:prstGeom prst="roundRect">
            <a:avLst>
              <a:gd name="adj" fmla="val 16667"/>
            </a:avLst>
          </a:prstGeom>
          <a:solidFill>
            <a:srgbClr val="CC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Start</a:t>
            </a:r>
          </a:p>
        </p:txBody>
      </p:sp>
      <p:sp>
        <p:nvSpPr>
          <p:cNvPr id="40964" name="Rectangle 3">
            <a:extLst>
              <a:ext uri="{FF2B5EF4-FFF2-40B4-BE49-F238E27FC236}">
                <a16:creationId xmlns:a16="http://schemas.microsoft.com/office/drawing/2014/main" id="{287FB530-6A46-B0B7-5BCF-6F692D804A6F}"/>
              </a:ext>
            </a:extLst>
          </p:cNvPr>
          <p:cNvSpPr>
            <a:spLocks noChangeArrowheads="1"/>
          </p:cNvSpPr>
          <p:nvPr/>
        </p:nvSpPr>
        <p:spPr bwMode="auto">
          <a:xfrm>
            <a:off x="1304925" y="1241425"/>
            <a:ext cx="3367088" cy="554038"/>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Define Substrate</a:t>
            </a:r>
          </a:p>
        </p:txBody>
      </p:sp>
      <p:sp>
        <p:nvSpPr>
          <p:cNvPr id="40965" name="Rectangle 4">
            <a:extLst>
              <a:ext uri="{FF2B5EF4-FFF2-40B4-BE49-F238E27FC236}">
                <a16:creationId xmlns:a16="http://schemas.microsoft.com/office/drawing/2014/main" id="{B9602996-BB94-3F23-F072-184FFF7FF9B2}"/>
              </a:ext>
            </a:extLst>
          </p:cNvPr>
          <p:cNvSpPr>
            <a:spLocks noChangeArrowheads="1"/>
          </p:cNvSpPr>
          <p:nvPr/>
        </p:nvSpPr>
        <p:spPr bwMode="auto">
          <a:xfrm>
            <a:off x="1304925" y="2192338"/>
            <a:ext cx="3367088" cy="555625"/>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Create Mesh (GAMBIT)</a:t>
            </a:r>
            <a:r>
              <a:rPr lang="en-GB" altLang="en-US" sz="2100"/>
              <a:t> </a:t>
            </a:r>
          </a:p>
        </p:txBody>
      </p:sp>
      <p:sp>
        <p:nvSpPr>
          <p:cNvPr id="40966" name="Rectangle 5">
            <a:extLst>
              <a:ext uri="{FF2B5EF4-FFF2-40B4-BE49-F238E27FC236}">
                <a16:creationId xmlns:a16="http://schemas.microsoft.com/office/drawing/2014/main" id="{D4DC6E66-55C6-77F8-EA62-0D175A515119}"/>
              </a:ext>
            </a:extLst>
          </p:cNvPr>
          <p:cNvSpPr>
            <a:spLocks noChangeArrowheads="1"/>
          </p:cNvSpPr>
          <p:nvPr/>
        </p:nvSpPr>
        <p:spPr bwMode="auto">
          <a:xfrm>
            <a:off x="1304925" y="3779838"/>
            <a:ext cx="3367088" cy="554037"/>
          </a:xfrm>
          <a:prstGeom prst="rect">
            <a:avLst/>
          </a:prstGeom>
          <a:solidFill>
            <a:srgbClr val="99CC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Predict Ice (ICECREMO2)</a:t>
            </a:r>
          </a:p>
        </p:txBody>
      </p:sp>
      <p:sp>
        <p:nvSpPr>
          <p:cNvPr id="40967" name="AutoShape 6">
            <a:extLst>
              <a:ext uri="{FF2B5EF4-FFF2-40B4-BE49-F238E27FC236}">
                <a16:creationId xmlns:a16="http://schemas.microsoft.com/office/drawing/2014/main" id="{D158B22B-AE99-BE32-D546-60F697CE36C8}"/>
              </a:ext>
            </a:extLst>
          </p:cNvPr>
          <p:cNvSpPr>
            <a:spLocks noChangeArrowheads="1"/>
          </p:cNvSpPr>
          <p:nvPr/>
        </p:nvSpPr>
        <p:spPr bwMode="auto">
          <a:xfrm>
            <a:off x="7367588" y="6637338"/>
            <a:ext cx="1346200" cy="476250"/>
          </a:xfrm>
          <a:prstGeom prst="roundRect">
            <a:avLst>
              <a:gd name="adj" fmla="val 16667"/>
            </a:avLst>
          </a:prstGeom>
          <a:solidFill>
            <a:srgbClr val="CCFF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End</a:t>
            </a:r>
          </a:p>
        </p:txBody>
      </p:sp>
      <p:sp>
        <p:nvSpPr>
          <p:cNvPr id="40968" name="Rectangle 7">
            <a:extLst>
              <a:ext uri="{FF2B5EF4-FFF2-40B4-BE49-F238E27FC236}">
                <a16:creationId xmlns:a16="http://schemas.microsoft.com/office/drawing/2014/main" id="{DE0B3F02-6CBD-164E-8FD5-0783CCE20585}"/>
              </a:ext>
            </a:extLst>
          </p:cNvPr>
          <p:cNvSpPr>
            <a:spLocks noChangeArrowheads="1"/>
          </p:cNvSpPr>
          <p:nvPr/>
        </p:nvSpPr>
        <p:spPr bwMode="auto">
          <a:xfrm>
            <a:off x="6945313" y="2430463"/>
            <a:ext cx="2189162" cy="871537"/>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Geometry</a:t>
            </a:r>
          </a:p>
          <a:p>
            <a:pPr eaLnBrk="1" hangingPunct="1"/>
            <a:r>
              <a:rPr lang="en-GB" altLang="en-US" sz="2100" b="1">
                <a:solidFill>
                  <a:srgbClr val="000000"/>
                </a:solidFill>
              </a:rPr>
              <a:t>Update</a:t>
            </a:r>
          </a:p>
        </p:txBody>
      </p:sp>
      <p:sp>
        <p:nvSpPr>
          <p:cNvPr id="40969" name="Line 8">
            <a:extLst>
              <a:ext uri="{FF2B5EF4-FFF2-40B4-BE49-F238E27FC236}">
                <a16:creationId xmlns:a16="http://schemas.microsoft.com/office/drawing/2014/main" id="{0936474B-C600-CCDC-963C-1B4B1152D796}"/>
              </a:ext>
            </a:extLst>
          </p:cNvPr>
          <p:cNvSpPr>
            <a:spLocks noChangeShapeType="1"/>
          </p:cNvSpPr>
          <p:nvPr/>
        </p:nvSpPr>
        <p:spPr bwMode="auto">
          <a:xfrm>
            <a:off x="2820988" y="1003300"/>
            <a:ext cx="0" cy="239713"/>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70" name="Line 9">
            <a:extLst>
              <a:ext uri="{FF2B5EF4-FFF2-40B4-BE49-F238E27FC236}">
                <a16:creationId xmlns:a16="http://schemas.microsoft.com/office/drawing/2014/main" id="{A5605ACF-D350-FFBB-CF96-BDB681D87AAB}"/>
              </a:ext>
            </a:extLst>
          </p:cNvPr>
          <p:cNvSpPr>
            <a:spLocks noChangeShapeType="1"/>
          </p:cNvSpPr>
          <p:nvPr/>
        </p:nvSpPr>
        <p:spPr bwMode="auto">
          <a:xfrm>
            <a:off x="2820988" y="2749550"/>
            <a:ext cx="0" cy="239713"/>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71" name="Line 10">
            <a:extLst>
              <a:ext uri="{FF2B5EF4-FFF2-40B4-BE49-F238E27FC236}">
                <a16:creationId xmlns:a16="http://schemas.microsoft.com/office/drawing/2014/main" id="{0ADFBDAA-0F9B-D86A-E455-D307C2A61AAA}"/>
              </a:ext>
            </a:extLst>
          </p:cNvPr>
          <p:cNvSpPr>
            <a:spLocks noChangeShapeType="1"/>
          </p:cNvSpPr>
          <p:nvPr/>
        </p:nvSpPr>
        <p:spPr bwMode="auto">
          <a:xfrm>
            <a:off x="2820988" y="3541713"/>
            <a:ext cx="0" cy="239712"/>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72" name="Text Box 11">
            <a:extLst>
              <a:ext uri="{FF2B5EF4-FFF2-40B4-BE49-F238E27FC236}">
                <a16:creationId xmlns:a16="http://schemas.microsoft.com/office/drawing/2014/main" id="{7E92EEC3-BF4E-DF92-3860-398D6F9ADFEC}"/>
              </a:ext>
            </a:extLst>
          </p:cNvPr>
          <p:cNvSpPr txBox="1">
            <a:spLocks noChangeArrowheads="1"/>
          </p:cNvSpPr>
          <p:nvPr/>
        </p:nvSpPr>
        <p:spPr bwMode="auto">
          <a:xfrm>
            <a:off x="8040688" y="4494213"/>
            <a:ext cx="1009650"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1600" b="1">
                <a:solidFill>
                  <a:srgbClr val="000000"/>
                </a:solidFill>
                <a:latin typeface="Arial" panose="020B0604020202020204" pitchFamily="34" charset="0"/>
              </a:rPr>
              <a:t>yes</a:t>
            </a:r>
          </a:p>
        </p:txBody>
      </p:sp>
      <p:sp>
        <p:nvSpPr>
          <p:cNvPr id="40973" name="Text Box 12">
            <a:extLst>
              <a:ext uri="{FF2B5EF4-FFF2-40B4-BE49-F238E27FC236}">
                <a16:creationId xmlns:a16="http://schemas.microsoft.com/office/drawing/2014/main" id="{3CBF8F12-2662-B6BF-0BA4-9ADD636EE002}"/>
              </a:ext>
            </a:extLst>
          </p:cNvPr>
          <p:cNvSpPr txBox="1">
            <a:spLocks noChangeArrowheads="1"/>
          </p:cNvSpPr>
          <p:nvPr/>
        </p:nvSpPr>
        <p:spPr bwMode="auto">
          <a:xfrm>
            <a:off x="8040688" y="6321425"/>
            <a:ext cx="1009650"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1600" b="1">
                <a:solidFill>
                  <a:srgbClr val="000000"/>
                </a:solidFill>
                <a:latin typeface="Arial" panose="020B0604020202020204" pitchFamily="34" charset="0"/>
              </a:rPr>
              <a:t>no</a:t>
            </a:r>
          </a:p>
        </p:txBody>
      </p:sp>
      <p:sp>
        <p:nvSpPr>
          <p:cNvPr id="40974" name="AutoShape 13">
            <a:extLst>
              <a:ext uri="{FF2B5EF4-FFF2-40B4-BE49-F238E27FC236}">
                <a16:creationId xmlns:a16="http://schemas.microsoft.com/office/drawing/2014/main" id="{8BAC0E16-BBEC-55A5-6001-3826583E67D7}"/>
              </a:ext>
            </a:extLst>
          </p:cNvPr>
          <p:cNvSpPr>
            <a:spLocks noChangeArrowheads="1"/>
          </p:cNvSpPr>
          <p:nvPr/>
        </p:nvSpPr>
        <p:spPr bwMode="auto">
          <a:xfrm>
            <a:off x="7029450" y="4891088"/>
            <a:ext cx="2019300" cy="1268412"/>
          </a:xfrm>
          <a:prstGeom prst="flowChartDecision">
            <a:avLst/>
          </a:prstGeom>
          <a:solidFill>
            <a:srgbClr val="99CC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Multi-Step</a:t>
            </a:r>
          </a:p>
        </p:txBody>
      </p:sp>
      <p:sp>
        <p:nvSpPr>
          <p:cNvPr id="40975" name="Line 14">
            <a:extLst>
              <a:ext uri="{FF2B5EF4-FFF2-40B4-BE49-F238E27FC236}">
                <a16:creationId xmlns:a16="http://schemas.microsoft.com/office/drawing/2014/main" id="{DEDBB996-E034-08D4-3321-8474E6BDC179}"/>
              </a:ext>
            </a:extLst>
          </p:cNvPr>
          <p:cNvSpPr>
            <a:spLocks noChangeShapeType="1"/>
          </p:cNvSpPr>
          <p:nvPr/>
        </p:nvSpPr>
        <p:spPr bwMode="auto">
          <a:xfrm>
            <a:off x="3243263" y="5129213"/>
            <a:ext cx="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76" name="Line 15">
            <a:extLst>
              <a:ext uri="{FF2B5EF4-FFF2-40B4-BE49-F238E27FC236}">
                <a16:creationId xmlns:a16="http://schemas.microsoft.com/office/drawing/2014/main" id="{85DE2BE3-0295-59E4-6929-61FE5A3EE8DD}"/>
              </a:ext>
            </a:extLst>
          </p:cNvPr>
          <p:cNvSpPr>
            <a:spLocks noChangeShapeType="1"/>
          </p:cNvSpPr>
          <p:nvPr/>
        </p:nvSpPr>
        <p:spPr bwMode="auto">
          <a:xfrm>
            <a:off x="8040688" y="6161088"/>
            <a:ext cx="0" cy="47625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77" name="Text Box 16">
            <a:extLst>
              <a:ext uri="{FF2B5EF4-FFF2-40B4-BE49-F238E27FC236}">
                <a16:creationId xmlns:a16="http://schemas.microsoft.com/office/drawing/2014/main" id="{A93C9152-EF97-7140-0B89-37F7AB374AB6}"/>
              </a:ext>
            </a:extLst>
          </p:cNvPr>
          <p:cNvSpPr txBox="1">
            <a:spLocks noChangeArrowheads="1"/>
          </p:cNvSpPr>
          <p:nvPr/>
        </p:nvSpPr>
        <p:spPr bwMode="auto">
          <a:xfrm>
            <a:off x="5178425" y="3779838"/>
            <a:ext cx="2695575" cy="350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1600" b="1">
                <a:solidFill>
                  <a:srgbClr val="000000"/>
                </a:solidFill>
                <a:latin typeface="Arial" panose="020B0604020202020204" pitchFamily="34" charset="0"/>
              </a:rPr>
              <a:t>Temperature Update</a:t>
            </a:r>
          </a:p>
        </p:txBody>
      </p:sp>
      <p:sp>
        <p:nvSpPr>
          <p:cNvPr id="40978" name="Line 17">
            <a:extLst>
              <a:ext uri="{FF2B5EF4-FFF2-40B4-BE49-F238E27FC236}">
                <a16:creationId xmlns:a16="http://schemas.microsoft.com/office/drawing/2014/main" id="{4092DC9C-6D78-9A4A-ACB4-4E4D29DBE609}"/>
              </a:ext>
            </a:extLst>
          </p:cNvPr>
          <p:cNvSpPr>
            <a:spLocks noChangeShapeType="1"/>
          </p:cNvSpPr>
          <p:nvPr/>
        </p:nvSpPr>
        <p:spPr bwMode="auto">
          <a:xfrm>
            <a:off x="2820988" y="1795463"/>
            <a:ext cx="0" cy="396875"/>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79" name="Rectangle 18">
            <a:extLst>
              <a:ext uri="{FF2B5EF4-FFF2-40B4-BE49-F238E27FC236}">
                <a16:creationId xmlns:a16="http://schemas.microsoft.com/office/drawing/2014/main" id="{1D747FC2-FB87-79B6-8DD9-B65F10B0A6FE}"/>
              </a:ext>
            </a:extLst>
          </p:cNvPr>
          <p:cNvSpPr>
            <a:spLocks noChangeArrowheads="1"/>
          </p:cNvSpPr>
          <p:nvPr/>
        </p:nvSpPr>
        <p:spPr bwMode="auto">
          <a:xfrm>
            <a:off x="1725613" y="5129213"/>
            <a:ext cx="2189162" cy="871537"/>
          </a:xfrm>
          <a:prstGeom prst="rect">
            <a:avLst/>
          </a:prstGeom>
          <a:solidFill>
            <a:srgbClr val="99CC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Restart File</a:t>
            </a:r>
          </a:p>
        </p:txBody>
      </p:sp>
      <p:sp>
        <p:nvSpPr>
          <p:cNvPr id="40980" name="Line 19">
            <a:extLst>
              <a:ext uri="{FF2B5EF4-FFF2-40B4-BE49-F238E27FC236}">
                <a16:creationId xmlns:a16="http://schemas.microsoft.com/office/drawing/2014/main" id="{0564297B-4BEC-0B40-54B1-7E66B1F4C257}"/>
              </a:ext>
            </a:extLst>
          </p:cNvPr>
          <p:cNvSpPr>
            <a:spLocks noChangeShapeType="1"/>
          </p:cNvSpPr>
          <p:nvPr/>
        </p:nvSpPr>
        <p:spPr bwMode="auto">
          <a:xfrm>
            <a:off x="3916363" y="5526088"/>
            <a:ext cx="3116262"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81" name="Line 20">
            <a:extLst>
              <a:ext uri="{FF2B5EF4-FFF2-40B4-BE49-F238E27FC236}">
                <a16:creationId xmlns:a16="http://schemas.microsoft.com/office/drawing/2014/main" id="{02764DD9-415E-1C41-545A-2A35CC95FA16}"/>
              </a:ext>
            </a:extLst>
          </p:cNvPr>
          <p:cNvSpPr>
            <a:spLocks noChangeShapeType="1"/>
          </p:cNvSpPr>
          <p:nvPr/>
        </p:nvSpPr>
        <p:spPr bwMode="auto">
          <a:xfrm flipH="1">
            <a:off x="4673600" y="4098925"/>
            <a:ext cx="3367088"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82" name="Line 21">
            <a:extLst>
              <a:ext uri="{FF2B5EF4-FFF2-40B4-BE49-F238E27FC236}">
                <a16:creationId xmlns:a16="http://schemas.microsoft.com/office/drawing/2014/main" id="{628875F0-7D8D-D0E9-961D-1785D85A63E8}"/>
              </a:ext>
            </a:extLst>
          </p:cNvPr>
          <p:cNvSpPr>
            <a:spLocks noChangeShapeType="1"/>
          </p:cNvSpPr>
          <p:nvPr/>
        </p:nvSpPr>
        <p:spPr bwMode="auto">
          <a:xfrm flipH="1">
            <a:off x="2820988" y="1954213"/>
            <a:ext cx="5219700" cy="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83" name="Line 22">
            <a:extLst>
              <a:ext uri="{FF2B5EF4-FFF2-40B4-BE49-F238E27FC236}">
                <a16:creationId xmlns:a16="http://schemas.microsoft.com/office/drawing/2014/main" id="{D3E940C1-1A83-2AB0-232C-E5081EE75263}"/>
              </a:ext>
            </a:extLst>
          </p:cNvPr>
          <p:cNvSpPr>
            <a:spLocks noChangeShapeType="1"/>
          </p:cNvSpPr>
          <p:nvPr/>
        </p:nvSpPr>
        <p:spPr bwMode="auto">
          <a:xfrm flipV="1">
            <a:off x="8040688" y="1954213"/>
            <a:ext cx="0" cy="47625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84" name="Line 23">
            <a:extLst>
              <a:ext uri="{FF2B5EF4-FFF2-40B4-BE49-F238E27FC236}">
                <a16:creationId xmlns:a16="http://schemas.microsoft.com/office/drawing/2014/main" id="{03BCB520-3559-D0B3-F869-D49598AC85A6}"/>
              </a:ext>
            </a:extLst>
          </p:cNvPr>
          <p:cNvSpPr>
            <a:spLocks noChangeShapeType="1"/>
          </p:cNvSpPr>
          <p:nvPr/>
        </p:nvSpPr>
        <p:spPr bwMode="auto">
          <a:xfrm>
            <a:off x="2820988" y="4337050"/>
            <a:ext cx="0" cy="792163"/>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85" name="Rectangle 24">
            <a:extLst>
              <a:ext uri="{FF2B5EF4-FFF2-40B4-BE49-F238E27FC236}">
                <a16:creationId xmlns:a16="http://schemas.microsoft.com/office/drawing/2014/main" id="{4FA7E33B-49BA-33B9-4A46-3AC71707ADDE}"/>
              </a:ext>
            </a:extLst>
          </p:cNvPr>
          <p:cNvSpPr>
            <a:spLocks noChangeArrowheads="1"/>
          </p:cNvSpPr>
          <p:nvPr/>
        </p:nvSpPr>
        <p:spPr bwMode="auto">
          <a:xfrm>
            <a:off x="1304925" y="2986088"/>
            <a:ext cx="3367088" cy="554037"/>
          </a:xfrm>
          <a:prstGeom prst="rect">
            <a:avLst/>
          </a:prstGeom>
          <a:solidFill>
            <a:srgbClr val="FF9900"/>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04287" tIns="52144" rIns="104287" bIns="52144"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GB" altLang="en-US" sz="2100" b="1">
                <a:solidFill>
                  <a:srgbClr val="000000"/>
                </a:solidFill>
              </a:rPr>
              <a:t>Solve Flow (FLUENT)</a:t>
            </a:r>
          </a:p>
        </p:txBody>
      </p:sp>
      <p:sp>
        <p:nvSpPr>
          <p:cNvPr id="40986" name="Line 25">
            <a:extLst>
              <a:ext uri="{FF2B5EF4-FFF2-40B4-BE49-F238E27FC236}">
                <a16:creationId xmlns:a16="http://schemas.microsoft.com/office/drawing/2014/main" id="{15E26E25-BAE0-88DA-E445-15AF49868831}"/>
              </a:ext>
            </a:extLst>
          </p:cNvPr>
          <p:cNvSpPr>
            <a:spLocks noChangeShapeType="1"/>
          </p:cNvSpPr>
          <p:nvPr/>
        </p:nvSpPr>
        <p:spPr bwMode="auto">
          <a:xfrm flipV="1">
            <a:off x="8040688" y="3303588"/>
            <a:ext cx="0" cy="1587500"/>
          </a:xfrm>
          <a:prstGeom prst="line">
            <a:avLst/>
          </a:prstGeom>
          <a:noFill/>
          <a:ln w="2857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87" name="Text Box 26">
            <a:extLst>
              <a:ext uri="{FF2B5EF4-FFF2-40B4-BE49-F238E27FC236}">
                <a16:creationId xmlns:a16="http://schemas.microsoft.com/office/drawing/2014/main" id="{AC5A90A8-6D35-C298-8C2D-6D30EE2E229E}"/>
              </a:ext>
            </a:extLst>
          </p:cNvPr>
          <p:cNvSpPr txBox="1">
            <a:spLocks noChangeArrowheads="1"/>
          </p:cNvSpPr>
          <p:nvPr/>
        </p:nvSpPr>
        <p:spPr bwMode="auto">
          <a:xfrm>
            <a:off x="5178425" y="4098925"/>
            <a:ext cx="2695575"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1600" b="1">
                <a:solidFill>
                  <a:srgbClr val="000000"/>
                </a:solidFill>
                <a:latin typeface="Arial" panose="020B0604020202020204" pitchFamily="34" charset="0"/>
              </a:rPr>
              <a:t>Water height Update</a:t>
            </a:r>
          </a:p>
        </p:txBody>
      </p:sp>
      <p:sp>
        <p:nvSpPr>
          <p:cNvPr id="40988" name="Line 28">
            <a:extLst>
              <a:ext uri="{FF2B5EF4-FFF2-40B4-BE49-F238E27FC236}">
                <a16:creationId xmlns:a16="http://schemas.microsoft.com/office/drawing/2014/main" id="{97700661-3088-2E65-451C-1AF2363FF4F3}"/>
              </a:ext>
            </a:extLst>
          </p:cNvPr>
          <p:cNvSpPr>
            <a:spLocks noChangeShapeType="1"/>
          </p:cNvSpPr>
          <p:nvPr/>
        </p:nvSpPr>
        <p:spPr bwMode="auto">
          <a:xfrm>
            <a:off x="714375" y="3621088"/>
            <a:ext cx="9093200" cy="0"/>
          </a:xfrm>
          <a:prstGeom prst="line">
            <a:avLst/>
          </a:prstGeom>
          <a:noFill/>
          <a:ln w="28575" cap="rnd">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89" name="Line 29">
            <a:extLst>
              <a:ext uri="{FF2B5EF4-FFF2-40B4-BE49-F238E27FC236}">
                <a16:creationId xmlns:a16="http://schemas.microsoft.com/office/drawing/2014/main" id="{07AEA68D-9E1C-3FF3-2383-3BE2E9764457}"/>
              </a:ext>
            </a:extLst>
          </p:cNvPr>
          <p:cNvSpPr>
            <a:spLocks noChangeShapeType="1"/>
          </p:cNvSpPr>
          <p:nvPr/>
        </p:nvSpPr>
        <p:spPr bwMode="auto">
          <a:xfrm>
            <a:off x="714375" y="3621088"/>
            <a:ext cx="0" cy="2619375"/>
          </a:xfrm>
          <a:prstGeom prst="line">
            <a:avLst/>
          </a:prstGeom>
          <a:noFill/>
          <a:ln w="28575" cap="rnd">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90" name="Line 30">
            <a:extLst>
              <a:ext uri="{FF2B5EF4-FFF2-40B4-BE49-F238E27FC236}">
                <a16:creationId xmlns:a16="http://schemas.microsoft.com/office/drawing/2014/main" id="{EC12CEC6-AC7A-35D9-FEDD-9656EDD49FF8}"/>
              </a:ext>
            </a:extLst>
          </p:cNvPr>
          <p:cNvSpPr>
            <a:spLocks noChangeShapeType="1"/>
          </p:cNvSpPr>
          <p:nvPr/>
        </p:nvSpPr>
        <p:spPr bwMode="auto">
          <a:xfrm>
            <a:off x="714375" y="6240463"/>
            <a:ext cx="9093200" cy="0"/>
          </a:xfrm>
          <a:prstGeom prst="line">
            <a:avLst/>
          </a:prstGeom>
          <a:noFill/>
          <a:ln w="28575" cap="rnd">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91" name="Line 31">
            <a:extLst>
              <a:ext uri="{FF2B5EF4-FFF2-40B4-BE49-F238E27FC236}">
                <a16:creationId xmlns:a16="http://schemas.microsoft.com/office/drawing/2014/main" id="{4D7C5EB5-E5D8-52CC-10D9-051061B09F6B}"/>
              </a:ext>
            </a:extLst>
          </p:cNvPr>
          <p:cNvSpPr>
            <a:spLocks noChangeShapeType="1"/>
          </p:cNvSpPr>
          <p:nvPr/>
        </p:nvSpPr>
        <p:spPr bwMode="auto">
          <a:xfrm>
            <a:off x="9807575" y="3621088"/>
            <a:ext cx="0" cy="2619375"/>
          </a:xfrm>
          <a:prstGeom prst="line">
            <a:avLst/>
          </a:prstGeom>
          <a:noFill/>
          <a:ln w="28575" cap="rnd">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92" name="Line 32">
            <a:extLst>
              <a:ext uri="{FF2B5EF4-FFF2-40B4-BE49-F238E27FC236}">
                <a16:creationId xmlns:a16="http://schemas.microsoft.com/office/drawing/2014/main" id="{957036EA-2DB3-74C3-C54C-B5E829DEC17F}"/>
              </a:ext>
            </a:extLst>
          </p:cNvPr>
          <p:cNvSpPr>
            <a:spLocks noChangeShapeType="1"/>
          </p:cNvSpPr>
          <p:nvPr/>
        </p:nvSpPr>
        <p:spPr bwMode="auto">
          <a:xfrm>
            <a:off x="966788" y="1874838"/>
            <a:ext cx="0" cy="4524375"/>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93" name="Line 33">
            <a:extLst>
              <a:ext uri="{FF2B5EF4-FFF2-40B4-BE49-F238E27FC236}">
                <a16:creationId xmlns:a16="http://schemas.microsoft.com/office/drawing/2014/main" id="{3C198623-24BC-94A9-96DF-E1E6865061CA}"/>
              </a:ext>
            </a:extLst>
          </p:cNvPr>
          <p:cNvSpPr>
            <a:spLocks noChangeShapeType="1"/>
          </p:cNvSpPr>
          <p:nvPr/>
        </p:nvSpPr>
        <p:spPr bwMode="auto">
          <a:xfrm>
            <a:off x="9555163" y="1874838"/>
            <a:ext cx="0" cy="4524375"/>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94" name="Line 36">
            <a:extLst>
              <a:ext uri="{FF2B5EF4-FFF2-40B4-BE49-F238E27FC236}">
                <a16:creationId xmlns:a16="http://schemas.microsoft.com/office/drawing/2014/main" id="{2B6D26BB-ADA0-9DCB-73DC-39F6E79AEB6E}"/>
              </a:ext>
            </a:extLst>
          </p:cNvPr>
          <p:cNvSpPr>
            <a:spLocks noChangeShapeType="1"/>
          </p:cNvSpPr>
          <p:nvPr/>
        </p:nvSpPr>
        <p:spPr bwMode="auto">
          <a:xfrm>
            <a:off x="966788" y="6399213"/>
            <a:ext cx="858837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95" name="Line 37">
            <a:extLst>
              <a:ext uri="{FF2B5EF4-FFF2-40B4-BE49-F238E27FC236}">
                <a16:creationId xmlns:a16="http://schemas.microsoft.com/office/drawing/2014/main" id="{3D32CEB6-5BAE-D9CE-B458-CDF1094B7887}"/>
              </a:ext>
            </a:extLst>
          </p:cNvPr>
          <p:cNvSpPr>
            <a:spLocks noChangeShapeType="1"/>
          </p:cNvSpPr>
          <p:nvPr/>
        </p:nvSpPr>
        <p:spPr bwMode="auto">
          <a:xfrm>
            <a:off x="966788" y="1874838"/>
            <a:ext cx="8588375"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96" name="Text Box 38">
            <a:extLst>
              <a:ext uri="{FF2B5EF4-FFF2-40B4-BE49-F238E27FC236}">
                <a16:creationId xmlns:a16="http://schemas.microsoft.com/office/drawing/2014/main" id="{BB18BC40-6181-54DA-2FE4-A63265896CFA}"/>
              </a:ext>
            </a:extLst>
          </p:cNvPr>
          <p:cNvSpPr txBox="1">
            <a:spLocks noChangeArrowheads="1"/>
          </p:cNvSpPr>
          <p:nvPr/>
        </p:nvSpPr>
        <p:spPr bwMode="auto">
          <a:xfrm>
            <a:off x="209550" y="6637338"/>
            <a:ext cx="5135563"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000">
                <a:solidFill>
                  <a:srgbClr val="CC3300"/>
                </a:solidFill>
                <a:latin typeface="Arial" panose="020B0604020202020204" pitchFamily="34" charset="0"/>
              </a:rPr>
              <a:t>Internal Multi-stepping (same Flow)</a:t>
            </a:r>
          </a:p>
        </p:txBody>
      </p:sp>
      <p:sp>
        <p:nvSpPr>
          <p:cNvPr id="40997" name="Line 39">
            <a:extLst>
              <a:ext uri="{FF2B5EF4-FFF2-40B4-BE49-F238E27FC236}">
                <a16:creationId xmlns:a16="http://schemas.microsoft.com/office/drawing/2014/main" id="{90DC809F-7F75-3924-99F5-050C26CC8B9F}"/>
              </a:ext>
            </a:extLst>
          </p:cNvPr>
          <p:cNvSpPr>
            <a:spLocks noChangeShapeType="1"/>
          </p:cNvSpPr>
          <p:nvPr/>
        </p:nvSpPr>
        <p:spPr bwMode="auto">
          <a:xfrm flipV="1">
            <a:off x="631825" y="6321425"/>
            <a:ext cx="82550" cy="396875"/>
          </a:xfrm>
          <a:prstGeom prst="line">
            <a:avLst/>
          </a:prstGeom>
          <a:noFill/>
          <a:ln w="38100">
            <a:solidFill>
              <a:srgbClr val="A5002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
        <p:nvSpPr>
          <p:cNvPr id="40998" name="Text Box 40">
            <a:extLst>
              <a:ext uri="{FF2B5EF4-FFF2-40B4-BE49-F238E27FC236}">
                <a16:creationId xmlns:a16="http://schemas.microsoft.com/office/drawing/2014/main" id="{82ACB66E-3353-E1DC-4F3A-DBB1671C7D98}"/>
              </a:ext>
            </a:extLst>
          </p:cNvPr>
          <p:cNvSpPr txBox="1">
            <a:spLocks noChangeArrowheads="1"/>
          </p:cNvSpPr>
          <p:nvPr/>
        </p:nvSpPr>
        <p:spPr bwMode="auto">
          <a:xfrm>
            <a:off x="5260975" y="1033463"/>
            <a:ext cx="5430838" cy="53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800">
                <a:latin typeface="Arial" panose="020B0604020202020204" pitchFamily="34" charset="0"/>
              </a:rPr>
              <a:t>Multi-stepping with Flow Update</a:t>
            </a:r>
          </a:p>
        </p:txBody>
      </p:sp>
      <p:sp>
        <p:nvSpPr>
          <p:cNvPr id="40999" name="Line 41">
            <a:extLst>
              <a:ext uri="{FF2B5EF4-FFF2-40B4-BE49-F238E27FC236}">
                <a16:creationId xmlns:a16="http://schemas.microsoft.com/office/drawing/2014/main" id="{6C1FBE69-0694-A152-0309-20E771E8D807}"/>
              </a:ext>
            </a:extLst>
          </p:cNvPr>
          <p:cNvSpPr>
            <a:spLocks noChangeShapeType="1"/>
          </p:cNvSpPr>
          <p:nvPr/>
        </p:nvSpPr>
        <p:spPr bwMode="auto">
          <a:xfrm flipH="1">
            <a:off x="9639300" y="1636713"/>
            <a:ext cx="252413" cy="47466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lstStyle/>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8">
            <a:extLst>
              <a:ext uri="{FF2B5EF4-FFF2-40B4-BE49-F238E27FC236}">
                <a16:creationId xmlns:a16="http://schemas.microsoft.com/office/drawing/2014/main" id="{FDB59FAC-1180-7C7F-7ECF-2A9775CFA80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EBED674-3468-A744-BCB2-B4DBD7D9BB03}" type="slidenum">
              <a:rPr lang="en-GB" altLang="en-US" sz="1600"/>
              <a:pPr/>
              <a:t>37</a:t>
            </a:fld>
            <a:endParaRPr lang="en-GB" altLang="en-US" sz="1600"/>
          </a:p>
        </p:txBody>
      </p:sp>
      <p:graphicFrame>
        <p:nvGraphicFramePr>
          <p:cNvPr id="41987" name="Object 2">
            <a:extLst>
              <a:ext uri="{FF2B5EF4-FFF2-40B4-BE49-F238E27FC236}">
                <a16:creationId xmlns:a16="http://schemas.microsoft.com/office/drawing/2014/main" id="{6E80C2FE-556A-E881-B5FC-2C0C7961FADC}"/>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2" imgW="2628900" imgH="4102100" progId="Equation.DSMT4">
                  <p:embed/>
                </p:oleObj>
              </mc:Choice>
              <mc:Fallback>
                <p:oleObj name="Equation" r:id="rId2" imgW="2628900" imgH="41021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1988" name="Object 3">
            <a:extLst>
              <a:ext uri="{FF2B5EF4-FFF2-40B4-BE49-F238E27FC236}">
                <a16:creationId xmlns:a16="http://schemas.microsoft.com/office/drawing/2014/main" id="{5CDDA143-3082-8A30-10AC-5E62E789DA10}"/>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4" imgW="2628900" imgH="4102100" progId="Equation.DSMT4">
                  <p:embed/>
                </p:oleObj>
              </mc:Choice>
              <mc:Fallback>
                <p:oleObj name="Equation" r:id="rId4" imgW="2628900" imgH="41021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989" name="Text Box 4">
            <a:extLst>
              <a:ext uri="{FF2B5EF4-FFF2-40B4-BE49-F238E27FC236}">
                <a16:creationId xmlns:a16="http://schemas.microsoft.com/office/drawing/2014/main" id="{5400C973-D912-9AD1-7FC6-63A53C00311D}"/>
              </a:ext>
            </a:extLst>
          </p:cNvPr>
          <p:cNvSpPr txBox="1">
            <a:spLocks noChangeArrowheads="1"/>
          </p:cNvSpPr>
          <p:nvPr/>
        </p:nvSpPr>
        <p:spPr bwMode="auto">
          <a:xfrm>
            <a:off x="547688" y="446088"/>
            <a:ext cx="95123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700" b="1">
                <a:solidFill>
                  <a:srgbClr val="000000"/>
                </a:solidFill>
                <a:latin typeface="Arial" panose="020B0604020202020204" pitchFamily="34" charset="0"/>
              </a:rPr>
              <a:t> CASE O5 - NATO/RTO – Ts=270.2K – T</a:t>
            </a:r>
            <a:r>
              <a:rPr lang="en-GB" altLang="en-US" sz="1400" b="1">
                <a:solidFill>
                  <a:srgbClr val="000000"/>
                </a:solidFill>
                <a:latin typeface="Arial" panose="020B0604020202020204" pitchFamily="34" charset="0"/>
              </a:rPr>
              <a:t>exp</a:t>
            </a:r>
            <a:r>
              <a:rPr lang="en-GB" altLang="en-US" sz="2700" b="1">
                <a:solidFill>
                  <a:srgbClr val="000000"/>
                </a:solidFill>
                <a:latin typeface="Arial" panose="020B0604020202020204" pitchFamily="34" charset="0"/>
              </a:rPr>
              <a:t>=330 s</a:t>
            </a:r>
            <a:endParaRPr lang="en-GB" altLang="en-US" sz="2700" b="1">
              <a:latin typeface="Arial" panose="020B0604020202020204" pitchFamily="34" charset="0"/>
            </a:endParaRPr>
          </a:p>
        </p:txBody>
      </p:sp>
      <p:sp>
        <p:nvSpPr>
          <p:cNvPr id="41990" name="Text Box 5">
            <a:extLst>
              <a:ext uri="{FF2B5EF4-FFF2-40B4-BE49-F238E27FC236}">
                <a16:creationId xmlns:a16="http://schemas.microsoft.com/office/drawing/2014/main" id="{6688E290-8DF3-A591-2C27-F7433299F443}"/>
              </a:ext>
            </a:extLst>
          </p:cNvPr>
          <p:cNvSpPr txBox="1">
            <a:spLocks noChangeArrowheads="1"/>
          </p:cNvSpPr>
          <p:nvPr/>
        </p:nvSpPr>
        <p:spPr bwMode="auto">
          <a:xfrm>
            <a:off x="884238" y="6637338"/>
            <a:ext cx="488315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sp>
        <p:nvSpPr>
          <p:cNvPr id="41991" name="Text Box 6">
            <a:extLst>
              <a:ext uri="{FF2B5EF4-FFF2-40B4-BE49-F238E27FC236}">
                <a16:creationId xmlns:a16="http://schemas.microsoft.com/office/drawing/2014/main" id="{63AE36E7-5ADB-51EF-3837-F542602CD8BE}"/>
              </a:ext>
            </a:extLst>
          </p:cNvPr>
          <p:cNvSpPr txBox="1">
            <a:spLocks noChangeArrowheads="1"/>
          </p:cNvSpPr>
          <p:nvPr/>
        </p:nvSpPr>
        <p:spPr bwMode="auto">
          <a:xfrm>
            <a:off x="966788" y="6557963"/>
            <a:ext cx="2022475"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pic>
        <p:nvPicPr>
          <p:cNvPr id="41992" name="Picture 12" descr="Compar_Criterion_case5">
            <a:extLst>
              <a:ext uri="{FF2B5EF4-FFF2-40B4-BE49-F238E27FC236}">
                <a16:creationId xmlns:a16="http://schemas.microsoft.com/office/drawing/2014/main" id="{0667BACD-E348-1FC0-8418-393D161B6594}"/>
              </a:ext>
            </a:extLst>
          </p:cNvPr>
          <p:cNvPicPr>
            <a:picLocks noGrp="1" noChangeAspect="1" noChangeArrowheads="1"/>
          </p:cNvPicPr>
          <p:nvPr>
            <p:ph sz="quarter" idx="1"/>
          </p:nvPr>
        </p:nvPicPr>
        <p:blipFill>
          <a:blip r:embed="rId5">
            <a:extLst>
              <a:ext uri="{28A0092B-C50C-407E-A947-70E740481C1C}">
                <a14:useLocalDpi xmlns:a14="http://schemas.microsoft.com/office/drawing/2010/main" val="0"/>
              </a:ext>
            </a:extLst>
          </a:blip>
          <a:srcRect/>
          <a:stretch>
            <a:fillRect/>
          </a:stretch>
        </p:blipFill>
        <p:spPr>
          <a:xfrm>
            <a:off x="209550" y="1081088"/>
            <a:ext cx="6483350" cy="5953125"/>
          </a:xfrm>
        </p:spPr>
      </p:pic>
      <p:graphicFrame>
        <p:nvGraphicFramePr>
          <p:cNvPr id="41993" name="Rectangle 7">
            <a:extLst>
              <a:ext uri="{FF2B5EF4-FFF2-40B4-BE49-F238E27FC236}">
                <a16:creationId xmlns:a16="http://schemas.microsoft.com/office/drawing/2014/main" id="{9F670579-2EF5-539B-5FDD-D05953BC32D6}"/>
              </a:ext>
            </a:extLst>
          </p:cNvPr>
          <p:cNvGraphicFramePr>
            <a:graphicFrameLocks/>
          </p:cNvGraphicFramePr>
          <p:nvPr>
            <p:ph sz="quarter" idx="2"/>
          </p:nvPr>
        </p:nvGraphicFramePr>
        <p:xfrm>
          <a:off x="7662863" y="3276600"/>
          <a:ext cx="0" cy="0"/>
        </p:xfrm>
        <a:graphic>
          <a:graphicData uri="http://schemas.openxmlformats.org/presentationml/2006/ole">
            <mc:AlternateContent xmlns:mc="http://schemas.openxmlformats.org/markup-compatibility/2006">
              <mc:Choice xmlns:v="urn:schemas-microsoft-com:vml" Requires="v">
                <p:oleObj name="Equation" r:id="rId6" imgW="0" imgH="0" progId="Equation.3">
                  <p:embed/>
                </p:oleObj>
              </mc:Choice>
              <mc:Fallback>
                <p:oleObj name="Equation" r:id="rId6" imgW="0" imgH="0" progId="Equation.3">
                  <p:embed/>
                  <p:pic>
                    <p:nvPicPr>
                      <p:cNvPr id="0" name="Rectangle 7"/>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7662863" y="327660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1994" name="Picture 13" descr="case05_comp_crit_zoom_up2">
            <a:extLst>
              <a:ext uri="{FF2B5EF4-FFF2-40B4-BE49-F238E27FC236}">
                <a16:creationId xmlns:a16="http://schemas.microsoft.com/office/drawing/2014/main" id="{0FDB4373-29AF-23EA-C90E-C057175AF884}"/>
              </a:ext>
            </a:extLst>
          </p:cNvPr>
          <p:cNvPicPr>
            <a:picLocks noChangeAspect="1" noChangeArrowheads="1"/>
          </p:cNvPicPr>
          <p:nvPr>
            <p:ph sz="quarter" idx="3"/>
          </p:nvPr>
        </p:nvPicPr>
        <p:blipFill>
          <a:blip r:embed="rId7">
            <a:extLst>
              <a:ext uri="{28A0092B-C50C-407E-A947-70E740481C1C}">
                <a14:useLocalDpi xmlns:a14="http://schemas.microsoft.com/office/drawing/2010/main" val="0"/>
              </a:ext>
            </a:extLst>
          </a:blip>
          <a:srcRect/>
          <a:stretch>
            <a:fillRect/>
          </a:stretch>
        </p:blipFill>
        <p:spPr>
          <a:xfrm>
            <a:off x="6734175" y="1398588"/>
            <a:ext cx="3957638" cy="3016250"/>
          </a:xfrm>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1995" name="Picture 16" descr="case05_comp_crit_zoom_down2">
            <a:extLst>
              <a:ext uri="{FF2B5EF4-FFF2-40B4-BE49-F238E27FC236}">
                <a16:creationId xmlns:a16="http://schemas.microsoft.com/office/drawing/2014/main" id="{84D2751A-85F4-4E4B-CFC1-239E00A116AB}"/>
              </a:ext>
            </a:extLst>
          </p:cNvPr>
          <p:cNvPicPr>
            <a:picLocks noChangeAspect="1" noChangeArrowheads="1"/>
          </p:cNvPicPr>
          <p:nvPr>
            <p:ph sz="quarter" idx="4"/>
          </p:nvPr>
        </p:nvPicPr>
        <p:blipFill>
          <a:blip r:embed="rId8">
            <a:extLst>
              <a:ext uri="{28A0092B-C50C-407E-A947-70E740481C1C}">
                <a14:useLocalDpi xmlns:a14="http://schemas.microsoft.com/office/drawing/2010/main" val="0"/>
              </a:ext>
            </a:extLst>
          </a:blip>
          <a:srcRect/>
          <a:stretch>
            <a:fillRect/>
          </a:stretch>
        </p:blipFill>
        <p:spPr>
          <a:xfrm>
            <a:off x="5681663" y="4337050"/>
            <a:ext cx="3619500" cy="2776538"/>
          </a:xfrm>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996" name="Text Box 19">
            <a:extLst>
              <a:ext uri="{FF2B5EF4-FFF2-40B4-BE49-F238E27FC236}">
                <a16:creationId xmlns:a16="http://schemas.microsoft.com/office/drawing/2014/main" id="{4916F806-206E-87EC-4C12-1EC8AD110132}"/>
              </a:ext>
            </a:extLst>
          </p:cNvPr>
          <p:cNvSpPr txBox="1">
            <a:spLocks noChangeArrowheads="1"/>
          </p:cNvSpPr>
          <p:nvPr/>
        </p:nvSpPr>
        <p:spPr bwMode="auto">
          <a:xfrm>
            <a:off x="7702550" y="4176713"/>
            <a:ext cx="2989263" cy="176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700">
                <a:solidFill>
                  <a:srgbClr val="000000"/>
                </a:solidFill>
              </a:rPr>
              <a:t>Time crit: 20 steps</a:t>
            </a:r>
          </a:p>
          <a:p>
            <a:pPr>
              <a:spcBef>
                <a:spcPct val="50000"/>
              </a:spcBef>
            </a:pPr>
            <a:r>
              <a:rPr lang="en-GB" altLang="en-US" sz="2700">
                <a:solidFill>
                  <a:srgbClr val="000000"/>
                </a:solidFill>
              </a:rPr>
              <a:t>Ice crit: 10 steps</a:t>
            </a:r>
          </a:p>
          <a:p>
            <a:pPr>
              <a:spcBef>
                <a:spcPct val="50000"/>
              </a:spcBef>
            </a:pPr>
            <a:r>
              <a:rPr lang="en-GB" altLang="en-US" sz="2700">
                <a:solidFill>
                  <a:srgbClr val="000000"/>
                </a:solidFill>
              </a:rPr>
              <a:t>Auto crit: 20 steps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8">
            <a:extLst>
              <a:ext uri="{FF2B5EF4-FFF2-40B4-BE49-F238E27FC236}">
                <a16:creationId xmlns:a16="http://schemas.microsoft.com/office/drawing/2014/main" id="{E8BA6BA0-CCAB-AC44-18DA-1B975266BA7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6AC3ED2-9273-7641-803C-511CFC95142B}" type="slidenum">
              <a:rPr lang="en-GB" altLang="en-US" sz="1600"/>
              <a:pPr/>
              <a:t>38</a:t>
            </a:fld>
            <a:endParaRPr lang="en-GB" altLang="en-US" sz="1600"/>
          </a:p>
        </p:txBody>
      </p:sp>
      <p:graphicFrame>
        <p:nvGraphicFramePr>
          <p:cNvPr id="43011" name="Object 2">
            <a:extLst>
              <a:ext uri="{FF2B5EF4-FFF2-40B4-BE49-F238E27FC236}">
                <a16:creationId xmlns:a16="http://schemas.microsoft.com/office/drawing/2014/main" id="{B76BB19C-E673-20BE-2AB7-52F845A4ED1A}"/>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2" imgW="2628900" imgH="4102100" progId="Equation.DSMT4">
                  <p:embed/>
                </p:oleObj>
              </mc:Choice>
              <mc:Fallback>
                <p:oleObj name="Equation" r:id="rId2" imgW="2628900" imgH="41021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2" name="Object 3">
            <a:extLst>
              <a:ext uri="{FF2B5EF4-FFF2-40B4-BE49-F238E27FC236}">
                <a16:creationId xmlns:a16="http://schemas.microsoft.com/office/drawing/2014/main" id="{580C97E5-EEA1-D600-BA59-7575D9793F1E}"/>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4" imgW="2628900" imgH="4102100" progId="Equation.DSMT4">
                  <p:embed/>
                </p:oleObj>
              </mc:Choice>
              <mc:Fallback>
                <p:oleObj name="Equation" r:id="rId4" imgW="2628900" imgH="41021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3" name="Text Box 4">
            <a:extLst>
              <a:ext uri="{FF2B5EF4-FFF2-40B4-BE49-F238E27FC236}">
                <a16:creationId xmlns:a16="http://schemas.microsoft.com/office/drawing/2014/main" id="{1ACB2CCA-D6B0-B175-D9CB-72935684EC21}"/>
              </a:ext>
            </a:extLst>
          </p:cNvPr>
          <p:cNvSpPr txBox="1">
            <a:spLocks noChangeArrowheads="1"/>
          </p:cNvSpPr>
          <p:nvPr/>
        </p:nvSpPr>
        <p:spPr bwMode="auto">
          <a:xfrm>
            <a:off x="547688" y="446088"/>
            <a:ext cx="95123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700" b="1">
                <a:solidFill>
                  <a:srgbClr val="000000"/>
                </a:solidFill>
                <a:latin typeface="Arial" panose="020B0604020202020204" pitchFamily="34" charset="0"/>
              </a:rPr>
              <a:t> CASE O6 - NATO/RTO – T</a:t>
            </a:r>
            <a:r>
              <a:rPr lang="en-GB" altLang="en-US" sz="1400" b="1">
                <a:solidFill>
                  <a:srgbClr val="000000"/>
                </a:solidFill>
                <a:latin typeface="Arial" panose="020B0604020202020204" pitchFamily="34" charset="0"/>
              </a:rPr>
              <a:t>s</a:t>
            </a:r>
            <a:r>
              <a:rPr lang="en-GB" altLang="en-US" sz="2700" b="1">
                <a:solidFill>
                  <a:srgbClr val="000000"/>
                </a:solidFill>
                <a:latin typeface="Arial" panose="020B0604020202020204" pitchFamily="34" charset="0"/>
              </a:rPr>
              <a:t>=270.6K  T</a:t>
            </a:r>
            <a:r>
              <a:rPr lang="en-GB" altLang="en-US" sz="1400" b="1">
                <a:solidFill>
                  <a:srgbClr val="000000"/>
                </a:solidFill>
                <a:latin typeface="Arial" panose="020B0604020202020204" pitchFamily="34" charset="0"/>
              </a:rPr>
              <a:t>exp</a:t>
            </a:r>
            <a:r>
              <a:rPr lang="en-GB" altLang="en-US" sz="2700" b="1">
                <a:solidFill>
                  <a:srgbClr val="000000"/>
                </a:solidFill>
                <a:latin typeface="Arial" panose="020B0604020202020204" pitchFamily="34" charset="0"/>
              </a:rPr>
              <a:t>=330s</a:t>
            </a:r>
            <a:endParaRPr lang="en-GB" altLang="en-US" sz="2700" b="1">
              <a:latin typeface="Arial" panose="020B0604020202020204" pitchFamily="34" charset="0"/>
            </a:endParaRPr>
          </a:p>
        </p:txBody>
      </p:sp>
      <p:sp>
        <p:nvSpPr>
          <p:cNvPr id="43014" name="Text Box 5">
            <a:extLst>
              <a:ext uri="{FF2B5EF4-FFF2-40B4-BE49-F238E27FC236}">
                <a16:creationId xmlns:a16="http://schemas.microsoft.com/office/drawing/2014/main" id="{A194E562-1E79-F186-6340-1335B37ABEC2}"/>
              </a:ext>
            </a:extLst>
          </p:cNvPr>
          <p:cNvSpPr txBox="1">
            <a:spLocks noChangeArrowheads="1"/>
          </p:cNvSpPr>
          <p:nvPr/>
        </p:nvSpPr>
        <p:spPr bwMode="auto">
          <a:xfrm>
            <a:off x="884238" y="6637338"/>
            <a:ext cx="488315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sp>
        <p:nvSpPr>
          <p:cNvPr id="43015" name="Text Box 6">
            <a:extLst>
              <a:ext uri="{FF2B5EF4-FFF2-40B4-BE49-F238E27FC236}">
                <a16:creationId xmlns:a16="http://schemas.microsoft.com/office/drawing/2014/main" id="{E1D09C2C-A622-6352-5F7B-1F0DAE07833A}"/>
              </a:ext>
            </a:extLst>
          </p:cNvPr>
          <p:cNvSpPr txBox="1">
            <a:spLocks noChangeArrowheads="1"/>
          </p:cNvSpPr>
          <p:nvPr/>
        </p:nvSpPr>
        <p:spPr bwMode="auto">
          <a:xfrm>
            <a:off x="966788" y="6557963"/>
            <a:ext cx="2022475"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pic>
        <p:nvPicPr>
          <p:cNvPr id="43016" name="Picture 23" descr="Compar_Criterion_O6">
            <a:extLst>
              <a:ext uri="{FF2B5EF4-FFF2-40B4-BE49-F238E27FC236}">
                <a16:creationId xmlns:a16="http://schemas.microsoft.com/office/drawing/2014/main" id="{442D1CA7-6B9F-5BB3-BBD7-E9ED4D9E1C6D}"/>
              </a:ext>
            </a:extLst>
          </p:cNvPr>
          <p:cNvPicPr>
            <a:picLocks noGrp="1" noChangeAspect="1" noChangeArrowheads="1"/>
          </p:cNvPicPr>
          <p:nvPr>
            <p:ph sz="quarter" idx="1"/>
          </p:nvPr>
        </p:nvPicPr>
        <p:blipFill>
          <a:blip r:embed="rId5">
            <a:extLst>
              <a:ext uri="{28A0092B-C50C-407E-A947-70E740481C1C}">
                <a14:useLocalDpi xmlns:a14="http://schemas.microsoft.com/office/drawing/2010/main" val="0"/>
              </a:ext>
            </a:extLst>
          </a:blip>
          <a:srcRect/>
          <a:stretch>
            <a:fillRect/>
          </a:stretch>
        </p:blipFill>
        <p:spPr>
          <a:xfrm>
            <a:off x="0" y="1160463"/>
            <a:ext cx="6356350" cy="5873750"/>
          </a:xfrm>
        </p:spPr>
      </p:pic>
      <p:graphicFrame>
        <p:nvGraphicFramePr>
          <p:cNvPr id="43017" name="Rectangle 8">
            <a:extLst>
              <a:ext uri="{FF2B5EF4-FFF2-40B4-BE49-F238E27FC236}">
                <a16:creationId xmlns:a16="http://schemas.microsoft.com/office/drawing/2014/main" id="{4E041789-0492-39D1-CC9C-4718020B0544}"/>
              </a:ext>
            </a:extLst>
          </p:cNvPr>
          <p:cNvGraphicFramePr>
            <a:graphicFrameLocks/>
          </p:cNvGraphicFramePr>
          <p:nvPr>
            <p:ph sz="quarter" idx="2"/>
          </p:nvPr>
        </p:nvGraphicFramePr>
        <p:xfrm>
          <a:off x="7662863" y="3276600"/>
          <a:ext cx="0" cy="0"/>
        </p:xfrm>
        <a:graphic>
          <a:graphicData uri="http://schemas.openxmlformats.org/presentationml/2006/ole">
            <mc:AlternateContent xmlns:mc="http://schemas.openxmlformats.org/markup-compatibility/2006">
              <mc:Choice xmlns:v="urn:schemas-microsoft-com:vml" Requires="v">
                <p:oleObj name="Equation" r:id="rId6" imgW="0" imgH="0" progId="Equation.3">
                  <p:embed/>
                </p:oleObj>
              </mc:Choice>
              <mc:Fallback>
                <p:oleObj name="Equation" r:id="rId6" imgW="0" imgH="0" progId="Equation.3">
                  <p:embed/>
                  <p:pic>
                    <p:nvPicPr>
                      <p:cNvPr id="0" name="Rectangle 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7662863" y="327660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3018" name="Picture 24" descr="case06_comp_crit_zoom_down2">
            <a:extLst>
              <a:ext uri="{FF2B5EF4-FFF2-40B4-BE49-F238E27FC236}">
                <a16:creationId xmlns:a16="http://schemas.microsoft.com/office/drawing/2014/main" id="{FFF1CB81-A385-FD90-FEB3-70AB85F110F8}"/>
              </a:ext>
            </a:extLst>
          </p:cNvPr>
          <p:cNvPicPr>
            <a:picLocks noGrp="1" noChangeAspect="1" noChangeArrowheads="1"/>
          </p:cNvPicPr>
          <p:nvPr>
            <p:ph sz="quarter" idx="3"/>
          </p:nvPr>
        </p:nvPicPr>
        <p:blipFill>
          <a:blip r:embed="rId7">
            <a:extLst>
              <a:ext uri="{28A0092B-C50C-407E-A947-70E740481C1C}">
                <a14:useLocalDpi xmlns:a14="http://schemas.microsoft.com/office/drawing/2010/main" val="0"/>
              </a:ext>
            </a:extLst>
          </a:blip>
          <a:srcRect/>
          <a:stretch>
            <a:fillRect/>
          </a:stretch>
        </p:blipFill>
        <p:spPr>
          <a:xfrm>
            <a:off x="6608763" y="3621088"/>
            <a:ext cx="3451225" cy="3248025"/>
          </a:xfrm>
        </p:spPr>
      </p:pic>
      <p:pic>
        <p:nvPicPr>
          <p:cNvPr id="43019" name="Picture 25" descr="case06_comp_crit_zoom_up2">
            <a:extLst>
              <a:ext uri="{FF2B5EF4-FFF2-40B4-BE49-F238E27FC236}">
                <a16:creationId xmlns:a16="http://schemas.microsoft.com/office/drawing/2014/main" id="{C3475F1E-6A49-F89A-5FAB-635BAB3357B3}"/>
              </a:ext>
            </a:extLst>
          </p:cNvPr>
          <p:cNvPicPr>
            <a:picLocks noChangeAspect="1" noChangeArrowheads="1"/>
          </p:cNvPicPr>
          <p:nvPr>
            <p:ph sz="quarter" idx="4"/>
          </p:nvPr>
        </p:nvPicPr>
        <p:blipFill>
          <a:blip r:embed="rId8">
            <a:extLst>
              <a:ext uri="{28A0092B-C50C-407E-A947-70E740481C1C}">
                <a14:useLocalDpi xmlns:a14="http://schemas.microsoft.com/office/drawing/2010/main" val="0"/>
              </a:ext>
            </a:extLst>
          </a:blip>
          <a:srcRect/>
          <a:stretch>
            <a:fillRect/>
          </a:stretch>
        </p:blipFill>
        <p:spPr>
          <a:xfrm>
            <a:off x="7029450" y="1001713"/>
            <a:ext cx="3257550" cy="3051175"/>
          </a:xfrm>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3020" name="Text Box 27">
            <a:extLst>
              <a:ext uri="{FF2B5EF4-FFF2-40B4-BE49-F238E27FC236}">
                <a16:creationId xmlns:a16="http://schemas.microsoft.com/office/drawing/2014/main" id="{34E3D314-E00F-6E5A-E3BD-3D989B1839C8}"/>
              </a:ext>
            </a:extLst>
          </p:cNvPr>
          <p:cNvSpPr txBox="1">
            <a:spLocks noChangeArrowheads="1"/>
          </p:cNvSpPr>
          <p:nvPr/>
        </p:nvSpPr>
        <p:spPr bwMode="auto">
          <a:xfrm>
            <a:off x="7450138" y="3222625"/>
            <a:ext cx="2989262" cy="1768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700">
                <a:solidFill>
                  <a:srgbClr val="000000"/>
                </a:solidFill>
              </a:rPr>
              <a:t>Time crit: 20 steps</a:t>
            </a:r>
          </a:p>
          <a:p>
            <a:pPr>
              <a:spcBef>
                <a:spcPct val="50000"/>
              </a:spcBef>
            </a:pPr>
            <a:r>
              <a:rPr lang="en-GB" altLang="en-US" sz="2700">
                <a:solidFill>
                  <a:srgbClr val="000000"/>
                </a:solidFill>
              </a:rPr>
              <a:t>Ice crit: 10 steps</a:t>
            </a:r>
          </a:p>
          <a:p>
            <a:pPr>
              <a:spcBef>
                <a:spcPct val="50000"/>
              </a:spcBef>
            </a:pPr>
            <a:r>
              <a:rPr lang="en-GB" altLang="en-US" sz="2700">
                <a:solidFill>
                  <a:srgbClr val="000000"/>
                </a:solidFill>
              </a:rPr>
              <a:t>Auto crit: 17 steps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8">
            <a:extLst>
              <a:ext uri="{FF2B5EF4-FFF2-40B4-BE49-F238E27FC236}">
                <a16:creationId xmlns:a16="http://schemas.microsoft.com/office/drawing/2014/main" id="{E86EA37B-E973-B637-FE68-CA1129849AA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1F4C295-1B2C-F04F-AF21-D98908B3A3F6}" type="slidenum">
              <a:rPr lang="en-GB" altLang="en-US" sz="1600"/>
              <a:pPr/>
              <a:t>39</a:t>
            </a:fld>
            <a:endParaRPr lang="en-GB" altLang="en-US" sz="1600"/>
          </a:p>
        </p:txBody>
      </p:sp>
      <p:graphicFrame>
        <p:nvGraphicFramePr>
          <p:cNvPr id="44035" name="Object 2">
            <a:extLst>
              <a:ext uri="{FF2B5EF4-FFF2-40B4-BE49-F238E27FC236}">
                <a16:creationId xmlns:a16="http://schemas.microsoft.com/office/drawing/2014/main" id="{99878A85-1211-4075-7399-88A3B3094C62}"/>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2" imgW="2628900" imgH="4102100" progId="Equation.DSMT4">
                  <p:embed/>
                </p:oleObj>
              </mc:Choice>
              <mc:Fallback>
                <p:oleObj name="Equation" r:id="rId2" imgW="2628900" imgH="41021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036" name="Object 3">
            <a:extLst>
              <a:ext uri="{FF2B5EF4-FFF2-40B4-BE49-F238E27FC236}">
                <a16:creationId xmlns:a16="http://schemas.microsoft.com/office/drawing/2014/main" id="{2FA6C178-7BF5-7B20-824D-6D5615B3849F}"/>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4" imgW="2628900" imgH="4102100" progId="Equation.DSMT4">
                  <p:embed/>
                </p:oleObj>
              </mc:Choice>
              <mc:Fallback>
                <p:oleObj name="Equation" r:id="rId4" imgW="2628900" imgH="41021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7" name="Text Box 4">
            <a:extLst>
              <a:ext uri="{FF2B5EF4-FFF2-40B4-BE49-F238E27FC236}">
                <a16:creationId xmlns:a16="http://schemas.microsoft.com/office/drawing/2014/main" id="{05BDE645-A1ED-1F7C-289B-F49BE749584D}"/>
              </a:ext>
            </a:extLst>
          </p:cNvPr>
          <p:cNvSpPr txBox="1">
            <a:spLocks noChangeArrowheads="1"/>
          </p:cNvSpPr>
          <p:nvPr/>
        </p:nvSpPr>
        <p:spPr bwMode="auto">
          <a:xfrm>
            <a:off x="0" y="525463"/>
            <a:ext cx="10144125"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700" b="1">
                <a:solidFill>
                  <a:srgbClr val="000000"/>
                </a:solidFill>
                <a:latin typeface="Arial" panose="020B0604020202020204" pitchFamily="34" charset="0"/>
              </a:rPr>
              <a:t> NACA 0012 - NATO/RTO - C17 – T</a:t>
            </a:r>
            <a:r>
              <a:rPr lang="en-GB" altLang="en-US" sz="1400" b="1">
                <a:solidFill>
                  <a:srgbClr val="000000"/>
                </a:solidFill>
                <a:latin typeface="Arial" panose="020B0604020202020204" pitchFamily="34" charset="0"/>
              </a:rPr>
              <a:t>s</a:t>
            </a:r>
            <a:r>
              <a:rPr lang="en-GB" altLang="en-US" sz="2700" b="1">
                <a:solidFill>
                  <a:srgbClr val="000000"/>
                </a:solidFill>
                <a:latin typeface="Arial" panose="020B0604020202020204" pitchFamily="34" charset="0"/>
              </a:rPr>
              <a:t>= -7  C – T</a:t>
            </a:r>
            <a:r>
              <a:rPr lang="en-GB" altLang="en-US" sz="1400" b="1">
                <a:solidFill>
                  <a:srgbClr val="000000"/>
                </a:solidFill>
                <a:latin typeface="Arial" panose="020B0604020202020204" pitchFamily="34" charset="0"/>
              </a:rPr>
              <a:t>exp</a:t>
            </a:r>
            <a:r>
              <a:rPr lang="en-GB" altLang="en-US" sz="2700" b="1">
                <a:solidFill>
                  <a:srgbClr val="000000"/>
                </a:solidFill>
                <a:latin typeface="Arial" panose="020B0604020202020204" pitchFamily="34" charset="0"/>
              </a:rPr>
              <a:t>=20min</a:t>
            </a:r>
            <a:endParaRPr lang="en-GB" altLang="en-US" sz="2700" b="1">
              <a:latin typeface="Arial" panose="020B0604020202020204" pitchFamily="34" charset="0"/>
            </a:endParaRPr>
          </a:p>
        </p:txBody>
      </p:sp>
      <p:sp>
        <p:nvSpPr>
          <p:cNvPr id="44038" name="Text Box 5">
            <a:extLst>
              <a:ext uri="{FF2B5EF4-FFF2-40B4-BE49-F238E27FC236}">
                <a16:creationId xmlns:a16="http://schemas.microsoft.com/office/drawing/2014/main" id="{4A0E1F04-0BC0-FA55-9CF6-C8398482A581}"/>
              </a:ext>
            </a:extLst>
          </p:cNvPr>
          <p:cNvSpPr txBox="1">
            <a:spLocks noChangeArrowheads="1"/>
          </p:cNvSpPr>
          <p:nvPr/>
        </p:nvSpPr>
        <p:spPr bwMode="auto">
          <a:xfrm>
            <a:off x="884238" y="6637338"/>
            <a:ext cx="488315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sp>
        <p:nvSpPr>
          <p:cNvPr id="44039" name="Text Box 6">
            <a:extLst>
              <a:ext uri="{FF2B5EF4-FFF2-40B4-BE49-F238E27FC236}">
                <a16:creationId xmlns:a16="http://schemas.microsoft.com/office/drawing/2014/main" id="{67076D59-3AF9-036E-C480-4BB0245B2D37}"/>
              </a:ext>
            </a:extLst>
          </p:cNvPr>
          <p:cNvSpPr txBox="1">
            <a:spLocks noChangeArrowheads="1"/>
          </p:cNvSpPr>
          <p:nvPr/>
        </p:nvSpPr>
        <p:spPr bwMode="auto">
          <a:xfrm>
            <a:off x="966788" y="6557963"/>
            <a:ext cx="2022475"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pic>
        <p:nvPicPr>
          <p:cNvPr id="44040" name="Picture 24" descr="NACA0012_T263_comparall">
            <a:extLst>
              <a:ext uri="{FF2B5EF4-FFF2-40B4-BE49-F238E27FC236}">
                <a16:creationId xmlns:a16="http://schemas.microsoft.com/office/drawing/2014/main" id="{5EDA787A-7CF7-4B72-758B-9EB469A37FEB}"/>
              </a:ext>
            </a:extLst>
          </p:cNvPr>
          <p:cNvPicPr>
            <a:picLocks noChangeAspect="1" noChangeArrowheads="1"/>
          </p:cNvPicPr>
          <p:nvPr>
            <p:ph sz="quarter" idx="1"/>
          </p:nvPr>
        </p:nvPicPr>
        <p:blipFill>
          <a:blip r:embed="rId5">
            <a:extLst>
              <a:ext uri="{28A0092B-C50C-407E-A947-70E740481C1C}">
                <a14:useLocalDpi xmlns:a14="http://schemas.microsoft.com/office/drawing/2010/main" val="0"/>
              </a:ext>
            </a:extLst>
          </a:blip>
          <a:srcRect/>
          <a:stretch>
            <a:fillRect/>
          </a:stretch>
        </p:blipFill>
        <p:spPr>
          <a:xfrm>
            <a:off x="0" y="1081088"/>
            <a:ext cx="6869113" cy="5635625"/>
          </a:xfrm>
          <a:extLst>
            <a:ext uri="{AF507438-7753-43E0-B8FC-AC1667EBCBE1}">
              <a14:hiddenEffects xmlns:a14="http://schemas.microsoft.com/office/drawing/2010/main">
                <a:effectLst>
                  <a:outerShdw dist="35921" dir="2700000" algn="ctr" rotWithShape="0">
                    <a:srgbClr val="808080"/>
                  </a:outerShdw>
                </a:effectLst>
              </a14:hiddenEffects>
            </a:ext>
          </a:extLst>
        </p:spPr>
      </p:pic>
      <p:graphicFrame>
        <p:nvGraphicFramePr>
          <p:cNvPr id="44041" name="Rectangle 8">
            <a:extLst>
              <a:ext uri="{FF2B5EF4-FFF2-40B4-BE49-F238E27FC236}">
                <a16:creationId xmlns:a16="http://schemas.microsoft.com/office/drawing/2014/main" id="{FD3E7193-1323-1BF0-519D-DA4482CD9565}"/>
              </a:ext>
            </a:extLst>
          </p:cNvPr>
          <p:cNvGraphicFramePr>
            <a:graphicFrameLocks/>
          </p:cNvGraphicFramePr>
          <p:nvPr>
            <p:ph sz="quarter" idx="2"/>
          </p:nvPr>
        </p:nvGraphicFramePr>
        <p:xfrm>
          <a:off x="7662863" y="3276600"/>
          <a:ext cx="0" cy="0"/>
        </p:xfrm>
        <a:graphic>
          <a:graphicData uri="http://schemas.openxmlformats.org/presentationml/2006/ole">
            <mc:AlternateContent xmlns:mc="http://schemas.openxmlformats.org/markup-compatibility/2006">
              <mc:Choice xmlns:v="urn:schemas-microsoft-com:vml" Requires="v">
                <p:oleObj name="Equation" r:id="rId6" imgW="0" imgH="0" progId="Equation.3">
                  <p:embed/>
                </p:oleObj>
              </mc:Choice>
              <mc:Fallback>
                <p:oleObj name="Equation" r:id="rId6" imgW="0" imgH="0" progId="Equation.3">
                  <p:embed/>
                  <p:pic>
                    <p:nvPicPr>
                      <p:cNvPr id="0" name="Rectangle 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7662863" y="327660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4042" name="Picture 27" descr="T263_auto3d_iced">
            <a:extLst>
              <a:ext uri="{FF2B5EF4-FFF2-40B4-BE49-F238E27FC236}">
                <a16:creationId xmlns:a16="http://schemas.microsoft.com/office/drawing/2014/main" id="{3F293264-11B8-4B3A-7092-D8B49B919C8C}"/>
              </a:ext>
            </a:extLst>
          </p:cNvPr>
          <p:cNvPicPr>
            <a:picLocks noChangeAspect="1" noChangeArrowheads="1"/>
          </p:cNvPicPr>
          <p:nvPr>
            <p:ph sz="quarter" idx="3"/>
          </p:nvPr>
        </p:nvPicPr>
        <p:blipFill>
          <a:blip r:embed="rId7">
            <a:extLst>
              <a:ext uri="{28A0092B-C50C-407E-A947-70E740481C1C}">
                <a14:useLocalDpi xmlns:a14="http://schemas.microsoft.com/office/drawing/2010/main" val="0"/>
              </a:ext>
            </a:extLst>
          </a:blip>
          <a:srcRect/>
          <a:stretch>
            <a:fillRect/>
          </a:stretch>
        </p:blipFill>
        <p:spPr>
          <a:xfrm>
            <a:off x="5092700" y="3287713"/>
            <a:ext cx="4302125" cy="3589337"/>
          </a:xfrm>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4043" name="Text Box 30">
            <a:extLst>
              <a:ext uri="{FF2B5EF4-FFF2-40B4-BE49-F238E27FC236}">
                <a16:creationId xmlns:a16="http://schemas.microsoft.com/office/drawing/2014/main" id="{86B8BCE6-E5F1-8EA0-7007-D030CC7DA654}"/>
              </a:ext>
            </a:extLst>
          </p:cNvPr>
          <p:cNvSpPr txBox="1">
            <a:spLocks noChangeArrowheads="1"/>
          </p:cNvSpPr>
          <p:nvPr/>
        </p:nvSpPr>
        <p:spPr bwMode="auto">
          <a:xfrm>
            <a:off x="7197725" y="1557338"/>
            <a:ext cx="3073400" cy="176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GB" altLang="en-US" sz="2700">
              <a:solidFill>
                <a:srgbClr val="000000"/>
              </a:solidFill>
            </a:endParaRPr>
          </a:p>
          <a:p>
            <a:pPr>
              <a:spcBef>
                <a:spcPct val="50000"/>
              </a:spcBef>
            </a:pPr>
            <a:r>
              <a:rPr lang="en-GB" altLang="en-US" sz="2700">
                <a:solidFill>
                  <a:srgbClr val="000000"/>
                </a:solidFill>
              </a:rPr>
              <a:t>Ice crit: 4 steps</a:t>
            </a:r>
          </a:p>
          <a:p>
            <a:pPr>
              <a:spcBef>
                <a:spcPct val="50000"/>
              </a:spcBef>
            </a:pPr>
            <a:r>
              <a:rPr lang="en-GB" altLang="en-US" sz="2700">
                <a:solidFill>
                  <a:srgbClr val="000000"/>
                </a:solidFill>
              </a:rPr>
              <a:t>Auto crit:10 steps</a:t>
            </a:r>
          </a:p>
        </p:txBody>
      </p:sp>
      <p:graphicFrame>
        <p:nvGraphicFramePr>
          <p:cNvPr id="44044" name="Object 31">
            <a:extLst>
              <a:ext uri="{FF2B5EF4-FFF2-40B4-BE49-F238E27FC236}">
                <a16:creationId xmlns:a16="http://schemas.microsoft.com/office/drawing/2014/main" id="{5C6CA8E3-81D9-C71D-E719-077AA17F5FB4}"/>
              </a:ext>
            </a:extLst>
          </p:cNvPr>
          <p:cNvGraphicFramePr>
            <a:graphicFrameLocks noChangeAspect="1"/>
          </p:cNvGraphicFramePr>
          <p:nvPr>
            <p:ph sz="quarter" idx="4"/>
          </p:nvPr>
        </p:nvGraphicFramePr>
        <p:xfrm>
          <a:off x="6608763" y="446088"/>
          <a:ext cx="257175" cy="395287"/>
        </p:xfrm>
        <a:graphic>
          <a:graphicData uri="http://schemas.openxmlformats.org/presentationml/2006/ole">
            <mc:AlternateContent xmlns:mc="http://schemas.openxmlformats.org/markup-compatibility/2006">
              <mc:Choice xmlns:v="urn:schemas-microsoft-com:vml" Requires="v">
                <p:oleObj name="Equation" r:id="rId8" imgW="2336800" imgH="3797300" progId="Equation.DSMT4">
                  <p:embed/>
                </p:oleObj>
              </mc:Choice>
              <mc:Fallback>
                <p:oleObj name="Equation" r:id="rId8" imgW="2336800" imgH="3797300" progId="Equation.DSMT4">
                  <p:embed/>
                  <p:pic>
                    <p:nvPicPr>
                      <p:cNvPr id="0" name="Object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08763" y="446088"/>
                        <a:ext cx="257175" cy="395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8">
            <a:extLst>
              <a:ext uri="{FF2B5EF4-FFF2-40B4-BE49-F238E27FC236}">
                <a16:creationId xmlns:a16="http://schemas.microsoft.com/office/drawing/2014/main" id="{800156BF-70D5-EDEC-19C4-4C52B02B9B5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11EF9E6-793A-FF4D-A08E-EE4429D380DC}" type="slidenum">
              <a:rPr lang="en-GB" altLang="en-US" sz="1600"/>
              <a:pPr/>
              <a:t>40</a:t>
            </a:fld>
            <a:endParaRPr lang="en-GB" altLang="en-US" sz="1600"/>
          </a:p>
        </p:txBody>
      </p:sp>
      <p:graphicFrame>
        <p:nvGraphicFramePr>
          <p:cNvPr id="45059" name="Object 2">
            <a:extLst>
              <a:ext uri="{FF2B5EF4-FFF2-40B4-BE49-F238E27FC236}">
                <a16:creationId xmlns:a16="http://schemas.microsoft.com/office/drawing/2014/main" id="{8015F795-CCBD-1994-3AC9-1CB98D2746E1}"/>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2" imgW="2628900" imgH="4102100" progId="Equation.DSMT4">
                  <p:embed/>
                </p:oleObj>
              </mc:Choice>
              <mc:Fallback>
                <p:oleObj name="Equation" r:id="rId2" imgW="2628900" imgH="41021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0" name="Object 3">
            <a:extLst>
              <a:ext uri="{FF2B5EF4-FFF2-40B4-BE49-F238E27FC236}">
                <a16:creationId xmlns:a16="http://schemas.microsoft.com/office/drawing/2014/main" id="{2B89E0A3-8CC8-D978-D779-BB8CAB8F9795}"/>
              </a:ext>
            </a:extLst>
          </p:cNvPr>
          <p:cNvGraphicFramePr>
            <a:graphicFrameLocks noChangeAspect="1"/>
          </p:cNvGraphicFramePr>
          <p:nvPr/>
        </p:nvGraphicFramePr>
        <p:xfrm>
          <a:off x="0" y="0"/>
          <a:ext cx="1068388" cy="219075"/>
        </p:xfrm>
        <a:graphic>
          <a:graphicData uri="http://schemas.openxmlformats.org/presentationml/2006/ole">
            <mc:AlternateContent xmlns:mc="http://schemas.openxmlformats.org/markup-compatibility/2006">
              <mc:Choice xmlns:v="urn:schemas-microsoft-com:vml" Requires="v">
                <p:oleObj name="Equation" r:id="rId4" imgW="2628900" imgH="4102100" progId="Equation.DSMT4">
                  <p:embed/>
                </p:oleObj>
              </mc:Choice>
              <mc:Fallback>
                <p:oleObj name="Equation" r:id="rId4" imgW="2628900" imgH="41021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68388" cy="2190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1" name="Text Box 4">
            <a:extLst>
              <a:ext uri="{FF2B5EF4-FFF2-40B4-BE49-F238E27FC236}">
                <a16:creationId xmlns:a16="http://schemas.microsoft.com/office/drawing/2014/main" id="{79E42E88-6EA3-0724-2E16-74FE17350E06}"/>
              </a:ext>
            </a:extLst>
          </p:cNvPr>
          <p:cNvSpPr txBox="1">
            <a:spLocks noChangeArrowheads="1"/>
          </p:cNvSpPr>
          <p:nvPr/>
        </p:nvSpPr>
        <p:spPr bwMode="auto">
          <a:xfrm>
            <a:off x="547688" y="446088"/>
            <a:ext cx="95123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700" b="1">
                <a:solidFill>
                  <a:srgbClr val="000000"/>
                </a:solidFill>
                <a:latin typeface="Arial" panose="020B0604020202020204" pitchFamily="34" charset="0"/>
              </a:rPr>
              <a:t> NACA0012 – T</a:t>
            </a:r>
            <a:r>
              <a:rPr lang="en-GB" altLang="en-US" sz="1400" b="1">
                <a:solidFill>
                  <a:srgbClr val="000000"/>
                </a:solidFill>
                <a:latin typeface="Arial" panose="020B0604020202020204" pitchFamily="34" charset="0"/>
              </a:rPr>
              <a:t>s</a:t>
            </a:r>
            <a:r>
              <a:rPr lang="en-GB" altLang="en-US" sz="2700" b="1">
                <a:solidFill>
                  <a:srgbClr val="000000"/>
                </a:solidFill>
                <a:latin typeface="Arial" panose="020B0604020202020204" pitchFamily="34" charset="0"/>
              </a:rPr>
              <a:t> = -26  C – T</a:t>
            </a:r>
            <a:r>
              <a:rPr lang="en-GB" altLang="en-US" sz="1400" b="1">
                <a:solidFill>
                  <a:srgbClr val="000000"/>
                </a:solidFill>
                <a:latin typeface="Arial" panose="020B0604020202020204" pitchFamily="34" charset="0"/>
              </a:rPr>
              <a:t>exp</a:t>
            </a:r>
            <a:r>
              <a:rPr lang="en-GB" altLang="en-US" sz="2700" b="1">
                <a:solidFill>
                  <a:srgbClr val="000000"/>
                </a:solidFill>
                <a:latin typeface="Arial" panose="020B0604020202020204" pitchFamily="34" charset="0"/>
              </a:rPr>
              <a:t> = 6min</a:t>
            </a:r>
            <a:endParaRPr lang="en-GB" altLang="en-US" sz="2700" b="1">
              <a:latin typeface="Arial" panose="020B0604020202020204" pitchFamily="34" charset="0"/>
            </a:endParaRPr>
          </a:p>
        </p:txBody>
      </p:sp>
      <p:sp>
        <p:nvSpPr>
          <p:cNvPr id="45062" name="Text Box 5">
            <a:extLst>
              <a:ext uri="{FF2B5EF4-FFF2-40B4-BE49-F238E27FC236}">
                <a16:creationId xmlns:a16="http://schemas.microsoft.com/office/drawing/2014/main" id="{7099B227-97C7-FAD8-790A-D3865EA1A3CF}"/>
              </a:ext>
            </a:extLst>
          </p:cNvPr>
          <p:cNvSpPr txBox="1">
            <a:spLocks noChangeArrowheads="1"/>
          </p:cNvSpPr>
          <p:nvPr/>
        </p:nvSpPr>
        <p:spPr bwMode="auto">
          <a:xfrm>
            <a:off x="884238" y="6637338"/>
            <a:ext cx="488315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sp>
        <p:nvSpPr>
          <p:cNvPr id="45063" name="Text Box 6">
            <a:extLst>
              <a:ext uri="{FF2B5EF4-FFF2-40B4-BE49-F238E27FC236}">
                <a16:creationId xmlns:a16="http://schemas.microsoft.com/office/drawing/2014/main" id="{4B85C614-C936-C085-1620-23ED49AA34C4}"/>
              </a:ext>
            </a:extLst>
          </p:cNvPr>
          <p:cNvSpPr txBox="1">
            <a:spLocks noChangeArrowheads="1"/>
          </p:cNvSpPr>
          <p:nvPr/>
        </p:nvSpPr>
        <p:spPr bwMode="auto">
          <a:xfrm>
            <a:off x="966788" y="6557963"/>
            <a:ext cx="2022475"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pic>
        <p:nvPicPr>
          <p:cNvPr id="45064" name="Picture 15" descr="NACA0012_T44_comparall">
            <a:extLst>
              <a:ext uri="{FF2B5EF4-FFF2-40B4-BE49-F238E27FC236}">
                <a16:creationId xmlns:a16="http://schemas.microsoft.com/office/drawing/2014/main" id="{91C1074E-4C18-7C1C-A01B-7F557079283E}"/>
              </a:ext>
            </a:extLst>
          </p:cNvPr>
          <p:cNvPicPr>
            <a:picLocks noGrp="1" noChangeAspect="1" noChangeArrowheads="1"/>
          </p:cNvPicPr>
          <p:nvPr>
            <p:ph sz="quarter" idx="1"/>
          </p:nvPr>
        </p:nvPicPr>
        <p:blipFill>
          <a:blip r:embed="rId5">
            <a:extLst>
              <a:ext uri="{28A0092B-C50C-407E-A947-70E740481C1C}">
                <a14:useLocalDpi xmlns:a14="http://schemas.microsoft.com/office/drawing/2010/main" val="0"/>
              </a:ext>
            </a:extLst>
          </a:blip>
          <a:srcRect/>
          <a:stretch>
            <a:fillRect/>
          </a:stretch>
        </p:blipFill>
        <p:spPr>
          <a:xfrm>
            <a:off x="0" y="1271588"/>
            <a:ext cx="7115175" cy="4708525"/>
          </a:xfrm>
        </p:spPr>
      </p:pic>
      <p:graphicFrame>
        <p:nvGraphicFramePr>
          <p:cNvPr id="45065" name="Rectangle 8">
            <a:extLst>
              <a:ext uri="{FF2B5EF4-FFF2-40B4-BE49-F238E27FC236}">
                <a16:creationId xmlns:a16="http://schemas.microsoft.com/office/drawing/2014/main" id="{AFC4DE3F-49D6-5BF7-CF7B-7DA65193303B}"/>
              </a:ext>
            </a:extLst>
          </p:cNvPr>
          <p:cNvGraphicFramePr>
            <a:graphicFrameLocks/>
          </p:cNvGraphicFramePr>
          <p:nvPr>
            <p:ph sz="quarter" idx="2"/>
          </p:nvPr>
        </p:nvGraphicFramePr>
        <p:xfrm>
          <a:off x="7662863" y="3276600"/>
          <a:ext cx="0" cy="0"/>
        </p:xfrm>
        <a:graphic>
          <a:graphicData uri="http://schemas.openxmlformats.org/presentationml/2006/ole">
            <mc:AlternateContent xmlns:mc="http://schemas.openxmlformats.org/markup-compatibility/2006">
              <mc:Choice xmlns:v="urn:schemas-microsoft-com:vml" Requires="v">
                <p:oleObj name="Equation" r:id="rId6" imgW="0" imgH="0" progId="Equation.3">
                  <p:embed/>
                </p:oleObj>
              </mc:Choice>
              <mc:Fallback>
                <p:oleObj name="Equation" r:id="rId6" imgW="0" imgH="0" progId="Equation.3">
                  <p:embed/>
                  <p:pic>
                    <p:nvPicPr>
                      <p:cNvPr id="0" name="Rectangle 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7662863" y="327660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5066" name="Picture 21" descr="T244_iceheight3d_iced">
            <a:extLst>
              <a:ext uri="{FF2B5EF4-FFF2-40B4-BE49-F238E27FC236}">
                <a16:creationId xmlns:a16="http://schemas.microsoft.com/office/drawing/2014/main" id="{B5DEAFFD-FED3-5B68-7C21-8265508CB6D5}"/>
              </a:ext>
            </a:extLst>
          </p:cNvPr>
          <p:cNvPicPr>
            <a:picLocks noGrp="1" noChangeAspect="1" noChangeArrowheads="1"/>
          </p:cNvPicPr>
          <p:nvPr>
            <p:ph sz="quarter" idx="3"/>
          </p:nvPr>
        </p:nvPicPr>
        <p:blipFill>
          <a:blip r:embed="rId7">
            <a:extLst>
              <a:ext uri="{28A0092B-C50C-407E-A947-70E740481C1C}">
                <a14:useLocalDpi xmlns:a14="http://schemas.microsoft.com/office/drawing/2010/main" val="0"/>
              </a:ext>
            </a:extLst>
          </a:blip>
          <a:srcRect/>
          <a:stretch>
            <a:fillRect/>
          </a:stretch>
        </p:blipFill>
        <p:spPr>
          <a:xfrm>
            <a:off x="5935663" y="3700463"/>
            <a:ext cx="3871912" cy="3230562"/>
          </a:xfrm>
        </p:spPr>
      </p:pic>
      <p:sp>
        <p:nvSpPr>
          <p:cNvPr id="45067" name="Text Box 22">
            <a:extLst>
              <a:ext uri="{FF2B5EF4-FFF2-40B4-BE49-F238E27FC236}">
                <a16:creationId xmlns:a16="http://schemas.microsoft.com/office/drawing/2014/main" id="{1866DDE4-B281-A4BD-F90A-48B5566D98FB}"/>
              </a:ext>
            </a:extLst>
          </p:cNvPr>
          <p:cNvSpPr txBox="1">
            <a:spLocks noChangeArrowheads="1"/>
          </p:cNvSpPr>
          <p:nvPr/>
        </p:nvSpPr>
        <p:spPr bwMode="auto">
          <a:xfrm>
            <a:off x="8293100" y="1160463"/>
            <a:ext cx="2019300" cy="52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endParaRPr lang="en-US" altLang="en-US" sz="2700"/>
          </a:p>
        </p:txBody>
      </p:sp>
      <p:sp>
        <p:nvSpPr>
          <p:cNvPr id="45068" name="Text Box 23">
            <a:extLst>
              <a:ext uri="{FF2B5EF4-FFF2-40B4-BE49-F238E27FC236}">
                <a16:creationId xmlns:a16="http://schemas.microsoft.com/office/drawing/2014/main" id="{CA5CD197-F112-810E-6656-A05983C5EE1F}"/>
              </a:ext>
            </a:extLst>
          </p:cNvPr>
          <p:cNvSpPr txBox="1">
            <a:spLocks noChangeArrowheads="1"/>
          </p:cNvSpPr>
          <p:nvPr/>
        </p:nvSpPr>
        <p:spPr bwMode="auto">
          <a:xfrm>
            <a:off x="7702550" y="1398588"/>
            <a:ext cx="2989263" cy="176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2700">
                <a:solidFill>
                  <a:srgbClr val="000000"/>
                </a:solidFill>
              </a:rPr>
              <a:t>Time crit: 3 steps</a:t>
            </a:r>
          </a:p>
          <a:p>
            <a:pPr>
              <a:spcBef>
                <a:spcPct val="50000"/>
              </a:spcBef>
            </a:pPr>
            <a:r>
              <a:rPr lang="en-GB" altLang="en-US" sz="2700">
                <a:solidFill>
                  <a:srgbClr val="000000"/>
                </a:solidFill>
              </a:rPr>
              <a:t>Ice crit: 20 steps</a:t>
            </a:r>
          </a:p>
          <a:p>
            <a:pPr>
              <a:spcBef>
                <a:spcPct val="50000"/>
              </a:spcBef>
            </a:pPr>
            <a:r>
              <a:rPr lang="en-GB" altLang="en-US" sz="2700">
                <a:solidFill>
                  <a:srgbClr val="000000"/>
                </a:solidFill>
              </a:rPr>
              <a:t>Auto crit: 6 steps</a:t>
            </a:r>
          </a:p>
        </p:txBody>
      </p:sp>
      <p:graphicFrame>
        <p:nvGraphicFramePr>
          <p:cNvPr id="45069" name="Object 24">
            <a:extLst>
              <a:ext uri="{FF2B5EF4-FFF2-40B4-BE49-F238E27FC236}">
                <a16:creationId xmlns:a16="http://schemas.microsoft.com/office/drawing/2014/main" id="{8EF43B99-C355-9BA3-646B-08941DBF8F78}"/>
              </a:ext>
            </a:extLst>
          </p:cNvPr>
          <p:cNvGraphicFramePr>
            <a:graphicFrameLocks noChangeAspect="1"/>
          </p:cNvGraphicFramePr>
          <p:nvPr>
            <p:ph sz="quarter" idx="4"/>
          </p:nvPr>
        </p:nvGraphicFramePr>
        <p:xfrm>
          <a:off x="4167188" y="366713"/>
          <a:ext cx="280987" cy="431800"/>
        </p:xfrm>
        <a:graphic>
          <a:graphicData uri="http://schemas.openxmlformats.org/presentationml/2006/ole">
            <mc:AlternateContent xmlns:mc="http://schemas.openxmlformats.org/markup-compatibility/2006">
              <mc:Choice xmlns:v="urn:schemas-microsoft-com:vml" Requires="v">
                <p:oleObj name="Equation" r:id="rId8" imgW="2336800" imgH="3797300" progId="Equation.DSMT4">
                  <p:embed/>
                </p:oleObj>
              </mc:Choice>
              <mc:Fallback>
                <p:oleObj name="Equation" r:id="rId8" imgW="2336800" imgH="3797300" progId="Equation.DSMT4">
                  <p:embed/>
                  <p:pic>
                    <p:nvPicPr>
                      <p:cNvPr id="0"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67188" y="366713"/>
                        <a:ext cx="28098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1">
            <a:extLst>
              <a:ext uri="{FF2B5EF4-FFF2-40B4-BE49-F238E27FC236}">
                <a16:creationId xmlns:a16="http://schemas.microsoft.com/office/drawing/2014/main" id="{021B4A13-E4C7-D998-33D6-1B9D81850B1E}"/>
              </a:ext>
            </a:extLst>
          </p:cNvPr>
          <p:cNvSpPr txBox="1">
            <a:spLocks noChangeArrowheads="1"/>
          </p:cNvSpPr>
          <p:nvPr/>
        </p:nvSpPr>
        <p:spPr bwMode="auto">
          <a:xfrm>
            <a:off x="447675" y="527050"/>
            <a:ext cx="7327900" cy="88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9pPr>
          </a:lstStyle>
          <a:p>
            <a:pPr algn="ctr"/>
            <a:r>
              <a:rPr lang="en-GB" altLang="en-US" sz="2800" b="1">
                <a:solidFill>
                  <a:srgbClr val="000000"/>
                </a:solidFill>
                <a:latin typeface="Arial" panose="020B0604020202020204" pitchFamily="34" charset="0"/>
                <a:ea typeface="DejaVu Sans"/>
                <a:cs typeface="DejaVu Sans"/>
              </a:rPr>
              <a:t>Multi-step Ice Accretion Calculation</a:t>
            </a:r>
          </a:p>
          <a:p>
            <a:pPr algn="ctr"/>
            <a:r>
              <a:rPr lang="en-GB" altLang="en-US" sz="2800" b="1">
                <a:solidFill>
                  <a:srgbClr val="000000"/>
                </a:solidFill>
                <a:latin typeface="Arial" panose="020B0604020202020204" pitchFamily="34" charset="0"/>
                <a:ea typeface="DejaVu Sans"/>
                <a:cs typeface="DejaVu Sans"/>
              </a:rPr>
              <a:t>Advanced updating</a:t>
            </a:r>
          </a:p>
        </p:txBody>
      </p:sp>
      <p:sp>
        <p:nvSpPr>
          <p:cNvPr id="46083" name="Text Box 2">
            <a:extLst>
              <a:ext uri="{FF2B5EF4-FFF2-40B4-BE49-F238E27FC236}">
                <a16:creationId xmlns:a16="http://schemas.microsoft.com/office/drawing/2014/main" id="{A615C882-05B7-83E0-FC4D-BAE3F10A1853}"/>
              </a:ext>
            </a:extLst>
          </p:cNvPr>
          <p:cNvSpPr txBox="1">
            <a:spLocks noChangeArrowheads="1"/>
          </p:cNvSpPr>
          <p:nvPr/>
        </p:nvSpPr>
        <p:spPr bwMode="auto">
          <a:xfrm>
            <a:off x="792163" y="1889125"/>
            <a:ext cx="9109075" cy="3411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9pPr>
          </a:lstStyle>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As ice accretes on an airfoil it significantly disturbs the smooth flow of air around the airfoil. </a:t>
            </a:r>
          </a:p>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Parameters such as the collection efficiency (β), heat transfer coefficient (HTC), velocity field and shear stress are affected and need to be periodically recalculated.</a:t>
            </a:r>
          </a:p>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A multi-step ice calculation is where a large ice exposure time is divided into smaller time-steps and the key ice parameters are updated after each time-step.</a:t>
            </a:r>
          </a:p>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However, after each time-step the geometry and mesh needs to be updated to account for the accreted ice which is a tedious, time consuming and difficult procedure.      </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1">
            <a:extLst>
              <a:ext uri="{FF2B5EF4-FFF2-40B4-BE49-F238E27FC236}">
                <a16:creationId xmlns:a16="http://schemas.microsoft.com/office/drawing/2014/main" id="{7AE1D194-DC61-F4BA-59CD-BE98FDF8EA7C}"/>
              </a:ext>
            </a:extLst>
          </p:cNvPr>
          <p:cNvSpPr txBox="1">
            <a:spLocks noChangeArrowheads="1"/>
          </p:cNvSpPr>
          <p:nvPr/>
        </p:nvSpPr>
        <p:spPr bwMode="auto">
          <a:xfrm>
            <a:off x="620713" y="841375"/>
            <a:ext cx="7794625" cy="915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 pos="5067300" algn="l"/>
              </a:tabLst>
              <a:defRPr sz="2400">
                <a:solidFill>
                  <a:schemeClr val="tx1"/>
                </a:solidFill>
                <a:latin typeface="Times New Roman" panose="02020603050405020304" pitchFamily="18" charset="0"/>
              </a:defRPr>
            </a:lvl9pPr>
          </a:lstStyle>
          <a:p>
            <a:pPr algn="ctr"/>
            <a:r>
              <a:rPr lang="en-GB" altLang="en-US" sz="2800" b="1">
                <a:solidFill>
                  <a:srgbClr val="000000"/>
                </a:solidFill>
                <a:latin typeface="Arial" panose="020B0604020202020204" pitchFamily="34" charset="0"/>
                <a:ea typeface="DejaVu Sans"/>
                <a:cs typeface="DejaVu Sans"/>
              </a:rPr>
              <a:t>Multi-step Ice Accretion Calculation Without Updating Geometry Or Mesh </a:t>
            </a:r>
          </a:p>
        </p:txBody>
      </p:sp>
      <p:sp>
        <p:nvSpPr>
          <p:cNvPr id="47107" name="Text Box 2">
            <a:extLst>
              <a:ext uri="{FF2B5EF4-FFF2-40B4-BE49-F238E27FC236}">
                <a16:creationId xmlns:a16="http://schemas.microsoft.com/office/drawing/2014/main" id="{B114CCF1-0864-5C03-B227-7E9154AA800A}"/>
              </a:ext>
            </a:extLst>
          </p:cNvPr>
          <p:cNvSpPr txBox="1">
            <a:spLocks noChangeArrowheads="1"/>
          </p:cNvSpPr>
          <p:nvPr/>
        </p:nvSpPr>
        <p:spPr bwMode="auto">
          <a:xfrm>
            <a:off x="792163" y="1974850"/>
            <a:ext cx="9109075" cy="3079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9pPr>
          </a:lstStyle>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Current research entails development of a multi-step ice accretion algorithm without the need to re-mesh the updated iced geometry.</a:t>
            </a:r>
          </a:p>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The flow field is calculated using the computational fluid dynamics (CFD) package called OpenFOAM v1.5. The ice shapes are calculated using the icing software called ICECREMO 2.  </a:t>
            </a:r>
          </a:p>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The original mesh is used for the duration of the ice calculation.</a:t>
            </a:r>
          </a:p>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After each time-step the grid cells that are occupied within the ice region are selected and removed from the global mesh. The boundary patches are then updated.  </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1">
            <a:extLst>
              <a:ext uri="{FF2B5EF4-FFF2-40B4-BE49-F238E27FC236}">
                <a16:creationId xmlns:a16="http://schemas.microsoft.com/office/drawing/2014/main" id="{6D309B9C-C149-EA45-2CC2-D41C8C5E19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163" y="1679575"/>
            <a:ext cx="4211637" cy="37798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8131" name="Picture 2">
            <a:extLst>
              <a:ext uri="{FF2B5EF4-FFF2-40B4-BE49-F238E27FC236}">
                <a16:creationId xmlns:a16="http://schemas.microsoft.com/office/drawing/2014/main" id="{8313DD79-0433-0951-454C-34C09AAA80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1988" y="1679575"/>
            <a:ext cx="4110037" cy="37798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8132" name="Text Box 3">
            <a:extLst>
              <a:ext uri="{FF2B5EF4-FFF2-40B4-BE49-F238E27FC236}">
                <a16:creationId xmlns:a16="http://schemas.microsoft.com/office/drawing/2014/main" id="{3AD4ABD6-A86B-6084-1268-FD23C8242268}"/>
              </a:ext>
            </a:extLst>
          </p:cNvPr>
          <p:cNvSpPr txBox="1">
            <a:spLocks noChangeArrowheads="1"/>
          </p:cNvSpPr>
          <p:nvPr/>
        </p:nvSpPr>
        <p:spPr bwMode="auto">
          <a:xfrm>
            <a:off x="831850" y="5627688"/>
            <a:ext cx="1781175"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Lst>
              <a:defRPr sz="2400">
                <a:solidFill>
                  <a:schemeClr val="tx1"/>
                </a:solidFill>
                <a:latin typeface="Times New Roman" panose="02020603050405020304" pitchFamily="18" charset="0"/>
              </a:defRPr>
            </a:lvl1pPr>
            <a:lvl2pPr marL="742950" indent="-285750">
              <a:tabLst>
                <a:tab pos="723900" algn="l"/>
                <a:tab pos="1447800" algn="l"/>
              </a:tabLst>
              <a:defRPr sz="2400">
                <a:solidFill>
                  <a:schemeClr val="tx1"/>
                </a:solidFill>
                <a:latin typeface="Times New Roman" panose="02020603050405020304" pitchFamily="18" charset="0"/>
              </a:defRPr>
            </a:lvl2pPr>
            <a:lvl3pPr marL="1143000" indent="-228600">
              <a:tabLst>
                <a:tab pos="723900" algn="l"/>
                <a:tab pos="1447800" algn="l"/>
              </a:tabLst>
              <a:defRPr sz="2400">
                <a:solidFill>
                  <a:schemeClr val="tx1"/>
                </a:solidFill>
                <a:latin typeface="Times New Roman" panose="02020603050405020304" pitchFamily="18" charset="0"/>
              </a:defRPr>
            </a:lvl3pPr>
            <a:lvl4pPr marL="1600200" indent="-228600">
              <a:tabLst>
                <a:tab pos="723900" algn="l"/>
                <a:tab pos="1447800" algn="l"/>
              </a:tabLst>
              <a:defRPr sz="2400">
                <a:solidFill>
                  <a:schemeClr val="tx1"/>
                </a:solidFill>
                <a:latin typeface="Times New Roman" panose="02020603050405020304" pitchFamily="18" charset="0"/>
              </a:defRPr>
            </a:lvl4pPr>
            <a:lvl5pPr marL="2057400" indent="-228600">
              <a:tabLst>
                <a:tab pos="723900" algn="l"/>
                <a:tab pos="14478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Lst>
              <a:defRPr sz="2400">
                <a:solidFill>
                  <a:schemeClr val="tx1"/>
                </a:solidFill>
                <a:latin typeface="Times New Roman" panose="02020603050405020304" pitchFamily="18" charset="0"/>
              </a:defRPr>
            </a:lvl9pPr>
          </a:lstStyle>
          <a:p>
            <a:r>
              <a:rPr lang="en-GB" altLang="en-US">
                <a:solidFill>
                  <a:srgbClr val="000000"/>
                </a:solidFill>
                <a:latin typeface="Arial" panose="020B0604020202020204" pitchFamily="34" charset="0"/>
                <a:ea typeface="DejaVu Sans"/>
                <a:cs typeface="DejaVu Sans"/>
              </a:rPr>
              <a:t>Ice shape</a:t>
            </a:r>
          </a:p>
        </p:txBody>
      </p:sp>
      <p:sp>
        <p:nvSpPr>
          <p:cNvPr id="48133" name="Line 4">
            <a:extLst>
              <a:ext uri="{FF2B5EF4-FFF2-40B4-BE49-F238E27FC236}">
                <a16:creationId xmlns:a16="http://schemas.microsoft.com/office/drawing/2014/main" id="{3B8927C7-66DF-9C19-2306-485C698BCFF5}"/>
              </a:ext>
            </a:extLst>
          </p:cNvPr>
          <p:cNvSpPr>
            <a:spLocks noChangeShapeType="1"/>
          </p:cNvSpPr>
          <p:nvPr/>
        </p:nvSpPr>
        <p:spPr bwMode="auto">
          <a:xfrm flipV="1">
            <a:off x="1385888" y="4784725"/>
            <a:ext cx="1587" cy="885825"/>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3016" tIns="51508" rIns="103016" bIns="51508"/>
          <a:lstStyle/>
          <a:p>
            <a:endParaRPr lang="en-US"/>
          </a:p>
        </p:txBody>
      </p:sp>
      <p:sp>
        <p:nvSpPr>
          <p:cNvPr id="48134" name="Text Box 5">
            <a:extLst>
              <a:ext uri="{FF2B5EF4-FFF2-40B4-BE49-F238E27FC236}">
                <a16:creationId xmlns:a16="http://schemas.microsoft.com/office/drawing/2014/main" id="{B9211C65-76D1-3AE1-246E-27C0C957C253}"/>
              </a:ext>
            </a:extLst>
          </p:cNvPr>
          <p:cNvSpPr txBox="1">
            <a:spLocks noChangeArrowheads="1"/>
          </p:cNvSpPr>
          <p:nvPr/>
        </p:nvSpPr>
        <p:spPr bwMode="auto">
          <a:xfrm>
            <a:off x="1227138" y="6215063"/>
            <a:ext cx="3563937" cy="434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Lst>
              <a:defRPr sz="2400">
                <a:solidFill>
                  <a:schemeClr val="tx1"/>
                </a:solidFill>
                <a:latin typeface="Times New Roman" panose="02020603050405020304" pitchFamily="18" charset="0"/>
              </a:defRPr>
            </a:lvl9pPr>
          </a:lstStyle>
          <a:p>
            <a:r>
              <a:rPr lang="en-GB" altLang="en-US">
                <a:solidFill>
                  <a:srgbClr val="000000"/>
                </a:solidFill>
                <a:latin typeface="Arial" panose="020B0604020202020204" pitchFamily="34" charset="0"/>
                <a:ea typeface="DejaVu Sans"/>
                <a:cs typeface="DejaVu Sans"/>
              </a:rPr>
              <a:t>Original mesh and ice shape</a:t>
            </a:r>
          </a:p>
        </p:txBody>
      </p:sp>
      <p:sp>
        <p:nvSpPr>
          <p:cNvPr id="48135" name="Text Box 6">
            <a:extLst>
              <a:ext uri="{FF2B5EF4-FFF2-40B4-BE49-F238E27FC236}">
                <a16:creationId xmlns:a16="http://schemas.microsoft.com/office/drawing/2014/main" id="{22A5EF9C-9B37-F991-1B97-5B8FCCD567FF}"/>
              </a:ext>
            </a:extLst>
          </p:cNvPr>
          <p:cNvSpPr txBox="1">
            <a:spLocks noChangeArrowheads="1"/>
          </p:cNvSpPr>
          <p:nvPr/>
        </p:nvSpPr>
        <p:spPr bwMode="auto">
          <a:xfrm>
            <a:off x="6137275" y="6215063"/>
            <a:ext cx="3563938" cy="766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Lst>
              <a:defRPr sz="2400">
                <a:solidFill>
                  <a:schemeClr val="tx1"/>
                </a:solidFill>
                <a:latin typeface="Times New Roman" panose="02020603050405020304" pitchFamily="18" charset="0"/>
              </a:defRPr>
            </a:lvl9pPr>
          </a:lstStyle>
          <a:p>
            <a:pPr algn="ctr"/>
            <a:r>
              <a:rPr lang="en-GB" altLang="en-US">
                <a:solidFill>
                  <a:srgbClr val="000000"/>
                </a:solidFill>
                <a:latin typeface="Arial" panose="020B0604020202020204" pitchFamily="34" charset="0"/>
                <a:ea typeface="DejaVu Sans"/>
                <a:cs typeface="DejaVu Sans"/>
              </a:rPr>
              <a:t>Updated geometry and mesh for next time-step</a:t>
            </a:r>
          </a:p>
        </p:txBody>
      </p:sp>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1">
            <a:extLst>
              <a:ext uri="{FF2B5EF4-FFF2-40B4-BE49-F238E27FC236}">
                <a16:creationId xmlns:a16="http://schemas.microsoft.com/office/drawing/2014/main" id="{981E83A9-AC4E-36FC-73AA-C2D9388A6E1F}"/>
              </a:ext>
            </a:extLst>
          </p:cNvPr>
          <p:cNvSpPr txBox="1">
            <a:spLocks noChangeArrowheads="1"/>
          </p:cNvSpPr>
          <p:nvPr/>
        </p:nvSpPr>
        <p:spPr bwMode="auto">
          <a:xfrm>
            <a:off x="1631950" y="841375"/>
            <a:ext cx="7424738"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Lst>
              <a:defRPr sz="2400">
                <a:solidFill>
                  <a:schemeClr val="tx1"/>
                </a:solidFill>
                <a:latin typeface="Times New Roman" panose="02020603050405020304" pitchFamily="18" charset="0"/>
              </a:defRPr>
            </a:lvl9pPr>
          </a:lstStyle>
          <a:p>
            <a:pPr algn="ctr"/>
            <a:r>
              <a:rPr lang="en-GB" altLang="en-US" sz="2500">
                <a:solidFill>
                  <a:srgbClr val="000000"/>
                </a:solidFill>
                <a:latin typeface="Arial" panose="020B0604020202020204" pitchFamily="34" charset="0"/>
                <a:ea typeface="DejaVu Sans"/>
                <a:cs typeface="DejaVu Sans"/>
              </a:rPr>
              <a:t>Ice Accretion Study On A Three-Dimensional Wing </a:t>
            </a:r>
          </a:p>
        </p:txBody>
      </p:sp>
      <p:sp>
        <p:nvSpPr>
          <p:cNvPr id="49155" name="Text Box 2">
            <a:extLst>
              <a:ext uri="{FF2B5EF4-FFF2-40B4-BE49-F238E27FC236}">
                <a16:creationId xmlns:a16="http://schemas.microsoft.com/office/drawing/2014/main" id="{D0895B5B-1109-E54D-9084-00C289BECBFD}"/>
              </a:ext>
            </a:extLst>
          </p:cNvPr>
          <p:cNvSpPr txBox="1">
            <a:spLocks noChangeArrowheads="1"/>
          </p:cNvSpPr>
          <p:nvPr/>
        </p:nvSpPr>
        <p:spPr bwMode="auto">
          <a:xfrm>
            <a:off x="792163" y="1889125"/>
            <a:ext cx="9109075" cy="175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9pPr>
          </a:lstStyle>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Ice shapes were calculated on the DLR-F4 three-dimensional wing at four different span-wise locations. </a:t>
            </a:r>
          </a:p>
          <a:p>
            <a:pPr>
              <a:buSzPct val="45000"/>
              <a:buFont typeface="Wingdings" pitchFamily="2" charset="2"/>
              <a:buChar char=""/>
            </a:pPr>
            <a:r>
              <a:rPr lang="en-GB" altLang="en-US">
                <a:solidFill>
                  <a:srgbClr val="000000"/>
                </a:solidFill>
                <a:latin typeface="Arial" panose="020B0604020202020204" pitchFamily="34" charset="0"/>
                <a:ea typeface="DejaVu Sans"/>
                <a:cs typeface="DejaVu Sans"/>
              </a:rPr>
              <a:t>  The purpose of this study is to determine the mass of ice and its affect on aircraft flight as no previous ice accretion studies have been carried out on a three-dimensional wing.  </a:t>
            </a:r>
          </a:p>
        </p:txBody>
      </p:sp>
      <p:pic>
        <p:nvPicPr>
          <p:cNvPr id="49156" name="Picture 3">
            <a:extLst>
              <a:ext uri="{FF2B5EF4-FFF2-40B4-BE49-F238E27FC236}">
                <a16:creationId xmlns:a16="http://schemas.microsoft.com/office/drawing/2014/main" id="{284411F3-67B6-0227-EACF-9558C9B23F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963" y="3803650"/>
            <a:ext cx="5949950" cy="33210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9157" name="Picture 4">
            <a:extLst>
              <a:ext uri="{FF2B5EF4-FFF2-40B4-BE49-F238E27FC236}">
                <a16:creationId xmlns:a16="http://schemas.microsoft.com/office/drawing/2014/main" id="{7BFFFE1D-21B4-44B7-0729-C18C9D0DCE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9338" y="3779838"/>
            <a:ext cx="4087812" cy="33607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1">
            <a:extLst>
              <a:ext uri="{FF2B5EF4-FFF2-40B4-BE49-F238E27FC236}">
                <a16:creationId xmlns:a16="http://schemas.microsoft.com/office/drawing/2014/main" id="{12B5EB29-31AF-D53D-BC4D-C3FCDC3FD0FB}"/>
              </a:ext>
            </a:extLst>
          </p:cNvPr>
          <p:cNvSpPr txBox="1">
            <a:spLocks noChangeArrowheads="1"/>
          </p:cNvSpPr>
          <p:nvPr/>
        </p:nvSpPr>
        <p:spPr bwMode="auto">
          <a:xfrm>
            <a:off x="717550" y="841375"/>
            <a:ext cx="9256713"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9pPr>
          </a:lstStyle>
          <a:p>
            <a:pPr algn="ctr"/>
            <a:r>
              <a:rPr lang="en-GB" altLang="en-US" sz="2500">
                <a:solidFill>
                  <a:srgbClr val="000000"/>
                </a:solidFill>
                <a:latin typeface="Arial" panose="020B0604020202020204" pitchFamily="34" charset="0"/>
                <a:ea typeface="DejaVu Sans"/>
                <a:cs typeface="DejaVu Sans"/>
              </a:rPr>
              <a:t>Ice Shapes At Different Span-Wise Locations at 0-Degree AOA </a:t>
            </a:r>
          </a:p>
        </p:txBody>
      </p:sp>
      <p:pic>
        <p:nvPicPr>
          <p:cNvPr id="50179" name="Picture 2">
            <a:extLst>
              <a:ext uri="{FF2B5EF4-FFF2-40B4-BE49-F238E27FC236}">
                <a16:creationId xmlns:a16="http://schemas.microsoft.com/office/drawing/2014/main" id="{0CAEB7DF-DD8B-056E-95A9-0F3E47629B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9350" y="1636713"/>
            <a:ext cx="8297863" cy="54594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1">
            <a:extLst>
              <a:ext uri="{FF2B5EF4-FFF2-40B4-BE49-F238E27FC236}">
                <a16:creationId xmlns:a16="http://schemas.microsoft.com/office/drawing/2014/main" id="{26AC946A-68B0-C83A-4F2E-D4813038ECDE}"/>
              </a:ext>
            </a:extLst>
          </p:cNvPr>
          <p:cNvSpPr txBox="1">
            <a:spLocks noChangeArrowheads="1"/>
          </p:cNvSpPr>
          <p:nvPr/>
        </p:nvSpPr>
        <p:spPr bwMode="auto">
          <a:xfrm>
            <a:off x="717550" y="841375"/>
            <a:ext cx="9256713"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101394" tIns="50697" rIns="101394" bIns="50697"/>
          <a:lstStyle>
            <a:lvl1pPr>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1pPr>
            <a:lvl2pPr marL="742950" indent="-28575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2pPr>
            <a:lvl3pPr marL="11430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3pPr>
            <a:lvl4pPr marL="16002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4pPr>
            <a:lvl5pPr marL="2057400" indent="-228600">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723900" algn="l"/>
                <a:tab pos="1447800" algn="l"/>
                <a:tab pos="2171700" algn="l"/>
                <a:tab pos="2895600" algn="l"/>
                <a:tab pos="3619500" algn="l"/>
                <a:tab pos="4343400" algn="l"/>
                <a:tab pos="5067300" algn="l"/>
                <a:tab pos="5791200" algn="l"/>
                <a:tab pos="6515100" algn="l"/>
                <a:tab pos="7239000" algn="l"/>
                <a:tab pos="7962900" algn="l"/>
              </a:tabLst>
              <a:defRPr sz="2400">
                <a:solidFill>
                  <a:schemeClr val="tx1"/>
                </a:solidFill>
                <a:latin typeface="Times New Roman" panose="02020603050405020304" pitchFamily="18" charset="0"/>
              </a:defRPr>
            </a:lvl9pPr>
          </a:lstStyle>
          <a:p>
            <a:pPr algn="ctr"/>
            <a:r>
              <a:rPr lang="en-GB" altLang="en-US" sz="2500">
                <a:solidFill>
                  <a:srgbClr val="000000"/>
                </a:solidFill>
                <a:latin typeface="Arial" panose="020B0604020202020204" pitchFamily="34" charset="0"/>
                <a:ea typeface="DejaVu Sans"/>
                <a:cs typeface="DejaVu Sans"/>
              </a:rPr>
              <a:t>Ice Shapes At Different Span-Wise Locations at 6-Degree AOA </a:t>
            </a:r>
          </a:p>
        </p:txBody>
      </p:sp>
      <p:pic>
        <p:nvPicPr>
          <p:cNvPr id="51203" name="Picture 2">
            <a:extLst>
              <a:ext uri="{FF2B5EF4-FFF2-40B4-BE49-F238E27FC236}">
                <a16:creationId xmlns:a16="http://schemas.microsoft.com/office/drawing/2014/main" id="{20DC0D85-380B-C15B-BCE2-BD55F26D09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1679575"/>
            <a:ext cx="8259763" cy="54594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1026">
            <a:extLst>
              <a:ext uri="{FF2B5EF4-FFF2-40B4-BE49-F238E27FC236}">
                <a16:creationId xmlns:a16="http://schemas.microsoft.com/office/drawing/2014/main" id="{DF508227-1392-EB7A-F0F7-7B3C6C95B8C1}"/>
              </a:ext>
            </a:extLst>
          </p:cNvPr>
          <p:cNvSpPr txBox="1">
            <a:spLocks noChangeArrowheads="1"/>
          </p:cNvSpPr>
          <p:nvPr/>
        </p:nvSpPr>
        <p:spPr bwMode="auto">
          <a:xfrm>
            <a:off x="1871663" y="2519363"/>
            <a:ext cx="7216775"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GB" altLang="en-US" sz="4600" b="1">
                <a:solidFill>
                  <a:srgbClr val="000066"/>
                </a:solidFill>
                <a:latin typeface="Arial" panose="020B0604020202020204" pitchFamily="34" charset="0"/>
                <a:cs typeface="Arial" panose="020B0604020202020204" pitchFamily="34" charset="0"/>
              </a:rPr>
              <a:t>Anti-icing Modelling</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a:extLst>
              <a:ext uri="{FF2B5EF4-FFF2-40B4-BE49-F238E27FC236}">
                <a16:creationId xmlns:a16="http://schemas.microsoft.com/office/drawing/2014/main" id="{E1B3EC27-0B04-7F41-6018-D8F975F8F8D3}"/>
              </a:ext>
            </a:extLst>
          </p:cNvPr>
          <p:cNvSpPr txBox="1">
            <a:spLocks noChangeArrowheads="1"/>
          </p:cNvSpPr>
          <p:nvPr/>
        </p:nvSpPr>
        <p:spPr bwMode="auto">
          <a:xfrm>
            <a:off x="266700" y="336550"/>
            <a:ext cx="3208338"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3200" b="1">
                <a:solidFill>
                  <a:srgbClr val="000066"/>
                </a:solidFill>
              </a:rPr>
              <a:t>Contents</a:t>
            </a:r>
          </a:p>
        </p:txBody>
      </p:sp>
      <p:sp>
        <p:nvSpPr>
          <p:cNvPr id="21507" name="Text Box 3">
            <a:extLst>
              <a:ext uri="{FF2B5EF4-FFF2-40B4-BE49-F238E27FC236}">
                <a16:creationId xmlns:a16="http://schemas.microsoft.com/office/drawing/2014/main" id="{D365F758-54B9-F510-7E86-112B86EE0C9B}"/>
              </a:ext>
            </a:extLst>
          </p:cNvPr>
          <p:cNvSpPr txBox="1">
            <a:spLocks noChangeArrowheads="1"/>
          </p:cNvSpPr>
          <p:nvPr/>
        </p:nvSpPr>
        <p:spPr bwMode="auto">
          <a:xfrm>
            <a:off x="1158875" y="1443038"/>
            <a:ext cx="8820150"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buFontTx/>
              <a:buChar char="•"/>
            </a:pPr>
            <a:r>
              <a:rPr lang="en-GB" altLang="en-US" sz="3200" b="1">
                <a:solidFill>
                  <a:srgbClr val="000066"/>
                </a:solidFill>
              </a:rPr>
              <a:t> </a:t>
            </a:r>
            <a:r>
              <a:rPr lang="en-GB" altLang="en-US" b="1">
                <a:solidFill>
                  <a:srgbClr val="000066"/>
                </a:solidFill>
              </a:rPr>
              <a:t>Objective of the anti-icing module</a:t>
            </a:r>
          </a:p>
        </p:txBody>
      </p:sp>
      <p:sp>
        <p:nvSpPr>
          <p:cNvPr id="21508" name="Text Box 4">
            <a:extLst>
              <a:ext uri="{FF2B5EF4-FFF2-40B4-BE49-F238E27FC236}">
                <a16:creationId xmlns:a16="http://schemas.microsoft.com/office/drawing/2014/main" id="{8DEB3E36-2C0D-966A-8691-9EB7B6265F9A}"/>
              </a:ext>
            </a:extLst>
          </p:cNvPr>
          <p:cNvSpPr txBox="1">
            <a:spLocks noChangeArrowheads="1"/>
          </p:cNvSpPr>
          <p:nvPr/>
        </p:nvSpPr>
        <p:spPr bwMode="auto">
          <a:xfrm>
            <a:off x="1158875" y="2184400"/>
            <a:ext cx="57023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buFontTx/>
              <a:buChar char="•"/>
            </a:pPr>
            <a:r>
              <a:rPr lang="en-GB" altLang="en-US" sz="3200" b="1">
                <a:solidFill>
                  <a:srgbClr val="000066"/>
                </a:solidFill>
              </a:rPr>
              <a:t> </a:t>
            </a:r>
            <a:r>
              <a:rPr lang="en-GB" altLang="en-US" b="1">
                <a:solidFill>
                  <a:srgbClr val="000066"/>
                </a:solidFill>
              </a:rPr>
              <a:t>Main features</a:t>
            </a:r>
          </a:p>
        </p:txBody>
      </p:sp>
      <p:sp>
        <p:nvSpPr>
          <p:cNvPr id="21509" name="Rectangle 5">
            <a:extLst>
              <a:ext uri="{FF2B5EF4-FFF2-40B4-BE49-F238E27FC236}">
                <a16:creationId xmlns:a16="http://schemas.microsoft.com/office/drawing/2014/main" id="{117105B5-541D-66B9-9244-7E37E4F5CD05}"/>
              </a:ext>
            </a:extLst>
          </p:cNvPr>
          <p:cNvSpPr>
            <a:spLocks noChangeArrowheads="1"/>
          </p:cNvSpPr>
          <p:nvPr/>
        </p:nvSpPr>
        <p:spPr bwMode="auto">
          <a:xfrm>
            <a:off x="1158875" y="2940050"/>
            <a:ext cx="7589838"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buFontTx/>
              <a:buChar char="•"/>
            </a:pPr>
            <a:r>
              <a:rPr lang="en-GB" altLang="en-US" sz="3200" b="1">
                <a:solidFill>
                  <a:srgbClr val="000066"/>
                </a:solidFill>
              </a:rPr>
              <a:t> </a:t>
            </a:r>
            <a:r>
              <a:rPr lang="en-GB" altLang="en-US" b="1">
                <a:solidFill>
                  <a:srgbClr val="000066"/>
                </a:solidFill>
              </a:rPr>
              <a:t>Water Film Flow under shear stress on a flat substrate</a:t>
            </a:r>
          </a:p>
        </p:txBody>
      </p:sp>
      <p:sp>
        <p:nvSpPr>
          <p:cNvPr id="21513" name="Rectangle 9">
            <a:extLst>
              <a:ext uri="{FF2B5EF4-FFF2-40B4-BE49-F238E27FC236}">
                <a16:creationId xmlns:a16="http://schemas.microsoft.com/office/drawing/2014/main" id="{D495509A-9D43-1E95-C730-F4E672E8F9E0}"/>
              </a:ext>
            </a:extLst>
          </p:cNvPr>
          <p:cNvSpPr>
            <a:spLocks noChangeArrowheads="1"/>
          </p:cNvSpPr>
          <p:nvPr/>
        </p:nvSpPr>
        <p:spPr bwMode="auto">
          <a:xfrm>
            <a:off x="1158875" y="3863975"/>
            <a:ext cx="7534275"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buFontTx/>
              <a:buChar char="•"/>
            </a:pPr>
            <a:r>
              <a:rPr lang="en-GB" altLang="en-US" sz="3200" b="1">
                <a:solidFill>
                  <a:srgbClr val="000066"/>
                </a:solidFill>
              </a:rPr>
              <a:t> </a:t>
            </a:r>
            <a:r>
              <a:rPr lang="en-GB" altLang="en-US" b="1">
                <a:solidFill>
                  <a:srgbClr val="000066"/>
                </a:solidFill>
              </a:rPr>
              <a:t>Flat substrate under uniform heat input: Q=20kW/m</a:t>
            </a:r>
            <a:r>
              <a:rPr lang="en-GB" altLang="en-US" b="1" baseline="30000">
                <a:solidFill>
                  <a:srgbClr val="000066"/>
                </a:solidFill>
              </a:rPr>
              <a:t>2</a:t>
            </a:r>
            <a:endParaRPr lang="en-GB" altLang="en-US" b="1">
              <a:solidFill>
                <a:srgbClr val="000066"/>
              </a:solidFill>
            </a:endParaRPr>
          </a:p>
        </p:txBody>
      </p:sp>
      <p:sp>
        <p:nvSpPr>
          <p:cNvPr id="21515" name="Rectangle 11">
            <a:extLst>
              <a:ext uri="{FF2B5EF4-FFF2-40B4-BE49-F238E27FC236}">
                <a16:creationId xmlns:a16="http://schemas.microsoft.com/office/drawing/2014/main" id="{E9AB899A-A111-F2C9-239E-C4CD7DCBCDC3}"/>
              </a:ext>
            </a:extLst>
          </p:cNvPr>
          <p:cNvSpPr>
            <a:spLocks noChangeArrowheads="1"/>
          </p:cNvSpPr>
          <p:nvPr/>
        </p:nvSpPr>
        <p:spPr bwMode="auto">
          <a:xfrm>
            <a:off x="1158875" y="4775200"/>
            <a:ext cx="7235825" cy="47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buFontTx/>
              <a:buChar char="•"/>
            </a:pPr>
            <a:r>
              <a:rPr lang="en-GB" altLang="en-US" b="1">
                <a:solidFill>
                  <a:srgbClr val="000066"/>
                </a:solidFill>
              </a:rPr>
              <a:t> NACA0012 under uniform heat input: Q=40kW/m</a:t>
            </a:r>
            <a:r>
              <a:rPr lang="en-GB" altLang="en-US" b="1" baseline="30000">
                <a:solidFill>
                  <a:srgbClr val="000066"/>
                </a:solidFill>
              </a:rPr>
              <a:t>2</a:t>
            </a:r>
            <a:r>
              <a:rPr lang="en-GB" altLang="en-US" b="1">
                <a:solidFill>
                  <a:srgbClr val="000066"/>
                </a:solidFill>
              </a:rPr>
              <a:t> </a:t>
            </a:r>
          </a:p>
        </p:txBody>
      </p:sp>
      <p:sp>
        <p:nvSpPr>
          <p:cNvPr id="21517" name="Rectangle 13">
            <a:extLst>
              <a:ext uri="{FF2B5EF4-FFF2-40B4-BE49-F238E27FC236}">
                <a16:creationId xmlns:a16="http://schemas.microsoft.com/office/drawing/2014/main" id="{4481FA8D-B036-9EDC-AE06-52A10CE60A95}"/>
              </a:ext>
            </a:extLst>
          </p:cNvPr>
          <p:cNvSpPr>
            <a:spLocks noChangeArrowheads="1"/>
          </p:cNvSpPr>
          <p:nvPr/>
        </p:nvSpPr>
        <p:spPr bwMode="auto">
          <a:xfrm>
            <a:off x="1158875" y="5627688"/>
            <a:ext cx="7235825"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buFontTx/>
              <a:buChar char="•"/>
            </a:pPr>
            <a:r>
              <a:rPr lang="en-GB" altLang="en-US" b="1">
                <a:solidFill>
                  <a:srgbClr val="000066"/>
                </a:solidFill>
              </a:rPr>
              <a:t> NACA0012 under uniform heat input: Q=10kW/m</a:t>
            </a:r>
            <a:r>
              <a:rPr lang="en-GB" altLang="en-US" b="1" baseline="30000">
                <a:solidFill>
                  <a:srgbClr val="000066"/>
                </a:solidFill>
              </a:rPr>
              <a:t>2</a:t>
            </a:r>
            <a:r>
              <a:rPr lang="en-GB" altLang="en-US" b="1">
                <a:solidFill>
                  <a:srgbClr val="000066"/>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dissolve">
                                      <p:cBhvr>
                                        <p:cTn id="7" dur="500"/>
                                        <p:tgtEl>
                                          <p:spTgt spid="215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507"/>
                                        </p:tgtEl>
                                        <p:attrNameLst>
                                          <p:attrName>style.visibility</p:attrName>
                                        </p:attrNameLst>
                                      </p:cBhvr>
                                      <p:to>
                                        <p:strVal val="visible"/>
                                      </p:to>
                                    </p:set>
                                    <p:animEffect transition="in" filter="dissolve">
                                      <p:cBhvr>
                                        <p:cTn id="12" dur="500"/>
                                        <p:tgtEl>
                                          <p:spTgt spid="215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1508"/>
                                        </p:tgtEl>
                                        <p:attrNameLst>
                                          <p:attrName>style.visibility</p:attrName>
                                        </p:attrNameLst>
                                      </p:cBhvr>
                                      <p:to>
                                        <p:strVal val="visible"/>
                                      </p:to>
                                    </p:set>
                                    <p:animEffect transition="in" filter="dissolve">
                                      <p:cBhvr>
                                        <p:cTn id="17" dur="500"/>
                                        <p:tgtEl>
                                          <p:spTgt spid="215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509"/>
                                        </p:tgtEl>
                                        <p:attrNameLst>
                                          <p:attrName>style.visibility</p:attrName>
                                        </p:attrNameLst>
                                      </p:cBhvr>
                                      <p:to>
                                        <p:strVal val="visible"/>
                                      </p:to>
                                    </p:set>
                                    <p:animEffect transition="in" filter="dissolve">
                                      <p:cBhvr>
                                        <p:cTn id="22" dur="500"/>
                                        <p:tgtEl>
                                          <p:spTgt spid="2150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1513"/>
                                        </p:tgtEl>
                                        <p:attrNameLst>
                                          <p:attrName>style.visibility</p:attrName>
                                        </p:attrNameLst>
                                      </p:cBhvr>
                                      <p:to>
                                        <p:strVal val="visible"/>
                                      </p:to>
                                    </p:set>
                                    <p:animEffect transition="in" filter="dissolve">
                                      <p:cBhvr>
                                        <p:cTn id="27" dur="500"/>
                                        <p:tgtEl>
                                          <p:spTgt spid="2151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1515"/>
                                        </p:tgtEl>
                                        <p:attrNameLst>
                                          <p:attrName>style.visibility</p:attrName>
                                        </p:attrNameLst>
                                      </p:cBhvr>
                                      <p:to>
                                        <p:strVal val="visible"/>
                                      </p:to>
                                    </p:set>
                                    <p:animEffect transition="in" filter="dissolve">
                                      <p:cBhvr>
                                        <p:cTn id="32" dur="500"/>
                                        <p:tgtEl>
                                          <p:spTgt spid="215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1517"/>
                                        </p:tgtEl>
                                        <p:attrNameLst>
                                          <p:attrName>style.visibility</p:attrName>
                                        </p:attrNameLst>
                                      </p:cBhvr>
                                      <p:to>
                                        <p:strVal val="visible"/>
                                      </p:to>
                                    </p:set>
                                    <p:animEffect transition="in" filter="dissolve">
                                      <p:cBhvr>
                                        <p:cTn id="37" dur="500"/>
                                        <p:tgtEl>
                                          <p:spTgt spid="21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autoUpdateAnimBg="0"/>
      <p:bldP spid="21507" grpId="0" autoUpdateAnimBg="0"/>
      <p:bldP spid="21508" grpId="0" autoUpdateAnimBg="0"/>
      <p:bldP spid="21509" grpId="0" autoUpdateAnimBg="0"/>
      <p:bldP spid="21513" grpId="0" autoUpdateAnimBg="0"/>
      <p:bldP spid="21515" grpId="0" autoUpdateAnimBg="0"/>
      <p:bldP spid="21517"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5">
            <a:extLst>
              <a:ext uri="{FF2B5EF4-FFF2-40B4-BE49-F238E27FC236}">
                <a16:creationId xmlns:a16="http://schemas.microsoft.com/office/drawing/2014/main" id="{B329DE95-4C34-F7B3-83B0-A94C21AE780A}"/>
              </a:ext>
            </a:extLst>
          </p:cNvPr>
          <p:cNvSpPr>
            <a:spLocks noChangeArrowheads="1"/>
          </p:cNvSpPr>
          <p:nvPr/>
        </p:nvSpPr>
        <p:spPr bwMode="auto">
          <a:xfrm>
            <a:off x="350838" y="719138"/>
            <a:ext cx="3667125"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b="1">
                <a:solidFill>
                  <a:srgbClr val="000066"/>
                </a:solidFill>
              </a:rPr>
              <a:t>Heat balance in cell - ideal</a:t>
            </a:r>
          </a:p>
        </p:txBody>
      </p:sp>
      <p:graphicFrame>
        <p:nvGraphicFramePr>
          <p:cNvPr id="54275" name="Object 1">
            <a:extLst>
              <a:ext uri="{FF2B5EF4-FFF2-40B4-BE49-F238E27FC236}">
                <a16:creationId xmlns:a16="http://schemas.microsoft.com/office/drawing/2014/main" id="{3664D760-6C3B-F129-F1FB-5AB818EC9D42}"/>
              </a:ext>
            </a:extLst>
          </p:cNvPr>
          <p:cNvGraphicFramePr>
            <a:graphicFrameLocks noChangeAspect="1"/>
          </p:cNvGraphicFramePr>
          <p:nvPr/>
        </p:nvGraphicFramePr>
        <p:xfrm>
          <a:off x="3657600" y="2727325"/>
          <a:ext cx="209550" cy="276225"/>
        </p:xfrm>
        <a:graphic>
          <a:graphicData uri="http://schemas.openxmlformats.org/presentationml/2006/ole">
            <mc:AlternateContent xmlns:mc="http://schemas.openxmlformats.org/markup-compatibility/2006">
              <mc:Choice xmlns:v="urn:schemas-microsoft-com:vml" Requires="v">
                <p:oleObj name="Equation" r:id="rId3" imgW="4102100" imgH="5562600" progId="Equation.DSMT4">
                  <p:embed/>
                </p:oleObj>
              </mc:Choice>
              <mc:Fallback>
                <p:oleObj name="Equation" r:id="rId3" imgW="4102100" imgH="55626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2727325"/>
                        <a:ext cx="2095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76" name="Object 2">
            <a:extLst>
              <a:ext uri="{FF2B5EF4-FFF2-40B4-BE49-F238E27FC236}">
                <a16:creationId xmlns:a16="http://schemas.microsoft.com/office/drawing/2014/main" id="{A53C0D72-4DC2-1733-5728-86741E28D201}"/>
              </a:ext>
            </a:extLst>
          </p:cNvPr>
          <p:cNvGraphicFramePr>
            <a:graphicFrameLocks noChangeAspect="1"/>
          </p:cNvGraphicFramePr>
          <p:nvPr/>
        </p:nvGraphicFramePr>
        <p:xfrm>
          <a:off x="3657600" y="3460750"/>
          <a:ext cx="381000" cy="200025"/>
        </p:xfrm>
        <a:graphic>
          <a:graphicData uri="http://schemas.openxmlformats.org/presentationml/2006/ole">
            <mc:AlternateContent xmlns:mc="http://schemas.openxmlformats.org/markup-compatibility/2006">
              <mc:Choice xmlns:v="urn:schemas-microsoft-com:vml" Requires="v">
                <p:oleObj name="Equation" r:id="rId5" imgW="9652000" imgH="5270500" progId="Equation.DSMT4">
                  <p:embed/>
                </p:oleObj>
              </mc:Choice>
              <mc:Fallback>
                <p:oleObj name="Equation" r:id="rId5" imgW="9652000" imgH="527050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3460750"/>
                        <a:ext cx="3810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77" name="Object 3">
            <a:extLst>
              <a:ext uri="{FF2B5EF4-FFF2-40B4-BE49-F238E27FC236}">
                <a16:creationId xmlns:a16="http://schemas.microsoft.com/office/drawing/2014/main" id="{F93C626A-9F06-866C-6E86-E7256FBEE504}"/>
              </a:ext>
            </a:extLst>
          </p:cNvPr>
          <p:cNvGraphicFramePr>
            <a:graphicFrameLocks noChangeAspect="1"/>
          </p:cNvGraphicFramePr>
          <p:nvPr/>
        </p:nvGraphicFramePr>
        <p:xfrm>
          <a:off x="3657600" y="4117975"/>
          <a:ext cx="381000" cy="200025"/>
        </p:xfrm>
        <a:graphic>
          <a:graphicData uri="http://schemas.openxmlformats.org/presentationml/2006/ole">
            <mc:AlternateContent xmlns:mc="http://schemas.openxmlformats.org/markup-compatibility/2006">
              <mc:Choice xmlns:v="urn:schemas-microsoft-com:vml" Requires="v">
                <p:oleObj name="Equation" r:id="rId7" imgW="9652000" imgH="5270500" progId="Equation.DSMT4">
                  <p:embed/>
                </p:oleObj>
              </mc:Choice>
              <mc:Fallback>
                <p:oleObj name="Equation" r:id="rId7" imgW="9652000" imgH="52705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7600" y="4117975"/>
                        <a:ext cx="3810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78" name="Object 4">
            <a:extLst>
              <a:ext uri="{FF2B5EF4-FFF2-40B4-BE49-F238E27FC236}">
                <a16:creationId xmlns:a16="http://schemas.microsoft.com/office/drawing/2014/main" id="{6E76B93A-1882-03E8-FB9D-6CE40E5B17DB}"/>
              </a:ext>
            </a:extLst>
          </p:cNvPr>
          <p:cNvGraphicFramePr>
            <a:graphicFrameLocks noChangeAspect="1"/>
          </p:cNvGraphicFramePr>
          <p:nvPr/>
        </p:nvGraphicFramePr>
        <p:xfrm>
          <a:off x="3657600" y="4775200"/>
          <a:ext cx="981075" cy="238125"/>
        </p:xfrm>
        <a:graphic>
          <a:graphicData uri="http://schemas.openxmlformats.org/presentationml/2006/ole">
            <mc:AlternateContent xmlns:mc="http://schemas.openxmlformats.org/markup-compatibility/2006">
              <mc:Choice xmlns:v="urn:schemas-microsoft-com:vml" Requires="v">
                <p:oleObj name="Equation" r:id="rId9" imgW="21945600" imgH="5270500" progId="Equation.DSMT4">
                  <p:embed/>
                </p:oleObj>
              </mc:Choice>
              <mc:Fallback>
                <p:oleObj name="Equation" r:id="rId9" imgW="21945600" imgH="527050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7600" y="4775200"/>
                        <a:ext cx="981075"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4279" name="Object 5">
            <a:extLst>
              <a:ext uri="{FF2B5EF4-FFF2-40B4-BE49-F238E27FC236}">
                <a16:creationId xmlns:a16="http://schemas.microsoft.com/office/drawing/2014/main" id="{AA88DE10-1556-1BDF-354F-0CA6B499FF98}"/>
              </a:ext>
            </a:extLst>
          </p:cNvPr>
          <p:cNvGraphicFramePr>
            <a:graphicFrameLocks noChangeAspect="1"/>
          </p:cNvGraphicFramePr>
          <p:nvPr/>
        </p:nvGraphicFramePr>
        <p:xfrm>
          <a:off x="6629400" y="2828925"/>
          <a:ext cx="1047750" cy="238125"/>
        </p:xfrm>
        <a:graphic>
          <a:graphicData uri="http://schemas.openxmlformats.org/presentationml/2006/ole">
            <mc:AlternateContent xmlns:mc="http://schemas.openxmlformats.org/markup-compatibility/2006">
              <mc:Choice xmlns:v="urn:schemas-microsoft-com:vml" Requires="v">
                <p:oleObj name="Equation" r:id="rId11" imgW="23406100" imgH="5270500" progId="Equation.DSMT4">
                  <p:embed/>
                </p:oleObj>
              </mc:Choice>
              <mc:Fallback>
                <p:oleObj name="Equation" r:id="rId11" imgW="23406100" imgH="5270500"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29400" y="2828925"/>
                        <a:ext cx="104775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4280" name="Group 1">
            <a:extLst>
              <a:ext uri="{FF2B5EF4-FFF2-40B4-BE49-F238E27FC236}">
                <a16:creationId xmlns:a16="http://schemas.microsoft.com/office/drawing/2014/main" id="{80EE46FF-6426-F781-3B39-7F25AC8690B2}"/>
              </a:ext>
            </a:extLst>
          </p:cNvPr>
          <p:cNvGrpSpPr>
            <a:grpSpLocks/>
          </p:cNvGrpSpPr>
          <p:nvPr/>
        </p:nvGrpSpPr>
        <p:grpSpPr bwMode="auto">
          <a:xfrm>
            <a:off x="1714500" y="1500188"/>
            <a:ext cx="7191375" cy="4689475"/>
            <a:chOff x="2085" y="4612"/>
            <a:chExt cx="7923" cy="5367"/>
          </a:xfrm>
        </p:grpSpPr>
        <p:sp>
          <p:nvSpPr>
            <p:cNvPr id="54288" name="Line 28">
              <a:extLst>
                <a:ext uri="{FF2B5EF4-FFF2-40B4-BE49-F238E27FC236}">
                  <a16:creationId xmlns:a16="http://schemas.microsoft.com/office/drawing/2014/main" id="{181A650A-D602-6C5C-91C8-1159383FE70F}"/>
                </a:ext>
              </a:extLst>
            </p:cNvPr>
            <p:cNvSpPr>
              <a:spLocks noChangeShapeType="1"/>
            </p:cNvSpPr>
            <p:nvPr/>
          </p:nvSpPr>
          <p:spPr bwMode="auto">
            <a:xfrm flipH="1">
              <a:off x="3567" y="6721"/>
              <a:ext cx="1482" cy="0"/>
            </a:xfrm>
            <a:prstGeom prst="line">
              <a:avLst/>
            </a:prstGeom>
            <a:noFill/>
            <a:ln w="31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4289" name="Text Box 26">
              <a:extLst>
                <a:ext uri="{FF2B5EF4-FFF2-40B4-BE49-F238E27FC236}">
                  <a16:creationId xmlns:a16="http://schemas.microsoft.com/office/drawing/2014/main" id="{04892192-72D5-DD8E-C408-D309D9B07A70}"/>
                </a:ext>
              </a:extLst>
            </p:cNvPr>
            <p:cNvSpPr txBox="1">
              <a:spLocks noChangeArrowheads="1"/>
            </p:cNvSpPr>
            <p:nvPr/>
          </p:nvSpPr>
          <p:spPr bwMode="auto">
            <a:xfrm>
              <a:off x="2997" y="6436"/>
              <a:ext cx="626"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290" name="Line 25">
              <a:extLst>
                <a:ext uri="{FF2B5EF4-FFF2-40B4-BE49-F238E27FC236}">
                  <a16:creationId xmlns:a16="http://schemas.microsoft.com/office/drawing/2014/main" id="{9E5200ED-D9AA-B5B7-053D-9BBF2E01FB22}"/>
                </a:ext>
              </a:extLst>
            </p:cNvPr>
            <p:cNvSpPr>
              <a:spLocks noChangeShapeType="1"/>
            </p:cNvSpPr>
            <p:nvPr/>
          </p:nvSpPr>
          <p:spPr bwMode="auto">
            <a:xfrm flipV="1">
              <a:off x="3567" y="4783"/>
              <a:ext cx="0" cy="4389"/>
            </a:xfrm>
            <a:prstGeom prst="line">
              <a:avLst/>
            </a:prstGeom>
            <a:noFill/>
            <a:ln w="3175">
              <a:solidFill>
                <a:srgbClr val="000000"/>
              </a:solidFill>
              <a:round/>
              <a:headEnd/>
              <a:tailEnd type="stealth" w="med" len="sm"/>
            </a:ln>
            <a:extLst>
              <a:ext uri="{909E8E84-426E-40DD-AFC4-6F175D3DCCD1}">
                <a14:hiddenFill xmlns:a14="http://schemas.microsoft.com/office/drawing/2010/main">
                  <a:noFill/>
                </a14:hiddenFill>
              </a:ext>
            </a:extLst>
          </p:spPr>
          <p:txBody>
            <a:bodyPr/>
            <a:lstStyle/>
            <a:p>
              <a:endParaRPr lang="en-US"/>
            </a:p>
          </p:txBody>
        </p:sp>
        <p:sp>
          <p:nvSpPr>
            <p:cNvPr id="54291" name="Line 24">
              <a:extLst>
                <a:ext uri="{FF2B5EF4-FFF2-40B4-BE49-F238E27FC236}">
                  <a16:creationId xmlns:a16="http://schemas.microsoft.com/office/drawing/2014/main" id="{0E7A5EB6-2BCA-57AB-82CB-46B59D859A15}"/>
                </a:ext>
              </a:extLst>
            </p:cNvPr>
            <p:cNvSpPr>
              <a:spLocks noChangeShapeType="1"/>
            </p:cNvSpPr>
            <p:nvPr/>
          </p:nvSpPr>
          <p:spPr bwMode="auto">
            <a:xfrm flipH="1">
              <a:off x="2277" y="7918"/>
              <a:ext cx="7047" cy="0"/>
            </a:xfrm>
            <a:prstGeom prst="line">
              <a:avLst/>
            </a:prstGeom>
            <a:noFill/>
            <a:ln w="3175">
              <a:solidFill>
                <a:srgbClr val="000000"/>
              </a:solidFill>
              <a:round/>
              <a:headEnd/>
              <a:tailEnd type="stealth" w="med" len="sm"/>
            </a:ln>
            <a:extLst>
              <a:ext uri="{909E8E84-426E-40DD-AFC4-6F175D3DCCD1}">
                <a14:hiddenFill xmlns:a14="http://schemas.microsoft.com/office/drawing/2010/main">
                  <a:noFill/>
                </a14:hiddenFill>
              </a:ext>
            </a:extLst>
          </p:spPr>
          <p:txBody>
            <a:bodyPr/>
            <a:lstStyle/>
            <a:p>
              <a:endParaRPr lang="en-US"/>
            </a:p>
          </p:txBody>
        </p:sp>
        <p:sp>
          <p:nvSpPr>
            <p:cNvPr id="54292" name="Line 23">
              <a:extLst>
                <a:ext uri="{FF2B5EF4-FFF2-40B4-BE49-F238E27FC236}">
                  <a16:creationId xmlns:a16="http://schemas.microsoft.com/office/drawing/2014/main" id="{5ADFC72B-FAAD-215E-FD32-3B522E1EAFCA}"/>
                </a:ext>
              </a:extLst>
            </p:cNvPr>
            <p:cNvSpPr>
              <a:spLocks noChangeShapeType="1"/>
            </p:cNvSpPr>
            <p:nvPr/>
          </p:nvSpPr>
          <p:spPr bwMode="auto">
            <a:xfrm flipV="1">
              <a:off x="4137" y="6721"/>
              <a:ext cx="912" cy="153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3" name="Line 22">
              <a:extLst>
                <a:ext uri="{FF2B5EF4-FFF2-40B4-BE49-F238E27FC236}">
                  <a16:creationId xmlns:a16="http://schemas.microsoft.com/office/drawing/2014/main" id="{17E33956-F37C-D509-F2DF-C29A6D8DE3D2}"/>
                </a:ext>
              </a:extLst>
            </p:cNvPr>
            <p:cNvSpPr>
              <a:spLocks noChangeShapeType="1"/>
            </p:cNvSpPr>
            <p:nvPr/>
          </p:nvSpPr>
          <p:spPr bwMode="auto">
            <a:xfrm>
              <a:off x="5049" y="6721"/>
              <a:ext cx="131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294" name="Text Box 20">
              <a:extLst>
                <a:ext uri="{FF2B5EF4-FFF2-40B4-BE49-F238E27FC236}">
                  <a16:creationId xmlns:a16="http://schemas.microsoft.com/office/drawing/2014/main" id="{84A608B4-92AE-E483-2A66-EF82C6148AA9}"/>
                </a:ext>
              </a:extLst>
            </p:cNvPr>
            <p:cNvSpPr txBox="1">
              <a:spLocks noChangeArrowheads="1"/>
            </p:cNvSpPr>
            <p:nvPr/>
          </p:nvSpPr>
          <p:spPr bwMode="auto">
            <a:xfrm>
              <a:off x="5220" y="6142"/>
              <a:ext cx="882"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295" name="Text Box 18">
              <a:extLst>
                <a:ext uri="{FF2B5EF4-FFF2-40B4-BE49-F238E27FC236}">
                  <a16:creationId xmlns:a16="http://schemas.microsoft.com/office/drawing/2014/main" id="{1CDBAC6D-0972-246A-B0A7-0C5AAE0C71DE}"/>
                </a:ext>
              </a:extLst>
            </p:cNvPr>
            <p:cNvSpPr txBox="1">
              <a:spLocks noChangeArrowheads="1"/>
            </p:cNvSpPr>
            <p:nvPr/>
          </p:nvSpPr>
          <p:spPr bwMode="auto">
            <a:xfrm>
              <a:off x="5277" y="7459"/>
              <a:ext cx="885"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296" name="Line 17">
              <a:extLst>
                <a:ext uri="{FF2B5EF4-FFF2-40B4-BE49-F238E27FC236}">
                  <a16:creationId xmlns:a16="http://schemas.microsoft.com/office/drawing/2014/main" id="{0D9E83C3-864C-2505-5312-312B7E50C3E8}"/>
                </a:ext>
              </a:extLst>
            </p:cNvPr>
            <p:cNvSpPr>
              <a:spLocks noChangeShapeType="1"/>
            </p:cNvSpPr>
            <p:nvPr/>
          </p:nvSpPr>
          <p:spPr bwMode="auto">
            <a:xfrm flipV="1">
              <a:off x="5334" y="6604"/>
              <a:ext cx="741" cy="3"/>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4297" name="Line 16">
              <a:extLst>
                <a:ext uri="{FF2B5EF4-FFF2-40B4-BE49-F238E27FC236}">
                  <a16:creationId xmlns:a16="http://schemas.microsoft.com/office/drawing/2014/main" id="{A0207470-9AF6-DA5E-13F4-3664CA3697FB}"/>
                </a:ext>
              </a:extLst>
            </p:cNvPr>
            <p:cNvSpPr>
              <a:spLocks noChangeShapeType="1"/>
            </p:cNvSpPr>
            <p:nvPr/>
          </p:nvSpPr>
          <p:spPr bwMode="auto">
            <a:xfrm flipV="1">
              <a:off x="7386" y="5524"/>
              <a:ext cx="513" cy="342"/>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4298" name="Line 15">
              <a:extLst>
                <a:ext uri="{FF2B5EF4-FFF2-40B4-BE49-F238E27FC236}">
                  <a16:creationId xmlns:a16="http://schemas.microsoft.com/office/drawing/2014/main" id="{091B48D4-684B-6C6B-08DF-741ADBE7B5E8}"/>
                </a:ext>
              </a:extLst>
            </p:cNvPr>
            <p:cNvSpPr>
              <a:spLocks noChangeShapeType="1"/>
            </p:cNvSpPr>
            <p:nvPr/>
          </p:nvSpPr>
          <p:spPr bwMode="auto">
            <a:xfrm flipV="1">
              <a:off x="4422" y="7063"/>
              <a:ext cx="285" cy="513"/>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4299" name="Line 14">
              <a:extLst>
                <a:ext uri="{FF2B5EF4-FFF2-40B4-BE49-F238E27FC236}">
                  <a16:creationId xmlns:a16="http://schemas.microsoft.com/office/drawing/2014/main" id="{C94B0729-2F82-387F-B4C4-13365F664ABC}"/>
                </a:ext>
              </a:extLst>
            </p:cNvPr>
            <p:cNvSpPr>
              <a:spLocks noChangeShapeType="1"/>
            </p:cNvSpPr>
            <p:nvPr/>
          </p:nvSpPr>
          <p:spPr bwMode="auto">
            <a:xfrm flipH="1" flipV="1">
              <a:off x="5264" y="6856"/>
              <a:ext cx="754" cy="3"/>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4300" name="Line 13">
              <a:extLst>
                <a:ext uri="{FF2B5EF4-FFF2-40B4-BE49-F238E27FC236}">
                  <a16:creationId xmlns:a16="http://schemas.microsoft.com/office/drawing/2014/main" id="{818FE17E-006F-AC05-0299-AF55BE20835D}"/>
                </a:ext>
              </a:extLst>
            </p:cNvPr>
            <p:cNvSpPr>
              <a:spLocks noChangeShapeType="1"/>
            </p:cNvSpPr>
            <p:nvPr/>
          </p:nvSpPr>
          <p:spPr bwMode="auto">
            <a:xfrm flipH="1">
              <a:off x="4593" y="7234"/>
              <a:ext cx="285" cy="513"/>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4301" name="Line 12">
              <a:extLst>
                <a:ext uri="{FF2B5EF4-FFF2-40B4-BE49-F238E27FC236}">
                  <a16:creationId xmlns:a16="http://schemas.microsoft.com/office/drawing/2014/main" id="{EFE009FA-091B-97C3-5CE0-6E55603A6D1A}"/>
                </a:ext>
              </a:extLst>
            </p:cNvPr>
            <p:cNvSpPr>
              <a:spLocks noChangeShapeType="1"/>
            </p:cNvSpPr>
            <p:nvPr/>
          </p:nvSpPr>
          <p:spPr bwMode="auto">
            <a:xfrm flipH="1">
              <a:off x="7500" y="5752"/>
              <a:ext cx="513" cy="342"/>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4302" name="Line 11">
              <a:extLst>
                <a:ext uri="{FF2B5EF4-FFF2-40B4-BE49-F238E27FC236}">
                  <a16:creationId xmlns:a16="http://schemas.microsoft.com/office/drawing/2014/main" id="{88F9316D-2722-0183-1F9E-3B5D4F3D85FC}"/>
                </a:ext>
              </a:extLst>
            </p:cNvPr>
            <p:cNvSpPr>
              <a:spLocks noChangeShapeType="1"/>
            </p:cNvSpPr>
            <p:nvPr/>
          </p:nvSpPr>
          <p:spPr bwMode="auto">
            <a:xfrm flipV="1">
              <a:off x="6360" y="5527"/>
              <a:ext cx="1767" cy="119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4303" name="Line 10">
              <a:extLst>
                <a:ext uri="{FF2B5EF4-FFF2-40B4-BE49-F238E27FC236}">
                  <a16:creationId xmlns:a16="http://schemas.microsoft.com/office/drawing/2014/main" id="{36B64DDF-3BE2-8442-E745-B7C62947C83B}"/>
                </a:ext>
              </a:extLst>
            </p:cNvPr>
            <p:cNvSpPr>
              <a:spLocks noChangeShapeType="1"/>
            </p:cNvSpPr>
            <p:nvPr/>
          </p:nvSpPr>
          <p:spPr bwMode="auto">
            <a:xfrm flipH="1" flipV="1">
              <a:off x="4251" y="8032"/>
              <a:ext cx="285" cy="228"/>
            </a:xfrm>
            <a:prstGeom prst="line">
              <a:avLst/>
            </a:prstGeom>
            <a:noFill/>
            <a:ln w="317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4304" name="Text Box 8">
              <a:extLst>
                <a:ext uri="{FF2B5EF4-FFF2-40B4-BE49-F238E27FC236}">
                  <a16:creationId xmlns:a16="http://schemas.microsoft.com/office/drawing/2014/main" id="{57687461-C697-D110-FAD3-4032D9E4957B}"/>
                </a:ext>
              </a:extLst>
            </p:cNvPr>
            <p:cNvSpPr txBox="1">
              <a:spLocks noChangeArrowheads="1"/>
            </p:cNvSpPr>
            <p:nvPr/>
          </p:nvSpPr>
          <p:spPr bwMode="auto">
            <a:xfrm>
              <a:off x="4422" y="8089"/>
              <a:ext cx="183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305" name="Line 7">
              <a:extLst>
                <a:ext uri="{FF2B5EF4-FFF2-40B4-BE49-F238E27FC236}">
                  <a16:creationId xmlns:a16="http://schemas.microsoft.com/office/drawing/2014/main" id="{29AD3C01-00F0-492D-407B-993206EE8664}"/>
                </a:ext>
              </a:extLst>
            </p:cNvPr>
            <p:cNvSpPr>
              <a:spLocks noChangeShapeType="1"/>
            </p:cNvSpPr>
            <p:nvPr/>
          </p:nvSpPr>
          <p:spPr bwMode="auto">
            <a:xfrm>
              <a:off x="7842" y="5239"/>
              <a:ext cx="171" cy="285"/>
            </a:xfrm>
            <a:prstGeom prst="line">
              <a:avLst/>
            </a:prstGeom>
            <a:noFill/>
            <a:ln w="317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4306" name="Text Box 5">
              <a:extLst>
                <a:ext uri="{FF2B5EF4-FFF2-40B4-BE49-F238E27FC236}">
                  <a16:creationId xmlns:a16="http://schemas.microsoft.com/office/drawing/2014/main" id="{64094AA5-113D-90CA-3185-2A86CDFDA4BE}"/>
                </a:ext>
              </a:extLst>
            </p:cNvPr>
            <p:cNvSpPr txBox="1">
              <a:spLocks noChangeArrowheads="1"/>
            </p:cNvSpPr>
            <p:nvPr/>
          </p:nvSpPr>
          <p:spPr bwMode="auto">
            <a:xfrm>
              <a:off x="6414" y="4726"/>
              <a:ext cx="1941"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307" name="Text Box 4">
              <a:extLst>
                <a:ext uri="{FF2B5EF4-FFF2-40B4-BE49-F238E27FC236}">
                  <a16:creationId xmlns:a16="http://schemas.microsoft.com/office/drawing/2014/main" id="{723F0FE8-BEB9-F9D2-41D3-3AE6A4E9F39C}"/>
                </a:ext>
              </a:extLst>
            </p:cNvPr>
            <p:cNvSpPr txBox="1">
              <a:spLocks noChangeArrowheads="1"/>
            </p:cNvSpPr>
            <p:nvPr/>
          </p:nvSpPr>
          <p:spPr bwMode="auto">
            <a:xfrm>
              <a:off x="3681" y="4612"/>
              <a:ext cx="1995"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200">
                  <a:cs typeface="Times New Roman" panose="02020603050405020304" pitchFamily="18" charset="0"/>
                </a:rPr>
                <a:t>Cell temperature</a:t>
              </a:r>
              <a:endParaRPr lang="en-GB" altLang="en-US"/>
            </a:p>
          </p:txBody>
        </p:sp>
        <p:sp>
          <p:nvSpPr>
            <p:cNvPr id="54308" name="Text Box 3">
              <a:extLst>
                <a:ext uri="{FF2B5EF4-FFF2-40B4-BE49-F238E27FC236}">
                  <a16:creationId xmlns:a16="http://schemas.microsoft.com/office/drawing/2014/main" id="{D8436995-71D1-F1B0-6023-D8C66004FB68}"/>
                </a:ext>
              </a:extLst>
            </p:cNvPr>
            <p:cNvSpPr txBox="1">
              <a:spLocks noChangeArrowheads="1"/>
            </p:cNvSpPr>
            <p:nvPr/>
          </p:nvSpPr>
          <p:spPr bwMode="auto">
            <a:xfrm>
              <a:off x="7956" y="7462"/>
              <a:ext cx="1539"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200">
                  <a:cs typeface="Times New Roman" panose="02020603050405020304" pitchFamily="18" charset="0"/>
                </a:rPr>
                <a:t>Heat amount</a:t>
              </a:r>
              <a:endParaRPr lang="en-GB" altLang="en-US"/>
            </a:p>
          </p:txBody>
        </p:sp>
        <p:sp>
          <p:nvSpPr>
            <p:cNvPr id="54309" name="Text Box 2">
              <a:extLst>
                <a:ext uri="{FF2B5EF4-FFF2-40B4-BE49-F238E27FC236}">
                  <a16:creationId xmlns:a16="http://schemas.microsoft.com/office/drawing/2014/main" id="{51C0CC69-107B-DCBC-3991-A1B5261ED75D}"/>
                </a:ext>
              </a:extLst>
            </p:cNvPr>
            <p:cNvSpPr txBox="1">
              <a:spLocks noChangeArrowheads="1"/>
            </p:cNvSpPr>
            <p:nvPr/>
          </p:nvSpPr>
          <p:spPr bwMode="auto">
            <a:xfrm>
              <a:off x="2085" y="9466"/>
              <a:ext cx="7923" cy="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200">
                  <a:cs typeface="Times New Roman" panose="02020603050405020304" pitchFamily="18" charset="0"/>
                </a:rPr>
                <a:t>Fig. 3.2. Cell temperature in the ice layer as a function of heat supply/release</a:t>
              </a:r>
              <a:endParaRPr lang="en-GB" altLang="en-US"/>
            </a:p>
          </p:txBody>
        </p:sp>
      </p:grpSp>
      <p:sp>
        <p:nvSpPr>
          <p:cNvPr id="54281" name="Rectangle 29">
            <a:extLst>
              <a:ext uri="{FF2B5EF4-FFF2-40B4-BE49-F238E27FC236}">
                <a16:creationId xmlns:a16="http://schemas.microsoft.com/office/drawing/2014/main" id="{AA3F279F-7099-B5FE-04EE-C7F66FDCB615}"/>
              </a:ext>
            </a:extLst>
          </p:cNvPr>
          <p:cNvSpPr>
            <a:spLocks noChangeArrowheads="1"/>
          </p:cNvSpPr>
          <p:nvPr/>
        </p:nvSpPr>
        <p:spPr bwMode="auto">
          <a:xfrm>
            <a:off x="0" y="0"/>
            <a:ext cx="10691813"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282" name="Rectangle 30">
            <a:extLst>
              <a:ext uri="{FF2B5EF4-FFF2-40B4-BE49-F238E27FC236}">
                <a16:creationId xmlns:a16="http://schemas.microsoft.com/office/drawing/2014/main" id="{87401186-F0C1-B332-3919-0F0F36AF7998}"/>
              </a:ext>
            </a:extLst>
          </p:cNvPr>
          <p:cNvSpPr>
            <a:spLocks noChangeArrowheads="1"/>
          </p:cNvSpPr>
          <p:nvPr/>
        </p:nvSpPr>
        <p:spPr bwMode="auto">
          <a:xfrm>
            <a:off x="3657600" y="2727325"/>
            <a:ext cx="0" cy="0"/>
          </a:xfrm>
          <a:prstGeom prst="rect">
            <a:avLst/>
          </a:prstGeom>
          <a:solidFill>
            <a:srgbClr val="00B8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283" name="Rectangle 31">
            <a:extLst>
              <a:ext uri="{FF2B5EF4-FFF2-40B4-BE49-F238E27FC236}">
                <a16:creationId xmlns:a16="http://schemas.microsoft.com/office/drawing/2014/main" id="{80E2E4A9-0C6C-0F30-B60A-DF4E5FDFABD1}"/>
              </a:ext>
            </a:extLst>
          </p:cNvPr>
          <p:cNvSpPr>
            <a:spLocks noChangeArrowheads="1"/>
          </p:cNvSpPr>
          <p:nvPr/>
        </p:nvSpPr>
        <p:spPr bwMode="auto">
          <a:xfrm>
            <a:off x="3657600" y="3003550"/>
            <a:ext cx="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284" name="Rectangle 32">
            <a:extLst>
              <a:ext uri="{FF2B5EF4-FFF2-40B4-BE49-F238E27FC236}">
                <a16:creationId xmlns:a16="http://schemas.microsoft.com/office/drawing/2014/main" id="{41B5C7B0-A9C9-806F-CA01-0167A78B148D}"/>
              </a:ext>
            </a:extLst>
          </p:cNvPr>
          <p:cNvSpPr>
            <a:spLocks noChangeArrowheads="1"/>
          </p:cNvSpPr>
          <p:nvPr/>
        </p:nvSpPr>
        <p:spPr bwMode="auto">
          <a:xfrm>
            <a:off x="3657600" y="3660775"/>
            <a:ext cx="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285" name="Rectangle 33">
            <a:extLst>
              <a:ext uri="{FF2B5EF4-FFF2-40B4-BE49-F238E27FC236}">
                <a16:creationId xmlns:a16="http://schemas.microsoft.com/office/drawing/2014/main" id="{188F1111-C643-84AD-03BE-A585399A0F9F}"/>
              </a:ext>
            </a:extLst>
          </p:cNvPr>
          <p:cNvSpPr>
            <a:spLocks noChangeArrowheads="1"/>
          </p:cNvSpPr>
          <p:nvPr/>
        </p:nvSpPr>
        <p:spPr bwMode="auto">
          <a:xfrm>
            <a:off x="3657600" y="4318000"/>
            <a:ext cx="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286" name="Rectangle 34">
            <a:extLst>
              <a:ext uri="{FF2B5EF4-FFF2-40B4-BE49-F238E27FC236}">
                <a16:creationId xmlns:a16="http://schemas.microsoft.com/office/drawing/2014/main" id="{876FD381-BD06-BDF3-25CA-5D7C971C7459}"/>
              </a:ext>
            </a:extLst>
          </p:cNvPr>
          <p:cNvSpPr>
            <a:spLocks noChangeArrowheads="1"/>
          </p:cNvSpPr>
          <p:nvPr/>
        </p:nvSpPr>
        <p:spPr bwMode="auto">
          <a:xfrm>
            <a:off x="3657600" y="5013325"/>
            <a:ext cx="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4287" name="Rectangle 38">
            <a:extLst>
              <a:ext uri="{FF2B5EF4-FFF2-40B4-BE49-F238E27FC236}">
                <a16:creationId xmlns:a16="http://schemas.microsoft.com/office/drawing/2014/main" id="{B1059E67-9117-196D-35A7-DC80B75943E3}"/>
              </a:ext>
            </a:extLst>
          </p:cNvPr>
          <p:cNvSpPr>
            <a:spLocks noChangeArrowheads="1"/>
          </p:cNvSpPr>
          <p:nvPr/>
        </p:nvSpPr>
        <p:spPr bwMode="auto">
          <a:xfrm>
            <a:off x="0" y="3438525"/>
            <a:ext cx="10691813"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dissolve">
                                      <p:cBhvr>
                                        <p:cTn id="7" dur="500"/>
                                        <p:tgtEl>
                                          <p:spTgt spid="22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5">
            <a:extLst>
              <a:ext uri="{FF2B5EF4-FFF2-40B4-BE49-F238E27FC236}">
                <a16:creationId xmlns:a16="http://schemas.microsoft.com/office/drawing/2014/main" id="{14ACC20D-E9D1-9E50-1C3A-34997BAD88D1}"/>
              </a:ext>
            </a:extLst>
          </p:cNvPr>
          <p:cNvSpPr>
            <a:spLocks noChangeArrowheads="1"/>
          </p:cNvSpPr>
          <p:nvPr/>
        </p:nvSpPr>
        <p:spPr bwMode="auto">
          <a:xfrm>
            <a:off x="350838" y="719138"/>
            <a:ext cx="2779712"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b="1">
                <a:solidFill>
                  <a:srgbClr val="000066"/>
                </a:solidFill>
              </a:rPr>
              <a:t>Heat balance in cell</a:t>
            </a:r>
          </a:p>
        </p:txBody>
      </p:sp>
      <p:graphicFrame>
        <p:nvGraphicFramePr>
          <p:cNvPr id="55299" name="Object 1">
            <a:extLst>
              <a:ext uri="{FF2B5EF4-FFF2-40B4-BE49-F238E27FC236}">
                <a16:creationId xmlns:a16="http://schemas.microsoft.com/office/drawing/2014/main" id="{A34D6565-F0AF-BD9A-7DEE-CFFC09A7F347}"/>
              </a:ext>
            </a:extLst>
          </p:cNvPr>
          <p:cNvGraphicFramePr>
            <a:graphicFrameLocks noChangeAspect="1"/>
          </p:cNvGraphicFramePr>
          <p:nvPr/>
        </p:nvGraphicFramePr>
        <p:xfrm>
          <a:off x="3657600" y="2727325"/>
          <a:ext cx="209550" cy="276225"/>
        </p:xfrm>
        <a:graphic>
          <a:graphicData uri="http://schemas.openxmlformats.org/presentationml/2006/ole">
            <mc:AlternateContent xmlns:mc="http://schemas.openxmlformats.org/markup-compatibility/2006">
              <mc:Choice xmlns:v="urn:schemas-microsoft-com:vml" Requires="v">
                <p:oleObj name="Equation" r:id="rId3" imgW="4102100" imgH="5562600" progId="Equation.DSMT4">
                  <p:embed/>
                </p:oleObj>
              </mc:Choice>
              <mc:Fallback>
                <p:oleObj name="Equation" r:id="rId3" imgW="4102100" imgH="5562600" progId="Equation.DSMT4">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2727325"/>
                        <a:ext cx="2095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0" name="Object 2">
            <a:extLst>
              <a:ext uri="{FF2B5EF4-FFF2-40B4-BE49-F238E27FC236}">
                <a16:creationId xmlns:a16="http://schemas.microsoft.com/office/drawing/2014/main" id="{03617E0B-69DD-E1EA-0BC7-B4ACE7587AD9}"/>
              </a:ext>
            </a:extLst>
          </p:cNvPr>
          <p:cNvGraphicFramePr>
            <a:graphicFrameLocks noChangeAspect="1"/>
          </p:cNvGraphicFramePr>
          <p:nvPr/>
        </p:nvGraphicFramePr>
        <p:xfrm>
          <a:off x="3657600" y="3460750"/>
          <a:ext cx="381000" cy="200025"/>
        </p:xfrm>
        <a:graphic>
          <a:graphicData uri="http://schemas.openxmlformats.org/presentationml/2006/ole">
            <mc:AlternateContent xmlns:mc="http://schemas.openxmlformats.org/markup-compatibility/2006">
              <mc:Choice xmlns:v="urn:schemas-microsoft-com:vml" Requires="v">
                <p:oleObj name="Equation" r:id="rId5" imgW="9652000" imgH="5270500" progId="Equation.DSMT4">
                  <p:embed/>
                </p:oleObj>
              </mc:Choice>
              <mc:Fallback>
                <p:oleObj name="Equation" r:id="rId5" imgW="9652000" imgH="527050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3460750"/>
                        <a:ext cx="3810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1" name="Object 3">
            <a:extLst>
              <a:ext uri="{FF2B5EF4-FFF2-40B4-BE49-F238E27FC236}">
                <a16:creationId xmlns:a16="http://schemas.microsoft.com/office/drawing/2014/main" id="{BCCFD605-1B3B-D1EE-0CA5-1F7F4B905CA0}"/>
              </a:ext>
            </a:extLst>
          </p:cNvPr>
          <p:cNvGraphicFramePr>
            <a:graphicFrameLocks noChangeAspect="1"/>
          </p:cNvGraphicFramePr>
          <p:nvPr/>
        </p:nvGraphicFramePr>
        <p:xfrm>
          <a:off x="3657600" y="4117975"/>
          <a:ext cx="381000" cy="200025"/>
        </p:xfrm>
        <a:graphic>
          <a:graphicData uri="http://schemas.openxmlformats.org/presentationml/2006/ole">
            <mc:AlternateContent xmlns:mc="http://schemas.openxmlformats.org/markup-compatibility/2006">
              <mc:Choice xmlns:v="urn:schemas-microsoft-com:vml" Requires="v">
                <p:oleObj name="Equation" r:id="rId7" imgW="9652000" imgH="5270500" progId="Equation.DSMT4">
                  <p:embed/>
                </p:oleObj>
              </mc:Choice>
              <mc:Fallback>
                <p:oleObj name="Equation" r:id="rId7" imgW="9652000" imgH="52705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7600" y="4117975"/>
                        <a:ext cx="3810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2" name="Object 4">
            <a:extLst>
              <a:ext uri="{FF2B5EF4-FFF2-40B4-BE49-F238E27FC236}">
                <a16:creationId xmlns:a16="http://schemas.microsoft.com/office/drawing/2014/main" id="{8D3F8EC3-2CC4-E849-BE50-B0F28F669143}"/>
              </a:ext>
            </a:extLst>
          </p:cNvPr>
          <p:cNvGraphicFramePr>
            <a:graphicFrameLocks noChangeAspect="1"/>
          </p:cNvGraphicFramePr>
          <p:nvPr/>
        </p:nvGraphicFramePr>
        <p:xfrm>
          <a:off x="3657600" y="4775200"/>
          <a:ext cx="981075" cy="238125"/>
        </p:xfrm>
        <a:graphic>
          <a:graphicData uri="http://schemas.openxmlformats.org/presentationml/2006/ole">
            <mc:AlternateContent xmlns:mc="http://schemas.openxmlformats.org/markup-compatibility/2006">
              <mc:Choice xmlns:v="urn:schemas-microsoft-com:vml" Requires="v">
                <p:oleObj name="Equation" r:id="rId9" imgW="21945600" imgH="5270500" progId="Equation.DSMT4">
                  <p:embed/>
                </p:oleObj>
              </mc:Choice>
              <mc:Fallback>
                <p:oleObj name="Equation" r:id="rId9" imgW="21945600" imgH="527050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7600" y="4775200"/>
                        <a:ext cx="981075"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5303" name="Object 5">
            <a:extLst>
              <a:ext uri="{FF2B5EF4-FFF2-40B4-BE49-F238E27FC236}">
                <a16:creationId xmlns:a16="http://schemas.microsoft.com/office/drawing/2014/main" id="{51FAD9E2-6B53-C8AC-54F2-1031FC3DE511}"/>
              </a:ext>
            </a:extLst>
          </p:cNvPr>
          <p:cNvGraphicFramePr>
            <a:graphicFrameLocks noChangeAspect="1"/>
          </p:cNvGraphicFramePr>
          <p:nvPr/>
        </p:nvGraphicFramePr>
        <p:xfrm>
          <a:off x="6629400" y="2828925"/>
          <a:ext cx="1047750" cy="238125"/>
        </p:xfrm>
        <a:graphic>
          <a:graphicData uri="http://schemas.openxmlformats.org/presentationml/2006/ole">
            <mc:AlternateContent xmlns:mc="http://schemas.openxmlformats.org/markup-compatibility/2006">
              <mc:Choice xmlns:v="urn:schemas-microsoft-com:vml" Requires="v">
                <p:oleObj name="Equation" r:id="rId11" imgW="23406100" imgH="5270500" progId="Equation.DSMT4">
                  <p:embed/>
                </p:oleObj>
              </mc:Choice>
              <mc:Fallback>
                <p:oleObj name="Equation" r:id="rId11" imgW="23406100" imgH="5270500"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29400" y="2828925"/>
                        <a:ext cx="104775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5304" name="Group 1">
            <a:extLst>
              <a:ext uri="{FF2B5EF4-FFF2-40B4-BE49-F238E27FC236}">
                <a16:creationId xmlns:a16="http://schemas.microsoft.com/office/drawing/2014/main" id="{CC6F7BED-B584-FC33-CA11-D9F8AB129CB7}"/>
              </a:ext>
            </a:extLst>
          </p:cNvPr>
          <p:cNvGrpSpPr>
            <a:grpSpLocks/>
          </p:cNvGrpSpPr>
          <p:nvPr/>
        </p:nvGrpSpPr>
        <p:grpSpPr bwMode="auto">
          <a:xfrm>
            <a:off x="1714500" y="1500188"/>
            <a:ext cx="7191375" cy="4689475"/>
            <a:chOff x="2085" y="4612"/>
            <a:chExt cx="7923" cy="5367"/>
          </a:xfrm>
        </p:grpSpPr>
        <p:sp>
          <p:nvSpPr>
            <p:cNvPr id="55313" name="Line 28">
              <a:extLst>
                <a:ext uri="{FF2B5EF4-FFF2-40B4-BE49-F238E27FC236}">
                  <a16:creationId xmlns:a16="http://schemas.microsoft.com/office/drawing/2014/main" id="{92FE9C1A-1403-3C2A-A87D-BEA3B3FEB632}"/>
                </a:ext>
              </a:extLst>
            </p:cNvPr>
            <p:cNvSpPr>
              <a:spLocks noChangeShapeType="1"/>
            </p:cNvSpPr>
            <p:nvPr/>
          </p:nvSpPr>
          <p:spPr bwMode="auto">
            <a:xfrm flipH="1">
              <a:off x="3567" y="6721"/>
              <a:ext cx="1482" cy="0"/>
            </a:xfrm>
            <a:prstGeom prst="line">
              <a:avLst/>
            </a:prstGeom>
            <a:noFill/>
            <a:ln w="31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5314" name="Text Box 26">
              <a:extLst>
                <a:ext uri="{FF2B5EF4-FFF2-40B4-BE49-F238E27FC236}">
                  <a16:creationId xmlns:a16="http://schemas.microsoft.com/office/drawing/2014/main" id="{2A255795-71C6-9CD2-B77B-CB70A03410C7}"/>
                </a:ext>
              </a:extLst>
            </p:cNvPr>
            <p:cNvSpPr txBox="1">
              <a:spLocks noChangeArrowheads="1"/>
            </p:cNvSpPr>
            <p:nvPr/>
          </p:nvSpPr>
          <p:spPr bwMode="auto">
            <a:xfrm>
              <a:off x="2997" y="6436"/>
              <a:ext cx="626" cy="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15" name="Line 25">
              <a:extLst>
                <a:ext uri="{FF2B5EF4-FFF2-40B4-BE49-F238E27FC236}">
                  <a16:creationId xmlns:a16="http://schemas.microsoft.com/office/drawing/2014/main" id="{5F607991-3B54-3EAC-BB3F-96D184BC4004}"/>
                </a:ext>
              </a:extLst>
            </p:cNvPr>
            <p:cNvSpPr>
              <a:spLocks noChangeShapeType="1"/>
            </p:cNvSpPr>
            <p:nvPr/>
          </p:nvSpPr>
          <p:spPr bwMode="auto">
            <a:xfrm flipV="1">
              <a:off x="3567" y="4783"/>
              <a:ext cx="0" cy="4389"/>
            </a:xfrm>
            <a:prstGeom prst="line">
              <a:avLst/>
            </a:prstGeom>
            <a:noFill/>
            <a:ln w="3175">
              <a:solidFill>
                <a:srgbClr val="000000"/>
              </a:solidFill>
              <a:round/>
              <a:headEnd/>
              <a:tailEnd type="stealth" w="med" len="sm"/>
            </a:ln>
            <a:extLst>
              <a:ext uri="{909E8E84-426E-40DD-AFC4-6F175D3DCCD1}">
                <a14:hiddenFill xmlns:a14="http://schemas.microsoft.com/office/drawing/2010/main">
                  <a:noFill/>
                </a14:hiddenFill>
              </a:ext>
            </a:extLst>
          </p:spPr>
          <p:txBody>
            <a:bodyPr/>
            <a:lstStyle/>
            <a:p>
              <a:endParaRPr lang="en-US"/>
            </a:p>
          </p:txBody>
        </p:sp>
        <p:sp>
          <p:nvSpPr>
            <p:cNvPr id="55316" name="Line 24">
              <a:extLst>
                <a:ext uri="{FF2B5EF4-FFF2-40B4-BE49-F238E27FC236}">
                  <a16:creationId xmlns:a16="http://schemas.microsoft.com/office/drawing/2014/main" id="{EF76B338-3D8B-C37D-9408-9EAC22C2EE4A}"/>
                </a:ext>
              </a:extLst>
            </p:cNvPr>
            <p:cNvSpPr>
              <a:spLocks noChangeShapeType="1"/>
            </p:cNvSpPr>
            <p:nvPr/>
          </p:nvSpPr>
          <p:spPr bwMode="auto">
            <a:xfrm flipH="1">
              <a:off x="2277" y="7918"/>
              <a:ext cx="7047" cy="0"/>
            </a:xfrm>
            <a:prstGeom prst="line">
              <a:avLst/>
            </a:prstGeom>
            <a:noFill/>
            <a:ln w="3175">
              <a:solidFill>
                <a:srgbClr val="000000"/>
              </a:solidFill>
              <a:round/>
              <a:headEnd/>
              <a:tailEnd type="stealth" w="med" len="sm"/>
            </a:ln>
            <a:extLst>
              <a:ext uri="{909E8E84-426E-40DD-AFC4-6F175D3DCCD1}">
                <a14:hiddenFill xmlns:a14="http://schemas.microsoft.com/office/drawing/2010/main">
                  <a:noFill/>
                </a14:hiddenFill>
              </a:ext>
            </a:extLst>
          </p:spPr>
          <p:txBody>
            <a:bodyPr/>
            <a:lstStyle/>
            <a:p>
              <a:endParaRPr lang="en-US"/>
            </a:p>
          </p:txBody>
        </p:sp>
        <p:sp>
          <p:nvSpPr>
            <p:cNvPr id="55317" name="Line 23">
              <a:extLst>
                <a:ext uri="{FF2B5EF4-FFF2-40B4-BE49-F238E27FC236}">
                  <a16:creationId xmlns:a16="http://schemas.microsoft.com/office/drawing/2014/main" id="{6AB2331C-3811-E1F6-66BF-99936BD7AC6C}"/>
                </a:ext>
              </a:extLst>
            </p:cNvPr>
            <p:cNvSpPr>
              <a:spLocks noChangeShapeType="1"/>
            </p:cNvSpPr>
            <p:nvPr/>
          </p:nvSpPr>
          <p:spPr bwMode="auto">
            <a:xfrm flipV="1">
              <a:off x="4137" y="6721"/>
              <a:ext cx="912" cy="1539"/>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8" name="Line 22">
              <a:extLst>
                <a:ext uri="{FF2B5EF4-FFF2-40B4-BE49-F238E27FC236}">
                  <a16:creationId xmlns:a16="http://schemas.microsoft.com/office/drawing/2014/main" id="{2BC236BB-7F17-0C10-194C-419C4EE9033F}"/>
                </a:ext>
              </a:extLst>
            </p:cNvPr>
            <p:cNvSpPr>
              <a:spLocks noChangeShapeType="1"/>
            </p:cNvSpPr>
            <p:nvPr/>
          </p:nvSpPr>
          <p:spPr bwMode="auto">
            <a:xfrm>
              <a:off x="5049" y="6721"/>
              <a:ext cx="1311"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9" name="Text Box 20">
              <a:extLst>
                <a:ext uri="{FF2B5EF4-FFF2-40B4-BE49-F238E27FC236}">
                  <a16:creationId xmlns:a16="http://schemas.microsoft.com/office/drawing/2014/main" id="{BDA4BFF8-E11C-E387-DCCE-CBDF18C0EFFE}"/>
                </a:ext>
              </a:extLst>
            </p:cNvPr>
            <p:cNvSpPr txBox="1">
              <a:spLocks noChangeArrowheads="1"/>
            </p:cNvSpPr>
            <p:nvPr/>
          </p:nvSpPr>
          <p:spPr bwMode="auto">
            <a:xfrm>
              <a:off x="5220" y="6142"/>
              <a:ext cx="882"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20" name="Text Box 18">
              <a:extLst>
                <a:ext uri="{FF2B5EF4-FFF2-40B4-BE49-F238E27FC236}">
                  <a16:creationId xmlns:a16="http://schemas.microsoft.com/office/drawing/2014/main" id="{49427A31-5098-7A47-14B5-A7BD6A122D46}"/>
                </a:ext>
              </a:extLst>
            </p:cNvPr>
            <p:cNvSpPr txBox="1">
              <a:spLocks noChangeArrowheads="1"/>
            </p:cNvSpPr>
            <p:nvPr/>
          </p:nvSpPr>
          <p:spPr bwMode="auto">
            <a:xfrm>
              <a:off x="5277" y="7459"/>
              <a:ext cx="885" cy="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21" name="Line 17">
              <a:extLst>
                <a:ext uri="{FF2B5EF4-FFF2-40B4-BE49-F238E27FC236}">
                  <a16:creationId xmlns:a16="http://schemas.microsoft.com/office/drawing/2014/main" id="{4D1F76A2-81D1-78F8-1D92-9AD5C1017B20}"/>
                </a:ext>
              </a:extLst>
            </p:cNvPr>
            <p:cNvSpPr>
              <a:spLocks noChangeShapeType="1"/>
            </p:cNvSpPr>
            <p:nvPr/>
          </p:nvSpPr>
          <p:spPr bwMode="auto">
            <a:xfrm flipV="1">
              <a:off x="5334" y="6604"/>
              <a:ext cx="741" cy="3"/>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5322" name="Line 16">
              <a:extLst>
                <a:ext uri="{FF2B5EF4-FFF2-40B4-BE49-F238E27FC236}">
                  <a16:creationId xmlns:a16="http://schemas.microsoft.com/office/drawing/2014/main" id="{D400CBAD-8298-80D3-3BDC-5FA60B581941}"/>
                </a:ext>
              </a:extLst>
            </p:cNvPr>
            <p:cNvSpPr>
              <a:spLocks noChangeShapeType="1"/>
            </p:cNvSpPr>
            <p:nvPr/>
          </p:nvSpPr>
          <p:spPr bwMode="auto">
            <a:xfrm flipV="1">
              <a:off x="7386" y="5524"/>
              <a:ext cx="513" cy="342"/>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5323" name="Line 15">
              <a:extLst>
                <a:ext uri="{FF2B5EF4-FFF2-40B4-BE49-F238E27FC236}">
                  <a16:creationId xmlns:a16="http://schemas.microsoft.com/office/drawing/2014/main" id="{F9763F84-340F-E127-C31B-C08052B5D8AA}"/>
                </a:ext>
              </a:extLst>
            </p:cNvPr>
            <p:cNvSpPr>
              <a:spLocks noChangeShapeType="1"/>
            </p:cNvSpPr>
            <p:nvPr/>
          </p:nvSpPr>
          <p:spPr bwMode="auto">
            <a:xfrm flipV="1">
              <a:off x="4422" y="7063"/>
              <a:ext cx="285" cy="513"/>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5324" name="Line 14">
              <a:extLst>
                <a:ext uri="{FF2B5EF4-FFF2-40B4-BE49-F238E27FC236}">
                  <a16:creationId xmlns:a16="http://schemas.microsoft.com/office/drawing/2014/main" id="{F6BE47C0-FD37-A0FC-D612-AE88A51CAF37}"/>
                </a:ext>
              </a:extLst>
            </p:cNvPr>
            <p:cNvSpPr>
              <a:spLocks noChangeShapeType="1"/>
            </p:cNvSpPr>
            <p:nvPr/>
          </p:nvSpPr>
          <p:spPr bwMode="auto">
            <a:xfrm flipH="1">
              <a:off x="5277" y="6970"/>
              <a:ext cx="741" cy="114"/>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5325" name="Line 13">
              <a:extLst>
                <a:ext uri="{FF2B5EF4-FFF2-40B4-BE49-F238E27FC236}">
                  <a16:creationId xmlns:a16="http://schemas.microsoft.com/office/drawing/2014/main" id="{732B469D-0034-0119-90AF-9CCDCAD44AAD}"/>
                </a:ext>
              </a:extLst>
            </p:cNvPr>
            <p:cNvSpPr>
              <a:spLocks noChangeShapeType="1"/>
            </p:cNvSpPr>
            <p:nvPr/>
          </p:nvSpPr>
          <p:spPr bwMode="auto">
            <a:xfrm flipH="1">
              <a:off x="4593" y="7234"/>
              <a:ext cx="285" cy="513"/>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5326" name="Line 12">
              <a:extLst>
                <a:ext uri="{FF2B5EF4-FFF2-40B4-BE49-F238E27FC236}">
                  <a16:creationId xmlns:a16="http://schemas.microsoft.com/office/drawing/2014/main" id="{3BC65701-E056-6A79-0819-21CB63E2B1DF}"/>
                </a:ext>
              </a:extLst>
            </p:cNvPr>
            <p:cNvSpPr>
              <a:spLocks noChangeShapeType="1"/>
            </p:cNvSpPr>
            <p:nvPr/>
          </p:nvSpPr>
          <p:spPr bwMode="auto">
            <a:xfrm flipH="1">
              <a:off x="7500" y="5752"/>
              <a:ext cx="513" cy="342"/>
            </a:xfrm>
            <a:prstGeom prst="line">
              <a:avLst/>
            </a:prstGeom>
            <a:noFill/>
            <a:ln w="1905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5327" name="Line 11">
              <a:extLst>
                <a:ext uri="{FF2B5EF4-FFF2-40B4-BE49-F238E27FC236}">
                  <a16:creationId xmlns:a16="http://schemas.microsoft.com/office/drawing/2014/main" id="{1E54E9A8-92AC-E2A2-F8F1-E6EDA563D14F}"/>
                </a:ext>
              </a:extLst>
            </p:cNvPr>
            <p:cNvSpPr>
              <a:spLocks noChangeShapeType="1"/>
            </p:cNvSpPr>
            <p:nvPr/>
          </p:nvSpPr>
          <p:spPr bwMode="auto">
            <a:xfrm flipV="1">
              <a:off x="6360" y="5527"/>
              <a:ext cx="1767" cy="119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8" name="Line 10">
              <a:extLst>
                <a:ext uri="{FF2B5EF4-FFF2-40B4-BE49-F238E27FC236}">
                  <a16:creationId xmlns:a16="http://schemas.microsoft.com/office/drawing/2014/main" id="{47661C73-4503-937E-67DF-3B91615825A3}"/>
                </a:ext>
              </a:extLst>
            </p:cNvPr>
            <p:cNvSpPr>
              <a:spLocks noChangeShapeType="1"/>
            </p:cNvSpPr>
            <p:nvPr/>
          </p:nvSpPr>
          <p:spPr bwMode="auto">
            <a:xfrm flipH="1" flipV="1">
              <a:off x="4251" y="8032"/>
              <a:ext cx="285" cy="228"/>
            </a:xfrm>
            <a:prstGeom prst="line">
              <a:avLst/>
            </a:prstGeom>
            <a:noFill/>
            <a:ln w="317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5329" name="Text Box 8">
              <a:extLst>
                <a:ext uri="{FF2B5EF4-FFF2-40B4-BE49-F238E27FC236}">
                  <a16:creationId xmlns:a16="http://schemas.microsoft.com/office/drawing/2014/main" id="{622E790E-A580-F34F-0D4D-0DDCF1C7DB6E}"/>
                </a:ext>
              </a:extLst>
            </p:cNvPr>
            <p:cNvSpPr txBox="1">
              <a:spLocks noChangeArrowheads="1"/>
            </p:cNvSpPr>
            <p:nvPr/>
          </p:nvSpPr>
          <p:spPr bwMode="auto">
            <a:xfrm>
              <a:off x="4422" y="8089"/>
              <a:ext cx="1838"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30" name="Line 7">
              <a:extLst>
                <a:ext uri="{FF2B5EF4-FFF2-40B4-BE49-F238E27FC236}">
                  <a16:creationId xmlns:a16="http://schemas.microsoft.com/office/drawing/2014/main" id="{9A154F0D-20B8-547A-8845-61437F71F8C5}"/>
                </a:ext>
              </a:extLst>
            </p:cNvPr>
            <p:cNvSpPr>
              <a:spLocks noChangeShapeType="1"/>
            </p:cNvSpPr>
            <p:nvPr/>
          </p:nvSpPr>
          <p:spPr bwMode="auto">
            <a:xfrm>
              <a:off x="7842" y="5239"/>
              <a:ext cx="171" cy="285"/>
            </a:xfrm>
            <a:prstGeom prst="line">
              <a:avLst/>
            </a:prstGeom>
            <a:noFill/>
            <a:ln w="3175">
              <a:solidFill>
                <a:srgbClr val="000000"/>
              </a:solidFill>
              <a:round/>
              <a:headEnd/>
              <a:tailEnd type="triangle" w="sm" len="lg"/>
            </a:ln>
            <a:extLst>
              <a:ext uri="{909E8E84-426E-40DD-AFC4-6F175D3DCCD1}">
                <a14:hiddenFill xmlns:a14="http://schemas.microsoft.com/office/drawing/2010/main">
                  <a:noFill/>
                </a14:hiddenFill>
              </a:ext>
            </a:extLst>
          </p:spPr>
          <p:txBody>
            <a:bodyPr/>
            <a:lstStyle/>
            <a:p>
              <a:endParaRPr lang="en-US"/>
            </a:p>
          </p:txBody>
        </p:sp>
        <p:sp>
          <p:nvSpPr>
            <p:cNvPr id="55331" name="Text Box 5">
              <a:extLst>
                <a:ext uri="{FF2B5EF4-FFF2-40B4-BE49-F238E27FC236}">
                  <a16:creationId xmlns:a16="http://schemas.microsoft.com/office/drawing/2014/main" id="{2A59E5EC-A222-2369-C4A0-D5339408DB00}"/>
                </a:ext>
              </a:extLst>
            </p:cNvPr>
            <p:cNvSpPr txBox="1">
              <a:spLocks noChangeArrowheads="1"/>
            </p:cNvSpPr>
            <p:nvPr/>
          </p:nvSpPr>
          <p:spPr bwMode="auto">
            <a:xfrm>
              <a:off x="6414" y="4726"/>
              <a:ext cx="1941" cy="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32" name="Text Box 4">
              <a:extLst>
                <a:ext uri="{FF2B5EF4-FFF2-40B4-BE49-F238E27FC236}">
                  <a16:creationId xmlns:a16="http://schemas.microsoft.com/office/drawing/2014/main" id="{419F7A46-B318-13FD-F3AB-8B063F5A1FB0}"/>
                </a:ext>
              </a:extLst>
            </p:cNvPr>
            <p:cNvSpPr txBox="1">
              <a:spLocks noChangeArrowheads="1"/>
            </p:cNvSpPr>
            <p:nvPr/>
          </p:nvSpPr>
          <p:spPr bwMode="auto">
            <a:xfrm>
              <a:off x="3681" y="4612"/>
              <a:ext cx="1995"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200">
                  <a:cs typeface="Times New Roman" panose="02020603050405020304" pitchFamily="18" charset="0"/>
                </a:rPr>
                <a:t>Cell temperature</a:t>
              </a:r>
              <a:endParaRPr lang="en-GB" altLang="en-US"/>
            </a:p>
          </p:txBody>
        </p:sp>
        <p:sp>
          <p:nvSpPr>
            <p:cNvPr id="55333" name="Text Box 3">
              <a:extLst>
                <a:ext uri="{FF2B5EF4-FFF2-40B4-BE49-F238E27FC236}">
                  <a16:creationId xmlns:a16="http://schemas.microsoft.com/office/drawing/2014/main" id="{2F817556-0B4B-5CC1-7E26-DC24E4B85239}"/>
                </a:ext>
              </a:extLst>
            </p:cNvPr>
            <p:cNvSpPr txBox="1">
              <a:spLocks noChangeArrowheads="1"/>
            </p:cNvSpPr>
            <p:nvPr/>
          </p:nvSpPr>
          <p:spPr bwMode="auto">
            <a:xfrm>
              <a:off x="7956" y="7462"/>
              <a:ext cx="1539" cy="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200">
                  <a:cs typeface="Times New Roman" panose="02020603050405020304" pitchFamily="18" charset="0"/>
                </a:rPr>
                <a:t>Heat amount</a:t>
              </a:r>
              <a:endParaRPr lang="en-GB" altLang="en-US"/>
            </a:p>
          </p:txBody>
        </p:sp>
        <p:sp>
          <p:nvSpPr>
            <p:cNvPr id="55334" name="Text Box 2">
              <a:extLst>
                <a:ext uri="{FF2B5EF4-FFF2-40B4-BE49-F238E27FC236}">
                  <a16:creationId xmlns:a16="http://schemas.microsoft.com/office/drawing/2014/main" id="{B6F29F59-34FD-37BF-030E-448028916594}"/>
                </a:ext>
              </a:extLst>
            </p:cNvPr>
            <p:cNvSpPr txBox="1">
              <a:spLocks noChangeArrowheads="1"/>
            </p:cNvSpPr>
            <p:nvPr/>
          </p:nvSpPr>
          <p:spPr bwMode="auto">
            <a:xfrm>
              <a:off x="2085" y="9466"/>
              <a:ext cx="7923" cy="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GB" altLang="en-US" sz="1200">
                  <a:cs typeface="Times New Roman" panose="02020603050405020304" pitchFamily="18" charset="0"/>
                </a:rPr>
                <a:t>Fig. 3.2. Cell temperature in the ice layer as a function of heat supply/release</a:t>
              </a:r>
              <a:endParaRPr lang="en-GB" altLang="en-US"/>
            </a:p>
          </p:txBody>
        </p:sp>
      </p:grpSp>
      <p:sp>
        <p:nvSpPr>
          <p:cNvPr id="55305" name="Rectangle 29">
            <a:extLst>
              <a:ext uri="{FF2B5EF4-FFF2-40B4-BE49-F238E27FC236}">
                <a16:creationId xmlns:a16="http://schemas.microsoft.com/office/drawing/2014/main" id="{19414399-6A5D-EB21-A6A2-1454273EAED2}"/>
              </a:ext>
            </a:extLst>
          </p:cNvPr>
          <p:cNvSpPr>
            <a:spLocks noChangeArrowheads="1"/>
          </p:cNvSpPr>
          <p:nvPr/>
        </p:nvSpPr>
        <p:spPr bwMode="auto">
          <a:xfrm>
            <a:off x="0" y="0"/>
            <a:ext cx="10691813"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06" name="Rectangle 30">
            <a:extLst>
              <a:ext uri="{FF2B5EF4-FFF2-40B4-BE49-F238E27FC236}">
                <a16:creationId xmlns:a16="http://schemas.microsoft.com/office/drawing/2014/main" id="{27FA3BE1-D4F6-5636-866D-94E3D811B9AD}"/>
              </a:ext>
            </a:extLst>
          </p:cNvPr>
          <p:cNvSpPr>
            <a:spLocks noChangeArrowheads="1"/>
          </p:cNvSpPr>
          <p:nvPr/>
        </p:nvSpPr>
        <p:spPr bwMode="auto">
          <a:xfrm>
            <a:off x="3657600" y="2727325"/>
            <a:ext cx="0" cy="0"/>
          </a:xfrm>
          <a:prstGeom prst="rect">
            <a:avLst/>
          </a:prstGeom>
          <a:solidFill>
            <a:srgbClr val="00B8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07" name="Rectangle 31">
            <a:extLst>
              <a:ext uri="{FF2B5EF4-FFF2-40B4-BE49-F238E27FC236}">
                <a16:creationId xmlns:a16="http://schemas.microsoft.com/office/drawing/2014/main" id="{5DBFD6DE-1E68-560E-BFD9-8D3614C526A9}"/>
              </a:ext>
            </a:extLst>
          </p:cNvPr>
          <p:cNvSpPr>
            <a:spLocks noChangeArrowheads="1"/>
          </p:cNvSpPr>
          <p:nvPr/>
        </p:nvSpPr>
        <p:spPr bwMode="auto">
          <a:xfrm>
            <a:off x="3657600" y="3003550"/>
            <a:ext cx="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08" name="Rectangle 32">
            <a:extLst>
              <a:ext uri="{FF2B5EF4-FFF2-40B4-BE49-F238E27FC236}">
                <a16:creationId xmlns:a16="http://schemas.microsoft.com/office/drawing/2014/main" id="{9D6B1A55-6014-40A9-C505-EF929FFD320A}"/>
              </a:ext>
            </a:extLst>
          </p:cNvPr>
          <p:cNvSpPr>
            <a:spLocks noChangeArrowheads="1"/>
          </p:cNvSpPr>
          <p:nvPr/>
        </p:nvSpPr>
        <p:spPr bwMode="auto">
          <a:xfrm>
            <a:off x="3657600" y="3660775"/>
            <a:ext cx="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09" name="Rectangle 33">
            <a:extLst>
              <a:ext uri="{FF2B5EF4-FFF2-40B4-BE49-F238E27FC236}">
                <a16:creationId xmlns:a16="http://schemas.microsoft.com/office/drawing/2014/main" id="{10A57DB0-5AAF-FCD5-742A-F410664E9542}"/>
              </a:ext>
            </a:extLst>
          </p:cNvPr>
          <p:cNvSpPr>
            <a:spLocks noChangeArrowheads="1"/>
          </p:cNvSpPr>
          <p:nvPr/>
        </p:nvSpPr>
        <p:spPr bwMode="auto">
          <a:xfrm>
            <a:off x="3657600" y="4318000"/>
            <a:ext cx="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10" name="Rectangle 34">
            <a:extLst>
              <a:ext uri="{FF2B5EF4-FFF2-40B4-BE49-F238E27FC236}">
                <a16:creationId xmlns:a16="http://schemas.microsoft.com/office/drawing/2014/main" id="{D5C01EC3-AFF6-9ECD-9AE4-0F2CE4DFE5ED}"/>
              </a:ext>
            </a:extLst>
          </p:cNvPr>
          <p:cNvSpPr>
            <a:spLocks noChangeArrowheads="1"/>
          </p:cNvSpPr>
          <p:nvPr/>
        </p:nvSpPr>
        <p:spPr bwMode="auto">
          <a:xfrm>
            <a:off x="3657600" y="5013325"/>
            <a:ext cx="0"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55311" name="Rectangle 38">
            <a:extLst>
              <a:ext uri="{FF2B5EF4-FFF2-40B4-BE49-F238E27FC236}">
                <a16:creationId xmlns:a16="http://schemas.microsoft.com/office/drawing/2014/main" id="{FB856291-12CF-BD49-B0FA-992E90B6AF89}"/>
              </a:ext>
            </a:extLst>
          </p:cNvPr>
          <p:cNvSpPr>
            <a:spLocks noChangeArrowheads="1"/>
          </p:cNvSpPr>
          <p:nvPr/>
        </p:nvSpPr>
        <p:spPr bwMode="auto">
          <a:xfrm>
            <a:off x="0" y="3438525"/>
            <a:ext cx="10691813" cy="45720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cxnSp>
        <p:nvCxnSpPr>
          <p:cNvPr id="55312" name="Straight Connector 22534">
            <a:extLst>
              <a:ext uri="{FF2B5EF4-FFF2-40B4-BE49-F238E27FC236}">
                <a16:creationId xmlns:a16="http://schemas.microsoft.com/office/drawing/2014/main" id="{B1C14FFB-AE99-23A8-B275-8D7A87934EFC}"/>
              </a:ext>
            </a:extLst>
          </p:cNvPr>
          <p:cNvCxnSpPr>
            <a:cxnSpLocks noChangeShapeType="1"/>
            <a:stCxn id="55318" idx="1"/>
          </p:cNvCxnSpPr>
          <p:nvPr/>
        </p:nvCxnSpPr>
        <p:spPr bwMode="auto">
          <a:xfrm flipH="1">
            <a:off x="4249738" y="3343275"/>
            <a:ext cx="1344612" cy="223838"/>
          </a:xfrm>
          <a:prstGeom prst="line">
            <a:avLst/>
          </a:prstGeom>
          <a:noFill/>
          <a:ln w="9525" algn="ctr">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533"/>
                                        </p:tgtEl>
                                        <p:attrNameLst>
                                          <p:attrName>style.visibility</p:attrName>
                                        </p:attrNameLst>
                                      </p:cBhvr>
                                      <p:to>
                                        <p:strVal val="visible"/>
                                      </p:to>
                                    </p:set>
                                    <p:animEffect transition="in" filter="dissolve">
                                      <p:cBhvr>
                                        <p:cTn id="7" dur="500"/>
                                        <p:tgtEl>
                                          <p:spTgt spid="22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1026">
            <a:extLst>
              <a:ext uri="{FF2B5EF4-FFF2-40B4-BE49-F238E27FC236}">
                <a16:creationId xmlns:a16="http://schemas.microsoft.com/office/drawing/2014/main" id="{A6BB9533-04BA-17B6-D4DD-8AE205096F59}"/>
              </a:ext>
            </a:extLst>
          </p:cNvPr>
          <p:cNvSpPr txBox="1">
            <a:spLocks noChangeArrowheads="1"/>
          </p:cNvSpPr>
          <p:nvPr/>
        </p:nvSpPr>
        <p:spPr bwMode="auto">
          <a:xfrm>
            <a:off x="534988" y="671513"/>
            <a:ext cx="8820150"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defRPr/>
            </a:pPr>
            <a:r>
              <a:rPr lang="en-GB" sz="3200" b="1" dirty="0">
                <a:solidFill>
                  <a:srgbClr val="000066"/>
                </a:solidFill>
                <a:latin typeface="+mj-lt"/>
              </a:rPr>
              <a:t>Objective of the anti-icing module</a:t>
            </a:r>
          </a:p>
        </p:txBody>
      </p:sp>
      <p:sp>
        <p:nvSpPr>
          <p:cNvPr id="14339" name="Text Box 1027">
            <a:extLst>
              <a:ext uri="{FF2B5EF4-FFF2-40B4-BE49-F238E27FC236}">
                <a16:creationId xmlns:a16="http://schemas.microsoft.com/office/drawing/2014/main" id="{9662D61B-BD5F-99CA-6178-28AD32396E8C}"/>
              </a:ext>
            </a:extLst>
          </p:cNvPr>
          <p:cNvSpPr txBox="1">
            <a:spLocks noChangeArrowheads="1"/>
          </p:cNvSpPr>
          <p:nvPr/>
        </p:nvSpPr>
        <p:spPr bwMode="auto">
          <a:xfrm>
            <a:off x="1068388" y="1511300"/>
            <a:ext cx="85979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defRPr/>
            </a:pPr>
            <a:r>
              <a:rPr lang="en-GB" dirty="0">
                <a:solidFill>
                  <a:srgbClr val="000066"/>
                </a:solidFill>
                <a:latin typeface="+mn-lt"/>
              </a:rPr>
              <a:t>Allows the user to perform the required tests in order to optimise the heater mat distribution in an anti-icing system</a:t>
            </a:r>
          </a:p>
        </p:txBody>
      </p:sp>
      <p:sp>
        <p:nvSpPr>
          <p:cNvPr id="14340" name="Text Box 1028">
            <a:extLst>
              <a:ext uri="{FF2B5EF4-FFF2-40B4-BE49-F238E27FC236}">
                <a16:creationId xmlns:a16="http://schemas.microsoft.com/office/drawing/2014/main" id="{1E0BA233-4E9A-B2EA-1E48-B8BD42B30A16}"/>
              </a:ext>
            </a:extLst>
          </p:cNvPr>
          <p:cNvSpPr txBox="1">
            <a:spLocks noChangeArrowheads="1"/>
          </p:cNvSpPr>
          <p:nvPr/>
        </p:nvSpPr>
        <p:spPr bwMode="auto">
          <a:xfrm>
            <a:off x="623888" y="3192463"/>
            <a:ext cx="57023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3200" b="1">
                <a:solidFill>
                  <a:srgbClr val="000066"/>
                </a:solidFill>
              </a:rPr>
              <a:t>Main features</a:t>
            </a:r>
          </a:p>
        </p:txBody>
      </p:sp>
      <p:sp>
        <p:nvSpPr>
          <p:cNvPr id="14341" name="Text Box 1029">
            <a:extLst>
              <a:ext uri="{FF2B5EF4-FFF2-40B4-BE49-F238E27FC236}">
                <a16:creationId xmlns:a16="http://schemas.microsoft.com/office/drawing/2014/main" id="{EFB45A4F-EF1C-6FA2-892C-C21962804A3A}"/>
              </a:ext>
            </a:extLst>
          </p:cNvPr>
          <p:cNvSpPr txBox="1">
            <a:spLocks noChangeArrowheads="1"/>
          </p:cNvSpPr>
          <p:nvPr/>
        </p:nvSpPr>
        <p:spPr bwMode="auto">
          <a:xfrm>
            <a:off x="623888" y="4116388"/>
            <a:ext cx="8375650" cy="84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buFontTx/>
              <a:buChar char="•"/>
            </a:pPr>
            <a:r>
              <a:rPr lang="en-GB" altLang="en-US"/>
              <a:t> </a:t>
            </a:r>
            <a:r>
              <a:rPr lang="en-GB" altLang="en-US">
                <a:solidFill>
                  <a:srgbClr val="000066"/>
                </a:solidFill>
              </a:rPr>
              <a:t>Heat conduction in the substrate is coupled to the flow and evaporation of the water film</a:t>
            </a:r>
          </a:p>
        </p:txBody>
      </p:sp>
      <p:sp>
        <p:nvSpPr>
          <p:cNvPr id="14342" name="Text Box 1030">
            <a:extLst>
              <a:ext uri="{FF2B5EF4-FFF2-40B4-BE49-F238E27FC236}">
                <a16:creationId xmlns:a16="http://schemas.microsoft.com/office/drawing/2014/main" id="{D3B707A8-8088-CC03-A615-7C8EC364992C}"/>
              </a:ext>
            </a:extLst>
          </p:cNvPr>
          <p:cNvSpPr txBox="1">
            <a:spLocks noChangeArrowheads="1"/>
          </p:cNvSpPr>
          <p:nvPr/>
        </p:nvSpPr>
        <p:spPr bwMode="auto">
          <a:xfrm>
            <a:off x="623888" y="5291138"/>
            <a:ext cx="8375650"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buFontTx/>
              <a:buChar char="•"/>
            </a:pPr>
            <a:r>
              <a:rPr lang="en-GB" altLang="en-US"/>
              <a:t> </a:t>
            </a:r>
            <a:r>
              <a:rPr lang="en-GB" altLang="en-US">
                <a:solidFill>
                  <a:srgbClr val="000066"/>
                </a:solidFill>
              </a:rPr>
              <a:t>Explicit integration with respect to time is used</a:t>
            </a:r>
          </a:p>
        </p:txBody>
      </p:sp>
      <p:sp>
        <p:nvSpPr>
          <p:cNvPr id="14344" name="Text Box 1032">
            <a:extLst>
              <a:ext uri="{FF2B5EF4-FFF2-40B4-BE49-F238E27FC236}">
                <a16:creationId xmlns:a16="http://schemas.microsoft.com/office/drawing/2014/main" id="{B1696E23-449F-4368-E909-BF33A89E57F6}"/>
              </a:ext>
            </a:extLst>
          </p:cNvPr>
          <p:cNvSpPr txBox="1">
            <a:spLocks noChangeArrowheads="1"/>
          </p:cNvSpPr>
          <p:nvPr/>
        </p:nvSpPr>
        <p:spPr bwMode="auto">
          <a:xfrm>
            <a:off x="623888" y="6132513"/>
            <a:ext cx="8375650" cy="84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buFontTx/>
              <a:buChar char="•"/>
            </a:pPr>
            <a:r>
              <a:rPr lang="en-GB" altLang="en-US"/>
              <a:t> </a:t>
            </a:r>
            <a:r>
              <a:rPr lang="en-GB" altLang="en-US">
                <a:solidFill>
                  <a:srgbClr val="000066"/>
                </a:solidFill>
              </a:rPr>
              <a:t>Temperature in the substrate can be updated at intervals of several time steps of the film flow calculation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dissolve">
                                      <p:cBhvr>
                                        <p:cTn id="7" dur="500"/>
                                        <p:tgtEl>
                                          <p:spTgt spid="143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339"/>
                                        </p:tgtEl>
                                        <p:attrNameLst>
                                          <p:attrName>style.visibility</p:attrName>
                                        </p:attrNameLst>
                                      </p:cBhvr>
                                      <p:to>
                                        <p:strVal val="visible"/>
                                      </p:to>
                                    </p:set>
                                    <p:animEffect transition="in" filter="dissolve">
                                      <p:cBhvr>
                                        <p:cTn id="12" dur="500"/>
                                        <p:tgtEl>
                                          <p:spTgt spid="143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340"/>
                                        </p:tgtEl>
                                        <p:attrNameLst>
                                          <p:attrName>style.visibility</p:attrName>
                                        </p:attrNameLst>
                                      </p:cBhvr>
                                      <p:to>
                                        <p:strVal val="visible"/>
                                      </p:to>
                                    </p:set>
                                    <p:animEffect transition="in" filter="dissolve">
                                      <p:cBhvr>
                                        <p:cTn id="17" dur="500"/>
                                        <p:tgtEl>
                                          <p:spTgt spid="143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341"/>
                                        </p:tgtEl>
                                        <p:attrNameLst>
                                          <p:attrName>style.visibility</p:attrName>
                                        </p:attrNameLst>
                                      </p:cBhvr>
                                      <p:to>
                                        <p:strVal val="visible"/>
                                      </p:to>
                                    </p:set>
                                    <p:animEffect transition="in" filter="dissolve">
                                      <p:cBhvr>
                                        <p:cTn id="22" dur="500"/>
                                        <p:tgtEl>
                                          <p:spTgt spid="1434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342"/>
                                        </p:tgtEl>
                                        <p:attrNameLst>
                                          <p:attrName>style.visibility</p:attrName>
                                        </p:attrNameLst>
                                      </p:cBhvr>
                                      <p:to>
                                        <p:strVal val="visible"/>
                                      </p:to>
                                    </p:set>
                                    <p:animEffect transition="in" filter="dissolve">
                                      <p:cBhvr>
                                        <p:cTn id="27" dur="500"/>
                                        <p:tgtEl>
                                          <p:spTgt spid="1434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4344"/>
                                        </p:tgtEl>
                                        <p:attrNameLst>
                                          <p:attrName>style.visibility</p:attrName>
                                        </p:attrNameLst>
                                      </p:cBhvr>
                                      <p:to>
                                        <p:strVal val="visible"/>
                                      </p:to>
                                    </p:set>
                                    <p:animEffect transition="in" filter="dissolve">
                                      <p:cBhvr>
                                        <p:cTn id="32" dur="500"/>
                                        <p:tgtEl>
                                          <p:spTgt spid="143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autoUpdateAnimBg="0"/>
      <p:bldP spid="14339" grpId="0" autoUpdateAnimBg="0"/>
      <p:bldP spid="14340" grpId="0" autoUpdateAnimBg="0"/>
      <p:bldP spid="14341" grpId="0" autoUpdateAnimBg="0"/>
      <p:bldP spid="14342" grpId="0" autoUpdateAnimBg="0"/>
      <p:bldP spid="14344"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1027">
            <a:extLst>
              <a:ext uri="{FF2B5EF4-FFF2-40B4-BE49-F238E27FC236}">
                <a16:creationId xmlns:a16="http://schemas.microsoft.com/office/drawing/2014/main" id="{68F22BD2-AEF1-A425-4D1A-5DC07F841C3A}"/>
              </a:ext>
            </a:extLst>
          </p:cNvPr>
          <p:cNvSpPr txBox="1">
            <a:spLocks noChangeArrowheads="1"/>
          </p:cNvSpPr>
          <p:nvPr/>
        </p:nvSpPr>
        <p:spPr bwMode="auto">
          <a:xfrm>
            <a:off x="728663" y="2609850"/>
            <a:ext cx="8864600" cy="290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buFontTx/>
              <a:buChar char="•"/>
              <a:defRPr/>
            </a:pPr>
            <a:r>
              <a:rPr lang="en-GB" sz="2800" dirty="0">
                <a:latin typeface="+mn-lt"/>
              </a:rPr>
              <a:t> </a:t>
            </a:r>
            <a:r>
              <a:rPr lang="en-GB" sz="2800" dirty="0">
                <a:solidFill>
                  <a:srgbClr val="000066"/>
                </a:solidFill>
                <a:latin typeface="+mn-lt"/>
              </a:rPr>
              <a:t>There are two possibilities for the modelling of  heat input from the anti-icing equipment:</a:t>
            </a:r>
          </a:p>
          <a:p>
            <a:pPr eaLnBrk="1" hangingPunct="1">
              <a:spcBef>
                <a:spcPct val="50000"/>
              </a:spcBef>
              <a:defRPr/>
            </a:pPr>
            <a:r>
              <a:rPr lang="en-GB" sz="2800" dirty="0">
                <a:solidFill>
                  <a:srgbClr val="000066"/>
                </a:solidFill>
                <a:latin typeface="+mn-lt"/>
              </a:rPr>
              <a:t>	- prescribed heat flux (kW/m</a:t>
            </a:r>
            <a:r>
              <a:rPr lang="en-GB" sz="2800" baseline="30000" dirty="0">
                <a:solidFill>
                  <a:srgbClr val="000066"/>
                </a:solidFill>
                <a:latin typeface="+mn-lt"/>
              </a:rPr>
              <a:t>2</a:t>
            </a:r>
            <a:r>
              <a:rPr lang="en-GB" sz="2800" dirty="0">
                <a:solidFill>
                  <a:srgbClr val="000066"/>
                </a:solidFill>
                <a:latin typeface="+mn-lt"/>
              </a:rPr>
              <a:t>)</a:t>
            </a:r>
          </a:p>
          <a:p>
            <a:pPr eaLnBrk="1" hangingPunct="1">
              <a:spcBef>
                <a:spcPct val="50000"/>
              </a:spcBef>
              <a:defRPr/>
            </a:pPr>
            <a:r>
              <a:rPr lang="en-GB" sz="2800" dirty="0">
                <a:solidFill>
                  <a:srgbClr val="000066"/>
                </a:solidFill>
                <a:latin typeface="+mn-lt"/>
              </a:rPr>
              <a:t>	- convection with hot air </a:t>
            </a:r>
          </a:p>
          <a:p>
            <a:pPr eaLnBrk="1" hangingPunct="1">
              <a:spcBef>
                <a:spcPct val="50000"/>
              </a:spcBef>
              <a:defRPr/>
            </a:pPr>
            <a:r>
              <a:rPr lang="en-GB" sz="2800" dirty="0">
                <a:solidFill>
                  <a:srgbClr val="000066"/>
                </a:solidFill>
                <a:latin typeface="+mn-lt"/>
              </a:rPr>
              <a:t>	(air temperature + heat transfer coefficient)</a:t>
            </a:r>
            <a:endParaRPr lang="en-GB" sz="2800" baseline="30000" dirty="0">
              <a:solidFill>
                <a:srgbClr val="000066"/>
              </a:solidFill>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363"/>
                                        </p:tgtEl>
                                        <p:attrNameLst>
                                          <p:attrName>style.visibility</p:attrName>
                                        </p:attrNameLst>
                                      </p:cBhvr>
                                      <p:to>
                                        <p:strVal val="visible"/>
                                      </p:to>
                                    </p:set>
                                    <p:animEffect transition="in" filter="dissolve">
                                      <p:cBhvr>
                                        <p:cTn id="7" dur="500"/>
                                        <p:tgtEl>
                                          <p:spTgt spid="15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a:extLst>
              <a:ext uri="{FF2B5EF4-FFF2-40B4-BE49-F238E27FC236}">
                <a16:creationId xmlns:a16="http://schemas.microsoft.com/office/drawing/2014/main" id="{7E87752E-EBBE-F459-A6E5-1DBC52904B97}"/>
              </a:ext>
            </a:extLst>
          </p:cNvPr>
          <p:cNvGrpSpPr>
            <a:grpSpLocks/>
          </p:cNvGrpSpPr>
          <p:nvPr/>
        </p:nvGrpSpPr>
        <p:grpSpPr bwMode="auto">
          <a:xfrm>
            <a:off x="765175" y="1892300"/>
            <a:ext cx="9183688" cy="2493963"/>
            <a:chOff x="477" y="2625"/>
            <a:chExt cx="4947" cy="1425"/>
          </a:xfrm>
        </p:grpSpPr>
        <p:sp>
          <p:nvSpPr>
            <p:cNvPr id="58375" name="Text Box 4">
              <a:extLst>
                <a:ext uri="{FF2B5EF4-FFF2-40B4-BE49-F238E27FC236}">
                  <a16:creationId xmlns:a16="http://schemas.microsoft.com/office/drawing/2014/main" id="{518FAC3C-9F23-8C3C-0235-13EEBD8469F2}"/>
                </a:ext>
              </a:extLst>
            </p:cNvPr>
            <p:cNvSpPr txBox="1">
              <a:spLocks noChangeArrowheads="1"/>
            </p:cNvSpPr>
            <p:nvPr/>
          </p:nvSpPr>
          <p:spPr bwMode="auto">
            <a:xfrm>
              <a:off x="477" y="2625"/>
              <a:ext cx="4512" cy="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buFontTx/>
                <a:buChar char="•"/>
              </a:pPr>
              <a:r>
                <a:rPr lang="en-GB" altLang="en-US"/>
                <a:t> </a:t>
              </a:r>
              <a:r>
                <a:rPr lang="en-GB" altLang="en-US">
                  <a:solidFill>
                    <a:srgbClr val="000066"/>
                  </a:solidFill>
                </a:rPr>
                <a:t>On the top surface of the substrate boundary conditions depend on the wettedness factor </a:t>
              </a:r>
              <a:r>
                <a:rPr lang="en-GB" altLang="en-US" i="1">
                  <a:solidFill>
                    <a:srgbClr val="000066"/>
                  </a:solidFill>
                </a:rPr>
                <a:t>w</a:t>
              </a:r>
              <a:r>
                <a:rPr lang="en-GB" altLang="en-US" i="1" baseline="-25000">
                  <a:solidFill>
                    <a:srgbClr val="000066"/>
                  </a:solidFill>
                </a:rPr>
                <a:t>f</a:t>
              </a:r>
            </a:p>
            <a:p>
              <a:pPr eaLnBrk="1" hangingPunct="1">
                <a:spcBef>
                  <a:spcPct val="50000"/>
                </a:spcBef>
              </a:pPr>
              <a:r>
                <a:rPr lang="en-GB" altLang="en-US" b="1">
                  <a:solidFill>
                    <a:srgbClr val="000066"/>
                  </a:solidFill>
                </a:rPr>
                <a:t>	- </a:t>
              </a:r>
              <a:r>
                <a:rPr lang="en-GB" altLang="en-US">
                  <a:solidFill>
                    <a:srgbClr val="000066"/>
                  </a:solidFill>
                </a:rPr>
                <a:t>wet region under impingement  </a:t>
              </a:r>
            </a:p>
            <a:p>
              <a:pPr eaLnBrk="1" hangingPunct="1">
                <a:spcBef>
                  <a:spcPct val="50000"/>
                </a:spcBef>
              </a:pPr>
              <a:r>
                <a:rPr lang="en-GB" altLang="en-US" b="1">
                  <a:solidFill>
                    <a:srgbClr val="000066"/>
                  </a:solidFill>
                </a:rPr>
                <a:t>	- </a:t>
              </a:r>
              <a:r>
                <a:rPr lang="en-GB" altLang="en-US">
                  <a:solidFill>
                    <a:srgbClr val="000066"/>
                  </a:solidFill>
                </a:rPr>
                <a:t>wet region, no impingement </a:t>
              </a:r>
            </a:p>
            <a:p>
              <a:pPr eaLnBrk="1" hangingPunct="1">
                <a:spcBef>
                  <a:spcPct val="50000"/>
                </a:spcBef>
              </a:pPr>
              <a:r>
                <a:rPr lang="en-GB" altLang="en-US">
                  <a:solidFill>
                    <a:srgbClr val="000066"/>
                  </a:solidFill>
                </a:rPr>
                <a:t>	- dry region </a:t>
              </a:r>
            </a:p>
          </p:txBody>
        </p:sp>
        <p:grpSp>
          <p:nvGrpSpPr>
            <p:cNvPr id="58376" name="Group 5">
              <a:extLst>
                <a:ext uri="{FF2B5EF4-FFF2-40B4-BE49-F238E27FC236}">
                  <a16:creationId xmlns:a16="http://schemas.microsoft.com/office/drawing/2014/main" id="{F39A2623-113B-27CD-9787-3B635B43BF7A}"/>
                </a:ext>
              </a:extLst>
            </p:cNvPr>
            <p:cNvGrpSpPr>
              <a:grpSpLocks/>
            </p:cNvGrpSpPr>
            <p:nvPr/>
          </p:nvGrpSpPr>
          <p:grpSpPr bwMode="auto">
            <a:xfrm>
              <a:off x="3792" y="2713"/>
              <a:ext cx="1296" cy="359"/>
              <a:chOff x="2880" y="2688"/>
              <a:chExt cx="1296" cy="359"/>
            </a:xfrm>
          </p:grpSpPr>
          <p:sp>
            <p:nvSpPr>
              <p:cNvPr id="58383" name="Line 6">
                <a:extLst>
                  <a:ext uri="{FF2B5EF4-FFF2-40B4-BE49-F238E27FC236}">
                    <a16:creationId xmlns:a16="http://schemas.microsoft.com/office/drawing/2014/main" id="{0B60A766-A037-5007-6B69-283AE910BD81}"/>
                  </a:ext>
                </a:extLst>
              </p:cNvPr>
              <p:cNvSpPr>
                <a:spLocks noChangeShapeType="1"/>
              </p:cNvSpPr>
              <p:nvPr/>
            </p:nvSpPr>
            <p:spPr bwMode="auto">
              <a:xfrm>
                <a:off x="2880" y="2880"/>
                <a:ext cx="528" cy="0"/>
              </a:xfrm>
              <a:prstGeom prst="line">
                <a:avLst/>
              </a:prstGeom>
              <a:noFill/>
              <a:ln w="952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58384" name="Object 7">
                <a:extLst>
                  <a:ext uri="{FF2B5EF4-FFF2-40B4-BE49-F238E27FC236}">
                    <a16:creationId xmlns:a16="http://schemas.microsoft.com/office/drawing/2014/main" id="{00FEB0FF-A963-1520-7E00-9854F7A425A2}"/>
                  </a:ext>
                </a:extLst>
              </p:cNvPr>
              <p:cNvGraphicFramePr>
                <a:graphicFrameLocks noChangeAspect="1"/>
              </p:cNvGraphicFramePr>
              <p:nvPr/>
            </p:nvGraphicFramePr>
            <p:xfrm>
              <a:off x="3552" y="2688"/>
              <a:ext cx="624" cy="359"/>
            </p:xfrm>
            <a:graphic>
              <a:graphicData uri="http://schemas.openxmlformats.org/presentationml/2006/ole">
                <mc:AlternateContent xmlns:mc="http://schemas.openxmlformats.org/markup-compatibility/2006">
                  <mc:Choice xmlns:v="urn:schemas-microsoft-com:vml" Requires="v">
                    <p:oleObj name="Equation" r:id="rId3" imgW="9652000" imgH="5562600" progId="Equation.DSMT4">
                      <p:embed/>
                    </p:oleObj>
                  </mc:Choice>
                  <mc:Fallback>
                    <p:oleObj name="Equation" r:id="rId3" imgW="9652000" imgH="556260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2" y="2688"/>
                            <a:ext cx="624" cy="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8377" name="Group 8">
              <a:extLst>
                <a:ext uri="{FF2B5EF4-FFF2-40B4-BE49-F238E27FC236}">
                  <a16:creationId xmlns:a16="http://schemas.microsoft.com/office/drawing/2014/main" id="{5D3582BA-D670-8E91-CBA7-CAD21AB879A0}"/>
                </a:ext>
              </a:extLst>
            </p:cNvPr>
            <p:cNvGrpSpPr>
              <a:grpSpLocks/>
            </p:cNvGrpSpPr>
            <p:nvPr/>
          </p:nvGrpSpPr>
          <p:grpSpPr bwMode="auto">
            <a:xfrm>
              <a:off x="3792" y="3049"/>
              <a:ext cx="1632" cy="359"/>
              <a:chOff x="2880" y="3049"/>
              <a:chExt cx="1632" cy="359"/>
            </a:xfrm>
          </p:grpSpPr>
          <p:sp>
            <p:nvSpPr>
              <p:cNvPr id="58381" name="Line 9">
                <a:extLst>
                  <a:ext uri="{FF2B5EF4-FFF2-40B4-BE49-F238E27FC236}">
                    <a16:creationId xmlns:a16="http://schemas.microsoft.com/office/drawing/2014/main" id="{24EF5501-9DB1-4EF9-3269-12875090A6C5}"/>
                  </a:ext>
                </a:extLst>
              </p:cNvPr>
              <p:cNvSpPr>
                <a:spLocks noChangeShapeType="1"/>
              </p:cNvSpPr>
              <p:nvPr/>
            </p:nvSpPr>
            <p:spPr bwMode="auto">
              <a:xfrm>
                <a:off x="2880" y="3216"/>
                <a:ext cx="528" cy="0"/>
              </a:xfrm>
              <a:prstGeom prst="line">
                <a:avLst/>
              </a:prstGeom>
              <a:noFill/>
              <a:ln w="952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58382" name="Object 10">
                <a:extLst>
                  <a:ext uri="{FF2B5EF4-FFF2-40B4-BE49-F238E27FC236}">
                    <a16:creationId xmlns:a16="http://schemas.microsoft.com/office/drawing/2014/main" id="{A6B97A3C-5478-7327-19BF-2E827CDB6DE6}"/>
                  </a:ext>
                </a:extLst>
              </p:cNvPr>
              <p:cNvGraphicFramePr>
                <a:graphicFrameLocks noChangeAspect="1"/>
              </p:cNvGraphicFramePr>
              <p:nvPr/>
            </p:nvGraphicFramePr>
            <p:xfrm>
              <a:off x="3547" y="3049"/>
              <a:ext cx="965" cy="359"/>
            </p:xfrm>
            <a:graphic>
              <a:graphicData uri="http://schemas.openxmlformats.org/presentationml/2006/ole">
                <mc:AlternateContent xmlns:mc="http://schemas.openxmlformats.org/markup-compatibility/2006">
                  <mc:Choice xmlns:v="urn:schemas-microsoft-com:vml" Requires="v">
                    <p:oleObj name="Equation" r:id="rId5" imgW="14922500" imgH="5562600" progId="Equation.DSMT4">
                      <p:embed/>
                    </p:oleObj>
                  </mc:Choice>
                  <mc:Fallback>
                    <p:oleObj name="Equation" r:id="rId5" imgW="14922500" imgH="556260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47" y="3049"/>
                            <a:ext cx="965" cy="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8378" name="Group 11">
              <a:extLst>
                <a:ext uri="{FF2B5EF4-FFF2-40B4-BE49-F238E27FC236}">
                  <a16:creationId xmlns:a16="http://schemas.microsoft.com/office/drawing/2014/main" id="{4C6AA776-288A-D720-14DD-C0869358D7D7}"/>
                </a:ext>
              </a:extLst>
            </p:cNvPr>
            <p:cNvGrpSpPr>
              <a:grpSpLocks/>
            </p:cNvGrpSpPr>
            <p:nvPr/>
          </p:nvGrpSpPr>
          <p:grpSpPr bwMode="auto">
            <a:xfrm>
              <a:off x="3792" y="3337"/>
              <a:ext cx="1315" cy="359"/>
              <a:chOff x="3792" y="3337"/>
              <a:chExt cx="1315" cy="359"/>
            </a:xfrm>
          </p:grpSpPr>
          <p:sp>
            <p:nvSpPr>
              <p:cNvPr id="58379" name="Line 12">
                <a:extLst>
                  <a:ext uri="{FF2B5EF4-FFF2-40B4-BE49-F238E27FC236}">
                    <a16:creationId xmlns:a16="http://schemas.microsoft.com/office/drawing/2014/main" id="{A3C18F12-0D75-DFC9-909F-E45628B4E67B}"/>
                  </a:ext>
                </a:extLst>
              </p:cNvPr>
              <p:cNvSpPr>
                <a:spLocks noChangeShapeType="1"/>
              </p:cNvSpPr>
              <p:nvPr/>
            </p:nvSpPr>
            <p:spPr bwMode="auto">
              <a:xfrm>
                <a:off x="3792" y="3529"/>
                <a:ext cx="528" cy="0"/>
              </a:xfrm>
              <a:prstGeom prst="line">
                <a:avLst/>
              </a:prstGeom>
              <a:noFill/>
              <a:ln w="9525">
                <a:solidFill>
                  <a:srgbClr val="000066"/>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58380" name="Object 13">
                <a:extLst>
                  <a:ext uri="{FF2B5EF4-FFF2-40B4-BE49-F238E27FC236}">
                    <a16:creationId xmlns:a16="http://schemas.microsoft.com/office/drawing/2014/main" id="{91DD69CE-C36A-F1F2-9D43-42C9FD3AE444}"/>
                  </a:ext>
                </a:extLst>
              </p:cNvPr>
              <p:cNvGraphicFramePr>
                <a:graphicFrameLocks noChangeAspect="1"/>
              </p:cNvGraphicFramePr>
              <p:nvPr/>
            </p:nvGraphicFramePr>
            <p:xfrm>
              <a:off x="4445" y="3337"/>
              <a:ext cx="662" cy="359"/>
            </p:xfrm>
            <a:graphic>
              <a:graphicData uri="http://schemas.openxmlformats.org/presentationml/2006/ole">
                <mc:AlternateContent xmlns:mc="http://schemas.openxmlformats.org/markup-compatibility/2006">
                  <mc:Choice xmlns:v="urn:schemas-microsoft-com:vml" Requires="v">
                    <p:oleObj name="Equation" r:id="rId7" imgW="10236200" imgH="5562600" progId="Equation.DSMT4">
                      <p:embed/>
                    </p:oleObj>
                  </mc:Choice>
                  <mc:Fallback>
                    <p:oleObj name="Equation" r:id="rId7" imgW="10236200" imgH="5562600" progId="Equation.DSMT4">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45" y="3337"/>
                            <a:ext cx="662" cy="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6" name="Group 16">
            <a:extLst>
              <a:ext uri="{FF2B5EF4-FFF2-40B4-BE49-F238E27FC236}">
                <a16:creationId xmlns:a16="http://schemas.microsoft.com/office/drawing/2014/main" id="{A95F866E-69D0-367D-00B6-EF3795E5C64E}"/>
              </a:ext>
            </a:extLst>
          </p:cNvPr>
          <p:cNvGrpSpPr>
            <a:grpSpLocks/>
          </p:cNvGrpSpPr>
          <p:nvPr/>
        </p:nvGrpSpPr>
        <p:grpSpPr bwMode="auto">
          <a:xfrm>
            <a:off x="635000" y="4949825"/>
            <a:ext cx="9444038" cy="1301750"/>
            <a:chOff x="432" y="2112"/>
            <a:chExt cx="5088" cy="744"/>
          </a:xfrm>
        </p:grpSpPr>
        <p:sp>
          <p:nvSpPr>
            <p:cNvPr id="58373" name="Text Box 14">
              <a:extLst>
                <a:ext uri="{FF2B5EF4-FFF2-40B4-BE49-F238E27FC236}">
                  <a16:creationId xmlns:a16="http://schemas.microsoft.com/office/drawing/2014/main" id="{246DC87D-BEAC-C706-00FB-84E287702D6F}"/>
                </a:ext>
              </a:extLst>
            </p:cNvPr>
            <p:cNvSpPr txBox="1">
              <a:spLocks noChangeArrowheads="1"/>
            </p:cNvSpPr>
            <p:nvPr/>
          </p:nvSpPr>
          <p:spPr bwMode="auto">
            <a:xfrm>
              <a:off x="432" y="2112"/>
              <a:ext cx="5088" cy="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a:solidFill>
                    <a:srgbClr val="000066"/>
                  </a:solidFill>
                </a:rPr>
                <a:t>Heat balance at the surface of  the substrate:</a:t>
              </a:r>
            </a:p>
          </p:txBody>
        </p:sp>
        <p:graphicFrame>
          <p:nvGraphicFramePr>
            <p:cNvPr id="58374" name="Object 15">
              <a:extLst>
                <a:ext uri="{FF2B5EF4-FFF2-40B4-BE49-F238E27FC236}">
                  <a16:creationId xmlns:a16="http://schemas.microsoft.com/office/drawing/2014/main" id="{43FF5564-C82F-9925-2BF2-3ACBD733B889}"/>
                </a:ext>
              </a:extLst>
            </p:cNvPr>
            <p:cNvGraphicFramePr>
              <a:graphicFrameLocks noChangeAspect="1"/>
            </p:cNvGraphicFramePr>
            <p:nvPr/>
          </p:nvGraphicFramePr>
          <p:xfrm>
            <a:off x="480" y="2496"/>
            <a:ext cx="4656" cy="360"/>
          </p:xfrm>
          <a:graphic>
            <a:graphicData uri="http://schemas.openxmlformats.org/presentationml/2006/ole">
              <mc:AlternateContent xmlns:mc="http://schemas.openxmlformats.org/markup-compatibility/2006">
                <mc:Choice xmlns:v="urn:schemas-microsoft-com:vml" Requires="v">
                  <p:oleObj name="Equation" r:id="rId9" imgW="71970900" imgH="5562600" progId="Equation.DSMT4">
                    <p:embed/>
                  </p:oleObj>
                </mc:Choice>
                <mc:Fallback>
                  <p:oleObj name="Equation" r:id="rId9" imgW="71970900" imgH="5562600" progId="Equation.DSMT4">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0" y="2496"/>
                          <a:ext cx="4656"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 name="TextBox 2">
            <a:extLst>
              <a:ext uri="{FF2B5EF4-FFF2-40B4-BE49-F238E27FC236}">
                <a16:creationId xmlns:a16="http://schemas.microsoft.com/office/drawing/2014/main" id="{0037DA2F-08E3-22C4-7FB2-A048C6C6688E}"/>
              </a:ext>
            </a:extLst>
          </p:cNvPr>
          <p:cNvSpPr txBox="1"/>
          <p:nvPr/>
        </p:nvSpPr>
        <p:spPr>
          <a:xfrm>
            <a:off x="723900" y="630238"/>
            <a:ext cx="4627563" cy="584200"/>
          </a:xfrm>
          <a:prstGeom prst="rect">
            <a:avLst/>
          </a:prstGeom>
          <a:noFill/>
        </p:spPr>
        <p:txBody>
          <a:bodyPr wrap="none">
            <a:spAutoFit/>
          </a:bodyPr>
          <a:lstStyle/>
          <a:p>
            <a:pPr>
              <a:defRPr/>
            </a:pPr>
            <a:r>
              <a:rPr lang="en-GB" sz="3200" dirty="0">
                <a:latin typeface="+mj-lt"/>
              </a:rPr>
              <a:t>Partially wetted surfaces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1026">
            <a:extLst>
              <a:ext uri="{FF2B5EF4-FFF2-40B4-BE49-F238E27FC236}">
                <a16:creationId xmlns:a16="http://schemas.microsoft.com/office/drawing/2014/main" id="{86E65F0A-55BA-5ECA-DEB4-0EFB41A0A16E}"/>
              </a:ext>
            </a:extLst>
          </p:cNvPr>
          <p:cNvSpPr txBox="1">
            <a:spLocks noChangeArrowheads="1"/>
          </p:cNvSpPr>
          <p:nvPr/>
        </p:nvSpPr>
        <p:spPr bwMode="auto">
          <a:xfrm>
            <a:off x="712788" y="587375"/>
            <a:ext cx="8375650" cy="30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buFontTx/>
              <a:buChar char="•"/>
            </a:pPr>
            <a:r>
              <a:rPr lang="en-GB" altLang="en-US"/>
              <a:t> </a:t>
            </a:r>
            <a:r>
              <a:rPr lang="en-GB" altLang="en-US">
                <a:solidFill>
                  <a:srgbClr val="000066"/>
                </a:solidFill>
              </a:rPr>
              <a:t>Two approaches are available for the integration of the transient heat conduction in the system substrate-water film</a:t>
            </a:r>
          </a:p>
          <a:p>
            <a:pPr eaLnBrk="1" hangingPunct="1">
              <a:spcBef>
                <a:spcPct val="50000"/>
              </a:spcBef>
            </a:pPr>
            <a:r>
              <a:rPr lang="en-GB" altLang="en-US">
                <a:solidFill>
                  <a:srgbClr val="000066"/>
                </a:solidFill>
              </a:rPr>
              <a:t>- Semi-analytical: </a:t>
            </a:r>
          </a:p>
          <a:p>
            <a:pPr eaLnBrk="1" hangingPunct="1">
              <a:spcBef>
                <a:spcPct val="50000"/>
              </a:spcBef>
            </a:pPr>
            <a:r>
              <a:rPr lang="en-GB" altLang="en-US">
                <a:solidFill>
                  <a:srgbClr val="000066"/>
                </a:solidFill>
              </a:rPr>
              <a:t>	ignores convection of heat by the film flow</a:t>
            </a:r>
          </a:p>
          <a:p>
            <a:pPr eaLnBrk="1" hangingPunct="1">
              <a:spcBef>
                <a:spcPct val="50000"/>
              </a:spcBef>
              <a:buFontTx/>
              <a:buChar char="-"/>
            </a:pPr>
            <a:r>
              <a:rPr lang="en-GB" altLang="en-US">
                <a:solidFill>
                  <a:srgbClr val="000066"/>
                </a:solidFill>
              </a:rPr>
              <a:t>Discretisation of the water film:</a:t>
            </a:r>
          </a:p>
          <a:p>
            <a:pPr eaLnBrk="1" hangingPunct="1">
              <a:spcBef>
                <a:spcPct val="50000"/>
              </a:spcBef>
            </a:pPr>
            <a:r>
              <a:rPr lang="en-GB" altLang="en-US">
                <a:solidFill>
                  <a:srgbClr val="000066"/>
                </a:solidFill>
              </a:rPr>
              <a:t>	convection taken into account (more time-	consuming)</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a:extLst>
              <a:ext uri="{FF2B5EF4-FFF2-40B4-BE49-F238E27FC236}">
                <a16:creationId xmlns:a16="http://schemas.microsoft.com/office/drawing/2014/main" id="{826FC972-B458-FD7E-0CCD-9519DE3FAD36}"/>
              </a:ext>
            </a:extLst>
          </p:cNvPr>
          <p:cNvSpPr txBox="1">
            <a:spLocks noChangeArrowheads="1"/>
          </p:cNvSpPr>
          <p:nvPr/>
        </p:nvSpPr>
        <p:spPr bwMode="auto">
          <a:xfrm>
            <a:off x="623888" y="1765300"/>
            <a:ext cx="8375650" cy="268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buFontTx/>
              <a:buChar char="•"/>
            </a:pPr>
            <a:r>
              <a:rPr lang="en-GB" altLang="en-US"/>
              <a:t> </a:t>
            </a:r>
            <a:r>
              <a:rPr lang="en-GB" altLang="en-US">
                <a:solidFill>
                  <a:srgbClr val="000066"/>
                </a:solidFill>
              </a:rPr>
              <a:t>The substrate mesh is extruded over the substrate thickness along the normals to the nodes of the surface mesh</a:t>
            </a:r>
          </a:p>
          <a:p>
            <a:pPr eaLnBrk="1" hangingPunct="1">
              <a:spcBef>
                <a:spcPct val="50000"/>
              </a:spcBef>
            </a:pPr>
            <a:r>
              <a:rPr lang="en-GB" altLang="en-US">
                <a:solidFill>
                  <a:srgbClr val="000066"/>
                </a:solidFill>
              </a:rPr>
              <a:t>	- Several mesh layers can be generated over the 	substrate thickness</a:t>
            </a:r>
          </a:p>
          <a:p>
            <a:pPr eaLnBrk="1" hangingPunct="1">
              <a:spcBef>
                <a:spcPct val="50000"/>
              </a:spcBef>
            </a:pPr>
            <a:r>
              <a:rPr lang="en-GB" altLang="en-US">
                <a:solidFill>
                  <a:srgbClr val="000066"/>
                </a:solidFill>
              </a:rPr>
              <a:t>	- Currently, the substrate material is assumed 	homogeneous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8" name="Text Box 18">
            <a:extLst>
              <a:ext uri="{FF2B5EF4-FFF2-40B4-BE49-F238E27FC236}">
                <a16:creationId xmlns:a16="http://schemas.microsoft.com/office/drawing/2014/main" id="{E7BA282A-94C5-C141-1029-03F45976690D}"/>
              </a:ext>
            </a:extLst>
          </p:cNvPr>
          <p:cNvSpPr txBox="1">
            <a:spLocks noChangeArrowheads="1"/>
          </p:cNvSpPr>
          <p:nvPr/>
        </p:nvSpPr>
        <p:spPr bwMode="auto">
          <a:xfrm>
            <a:off x="0" y="603250"/>
            <a:ext cx="10691813"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GB" altLang="en-US" sz="3200" b="1">
                <a:solidFill>
                  <a:srgbClr val="000066"/>
                </a:solidFill>
              </a:rPr>
              <a:t>Water Film Flow under shear stress on a flat substrate</a:t>
            </a:r>
          </a:p>
        </p:txBody>
      </p:sp>
      <p:grpSp>
        <p:nvGrpSpPr>
          <p:cNvPr id="2" name="Group 26">
            <a:extLst>
              <a:ext uri="{FF2B5EF4-FFF2-40B4-BE49-F238E27FC236}">
                <a16:creationId xmlns:a16="http://schemas.microsoft.com/office/drawing/2014/main" id="{6CA95CE7-C852-2697-A099-C1E76DDC29CA}"/>
              </a:ext>
            </a:extLst>
          </p:cNvPr>
          <p:cNvGrpSpPr>
            <a:grpSpLocks/>
          </p:cNvGrpSpPr>
          <p:nvPr/>
        </p:nvGrpSpPr>
        <p:grpSpPr bwMode="auto">
          <a:xfrm>
            <a:off x="185738" y="1435100"/>
            <a:ext cx="10239375" cy="5621338"/>
            <a:chOff x="100" y="628"/>
            <a:chExt cx="5516" cy="3212"/>
          </a:xfrm>
        </p:grpSpPr>
        <p:pic>
          <p:nvPicPr>
            <p:cNvPr id="61444" name="Picture 9">
              <a:extLst>
                <a:ext uri="{FF2B5EF4-FFF2-40B4-BE49-F238E27FC236}">
                  <a16:creationId xmlns:a16="http://schemas.microsoft.com/office/drawing/2014/main" id="{8F80F1F8-3A06-88CC-6A82-840AB3D9B6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57" t="824" r="557" b="824"/>
            <a:stretch>
              <a:fillRect/>
            </a:stretch>
          </p:blipFill>
          <p:spPr bwMode="auto">
            <a:xfrm>
              <a:off x="388" y="628"/>
              <a:ext cx="2204" cy="1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5" name="Picture 10">
              <a:extLst>
                <a:ext uri="{FF2B5EF4-FFF2-40B4-BE49-F238E27FC236}">
                  <a16:creationId xmlns:a16="http://schemas.microsoft.com/office/drawing/2014/main" id="{851A86D0-EE6F-428D-E24C-844805BA49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57" t="824" r="557" b="824"/>
            <a:stretch>
              <a:fillRect/>
            </a:stretch>
          </p:blipFill>
          <p:spPr bwMode="auto">
            <a:xfrm>
              <a:off x="340" y="2356"/>
              <a:ext cx="2204" cy="1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6" name="Picture 11">
              <a:extLst>
                <a:ext uri="{FF2B5EF4-FFF2-40B4-BE49-F238E27FC236}">
                  <a16:creationId xmlns:a16="http://schemas.microsoft.com/office/drawing/2014/main" id="{9F33FBED-4D3A-0012-7867-452795301B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57" t="824" r="557" b="824"/>
            <a:stretch>
              <a:fillRect/>
            </a:stretch>
          </p:blipFill>
          <p:spPr bwMode="auto">
            <a:xfrm>
              <a:off x="3364" y="724"/>
              <a:ext cx="2160" cy="1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7" name="Picture 12">
              <a:extLst>
                <a:ext uri="{FF2B5EF4-FFF2-40B4-BE49-F238E27FC236}">
                  <a16:creationId xmlns:a16="http://schemas.microsoft.com/office/drawing/2014/main" id="{C4042B2A-3F13-CA55-9335-DDC083ED7D3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557" t="824" r="557" b="824"/>
            <a:stretch>
              <a:fillRect/>
            </a:stretch>
          </p:blipFill>
          <p:spPr bwMode="auto">
            <a:xfrm>
              <a:off x="3220" y="2164"/>
              <a:ext cx="2348" cy="1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8" name="Text Box 13">
              <a:extLst>
                <a:ext uri="{FF2B5EF4-FFF2-40B4-BE49-F238E27FC236}">
                  <a16:creationId xmlns:a16="http://schemas.microsoft.com/office/drawing/2014/main" id="{76837EF8-0154-2426-8AE9-56049F8530CE}"/>
                </a:ext>
              </a:extLst>
            </p:cNvPr>
            <p:cNvSpPr txBox="1">
              <a:spLocks noChangeArrowheads="1"/>
            </p:cNvSpPr>
            <p:nvPr/>
          </p:nvSpPr>
          <p:spPr bwMode="auto">
            <a:xfrm>
              <a:off x="100" y="820"/>
              <a:ext cx="576"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b="1">
                  <a:solidFill>
                    <a:srgbClr val="000066"/>
                  </a:solidFill>
                </a:rPr>
                <a:t>t=5s</a:t>
              </a:r>
            </a:p>
          </p:txBody>
        </p:sp>
        <p:sp>
          <p:nvSpPr>
            <p:cNvPr id="61449" name="Text Box 14">
              <a:extLst>
                <a:ext uri="{FF2B5EF4-FFF2-40B4-BE49-F238E27FC236}">
                  <a16:creationId xmlns:a16="http://schemas.microsoft.com/office/drawing/2014/main" id="{BD310254-0676-02BC-6F8E-E2BF88E64336}"/>
                </a:ext>
              </a:extLst>
            </p:cNvPr>
            <p:cNvSpPr txBox="1">
              <a:spLocks noChangeArrowheads="1"/>
            </p:cNvSpPr>
            <p:nvPr/>
          </p:nvSpPr>
          <p:spPr bwMode="auto">
            <a:xfrm>
              <a:off x="3028" y="916"/>
              <a:ext cx="624"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b="1">
                  <a:solidFill>
                    <a:srgbClr val="000066"/>
                  </a:solidFill>
                </a:rPr>
                <a:t>t=20s</a:t>
              </a:r>
            </a:p>
          </p:txBody>
        </p:sp>
        <p:sp>
          <p:nvSpPr>
            <p:cNvPr id="61450" name="Text Box 15">
              <a:extLst>
                <a:ext uri="{FF2B5EF4-FFF2-40B4-BE49-F238E27FC236}">
                  <a16:creationId xmlns:a16="http://schemas.microsoft.com/office/drawing/2014/main" id="{345865E6-C5E3-4035-250B-4B9B8534264A}"/>
                </a:ext>
              </a:extLst>
            </p:cNvPr>
            <p:cNvSpPr txBox="1">
              <a:spLocks noChangeArrowheads="1"/>
            </p:cNvSpPr>
            <p:nvPr/>
          </p:nvSpPr>
          <p:spPr bwMode="auto">
            <a:xfrm>
              <a:off x="100" y="2500"/>
              <a:ext cx="576"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b="1">
                  <a:solidFill>
                    <a:srgbClr val="000066"/>
                  </a:solidFill>
                </a:rPr>
                <a:t>t=10s</a:t>
              </a:r>
            </a:p>
          </p:txBody>
        </p:sp>
        <p:sp>
          <p:nvSpPr>
            <p:cNvPr id="61451" name="Text Box 16">
              <a:extLst>
                <a:ext uri="{FF2B5EF4-FFF2-40B4-BE49-F238E27FC236}">
                  <a16:creationId xmlns:a16="http://schemas.microsoft.com/office/drawing/2014/main" id="{4ED6EAEF-BF81-BA28-535B-CDCFD250DB5F}"/>
                </a:ext>
              </a:extLst>
            </p:cNvPr>
            <p:cNvSpPr txBox="1">
              <a:spLocks noChangeArrowheads="1"/>
            </p:cNvSpPr>
            <p:nvPr/>
          </p:nvSpPr>
          <p:spPr bwMode="auto">
            <a:xfrm>
              <a:off x="2932" y="2452"/>
              <a:ext cx="624"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b="1">
                  <a:solidFill>
                    <a:srgbClr val="000066"/>
                  </a:solidFill>
                </a:rPr>
                <a:t>t=30s</a:t>
              </a:r>
            </a:p>
          </p:txBody>
        </p:sp>
        <p:sp>
          <p:nvSpPr>
            <p:cNvPr id="61452" name="Text Box 22">
              <a:extLst>
                <a:ext uri="{FF2B5EF4-FFF2-40B4-BE49-F238E27FC236}">
                  <a16:creationId xmlns:a16="http://schemas.microsoft.com/office/drawing/2014/main" id="{0DBB2494-F220-6362-C5F0-0E6E63BAEE8E}"/>
                </a:ext>
              </a:extLst>
            </p:cNvPr>
            <p:cNvSpPr txBox="1">
              <a:spLocks noChangeArrowheads="1"/>
            </p:cNvSpPr>
            <p:nvPr/>
          </p:nvSpPr>
          <p:spPr bwMode="auto">
            <a:xfrm>
              <a:off x="1248" y="768"/>
              <a:ext cx="1152"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a:solidFill>
                    <a:srgbClr val="000066"/>
                  </a:solidFill>
                </a:rPr>
                <a:t>h=0.120mm</a:t>
              </a:r>
            </a:p>
          </p:txBody>
        </p:sp>
        <p:sp>
          <p:nvSpPr>
            <p:cNvPr id="61453" name="Text Box 23">
              <a:extLst>
                <a:ext uri="{FF2B5EF4-FFF2-40B4-BE49-F238E27FC236}">
                  <a16:creationId xmlns:a16="http://schemas.microsoft.com/office/drawing/2014/main" id="{A9439CF5-89FA-0CC2-FCEA-6BE53DD7FCFF}"/>
                </a:ext>
              </a:extLst>
            </p:cNvPr>
            <p:cNvSpPr txBox="1">
              <a:spLocks noChangeArrowheads="1"/>
            </p:cNvSpPr>
            <p:nvPr/>
          </p:nvSpPr>
          <p:spPr bwMode="auto">
            <a:xfrm>
              <a:off x="4368" y="768"/>
              <a:ext cx="960"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a:solidFill>
                    <a:srgbClr val="000066"/>
                  </a:solidFill>
                </a:rPr>
                <a:t>h=0.126mm</a:t>
              </a:r>
            </a:p>
          </p:txBody>
        </p:sp>
        <p:sp>
          <p:nvSpPr>
            <p:cNvPr id="61454" name="Text Box 24">
              <a:extLst>
                <a:ext uri="{FF2B5EF4-FFF2-40B4-BE49-F238E27FC236}">
                  <a16:creationId xmlns:a16="http://schemas.microsoft.com/office/drawing/2014/main" id="{CE49CA2C-2A8A-C848-2EA8-2CA8588E3CFE}"/>
                </a:ext>
              </a:extLst>
            </p:cNvPr>
            <p:cNvSpPr txBox="1">
              <a:spLocks noChangeArrowheads="1"/>
            </p:cNvSpPr>
            <p:nvPr/>
          </p:nvSpPr>
          <p:spPr bwMode="auto">
            <a:xfrm>
              <a:off x="1248" y="2534"/>
              <a:ext cx="1152"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a:solidFill>
                    <a:srgbClr val="000066"/>
                  </a:solidFill>
                </a:rPr>
                <a:t>h=0.126mm</a:t>
              </a:r>
            </a:p>
          </p:txBody>
        </p:sp>
        <p:sp>
          <p:nvSpPr>
            <p:cNvPr id="61455" name="Text Box 25">
              <a:extLst>
                <a:ext uri="{FF2B5EF4-FFF2-40B4-BE49-F238E27FC236}">
                  <a16:creationId xmlns:a16="http://schemas.microsoft.com/office/drawing/2014/main" id="{764606A7-505D-62BD-8989-B2C3ED1C5C03}"/>
                </a:ext>
              </a:extLst>
            </p:cNvPr>
            <p:cNvSpPr txBox="1">
              <a:spLocks noChangeArrowheads="1"/>
            </p:cNvSpPr>
            <p:nvPr/>
          </p:nvSpPr>
          <p:spPr bwMode="auto">
            <a:xfrm>
              <a:off x="4464" y="2534"/>
              <a:ext cx="1152"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a:solidFill>
                    <a:srgbClr val="000066"/>
                  </a:solidFill>
                </a:rPr>
                <a:t>h=0.126mm</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138"/>
                                        </p:tgtEl>
                                        <p:attrNameLst>
                                          <p:attrName>style.visibility</p:attrName>
                                        </p:attrNameLst>
                                      </p:cBhvr>
                                      <p:to>
                                        <p:strVal val="visible"/>
                                      </p:to>
                                    </p:set>
                                    <p:animEffect transition="in" filter="dissolve">
                                      <p:cBhvr>
                                        <p:cTn id="7" dur="500"/>
                                        <p:tgtEl>
                                          <p:spTgt spid="51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8"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4" name="Text Box 16">
            <a:extLst>
              <a:ext uri="{FF2B5EF4-FFF2-40B4-BE49-F238E27FC236}">
                <a16:creationId xmlns:a16="http://schemas.microsoft.com/office/drawing/2014/main" id="{C0070137-7F8F-899F-4A9D-BFB35389791A}"/>
              </a:ext>
            </a:extLst>
          </p:cNvPr>
          <p:cNvSpPr txBox="1">
            <a:spLocks noChangeArrowheads="1"/>
          </p:cNvSpPr>
          <p:nvPr/>
        </p:nvSpPr>
        <p:spPr bwMode="auto">
          <a:xfrm>
            <a:off x="266700" y="687388"/>
            <a:ext cx="10425113"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GB" altLang="en-US" sz="3200" b="1">
                <a:solidFill>
                  <a:srgbClr val="000066"/>
                </a:solidFill>
              </a:rPr>
              <a:t>Flat substrate under uniform heat input: Q=20kW/m</a:t>
            </a:r>
            <a:r>
              <a:rPr lang="en-GB" altLang="en-US" sz="3200" b="1" baseline="30000">
                <a:solidFill>
                  <a:srgbClr val="000066"/>
                </a:solidFill>
              </a:rPr>
              <a:t>2</a:t>
            </a:r>
          </a:p>
        </p:txBody>
      </p:sp>
      <p:grpSp>
        <p:nvGrpSpPr>
          <p:cNvPr id="2" name="Group 23">
            <a:extLst>
              <a:ext uri="{FF2B5EF4-FFF2-40B4-BE49-F238E27FC236}">
                <a16:creationId xmlns:a16="http://schemas.microsoft.com/office/drawing/2014/main" id="{ECA332DC-A9F7-3EA0-6D54-99F163E5FE42}"/>
              </a:ext>
            </a:extLst>
          </p:cNvPr>
          <p:cNvGrpSpPr>
            <a:grpSpLocks/>
          </p:cNvGrpSpPr>
          <p:nvPr/>
        </p:nvGrpSpPr>
        <p:grpSpPr bwMode="auto">
          <a:xfrm>
            <a:off x="357188" y="1362075"/>
            <a:ext cx="9979025" cy="6197600"/>
            <a:chOff x="48" y="461"/>
            <a:chExt cx="5568" cy="3878"/>
          </a:xfrm>
        </p:grpSpPr>
        <p:pic>
          <p:nvPicPr>
            <p:cNvPr id="62468" name="Picture 2">
              <a:extLst>
                <a:ext uri="{FF2B5EF4-FFF2-40B4-BE49-F238E27FC236}">
                  <a16:creationId xmlns:a16="http://schemas.microsoft.com/office/drawing/2014/main" id="{2A1928B4-C181-C234-068C-759163DA80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57" t="824" r="557" b="824"/>
            <a:stretch>
              <a:fillRect/>
            </a:stretch>
          </p:blipFill>
          <p:spPr bwMode="auto">
            <a:xfrm>
              <a:off x="96" y="461"/>
              <a:ext cx="3072" cy="2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9" name="Picture 3">
              <a:extLst>
                <a:ext uri="{FF2B5EF4-FFF2-40B4-BE49-F238E27FC236}">
                  <a16:creationId xmlns:a16="http://schemas.microsoft.com/office/drawing/2014/main" id="{E4086799-63EB-3E94-033F-DA0728F4D3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57" t="824" r="557" b="824"/>
            <a:stretch>
              <a:fillRect/>
            </a:stretch>
          </p:blipFill>
          <p:spPr bwMode="auto">
            <a:xfrm>
              <a:off x="48" y="2235"/>
              <a:ext cx="3120" cy="2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0" name="Picture 8">
              <a:extLst>
                <a:ext uri="{FF2B5EF4-FFF2-40B4-BE49-F238E27FC236}">
                  <a16:creationId xmlns:a16="http://schemas.microsoft.com/office/drawing/2014/main" id="{52AC45D6-C317-A92F-5042-A293EB8722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57" t="824" r="557" b="824"/>
            <a:stretch>
              <a:fillRect/>
            </a:stretch>
          </p:blipFill>
          <p:spPr bwMode="auto">
            <a:xfrm>
              <a:off x="2592" y="672"/>
              <a:ext cx="3024" cy="2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1" name="Picture 9">
              <a:extLst>
                <a:ext uri="{FF2B5EF4-FFF2-40B4-BE49-F238E27FC236}">
                  <a16:creationId xmlns:a16="http://schemas.microsoft.com/office/drawing/2014/main" id="{9A4CCC54-1035-8D57-4467-63DB5B05CF2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557" t="824" r="557" b="824"/>
            <a:stretch>
              <a:fillRect/>
            </a:stretch>
          </p:blipFill>
          <p:spPr bwMode="auto">
            <a:xfrm>
              <a:off x="2592" y="2304"/>
              <a:ext cx="3024" cy="20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2" name="Text Box 14">
              <a:extLst>
                <a:ext uri="{FF2B5EF4-FFF2-40B4-BE49-F238E27FC236}">
                  <a16:creationId xmlns:a16="http://schemas.microsoft.com/office/drawing/2014/main" id="{A605D638-492B-2C84-7C18-733CA70F07D0}"/>
                </a:ext>
              </a:extLst>
            </p:cNvPr>
            <p:cNvSpPr txBox="1">
              <a:spLocks noChangeArrowheads="1"/>
            </p:cNvSpPr>
            <p:nvPr/>
          </p:nvSpPr>
          <p:spPr bwMode="auto">
            <a:xfrm>
              <a:off x="96" y="883"/>
              <a:ext cx="576"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b="1">
                  <a:solidFill>
                    <a:srgbClr val="000066"/>
                  </a:solidFill>
                </a:rPr>
                <a:t>t=10s</a:t>
              </a:r>
            </a:p>
          </p:txBody>
        </p:sp>
        <p:sp>
          <p:nvSpPr>
            <p:cNvPr id="62473" name="Text Box 15">
              <a:extLst>
                <a:ext uri="{FF2B5EF4-FFF2-40B4-BE49-F238E27FC236}">
                  <a16:creationId xmlns:a16="http://schemas.microsoft.com/office/drawing/2014/main" id="{42C00938-20DD-62E0-D454-B8E490C3657F}"/>
                </a:ext>
              </a:extLst>
            </p:cNvPr>
            <p:cNvSpPr txBox="1">
              <a:spLocks noChangeArrowheads="1"/>
            </p:cNvSpPr>
            <p:nvPr/>
          </p:nvSpPr>
          <p:spPr bwMode="auto">
            <a:xfrm>
              <a:off x="144" y="2515"/>
              <a:ext cx="576"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b="1">
                  <a:solidFill>
                    <a:srgbClr val="000066"/>
                  </a:solidFill>
                </a:rPr>
                <a:t>t=20s</a:t>
              </a:r>
            </a:p>
          </p:txBody>
        </p:sp>
        <p:sp>
          <p:nvSpPr>
            <p:cNvPr id="62474" name="Text Box 19">
              <a:extLst>
                <a:ext uri="{FF2B5EF4-FFF2-40B4-BE49-F238E27FC236}">
                  <a16:creationId xmlns:a16="http://schemas.microsoft.com/office/drawing/2014/main" id="{3B33BE78-7CDF-F0E4-3B90-AE9D989BB085}"/>
                </a:ext>
              </a:extLst>
            </p:cNvPr>
            <p:cNvSpPr txBox="1">
              <a:spLocks noChangeArrowheads="1"/>
            </p:cNvSpPr>
            <p:nvPr/>
          </p:nvSpPr>
          <p:spPr bwMode="auto">
            <a:xfrm>
              <a:off x="1392" y="893"/>
              <a:ext cx="139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a:solidFill>
                    <a:srgbClr val="000066"/>
                  </a:solidFill>
                </a:rPr>
                <a:t>h</a:t>
              </a:r>
              <a:r>
                <a:rPr lang="en-GB" altLang="en-US" sz="2300" baseline="-25000">
                  <a:solidFill>
                    <a:srgbClr val="000066"/>
                  </a:solidFill>
                </a:rPr>
                <a:t>max</a:t>
              </a:r>
              <a:r>
                <a:rPr lang="en-GB" altLang="en-US" sz="2300">
                  <a:solidFill>
                    <a:srgbClr val="000066"/>
                  </a:solidFill>
                </a:rPr>
                <a:t>=0.122mm</a:t>
              </a:r>
              <a:endParaRPr lang="en-GB" altLang="en-US"/>
            </a:p>
          </p:txBody>
        </p:sp>
        <p:sp>
          <p:nvSpPr>
            <p:cNvPr id="62475" name="Text Box 20">
              <a:extLst>
                <a:ext uri="{FF2B5EF4-FFF2-40B4-BE49-F238E27FC236}">
                  <a16:creationId xmlns:a16="http://schemas.microsoft.com/office/drawing/2014/main" id="{22BD841A-8F3C-346C-7FEF-981516881818}"/>
                </a:ext>
              </a:extLst>
            </p:cNvPr>
            <p:cNvSpPr txBox="1">
              <a:spLocks noChangeArrowheads="1"/>
            </p:cNvSpPr>
            <p:nvPr/>
          </p:nvSpPr>
          <p:spPr bwMode="auto">
            <a:xfrm>
              <a:off x="1392" y="2707"/>
              <a:ext cx="1392" cy="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a:solidFill>
                    <a:srgbClr val="000066"/>
                  </a:solidFill>
                </a:rPr>
                <a:t>h</a:t>
              </a:r>
              <a:r>
                <a:rPr lang="en-GB" altLang="en-US" sz="2300" baseline="-25000">
                  <a:solidFill>
                    <a:srgbClr val="000066"/>
                  </a:solidFill>
                </a:rPr>
                <a:t>max</a:t>
              </a:r>
              <a:r>
                <a:rPr lang="en-GB" altLang="en-US" sz="2300">
                  <a:solidFill>
                    <a:srgbClr val="000066"/>
                  </a:solidFill>
                </a:rPr>
                <a:t>=0.122mm</a:t>
              </a:r>
              <a:endParaRPr lang="en-GB"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184"/>
                                        </p:tgtEl>
                                        <p:attrNameLst>
                                          <p:attrName>style.visibility</p:attrName>
                                        </p:attrNameLst>
                                      </p:cBhvr>
                                      <p:to>
                                        <p:strVal val="visible"/>
                                      </p:to>
                                    </p:set>
                                    <p:animEffect transition="in" filter="dissolve">
                                      <p:cBhvr>
                                        <p:cTn id="7" dur="500"/>
                                        <p:tgtEl>
                                          <p:spTgt spid="71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4"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490" name="Group 19">
            <a:extLst>
              <a:ext uri="{FF2B5EF4-FFF2-40B4-BE49-F238E27FC236}">
                <a16:creationId xmlns:a16="http://schemas.microsoft.com/office/drawing/2014/main" id="{709CAE0C-D8FA-B29C-F728-34D833AE53FC}"/>
              </a:ext>
            </a:extLst>
          </p:cNvPr>
          <p:cNvGrpSpPr>
            <a:grpSpLocks/>
          </p:cNvGrpSpPr>
          <p:nvPr/>
        </p:nvGrpSpPr>
        <p:grpSpPr bwMode="auto">
          <a:xfrm>
            <a:off x="177800" y="839788"/>
            <a:ext cx="10158413" cy="6551612"/>
            <a:chOff x="96" y="480"/>
            <a:chExt cx="5472" cy="3744"/>
          </a:xfrm>
        </p:grpSpPr>
        <p:pic>
          <p:nvPicPr>
            <p:cNvPr id="63491" name="Picture 4">
              <a:extLst>
                <a:ext uri="{FF2B5EF4-FFF2-40B4-BE49-F238E27FC236}">
                  <a16:creationId xmlns:a16="http://schemas.microsoft.com/office/drawing/2014/main" id="{65543996-ABAA-35A3-DEAB-9AB1DB5A40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57" t="824" r="557" b="824"/>
            <a:stretch>
              <a:fillRect/>
            </a:stretch>
          </p:blipFill>
          <p:spPr bwMode="auto">
            <a:xfrm>
              <a:off x="187" y="480"/>
              <a:ext cx="2782" cy="1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2" name="Picture 7">
              <a:extLst>
                <a:ext uri="{FF2B5EF4-FFF2-40B4-BE49-F238E27FC236}">
                  <a16:creationId xmlns:a16="http://schemas.microsoft.com/office/drawing/2014/main" id="{B959A84F-464F-8DC7-FE8F-F9DD78B6BC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57" t="824" r="557" b="824"/>
            <a:stretch>
              <a:fillRect/>
            </a:stretch>
          </p:blipFill>
          <p:spPr bwMode="auto">
            <a:xfrm>
              <a:off x="2604" y="566"/>
              <a:ext cx="2964" cy="1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3" name="Text Box 11">
              <a:extLst>
                <a:ext uri="{FF2B5EF4-FFF2-40B4-BE49-F238E27FC236}">
                  <a16:creationId xmlns:a16="http://schemas.microsoft.com/office/drawing/2014/main" id="{B5DE9306-5F21-CDDA-1461-41AA718C237D}"/>
                </a:ext>
              </a:extLst>
            </p:cNvPr>
            <p:cNvSpPr txBox="1">
              <a:spLocks noChangeArrowheads="1"/>
            </p:cNvSpPr>
            <p:nvPr/>
          </p:nvSpPr>
          <p:spPr bwMode="auto">
            <a:xfrm>
              <a:off x="142" y="770"/>
              <a:ext cx="547"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b="1">
                  <a:solidFill>
                    <a:srgbClr val="000066"/>
                  </a:solidFill>
                </a:rPr>
                <a:t>t=30s</a:t>
              </a:r>
            </a:p>
          </p:txBody>
        </p:sp>
        <p:pic>
          <p:nvPicPr>
            <p:cNvPr id="63494" name="Picture 12">
              <a:extLst>
                <a:ext uri="{FF2B5EF4-FFF2-40B4-BE49-F238E27FC236}">
                  <a16:creationId xmlns:a16="http://schemas.microsoft.com/office/drawing/2014/main" id="{55281DED-75A0-2D13-D6C9-7395B25B60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57" t="824" r="557" b="824"/>
            <a:stretch>
              <a:fillRect/>
            </a:stretch>
          </p:blipFill>
          <p:spPr bwMode="auto">
            <a:xfrm>
              <a:off x="96" y="2151"/>
              <a:ext cx="3010" cy="1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5" name="Picture 13">
              <a:extLst>
                <a:ext uri="{FF2B5EF4-FFF2-40B4-BE49-F238E27FC236}">
                  <a16:creationId xmlns:a16="http://schemas.microsoft.com/office/drawing/2014/main" id="{F19CD9DF-1705-F31E-6EB1-D18A73E146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557" t="824" r="557" b="824"/>
            <a:stretch>
              <a:fillRect/>
            </a:stretch>
          </p:blipFill>
          <p:spPr bwMode="auto">
            <a:xfrm>
              <a:off x="2558" y="2351"/>
              <a:ext cx="2961" cy="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6" name="Text Box 14">
              <a:extLst>
                <a:ext uri="{FF2B5EF4-FFF2-40B4-BE49-F238E27FC236}">
                  <a16:creationId xmlns:a16="http://schemas.microsoft.com/office/drawing/2014/main" id="{ABF631E5-E434-09D8-F70E-DDDF63B4445E}"/>
                </a:ext>
              </a:extLst>
            </p:cNvPr>
            <p:cNvSpPr txBox="1">
              <a:spLocks noChangeArrowheads="1"/>
            </p:cNvSpPr>
            <p:nvPr/>
          </p:nvSpPr>
          <p:spPr bwMode="auto">
            <a:xfrm>
              <a:off x="142" y="2400"/>
              <a:ext cx="547"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b="1">
                  <a:solidFill>
                    <a:srgbClr val="000066"/>
                  </a:solidFill>
                </a:rPr>
                <a:t>t=50s</a:t>
              </a:r>
            </a:p>
          </p:txBody>
        </p:sp>
        <p:sp>
          <p:nvSpPr>
            <p:cNvPr id="63497" name="Text Box 16">
              <a:extLst>
                <a:ext uri="{FF2B5EF4-FFF2-40B4-BE49-F238E27FC236}">
                  <a16:creationId xmlns:a16="http://schemas.microsoft.com/office/drawing/2014/main" id="{32E0E75A-6C53-51EC-64D9-84EC964E0F8C}"/>
                </a:ext>
              </a:extLst>
            </p:cNvPr>
            <p:cNvSpPr txBox="1">
              <a:spLocks noChangeArrowheads="1"/>
            </p:cNvSpPr>
            <p:nvPr/>
          </p:nvSpPr>
          <p:spPr bwMode="auto">
            <a:xfrm>
              <a:off x="1418" y="867"/>
              <a:ext cx="1323"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a:solidFill>
                    <a:srgbClr val="000066"/>
                  </a:solidFill>
                </a:rPr>
                <a:t>h</a:t>
              </a:r>
              <a:r>
                <a:rPr lang="en-GB" altLang="en-US" sz="2300" baseline="-25000">
                  <a:solidFill>
                    <a:srgbClr val="000066"/>
                  </a:solidFill>
                </a:rPr>
                <a:t>max</a:t>
              </a:r>
              <a:r>
                <a:rPr lang="en-GB" altLang="en-US" sz="2300">
                  <a:solidFill>
                    <a:srgbClr val="000066"/>
                  </a:solidFill>
                </a:rPr>
                <a:t>=0.122mm</a:t>
              </a:r>
              <a:endParaRPr lang="en-GB" altLang="en-US"/>
            </a:p>
          </p:txBody>
        </p:sp>
        <p:sp>
          <p:nvSpPr>
            <p:cNvPr id="63498" name="Text Box 17">
              <a:extLst>
                <a:ext uri="{FF2B5EF4-FFF2-40B4-BE49-F238E27FC236}">
                  <a16:creationId xmlns:a16="http://schemas.microsoft.com/office/drawing/2014/main" id="{CC37C0DB-8AA7-36D9-4881-ED1903806361}"/>
                </a:ext>
              </a:extLst>
            </p:cNvPr>
            <p:cNvSpPr txBox="1">
              <a:spLocks noChangeArrowheads="1"/>
            </p:cNvSpPr>
            <p:nvPr/>
          </p:nvSpPr>
          <p:spPr bwMode="auto">
            <a:xfrm>
              <a:off x="1418" y="2614"/>
              <a:ext cx="1323"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300">
                  <a:solidFill>
                    <a:srgbClr val="000066"/>
                  </a:solidFill>
                </a:rPr>
                <a:t>h</a:t>
              </a:r>
              <a:r>
                <a:rPr lang="en-GB" altLang="en-US" sz="2300" baseline="-25000">
                  <a:solidFill>
                    <a:srgbClr val="000066"/>
                  </a:solidFill>
                </a:rPr>
                <a:t>max</a:t>
              </a:r>
              <a:r>
                <a:rPr lang="en-GB" altLang="en-US" sz="2300">
                  <a:solidFill>
                    <a:srgbClr val="000066"/>
                  </a:solidFill>
                </a:rPr>
                <a:t>=0.122mm</a:t>
              </a:r>
              <a:endParaRPr lang="en-GB" altLang="en-US"/>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6" name="Text Box 6">
            <a:extLst>
              <a:ext uri="{FF2B5EF4-FFF2-40B4-BE49-F238E27FC236}">
                <a16:creationId xmlns:a16="http://schemas.microsoft.com/office/drawing/2014/main" id="{F426D209-299E-6B08-27D6-01846B3FB499}"/>
              </a:ext>
            </a:extLst>
          </p:cNvPr>
          <p:cNvSpPr txBox="1">
            <a:spLocks noChangeArrowheads="1"/>
          </p:cNvSpPr>
          <p:nvPr/>
        </p:nvSpPr>
        <p:spPr bwMode="auto">
          <a:xfrm>
            <a:off x="712788" y="771525"/>
            <a:ext cx="9623425"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3200" b="1">
                <a:solidFill>
                  <a:srgbClr val="000066"/>
                </a:solidFill>
              </a:rPr>
              <a:t>NACA0012 under uniform heat input: Q=40kW/m</a:t>
            </a:r>
            <a:r>
              <a:rPr lang="en-GB" altLang="en-US" sz="3200" b="1" baseline="30000">
                <a:solidFill>
                  <a:srgbClr val="000066"/>
                </a:solidFill>
              </a:rPr>
              <a:t>2</a:t>
            </a:r>
          </a:p>
        </p:txBody>
      </p:sp>
      <p:grpSp>
        <p:nvGrpSpPr>
          <p:cNvPr id="2" name="Group 10">
            <a:extLst>
              <a:ext uri="{FF2B5EF4-FFF2-40B4-BE49-F238E27FC236}">
                <a16:creationId xmlns:a16="http://schemas.microsoft.com/office/drawing/2014/main" id="{E44EE531-4DBA-85C4-E0C9-C1C0E40EAEB9}"/>
              </a:ext>
            </a:extLst>
          </p:cNvPr>
          <p:cNvGrpSpPr>
            <a:grpSpLocks/>
          </p:cNvGrpSpPr>
          <p:nvPr/>
        </p:nvGrpSpPr>
        <p:grpSpPr bwMode="auto">
          <a:xfrm>
            <a:off x="207963" y="2268538"/>
            <a:ext cx="10394950" cy="3568700"/>
            <a:chOff x="112" y="1073"/>
            <a:chExt cx="5600" cy="2040"/>
          </a:xfrm>
        </p:grpSpPr>
        <p:pic>
          <p:nvPicPr>
            <p:cNvPr id="64516" name="Picture 8">
              <a:extLst>
                <a:ext uri="{FF2B5EF4-FFF2-40B4-BE49-F238E27FC236}">
                  <a16:creationId xmlns:a16="http://schemas.microsoft.com/office/drawing/2014/main" id="{C8812C87-F995-21AA-1C59-8EF1A118DD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57" t="824" r="557" b="824"/>
            <a:stretch>
              <a:fillRect/>
            </a:stretch>
          </p:blipFill>
          <p:spPr bwMode="auto">
            <a:xfrm>
              <a:off x="2751" y="1073"/>
              <a:ext cx="2961" cy="1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7" name="Picture 9">
              <a:extLst>
                <a:ext uri="{FF2B5EF4-FFF2-40B4-BE49-F238E27FC236}">
                  <a16:creationId xmlns:a16="http://schemas.microsoft.com/office/drawing/2014/main" id="{D3E06AFF-279F-1798-959D-2FD701FA59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57" t="824" r="557" b="824"/>
            <a:stretch>
              <a:fillRect/>
            </a:stretch>
          </p:blipFill>
          <p:spPr bwMode="auto">
            <a:xfrm>
              <a:off x="112" y="1248"/>
              <a:ext cx="2771" cy="1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246"/>
                                        </p:tgtEl>
                                        <p:attrNameLst>
                                          <p:attrName>style.visibility</p:attrName>
                                        </p:attrNameLst>
                                      </p:cBhvr>
                                      <p:to>
                                        <p:strVal val="visible"/>
                                      </p:to>
                                    </p:set>
                                    <p:animEffect transition="in" filter="dissolve">
                                      <p:cBhvr>
                                        <p:cTn id="7" dur="500"/>
                                        <p:tgtEl>
                                          <p:spTgt spid="102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6"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2" name="Rectangle 6">
            <a:extLst>
              <a:ext uri="{FF2B5EF4-FFF2-40B4-BE49-F238E27FC236}">
                <a16:creationId xmlns:a16="http://schemas.microsoft.com/office/drawing/2014/main" id="{C31B6DE3-43C8-E17C-225E-9C32F43F82E7}"/>
              </a:ext>
            </a:extLst>
          </p:cNvPr>
          <p:cNvSpPr>
            <a:spLocks noChangeArrowheads="1"/>
          </p:cNvSpPr>
          <p:nvPr/>
        </p:nvSpPr>
        <p:spPr bwMode="auto">
          <a:xfrm>
            <a:off x="801688" y="771525"/>
            <a:ext cx="9220200"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GB" altLang="en-US" sz="3200" b="1">
                <a:solidFill>
                  <a:srgbClr val="000066"/>
                </a:solidFill>
              </a:rPr>
              <a:t>NACA0012 under uniform heat input: Q=10kW/m</a:t>
            </a:r>
            <a:r>
              <a:rPr lang="en-GB" altLang="en-US" sz="3200" b="1" baseline="30000">
                <a:solidFill>
                  <a:srgbClr val="000066"/>
                </a:solidFill>
              </a:rPr>
              <a:t>2</a:t>
            </a:r>
          </a:p>
        </p:txBody>
      </p:sp>
      <p:grpSp>
        <p:nvGrpSpPr>
          <p:cNvPr id="2" name="Group 11">
            <a:extLst>
              <a:ext uri="{FF2B5EF4-FFF2-40B4-BE49-F238E27FC236}">
                <a16:creationId xmlns:a16="http://schemas.microsoft.com/office/drawing/2014/main" id="{79C751A2-11AF-3638-02A5-D20C763A27A8}"/>
              </a:ext>
            </a:extLst>
          </p:cNvPr>
          <p:cNvGrpSpPr>
            <a:grpSpLocks/>
          </p:cNvGrpSpPr>
          <p:nvPr/>
        </p:nvGrpSpPr>
        <p:grpSpPr bwMode="auto">
          <a:xfrm>
            <a:off x="173038" y="2174875"/>
            <a:ext cx="10429875" cy="3621088"/>
            <a:chOff x="93" y="1099"/>
            <a:chExt cx="5619" cy="2069"/>
          </a:xfrm>
        </p:grpSpPr>
        <p:pic>
          <p:nvPicPr>
            <p:cNvPr id="65540" name="Picture 9">
              <a:extLst>
                <a:ext uri="{FF2B5EF4-FFF2-40B4-BE49-F238E27FC236}">
                  <a16:creationId xmlns:a16="http://schemas.microsoft.com/office/drawing/2014/main" id="{51B3E8C4-CB3E-CDE3-BBD7-BF62B610AE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57" t="824" r="557" b="824"/>
            <a:stretch>
              <a:fillRect/>
            </a:stretch>
          </p:blipFill>
          <p:spPr bwMode="auto">
            <a:xfrm>
              <a:off x="2638" y="1099"/>
              <a:ext cx="3074" cy="2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1" name="Picture 10">
              <a:extLst>
                <a:ext uri="{FF2B5EF4-FFF2-40B4-BE49-F238E27FC236}">
                  <a16:creationId xmlns:a16="http://schemas.microsoft.com/office/drawing/2014/main" id="{33D8D27E-62D2-4D14-294C-B7F3D098DC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57" t="824" r="557" b="824"/>
            <a:stretch>
              <a:fillRect/>
            </a:stretch>
          </p:blipFill>
          <p:spPr bwMode="auto">
            <a:xfrm>
              <a:off x="93" y="1206"/>
              <a:ext cx="2819" cy="1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222"/>
                                        </p:tgtEl>
                                        <p:attrNameLst>
                                          <p:attrName>style.visibility</p:attrName>
                                        </p:attrNameLst>
                                      </p:cBhvr>
                                      <p:to>
                                        <p:strVal val="visible"/>
                                      </p:to>
                                    </p:set>
                                    <p:animEffect transition="in" filter="dissolve">
                                      <p:cBhvr>
                                        <p:cTn id="7" dur="500"/>
                                        <p:tgtEl>
                                          <p:spTgt spid="92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2"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a:extLst>
              <a:ext uri="{FF2B5EF4-FFF2-40B4-BE49-F238E27FC236}">
                <a16:creationId xmlns:a16="http://schemas.microsoft.com/office/drawing/2014/main" id="{5CAD0914-3DDB-364B-9250-B9345BCCFB05}"/>
              </a:ext>
            </a:extLst>
          </p:cNvPr>
          <p:cNvSpPr txBox="1">
            <a:spLocks noChangeArrowheads="1"/>
          </p:cNvSpPr>
          <p:nvPr/>
        </p:nvSpPr>
        <p:spPr bwMode="auto">
          <a:xfrm>
            <a:off x="623888" y="503238"/>
            <a:ext cx="5702300" cy="59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3200" b="1">
                <a:solidFill>
                  <a:srgbClr val="000066"/>
                </a:solidFill>
              </a:rPr>
              <a:t>Experimental validation</a:t>
            </a:r>
          </a:p>
        </p:txBody>
      </p:sp>
      <p:pic>
        <p:nvPicPr>
          <p:cNvPr id="66563" name="Picture 1">
            <a:extLst>
              <a:ext uri="{FF2B5EF4-FFF2-40B4-BE49-F238E27FC236}">
                <a16:creationId xmlns:a16="http://schemas.microsoft.com/office/drawing/2014/main" id="{E044A0F6-BA44-2387-37E8-AC5B3B9301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275" y="1439863"/>
            <a:ext cx="6105525" cy="343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dissolve">
                                      <p:cBhvr>
                                        <p:cTn id="7" dur="500"/>
                                        <p:tgtEl>
                                          <p:spTgt spid="19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a:extLst>
              <a:ext uri="{FF2B5EF4-FFF2-40B4-BE49-F238E27FC236}">
                <a16:creationId xmlns:a16="http://schemas.microsoft.com/office/drawing/2014/main" id="{126C1C0B-0B58-CD06-E90C-1AB620D440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4763" y="987425"/>
            <a:ext cx="5197475" cy="276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7" name="Rectangle 4">
            <a:extLst>
              <a:ext uri="{FF2B5EF4-FFF2-40B4-BE49-F238E27FC236}">
                <a16:creationId xmlns:a16="http://schemas.microsoft.com/office/drawing/2014/main" id="{9C010E6A-ED2A-4C1E-24E2-50C812B55229}"/>
              </a:ext>
            </a:extLst>
          </p:cNvPr>
          <p:cNvSpPr>
            <a:spLocks noChangeArrowheads="1"/>
          </p:cNvSpPr>
          <p:nvPr/>
        </p:nvSpPr>
        <p:spPr bwMode="auto">
          <a:xfrm>
            <a:off x="0" y="0"/>
            <a:ext cx="10691813" cy="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aphicFrame>
        <p:nvGraphicFramePr>
          <p:cNvPr id="67588" name="Object 2">
            <a:extLst>
              <a:ext uri="{FF2B5EF4-FFF2-40B4-BE49-F238E27FC236}">
                <a16:creationId xmlns:a16="http://schemas.microsoft.com/office/drawing/2014/main" id="{9B14CA1D-C695-15E2-1F4F-DFBAC0018BBA}"/>
              </a:ext>
            </a:extLst>
          </p:cNvPr>
          <p:cNvGraphicFramePr>
            <a:graphicFrameLocks noChangeAspect="1"/>
          </p:cNvGraphicFramePr>
          <p:nvPr/>
        </p:nvGraphicFramePr>
        <p:xfrm>
          <a:off x="755650" y="3754438"/>
          <a:ext cx="6030913" cy="2924175"/>
        </p:xfrm>
        <a:graphic>
          <a:graphicData uri="http://schemas.openxmlformats.org/presentationml/2006/ole">
            <mc:AlternateContent xmlns:mc="http://schemas.openxmlformats.org/markup-compatibility/2006">
              <mc:Choice xmlns:v="urn:schemas-microsoft-com:vml" Requires="v">
                <p:oleObj name="Chart" r:id="rId3" imgW="4991100" imgH="2806700" progId="Excel.Chart.8">
                  <p:embed/>
                </p:oleObj>
              </mc:Choice>
              <mc:Fallback>
                <p:oleObj name="Chart" r:id="rId3" imgW="4991100" imgH="2806700"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3754438"/>
                        <a:ext cx="6030913"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a:extLst>
              <a:ext uri="{FF2B5EF4-FFF2-40B4-BE49-F238E27FC236}">
                <a16:creationId xmlns:a16="http://schemas.microsoft.com/office/drawing/2014/main" id="{4088DE47-C258-DFC3-7FFD-EC829231C4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8575" y="1155700"/>
            <a:ext cx="5414963" cy="254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1" name="Rectangle 4">
            <a:extLst>
              <a:ext uri="{FF2B5EF4-FFF2-40B4-BE49-F238E27FC236}">
                <a16:creationId xmlns:a16="http://schemas.microsoft.com/office/drawing/2014/main" id="{A487C084-E5BE-001C-3C15-25F32733BE1E}"/>
              </a:ext>
            </a:extLst>
          </p:cNvPr>
          <p:cNvSpPr>
            <a:spLocks noChangeArrowheads="1"/>
          </p:cNvSpPr>
          <p:nvPr/>
        </p:nvSpPr>
        <p:spPr bwMode="auto">
          <a:xfrm>
            <a:off x="0" y="0"/>
            <a:ext cx="10691813" cy="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aphicFrame>
        <p:nvGraphicFramePr>
          <p:cNvPr id="68612" name="Object 2">
            <a:extLst>
              <a:ext uri="{FF2B5EF4-FFF2-40B4-BE49-F238E27FC236}">
                <a16:creationId xmlns:a16="http://schemas.microsoft.com/office/drawing/2014/main" id="{53DF09D6-9551-1266-74FC-65E244F3C5BD}"/>
              </a:ext>
            </a:extLst>
          </p:cNvPr>
          <p:cNvGraphicFramePr>
            <a:graphicFrameLocks noChangeAspect="1"/>
          </p:cNvGraphicFramePr>
          <p:nvPr/>
        </p:nvGraphicFramePr>
        <p:xfrm>
          <a:off x="800100" y="3698875"/>
          <a:ext cx="6121400" cy="3057525"/>
        </p:xfrm>
        <a:graphic>
          <a:graphicData uri="http://schemas.openxmlformats.org/presentationml/2006/ole">
            <mc:AlternateContent xmlns:mc="http://schemas.openxmlformats.org/markup-compatibility/2006">
              <mc:Choice xmlns:v="urn:schemas-microsoft-com:vml" Requires="v">
                <p:oleObj name="Chart" r:id="rId3" imgW="5232400" imgH="2933700" progId="Excel.Chart.8">
                  <p:embed/>
                </p:oleObj>
              </mc:Choice>
              <mc:Fallback>
                <p:oleObj name="Chart" r:id="rId3" imgW="5232400" imgH="2933700"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100" y="3698875"/>
                        <a:ext cx="6121400" cy="305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a:extLst>
              <a:ext uri="{FF2B5EF4-FFF2-40B4-BE49-F238E27FC236}">
                <a16:creationId xmlns:a16="http://schemas.microsoft.com/office/drawing/2014/main" id="{C3DB9D20-26CC-2735-1FC7-7EA17A5E3D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0300" y="1106488"/>
            <a:ext cx="5751513" cy="312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5" name="Rectangle 4">
            <a:extLst>
              <a:ext uri="{FF2B5EF4-FFF2-40B4-BE49-F238E27FC236}">
                <a16:creationId xmlns:a16="http://schemas.microsoft.com/office/drawing/2014/main" id="{73B76715-041D-8BED-3928-3B573597522E}"/>
              </a:ext>
            </a:extLst>
          </p:cNvPr>
          <p:cNvSpPr>
            <a:spLocks noChangeArrowheads="1"/>
          </p:cNvSpPr>
          <p:nvPr/>
        </p:nvSpPr>
        <p:spPr bwMode="auto">
          <a:xfrm>
            <a:off x="0" y="0"/>
            <a:ext cx="10691813" cy="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aphicFrame>
        <p:nvGraphicFramePr>
          <p:cNvPr id="69636" name="Object 2">
            <a:extLst>
              <a:ext uri="{FF2B5EF4-FFF2-40B4-BE49-F238E27FC236}">
                <a16:creationId xmlns:a16="http://schemas.microsoft.com/office/drawing/2014/main" id="{5F8F4B1D-FD82-5E32-1F36-36D8B2F96122}"/>
              </a:ext>
            </a:extLst>
          </p:cNvPr>
          <p:cNvGraphicFramePr>
            <a:graphicFrameLocks noChangeAspect="1"/>
          </p:cNvGraphicFramePr>
          <p:nvPr/>
        </p:nvGraphicFramePr>
        <p:xfrm>
          <a:off x="990600" y="4365625"/>
          <a:ext cx="6030913" cy="3019425"/>
        </p:xfrm>
        <a:graphic>
          <a:graphicData uri="http://schemas.openxmlformats.org/presentationml/2006/ole">
            <mc:AlternateContent xmlns:mc="http://schemas.openxmlformats.org/markup-compatibility/2006">
              <mc:Choice xmlns:v="urn:schemas-microsoft-com:vml" Requires="v">
                <p:oleObj name="Chart" r:id="rId3" imgW="5156200" imgH="2895600" progId="Excel.Chart.8">
                  <p:embed/>
                </p:oleObj>
              </mc:Choice>
              <mc:Fallback>
                <p:oleObj name="Chart" r:id="rId3" imgW="5156200" imgH="2895600"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4365625"/>
                        <a:ext cx="6030913" cy="301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2">
            <a:extLst>
              <a:ext uri="{FF2B5EF4-FFF2-40B4-BE49-F238E27FC236}">
                <a16:creationId xmlns:a16="http://schemas.microsoft.com/office/drawing/2014/main" id="{7BF1DFB6-609E-F653-2438-88272112C8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1238" y="1011238"/>
            <a:ext cx="5822950" cy="247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9" name="Rectangle 4">
            <a:extLst>
              <a:ext uri="{FF2B5EF4-FFF2-40B4-BE49-F238E27FC236}">
                <a16:creationId xmlns:a16="http://schemas.microsoft.com/office/drawing/2014/main" id="{EE9E3FCF-4AD3-B0D5-53EB-67529EE88C87}"/>
              </a:ext>
            </a:extLst>
          </p:cNvPr>
          <p:cNvSpPr>
            <a:spLocks noChangeArrowheads="1"/>
          </p:cNvSpPr>
          <p:nvPr/>
        </p:nvSpPr>
        <p:spPr bwMode="auto">
          <a:xfrm>
            <a:off x="0" y="0"/>
            <a:ext cx="10691813" cy="0"/>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graphicFrame>
        <p:nvGraphicFramePr>
          <p:cNvPr id="70660" name="Object 2">
            <a:extLst>
              <a:ext uri="{FF2B5EF4-FFF2-40B4-BE49-F238E27FC236}">
                <a16:creationId xmlns:a16="http://schemas.microsoft.com/office/drawing/2014/main" id="{E357DD70-979C-43C4-9750-F8438AA58402}"/>
              </a:ext>
            </a:extLst>
          </p:cNvPr>
          <p:cNvGraphicFramePr>
            <a:graphicFrameLocks noChangeAspect="1"/>
          </p:cNvGraphicFramePr>
          <p:nvPr/>
        </p:nvGraphicFramePr>
        <p:xfrm>
          <a:off x="665163" y="3689350"/>
          <a:ext cx="6169025" cy="3305175"/>
        </p:xfrm>
        <a:graphic>
          <a:graphicData uri="http://schemas.openxmlformats.org/presentationml/2006/ole">
            <mc:AlternateContent xmlns:mc="http://schemas.openxmlformats.org/markup-compatibility/2006">
              <mc:Choice xmlns:v="urn:schemas-microsoft-com:vml" Requires="v">
                <p:oleObj name="Chart" r:id="rId3" imgW="5651500" imgH="3175000" progId="Excel.Chart.8">
                  <p:embed/>
                </p:oleObj>
              </mc:Choice>
              <mc:Fallback>
                <p:oleObj name="Chart" r:id="rId3" imgW="5651500" imgH="3175000" progId="Excel.Char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163" y="3689350"/>
                        <a:ext cx="6169025" cy="330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5">
            <a:extLst>
              <a:ext uri="{FF2B5EF4-FFF2-40B4-BE49-F238E27FC236}">
                <a16:creationId xmlns:a16="http://schemas.microsoft.com/office/drawing/2014/main" id="{3F9FE9AB-2967-06E9-E9C4-87E905DF9525}"/>
              </a:ext>
            </a:extLst>
          </p:cNvPr>
          <p:cNvSpPr>
            <a:spLocks noGrp="1"/>
          </p:cNvSpPr>
          <p:nvPr>
            <p:ph type="sldNum" sz="quarter" idx="4294967295"/>
          </p:nvPr>
        </p:nvSpPr>
        <p:spPr bwMode="auto">
          <a:xfrm>
            <a:off x="7662863" y="6888163"/>
            <a:ext cx="2227262" cy="5032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4287" tIns="52144" rIns="104287" bIns="52144"/>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7981E4F-1FB8-F64E-B70A-9510C46B37D8}" type="slidenum">
              <a:rPr lang="en-GB" altLang="en-US" sz="1600"/>
              <a:pPr/>
              <a:t>66</a:t>
            </a:fld>
            <a:endParaRPr lang="en-GB" altLang="en-US" sz="1600"/>
          </a:p>
        </p:txBody>
      </p:sp>
      <p:sp>
        <p:nvSpPr>
          <p:cNvPr id="79875" name="Rectangle 3">
            <a:extLst>
              <a:ext uri="{FF2B5EF4-FFF2-40B4-BE49-F238E27FC236}">
                <a16:creationId xmlns:a16="http://schemas.microsoft.com/office/drawing/2014/main" id="{60711EAC-1845-F083-DB1B-A46D86F3A07E}"/>
              </a:ext>
            </a:extLst>
          </p:cNvPr>
          <p:cNvSpPr>
            <a:spLocks noGrp="1" noChangeArrowheads="1"/>
          </p:cNvSpPr>
          <p:nvPr>
            <p:ph type="body" idx="1"/>
          </p:nvPr>
        </p:nvSpPr>
        <p:spPr>
          <a:xfrm>
            <a:off x="800100" y="2352675"/>
            <a:ext cx="9088438" cy="4535488"/>
          </a:xfrm>
        </p:spPr>
        <p:txBody>
          <a:bodyPr/>
          <a:lstStyle/>
          <a:p>
            <a:pPr>
              <a:lnSpc>
                <a:spcPct val="90000"/>
              </a:lnSpc>
              <a:buFont typeface="Wingdings" pitchFamily="2" charset="2"/>
              <a:buChar char="Ø"/>
              <a:defRPr/>
            </a:pPr>
            <a:r>
              <a:rPr lang="en-GB" sz="3200" dirty="0"/>
              <a:t>Practical Ice model</a:t>
            </a:r>
            <a:endParaRPr lang="en-GB" sz="2800" dirty="0"/>
          </a:p>
          <a:p>
            <a:pPr lvl="1">
              <a:lnSpc>
                <a:spcPct val="90000"/>
              </a:lnSpc>
              <a:buFont typeface="Wingdings" pitchFamily="2" charset="2"/>
              <a:buChar char="Ø"/>
              <a:defRPr/>
            </a:pPr>
            <a:r>
              <a:rPr lang="en-GB" sz="2800" dirty="0"/>
              <a:t>Based on lubrication theory</a:t>
            </a:r>
          </a:p>
          <a:p>
            <a:pPr lvl="1">
              <a:lnSpc>
                <a:spcPct val="90000"/>
              </a:lnSpc>
              <a:buFont typeface="Wingdings" pitchFamily="2" charset="2"/>
              <a:buChar char="Ø"/>
              <a:defRPr/>
            </a:pPr>
            <a:r>
              <a:rPr lang="en-GB" sz="2800" dirty="0"/>
              <a:t>Rime ice and Glaze ice</a:t>
            </a:r>
          </a:p>
          <a:p>
            <a:pPr>
              <a:lnSpc>
                <a:spcPct val="90000"/>
              </a:lnSpc>
              <a:buFont typeface="Wingdings" pitchFamily="2" charset="2"/>
              <a:buChar char="Ø"/>
              <a:defRPr/>
            </a:pPr>
            <a:r>
              <a:rPr lang="en-GB" sz="3200" dirty="0"/>
              <a:t>Error estimation and control</a:t>
            </a:r>
          </a:p>
          <a:p>
            <a:pPr lvl="1">
              <a:lnSpc>
                <a:spcPct val="90000"/>
              </a:lnSpc>
              <a:buFont typeface="Wingdings" pitchFamily="2" charset="2"/>
              <a:buChar char="Ø"/>
              <a:defRPr/>
            </a:pPr>
            <a:r>
              <a:rPr lang="en-GB" sz="2800" dirty="0"/>
              <a:t>Dual discretization</a:t>
            </a:r>
          </a:p>
          <a:p>
            <a:pPr lvl="1">
              <a:lnSpc>
                <a:spcPct val="90000"/>
              </a:lnSpc>
              <a:buFont typeface="Wingdings" pitchFamily="2" charset="2"/>
              <a:buChar char="Ø"/>
              <a:defRPr/>
            </a:pPr>
            <a:r>
              <a:rPr lang="en-GB" sz="2800" dirty="0"/>
              <a:t>Grid refinement</a:t>
            </a:r>
          </a:p>
          <a:p>
            <a:pPr>
              <a:lnSpc>
                <a:spcPct val="90000"/>
              </a:lnSpc>
              <a:buFont typeface="Wingdings" pitchFamily="2" charset="2"/>
              <a:buChar char="Ø"/>
              <a:defRPr/>
            </a:pPr>
            <a:r>
              <a:rPr lang="en-GB" sz="3200" dirty="0"/>
              <a:t>Multi-stepping</a:t>
            </a:r>
          </a:p>
          <a:p>
            <a:pPr lvl="1">
              <a:lnSpc>
                <a:spcPct val="90000"/>
              </a:lnSpc>
              <a:buFont typeface="Wingdings" pitchFamily="2" charset="2"/>
              <a:buChar char="Ø"/>
              <a:defRPr/>
            </a:pPr>
            <a:r>
              <a:rPr lang="en-GB" sz="2800" dirty="0"/>
              <a:t>Outer</a:t>
            </a:r>
          </a:p>
          <a:p>
            <a:pPr lvl="1">
              <a:lnSpc>
                <a:spcPct val="90000"/>
              </a:lnSpc>
              <a:buFont typeface="Wingdings" pitchFamily="2" charset="2"/>
              <a:buChar char="Ø"/>
              <a:defRPr/>
            </a:pPr>
            <a:r>
              <a:rPr lang="en-GB" sz="2800" dirty="0"/>
              <a:t>Inner</a:t>
            </a:r>
          </a:p>
          <a:p>
            <a:pPr lvl="1">
              <a:lnSpc>
                <a:spcPct val="90000"/>
              </a:lnSpc>
              <a:buFont typeface="Wingdings" pitchFamily="2" charset="2"/>
              <a:buChar char="Ø"/>
              <a:defRPr/>
            </a:pPr>
            <a:r>
              <a:rPr lang="en-GB" sz="2800" dirty="0"/>
              <a:t>Continuous</a:t>
            </a:r>
          </a:p>
          <a:p>
            <a:pPr>
              <a:lnSpc>
                <a:spcPct val="90000"/>
              </a:lnSpc>
              <a:buFont typeface="Wingdings" pitchFamily="2" charset="2"/>
              <a:buChar char="Ø"/>
              <a:defRPr/>
            </a:pPr>
            <a:r>
              <a:rPr lang="en-GB" sz="3200"/>
              <a:t>Anti-icing</a:t>
            </a:r>
          </a:p>
          <a:p>
            <a:pPr marL="0" indent="0">
              <a:lnSpc>
                <a:spcPct val="90000"/>
              </a:lnSpc>
              <a:buFont typeface="Times New Roman" panose="02020603050405020304" pitchFamily="18" charset="0"/>
              <a:buNone/>
              <a:defRPr/>
            </a:pPr>
            <a:endParaRPr lang="en-GB" sz="3200" dirty="0"/>
          </a:p>
          <a:p>
            <a:pPr>
              <a:lnSpc>
                <a:spcPct val="90000"/>
              </a:lnSpc>
              <a:buFont typeface="Wingdings" pitchFamily="2" charset="2"/>
              <a:buChar char="Ø"/>
              <a:defRPr/>
            </a:pPr>
            <a:endParaRPr lang="en-GB" sz="3200" dirty="0"/>
          </a:p>
          <a:p>
            <a:pPr>
              <a:lnSpc>
                <a:spcPct val="90000"/>
              </a:lnSpc>
              <a:buFont typeface="Wingdings" pitchFamily="2" charset="2"/>
              <a:buChar char="Ø"/>
              <a:defRPr/>
            </a:pPr>
            <a:endParaRPr lang="en-GB" sz="3200" dirty="0"/>
          </a:p>
          <a:p>
            <a:pPr>
              <a:lnSpc>
                <a:spcPct val="90000"/>
              </a:lnSpc>
              <a:buFont typeface="Wingdings" pitchFamily="2" charset="2"/>
              <a:buChar char="Ø"/>
              <a:defRPr/>
            </a:pPr>
            <a:endParaRPr lang="en-GB" sz="3200" dirty="0"/>
          </a:p>
        </p:txBody>
      </p:sp>
      <p:sp>
        <p:nvSpPr>
          <p:cNvPr id="71684" name="Title 1">
            <a:extLst>
              <a:ext uri="{FF2B5EF4-FFF2-40B4-BE49-F238E27FC236}">
                <a16:creationId xmlns:a16="http://schemas.microsoft.com/office/drawing/2014/main" id="{EE17037A-E1E7-7DDB-54CF-E32BC9F7D11D}"/>
              </a:ext>
            </a:extLst>
          </p:cNvPr>
          <p:cNvSpPr>
            <a:spLocks noGrp="1"/>
          </p:cNvSpPr>
          <p:nvPr>
            <p:ph type="title"/>
          </p:nvPr>
        </p:nvSpPr>
        <p:spPr>
          <a:xfrm>
            <a:off x="881063" y="584200"/>
            <a:ext cx="3249612" cy="625475"/>
          </a:xfrm>
        </p:spPr>
        <p:txBody>
          <a:bodyPr/>
          <a:lstStyle/>
          <a:p>
            <a:pPr algn="l"/>
            <a:r>
              <a:rPr lang="en-GB" altLang="en-US" sz="4400"/>
              <a:t>Summary</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340076251</TotalTime>
  <Words>2489</Words>
  <Application>Microsoft Macintosh PowerPoint</Application>
  <PresentationFormat>Custom</PresentationFormat>
  <Paragraphs>420</Paragraphs>
  <Slides>66</Slides>
  <Notes>37</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4</vt:i4>
      </vt:variant>
      <vt:variant>
        <vt:lpstr>Slide Titles</vt:lpstr>
      </vt:variant>
      <vt:variant>
        <vt:i4>66</vt:i4>
      </vt:variant>
    </vt:vector>
  </HeadingPairs>
  <TitlesOfParts>
    <vt:vector size="82" baseType="lpstr">
      <vt:lpstr>Times New Roman</vt:lpstr>
      <vt:lpstr>Arial</vt:lpstr>
      <vt:lpstr>Wingdings</vt:lpstr>
      <vt:lpstr>Arial Narrow</vt:lpstr>
      <vt:lpstr>Webdings</vt:lpstr>
      <vt:lpstr>Sgreek Fixed</vt:lpstr>
      <vt:lpstr>Math1</vt:lpstr>
      <vt:lpstr>French Script MT</vt:lpstr>
      <vt:lpstr>Arial Black</vt:lpstr>
      <vt:lpstr>DejaVu Sans</vt:lpstr>
      <vt:lpstr>Default Design</vt:lpstr>
      <vt:lpstr>1_Default Design</vt:lpstr>
      <vt:lpstr>Microsoft Equation 3.0</vt:lpstr>
      <vt:lpstr>MathType 6.0 Equation</vt:lpstr>
      <vt:lpstr>MathType 5.0 Equation</vt:lpstr>
      <vt:lpstr>Microsoft Excel Chart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Icing model</vt:lpstr>
      <vt:lpstr>Error control - Objectives</vt:lpstr>
      <vt:lpstr>Numerical Schemes:</vt:lpstr>
      <vt:lpstr>Flux Limiter</vt:lpstr>
      <vt:lpstr>Unstructured formulation</vt:lpstr>
      <vt:lpstr>Rotation (Press)</vt:lpstr>
      <vt:lpstr>Rotation results</vt:lpstr>
      <vt:lpstr>Error estimation: dual discretisation</vt:lpstr>
      <vt:lpstr>Refined Grid   Advancing with Front</vt:lpstr>
      <vt:lpstr>Smart inter-grid interpolation scheme</vt:lpstr>
      <vt:lpstr>Coarse/fine/adapted solutions</vt:lpstr>
      <vt:lpstr>PowerPoint Presentation</vt:lpstr>
      <vt:lpstr>PowerPoint Presentation</vt:lpstr>
      <vt:lpstr> Icing on Cylinder  </vt:lpstr>
      <vt:lpstr> Refinement</vt:lpstr>
      <vt:lpstr> Refinement criterion based on the gradient of b (ice height)</vt:lpstr>
      <vt:lpstr>Geometry variation:   Multi-stepping methods </vt:lpstr>
      <vt:lpstr>PowerPoint Presentation</vt:lpstr>
      <vt:lpstr>PowerPoint Presentation</vt:lpstr>
      <vt:lpstr>Limitations Multi-Stepping Procedure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Chris Thompson</dc:creator>
  <cp:lastModifiedBy>Christopher Thompson</cp:lastModifiedBy>
  <cp:revision>120</cp:revision>
  <cp:lastPrinted>2000-08-07T17:05:33Z</cp:lastPrinted>
  <dcterms:created xsi:type="dcterms:W3CDTF">2000-08-01T09:59:18Z</dcterms:created>
  <dcterms:modified xsi:type="dcterms:W3CDTF">2026-10-19T21:02:55Z</dcterms:modified>
</cp:coreProperties>
</file>