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compatMode="1" strictFirstAndLastChars="0" saveSubsetFonts="1">
  <p:sldMasterIdLst>
    <p:sldMasterId id="2147483650" r:id="rId1"/>
    <p:sldMasterId id="2147483651" r:id="rId2"/>
  </p:sldMasterIdLst>
  <p:notesMasterIdLst>
    <p:notesMasterId r:id="rId19"/>
  </p:notesMasterIdLst>
  <p:handoutMasterIdLst>
    <p:handoutMasterId r:id="rId20"/>
  </p:handoutMasterIdLst>
  <p:sldIdLst>
    <p:sldId id="259" r:id="rId3"/>
    <p:sldId id="375" r:id="rId4"/>
    <p:sldId id="374" r:id="rId5"/>
    <p:sldId id="376" r:id="rId6"/>
    <p:sldId id="390" r:id="rId7"/>
    <p:sldId id="391" r:id="rId8"/>
    <p:sldId id="377" r:id="rId9"/>
    <p:sldId id="383" r:id="rId10"/>
    <p:sldId id="379" r:id="rId11"/>
    <p:sldId id="368" r:id="rId12"/>
    <p:sldId id="384" r:id="rId13"/>
    <p:sldId id="388" r:id="rId14"/>
    <p:sldId id="389" r:id="rId15"/>
    <p:sldId id="387" r:id="rId16"/>
    <p:sldId id="394" r:id="rId17"/>
    <p:sldId id="392" r:id="rId18"/>
  </p:sldIdLst>
  <p:sldSz cx="9144000" cy="6858000" type="screen4x3"/>
  <p:notesSz cx="6797675" cy="9926638"/>
  <p:defaultTextStyle>
    <a:defPPr>
      <a:defRPr lang="en-GB"/>
    </a:defPPr>
    <a:lvl1pPr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>
          <p15:clr>
            <a:srgbClr val="A4A3A4"/>
          </p15:clr>
        </p15:guide>
        <p15:guide id="2" pos="214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746" autoAdjust="0"/>
    <p:restoredTop sz="94574"/>
  </p:normalViewPr>
  <p:slideViewPr>
    <p:cSldViewPr>
      <p:cViewPr varScale="1">
        <p:scale>
          <a:sx n="105" d="100"/>
          <a:sy n="105" d="100"/>
        </p:scale>
        <p:origin x="1544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1866" y="-102"/>
      </p:cViewPr>
      <p:guideLst>
        <p:guide orient="horz" pos="3126"/>
        <p:guide pos="214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>
            <a:extLst>
              <a:ext uri="{FF2B5EF4-FFF2-40B4-BE49-F238E27FC236}">
                <a16:creationId xmlns:a16="http://schemas.microsoft.com/office/drawing/2014/main" id="{C6D0E04A-D7A2-6A18-A530-451777BBC34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190" tIns="46095" rIns="92190" bIns="46095" numCol="1" anchor="t" anchorCtr="0" compatLnSpc="1">
            <a:prstTxWarp prst="textNoShape">
              <a:avLst/>
            </a:prstTxWarp>
          </a:bodyPr>
          <a:lstStyle>
            <a:lvl1pPr algn="l" defTabSz="922338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4995" name="Rectangle 3">
            <a:extLst>
              <a:ext uri="{FF2B5EF4-FFF2-40B4-BE49-F238E27FC236}">
                <a16:creationId xmlns:a16="http://schemas.microsoft.com/office/drawing/2014/main" id="{5127457D-6CF7-174E-236B-05536F388F2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4813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190" tIns="46095" rIns="92190" bIns="46095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4996" name="Rectangle 4">
            <a:extLst>
              <a:ext uri="{FF2B5EF4-FFF2-40B4-BE49-F238E27FC236}">
                <a16:creationId xmlns:a16="http://schemas.microsoft.com/office/drawing/2014/main" id="{69B62641-E3E5-B1BD-12D1-B9DB6CE1DA9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8163"/>
            <a:ext cx="2944813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190" tIns="46095" rIns="92190" bIns="46095" numCol="1" anchor="b" anchorCtr="0" compatLnSpc="1">
            <a:prstTxWarp prst="textNoShape">
              <a:avLst/>
            </a:prstTxWarp>
          </a:bodyPr>
          <a:lstStyle>
            <a:lvl1pPr algn="l" defTabSz="922338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4997" name="Rectangle 5">
            <a:extLst>
              <a:ext uri="{FF2B5EF4-FFF2-40B4-BE49-F238E27FC236}">
                <a16:creationId xmlns:a16="http://schemas.microsoft.com/office/drawing/2014/main" id="{4ADEADF2-4E4D-B0AE-F71B-88AE5FEDCC8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28163"/>
            <a:ext cx="2944813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190" tIns="46095" rIns="92190" bIns="46095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>
                <a:latin typeface="Times New Roman" panose="02020603050405020304" pitchFamily="18" charset="0"/>
              </a:defRPr>
            </a:lvl1pPr>
          </a:lstStyle>
          <a:p>
            <a:fld id="{111625DC-5E63-FC49-A449-10E3E9D929F9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9B6A720-AC26-4B56-37FC-872498781E3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190" tIns="46095" rIns="92190" bIns="46095" numCol="1" anchor="t" anchorCtr="0" compatLnSpc="1">
            <a:prstTxWarp prst="textNoShape">
              <a:avLst/>
            </a:prstTxWarp>
          </a:bodyPr>
          <a:lstStyle>
            <a:lvl1pPr algn="l" defTabSz="922338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A42476C6-2261-CAD8-F534-76214EAA6798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4813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190" tIns="46095" rIns="92190" bIns="46095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3E4AF7A3-0C00-4DE2-B862-34DB2702D7FC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915988" y="744538"/>
            <a:ext cx="4965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6E8E6D83-5AF9-6275-E56E-25667C20C87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4875"/>
            <a:ext cx="5438775" cy="4467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190" tIns="46095" rIns="92190" bIns="4609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4DAEECDB-54F2-8852-C8BF-BB62A767CA4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8163"/>
            <a:ext cx="2944813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190" tIns="46095" rIns="92190" bIns="46095" numCol="1" anchor="b" anchorCtr="0" compatLnSpc="1">
            <a:prstTxWarp prst="textNoShape">
              <a:avLst/>
            </a:prstTxWarp>
          </a:bodyPr>
          <a:lstStyle>
            <a:lvl1pPr algn="l" defTabSz="922338">
              <a:defRPr sz="12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175" name="Rectangle 7">
            <a:extLst>
              <a:ext uri="{FF2B5EF4-FFF2-40B4-BE49-F238E27FC236}">
                <a16:creationId xmlns:a16="http://schemas.microsoft.com/office/drawing/2014/main" id="{FD958E9D-5A2E-8D6A-36C3-92F3604CE8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28163"/>
            <a:ext cx="2944813" cy="496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190" tIns="46095" rIns="92190" bIns="46095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>
                <a:latin typeface="Times New Roman" panose="02020603050405020304" pitchFamily="18" charset="0"/>
              </a:defRPr>
            </a:lvl1pPr>
          </a:lstStyle>
          <a:p>
            <a:fld id="{DDAF4D1C-2B1F-FD43-8071-B5EEB353AB35}" type="slidenum">
              <a:rPr lang="en-GB" altLang="en-US"/>
              <a:pPr/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C00B8918-9E94-586F-B090-84D751267E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22338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defTabSz="922338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2338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2338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2338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defTabSz="9223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defTabSz="9223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defTabSz="9223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defTabSz="922338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B009A9A-3F12-2B45-9582-BBA428EC6583}" type="slidenum">
              <a:rPr lang="en-GB" altLang="en-US" sz="1200">
                <a:latin typeface="Times New Roman" panose="02020603050405020304" pitchFamily="18" charset="0"/>
              </a:rPr>
              <a:pPr/>
              <a:t>1</a:t>
            </a:fld>
            <a:endParaRPr lang="en-GB" altLang="en-US" sz="1200">
              <a:latin typeface="Times New Roman" panose="02020603050405020304" pitchFamily="18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C4F4C1FB-A245-1650-8673-66B8258C2372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xfrm>
            <a:off x="917575" y="744538"/>
            <a:ext cx="4962525" cy="3722687"/>
          </a:xfrm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E69E99C3-D66A-5716-1589-071948CEAE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792C444-2D2D-048E-90D5-5BDD49BAB7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06FEB14-8A98-A43D-CC7B-68CBB9687FF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4D97241-D92A-2916-459C-E96AB2A50A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663BBFB-1F9E-4845-B6DA-055DED2433A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2080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8306755-0889-FE13-DEC7-D9C0DC6EECC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6A94489-51CA-9F27-C967-ED626B35AF7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2F56FC7-0396-9B10-CD59-22DD32CA46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E0680BE-8AC6-DF4F-A5C2-F472A0FBDC5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9931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DD9A141-FD7F-65A9-76E9-8405A824BF4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BB9235A-CBD1-86BC-0BF3-1004BE9912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7097C0B-05EC-FE05-A919-26EE11301C3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5C6EB3-0DBD-C64B-A5C4-62B84360BE9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35068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CC2E0F-6E80-2CFF-CC9D-319FD460CC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34EA47-8F30-BB98-CDB6-AA952B98DC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F6BE01A-ACCB-E795-BF87-604F21C204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C33F58-5771-E047-98A0-F436AC08334B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87939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8814FC2-6617-2517-419B-B0C8A5FAFA7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541A2CC-9182-BF79-57DC-1A623FDED7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B50875D7-0BF0-A262-CE9A-B6C9AEC861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2E9BA93-88F1-3C42-9926-D54F4D9B76E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62900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BED5364-1A27-F872-9C5E-BFEA3AD5221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7B6FCFC-B97D-C2CB-1ED1-390F7E7F73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2AD4622-8E67-D70B-FE4B-E72122691D9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06774B-1590-C048-8A61-4FD2A577CDC1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443184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8EEB1447-45DB-5E79-0FEE-D64E9A86DAD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046BA13E-2893-836E-F7FA-3942940B0F8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5F63488-A0AE-01F8-0634-6FE76453AE2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979304-4832-CA46-B9D9-2F3E96F8E49B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87959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0DED53-6DB4-5B81-F1DD-5F32F28D5E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4BADD9-88AE-2ECE-3F6D-7A7996865B9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5C2321-DB10-B612-7B23-74F43E2C2F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F9DC7D-CCD9-9640-BA01-7F6385EE8D0D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42384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A66696-96DA-A24C-FF1C-243294EED94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6BBAF6-7B4B-2F28-31B6-A35C87F8DBB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D70766-4BEA-4C5A-A351-966DB8E0FC8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FE04AC-7FDB-C049-AB3E-45D826E9D92D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7405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31E1C4A-B3AD-4977-27E3-13E5503D7E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30D053F-9F37-F1D1-C08B-31EDE225D52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53C0360-0CF3-A478-1327-3E61B4A03F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F56FC8A-9835-3D4D-BC78-EFBC86FBE3BB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16710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9388" y="609600"/>
            <a:ext cx="1946275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9118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52F5A7E-8845-92C5-DB79-27A6C48F49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CB09722-3361-E030-D745-E887F028B7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4329246-86A3-6544-3CD1-A093B665F5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ECBF989-9AA0-EA44-86FD-1D506D7573E0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221933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824CB99-C690-81D3-069A-2DA19F1C2C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2B7709B9-8663-CC0D-D28E-56DF67AE0A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B06437F-9D0F-FE55-C6E7-67193BF56DC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1B2DEF-9175-D540-BAA7-53881C48C818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61545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C8107C3E-76C0-912C-76DD-9B716975CB6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495B62B-027A-3A31-469B-640511939F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6BC15C3C-8584-BAF4-D031-55DCE49983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16F723-EE34-464D-A425-37353AAD20F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07242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C366DD3-A1CD-6BDC-429D-094E7496EC2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BEC6740-F9F6-4D05-28F0-FC241C59FD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0CA0EA2C-41D0-5F02-3E12-A921D7D67F9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D4DC0A-89FB-E547-9D31-CF4D809F01FA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56141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B728486-ED7C-11C9-9261-1EDAFD228E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FA874A8-7FE8-958E-B32C-46FED502E6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9EE499CC-EBC3-2CCB-7B10-C75DCDEBD77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397FF5-B0E3-7B45-9B99-977CAF680D85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04000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45B4204A-E005-FA4F-E7E0-82A93446B1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C5234BE8-469C-6457-25F1-9504E5F06B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9BB6CF57-7896-24D2-CFC8-9261056C1F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0A773F-EC8C-2941-8B7E-EDCEFCD6206E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43103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FC03F45-5DB5-D69D-033A-219DECFCC5B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8C910BD-B45D-1754-C8DE-A9FAEDB262B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43321E33-2911-F52A-D14F-64C1E7B593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F7EC63-2540-B849-B9B8-52E2BC43564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443732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3596FBEC-A966-B563-9493-10ED75E08A8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2210683D-CF23-B90C-4AEE-C390052861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A1D0F8B8-1B50-17E0-9379-0FFC68E49E1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DDBAA3-2A27-2F43-B9A4-6A4BB4D7C1AA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660709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396AADC-BCEE-BE97-BF4F-71D9894940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7E1ABBC-E4C5-AE6E-4EC6-76FA035DDCD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D9E353C2-A747-0581-1B77-5C5D95EAE4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F830A9B-F443-8044-B07C-AD419450E7B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55131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D4BA186-116D-F163-BB7D-61D2A8E4809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00EECDB-04BF-F455-20DD-9FDB36D252B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158E42A9-B59B-F5B2-60A8-FC87EA25021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F30E43-1506-DF4A-A3A6-B9070A6455DA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669135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18AA7A3-F0DB-1DC2-5B35-922473BE3A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D68EB17-2A8B-F4F8-2A7A-91B21EC5DCD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46C48A29-C646-CADC-2C9D-5657DB13B8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CED0B3-78BF-C442-BECC-9EE57C8905C7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4936131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29388" y="609600"/>
            <a:ext cx="1946275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9118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3537EBA-44AF-BC57-4C7C-0121A833FB1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124C0C7-8A1A-2D70-91F5-8E1B44FFA2F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F69AC6A-7AAF-D7F1-FC8C-D2CDC313E8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780F6E5-9906-3647-A55B-8247C8F9F5D3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9869276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263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A4B12B-B106-180A-9461-E0FA75A835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087233-C9FB-4129-5B01-11BD7943A61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2B3E16-6447-BFA0-4D8A-4DF507046EF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A72F7F-C353-E54D-AB96-F20EFD0D217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43722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703263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9812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85800" y="41148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1245836F-7E1F-7C82-36B8-8FF1B962A0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99592DFA-01F8-5825-3F18-1FCB16E6669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14FB88CA-D010-149E-4683-152414DA994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2B60A4A-35CD-D64D-869F-B91DD1FD20A6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22474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00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8ED079B-7796-2919-189E-3ED415EF10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72"/>
          <a:stretch>
            <a:fillRect/>
          </a:stretch>
        </p:blipFill>
        <p:spPr bwMode="auto">
          <a:xfrm>
            <a:off x="6894513" y="68263"/>
            <a:ext cx="1898650" cy="617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25A1121C-075F-F54A-7AE5-51FA0FB666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72708" name="Rectangle 4">
            <a:extLst>
              <a:ext uri="{FF2B5EF4-FFF2-40B4-BE49-F238E27FC236}">
                <a16:creationId xmlns:a16="http://schemas.microsoft.com/office/drawing/2014/main" id="{5D5C69FD-03B6-72FA-51B7-CAAC63E1890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2709" name="Rectangle 5">
            <a:extLst>
              <a:ext uri="{FF2B5EF4-FFF2-40B4-BE49-F238E27FC236}">
                <a16:creationId xmlns:a16="http://schemas.microsoft.com/office/drawing/2014/main" id="{28E60EAD-1EA5-25AD-B985-5FEE368F373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2710" name="Rectangle 6">
            <a:extLst>
              <a:ext uri="{FF2B5EF4-FFF2-40B4-BE49-F238E27FC236}">
                <a16:creationId xmlns:a16="http://schemas.microsoft.com/office/drawing/2014/main" id="{824CAEE4-91F8-53E6-2C9E-DAB0D652BC6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248400"/>
            <a:ext cx="24384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FF9900"/>
                </a:solidFill>
                <a:latin typeface="Times New Roman" panose="02020603050405020304" pitchFamily="18" charset="0"/>
              </a:defRPr>
            </a:lvl1pPr>
          </a:lstStyle>
          <a:p>
            <a:fld id="{C7CE9132-11B6-6643-9A7D-7BFA1003AB0B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FCBBBE47-0FFB-5E90-D3DC-ADBCFE3DA7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03263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32" name="Line 8">
            <a:extLst>
              <a:ext uri="{FF2B5EF4-FFF2-40B4-BE49-F238E27FC236}">
                <a16:creationId xmlns:a16="http://schemas.microsoft.com/office/drawing/2014/main" id="{39282F78-2C2F-7784-A631-B861B7DE0439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013" y="381000"/>
            <a:ext cx="661035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33" name="Line 9">
            <a:extLst>
              <a:ext uri="{FF2B5EF4-FFF2-40B4-BE49-F238E27FC236}">
                <a16:creationId xmlns:a16="http://schemas.microsoft.com/office/drawing/2014/main" id="{B512566B-AD1E-88DE-F6A2-326310CBAB76}"/>
              </a:ext>
            </a:extLst>
          </p:cNvPr>
          <p:cNvSpPr>
            <a:spLocks noChangeShapeType="1"/>
          </p:cNvSpPr>
          <p:nvPr/>
        </p:nvSpPr>
        <p:spPr bwMode="auto">
          <a:xfrm>
            <a:off x="354013" y="6477000"/>
            <a:ext cx="843915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B549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B549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B549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B549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FFB549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rgbClr val="FFB54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rgbClr val="FFB54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rgbClr val="FFB54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rgbClr val="FFB54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ebdings" pitchFamily="2" charset="2"/>
        <a:buChar char="&lt;"/>
        <a:defRPr sz="2400" b="1">
          <a:solidFill>
            <a:srgbClr val="FFB549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 b="1">
          <a:solidFill>
            <a:srgbClr val="FFB549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rgbClr val="FFB549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rgbClr val="FFB549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rgbClr val="FFB549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FFB549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FFB549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FFB549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rgbClr val="FFB549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ranlogo blue1">
            <a:extLst>
              <a:ext uri="{FF2B5EF4-FFF2-40B4-BE49-F238E27FC236}">
                <a16:creationId xmlns:a16="http://schemas.microsoft.com/office/drawing/2014/main" id="{8376E7A0-E751-987F-16F0-2144E64352E8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76200"/>
            <a:ext cx="2209800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Line 3">
            <a:extLst>
              <a:ext uri="{FF2B5EF4-FFF2-40B4-BE49-F238E27FC236}">
                <a16:creationId xmlns:a16="http://schemas.microsoft.com/office/drawing/2014/main" id="{E37F9696-908F-2D1D-7D6B-8EA0136E4FAC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381000"/>
            <a:ext cx="6400800" cy="0"/>
          </a:xfrm>
          <a:prstGeom prst="line">
            <a:avLst/>
          </a:prstGeom>
          <a:noFill/>
          <a:ln w="28575">
            <a:solidFill>
              <a:srgbClr val="002E7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694203B1-0791-039B-F656-7F13B39BC1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43365" name="Rectangle 5">
            <a:extLst>
              <a:ext uri="{FF2B5EF4-FFF2-40B4-BE49-F238E27FC236}">
                <a16:creationId xmlns:a16="http://schemas.microsoft.com/office/drawing/2014/main" id="{39C375B5-9F75-4644-BB7F-4780E7AB755B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4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3366" name="Rectangle 6">
            <a:extLst>
              <a:ext uri="{FF2B5EF4-FFF2-40B4-BE49-F238E27FC236}">
                <a16:creationId xmlns:a16="http://schemas.microsoft.com/office/drawing/2014/main" id="{94CFF8AF-BCCE-3690-DAD0-C960A2D78FE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43367" name="Rectangle 7">
            <a:extLst>
              <a:ext uri="{FF2B5EF4-FFF2-40B4-BE49-F238E27FC236}">
                <a16:creationId xmlns:a16="http://schemas.microsoft.com/office/drawing/2014/main" id="{9BF2E8F9-CBB5-A4B0-55BB-8B05F7DE0C67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37944FC-67D8-4E44-AEB5-9916A49B55B8}" type="slidenum">
              <a:rPr lang="en-GB" altLang="en-US"/>
              <a:pPr/>
              <a:t>‹#›</a:t>
            </a:fld>
            <a:endParaRPr lang="en-GB" altLang="en-US"/>
          </a:p>
        </p:txBody>
      </p:sp>
      <p:sp>
        <p:nvSpPr>
          <p:cNvPr id="2056" name="Rectangle 8">
            <a:extLst>
              <a:ext uri="{FF2B5EF4-FFF2-40B4-BE49-F238E27FC236}">
                <a16:creationId xmlns:a16="http://schemas.microsoft.com/office/drawing/2014/main" id="{3E45BC0F-200F-96C8-DEEE-4A1B1B95E9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03263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2057" name="Line 9">
            <a:extLst>
              <a:ext uri="{FF2B5EF4-FFF2-40B4-BE49-F238E27FC236}">
                <a16:creationId xmlns:a16="http://schemas.microsoft.com/office/drawing/2014/main" id="{54CB0EA7-5BB1-AC4A-927B-F84E9B00EEE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" y="6477000"/>
            <a:ext cx="8382000" cy="0"/>
          </a:xfrm>
          <a:prstGeom prst="line">
            <a:avLst/>
          </a:prstGeom>
          <a:noFill/>
          <a:ln w="28575">
            <a:solidFill>
              <a:srgbClr val="002E7A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6699FF"/>
        </a:buClr>
        <a:buFont typeface="Webdings" pitchFamily="2" charset="2"/>
        <a:buChar char="&lt;"/>
        <a:defRPr sz="24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 b="1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400" b="1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 b="1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 b="1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 b="1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 b="1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4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4.emf"/><Relationship Id="rId7" Type="http://schemas.openxmlformats.org/officeDocument/2006/relationships/oleObject" Target="../embeddings/oleObject5.bin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5.emf"/><Relationship Id="rId5" Type="http://schemas.openxmlformats.org/officeDocument/2006/relationships/oleObject" Target="../embeddings/oleObject4.bin"/><Relationship Id="rId4" Type="http://schemas.openxmlformats.org/officeDocument/2006/relationships/oleObject" Target="../embeddings/oleObject3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4.emf"/><Relationship Id="rId7" Type="http://schemas.openxmlformats.org/officeDocument/2006/relationships/oleObject" Target="../embeddings/oleObject5.bin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4.bin"/><Relationship Id="rId4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emf"/><Relationship Id="rId3" Type="http://schemas.openxmlformats.org/officeDocument/2006/relationships/image" Target="../media/image4.emf"/><Relationship Id="rId7" Type="http://schemas.openxmlformats.org/officeDocument/2006/relationships/image" Target="../media/image9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4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8.emf"/><Relationship Id="rId4" Type="http://schemas.openxmlformats.org/officeDocument/2006/relationships/oleObject" Target="../embeddings/oleObject3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image" Target="../media/image4.emf"/><Relationship Id="rId7" Type="http://schemas.openxmlformats.org/officeDocument/2006/relationships/image" Target="../media/image1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4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1.emf"/><Relationship Id="rId4" Type="http://schemas.openxmlformats.org/officeDocument/2006/relationships/oleObject" Target="../embeddings/oleObject3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4.emf"/><Relationship Id="rId7" Type="http://schemas.openxmlformats.org/officeDocument/2006/relationships/image" Target="../media/image15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4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4.e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6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.bin"/><Relationship Id="rId3" Type="http://schemas.openxmlformats.org/officeDocument/2006/relationships/image" Target="../media/image4.emf"/><Relationship Id="rId7" Type="http://schemas.openxmlformats.org/officeDocument/2006/relationships/image" Target="../media/image17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4.x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16.emf"/><Relationship Id="rId4" Type="http://schemas.openxmlformats.org/officeDocument/2006/relationships/oleObject" Target="../embeddings/oleObject3.bin"/><Relationship Id="rId9" Type="http://schemas.openxmlformats.org/officeDocument/2006/relationships/image" Target="../media/image6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4514D6D8-26E4-7766-B6C7-DBD79583BF3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539750" y="1268413"/>
            <a:ext cx="7772400" cy="1143000"/>
          </a:xfrm>
        </p:spPr>
        <p:txBody>
          <a:bodyPr/>
          <a:lstStyle/>
          <a:p>
            <a:br>
              <a:rPr lang="en-GB" altLang="en-US" sz="2400" b="1">
                <a:solidFill>
                  <a:schemeClr val="accent1"/>
                </a:solidFill>
              </a:rPr>
            </a:br>
            <a:br>
              <a:rPr lang="en-GB" altLang="en-US" sz="2400" b="1">
                <a:solidFill>
                  <a:schemeClr val="accent1"/>
                </a:solidFill>
              </a:rPr>
            </a:br>
            <a:r>
              <a:rPr lang="en-GB" altLang="en-US" sz="2400" b="1">
                <a:solidFill>
                  <a:srgbClr val="000000"/>
                </a:solidFill>
              </a:rPr>
              <a:t>CRANFIELD UNIVERSITY</a:t>
            </a:r>
            <a:br>
              <a:rPr lang="en-GB" altLang="en-US" sz="2400" b="1">
                <a:solidFill>
                  <a:srgbClr val="000000"/>
                </a:solidFill>
              </a:rPr>
            </a:br>
            <a:r>
              <a:rPr lang="en-GB" altLang="en-US" sz="2400" b="1">
                <a:solidFill>
                  <a:srgbClr val="000000"/>
                </a:solidFill>
              </a:rPr>
              <a:t>Applied Mathematics and Computing Group (AMAC)</a:t>
            </a:r>
            <a:br>
              <a:rPr lang="en-GB" altLang="en-US" sz="2400" b="1">
                <a:solidFill>
                  <a:srgbClr val="000000"/>
                </a:solidFill>
              </a:rPr>
            </a:br>
            <a:br>
              <a:rPr lang="en-GB" altLang="en-US" sz="4000" b="1">
                <a:solidFill>
                  <a:srgbClr val="000000"/>
                </a:solidFill>
              </a:rPr>
            </a:br>
            <a:r>
              <a:rPr lang="en-GB" altLang="en-US" sz="4000" b="1">
                <a:solidFill>
                  <a:srgbClr val="000000"/>
                </a:solidFill>
              </a:rPr>
              <a:t>Multi-stepping procedure  </a:t>
            </a:r>
            <a:br>
              <a:rPr lang="en-GB" altLang="en-US" sz="4000" b="1">
                <a:solidFill>
                  <a:srgbClr val="000000"/>
                </a:solidFill>
              </a:rPr>
            </a:br>
            <a:r>
              <a:rPr lang="en-GB" altLang="en-US" sz="4000" b="1">
                <a:solidFill>
                  <a:srgbClr val="000000"/>
                </a:solidFill>
              </a:rPr>
              <a:t>ICECREMO </a:t>
            </a:r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A7D3F530-CB42-DA74-1B9C-A442D1B3315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0" y="3860800"/>
            <a:ext cx="9144000" cy="3241675"/>
          </a:xfrm>
        </p:spPr>
        <p:txBody>
          <a:bodyPr/>
          <a:lstStyle/>
          <a:p>
            <a:endParaRPr lang="en-GB" altLang="en-US" sz="3200"/>
          </a:p>
          <a:p>
            <a:r>
              <a:rPr lang="en-GB" altLang="en-US">
                <a:solidFill>
                  <a:srgbClr val="000000"/>
                </a:solidFill>
              </a:rPr>
              <a:t>Patrick Verdin &amp; Chris Thompson</a:t>
            </a:r>
          </a:p>
          <a:p>
            <a:endParaRPr lang="en-GB" altLang="en-US">
              <a:solidFill>
                <a:srgbClr val="000000"/>
              </a:solidFill>
            </a:endParaRPr>
          </a:p>
          <a:p>
            <a:endParaRPr lang="en-GB" altLang="en-US" sz="3200" b="0"/>
          </a:p>
          <a:p>
            <a:r>
              <a:rPr lang="en-GB" altLang="en-US" sz="2000" b="0"/>
              <a:t>                                                                     </a:t>
            </a:r>
            <a:r>
              <a:rPr lang="en-GB" altLang="en-US" sz="1800" b="0">
                <a:solidFill>
                  <a:srgbClr val="000000"/>
                </a:solidFill>
              </a:rPr>
              <a:t>Bristol, 27 February 2006</a:t>
            </a:r>
          </a:p>
          <a:p>
            <a:pPr algn="l"/>
            <a:endParaRPr lang="en-GB" altLang="en-US" sz="3200" b="0">
              <a:solidFill>
                <a:schemeClr val="accent1"/>
              </a:solidFill>
            </a:endParaRPr>
          </a:p>
        </p:txBody>
      </p:sp>
      <p:sp>
        <p:nvSpPr>
          <p:cNvPr id="3076" name="Text Box 5">
            <a:extLst>
              <a:ext uri="{FF2B5EF4-FFF2-40B4-BE49-F238E27FC236}">
                <a16:creationId xmlns:a16="http://schemas.microsoft.com/office/drawing/2014/main" id="{1B21B22B-6327-447D-3238-73C9380E8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16913" y="4581525"/>
            <a:ext cx="4318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50000"/>
              </a:spcBef>
            </a:pPr>
            <a:endParaRPr lang="fr-FR" altLang="en-US" b="1">
              <a:latin typeface="Times New Roman" panose="02020603050405020304" pitchFamily="18" charset="0"/>
            </a:endParaRPr>
          </a:p>
        </p:txBody>
      </p:sp>
      <p:graphicFrame>
        <p:nvGraphicFramePr>
          <p:cNvPr id="3077" name="Object 6">
            <a:extLst>
              <a:ext uri="{FF2B5EF4-FFF2-40B4-BE49-F238E27FC236}">
                <a16:creationId xmlns:a16="http://schemas.microsoft.com/office/drawing/2014/main" id="{6751A062-E60A-CCB8-FBB2-89CFEB728FD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628900" imgH="4102100" progId="Equation.DSMT4">
                  <p:embed/>
                </p:oleObj>
              </mc:Choice>
              <mc:Fallback>
                <p:oleObj name="Equation" r:id="rId3" imgW="2628900" imgH="41021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8" name="Rectangle 7">
            <a:extLst>
              <a:ext uri="{FF2B5EF4-FFF2-40B4-BE49-F238E27FC236}">
                <a16:creationId xmlns:a16="http://schemas.microsoft.com/office/drawing/2014/main" id="{6FAEC039-E0F4-9E8B-0D5A-D7D87B851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213" y="2060575"/>
            <a:ext cx="7704137" cy="1584325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>
            <a:extLst>
              <a:ext uri="{FF2B5EF4-FFF2-40B4-BE49-F238E27FC236}">
                <a16:creationId xmlns:a16="http://schemas.microsoft.com/office/drawing/2014/main" id="{9F8BE437-D8C3-80D2-D6EC-67973FEEF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9C7A537-E922-DF4A-A1C8-56DF4B6A1C8C}" type="slidenum">
              <a:rPr lang="en-GB" altLang="en-US" sz="1400">
                <a:latin typeface="Times New Roman" panose="02020603050405020304" pitchFamily="18" charset="0"/>
              </a:rPr>
              <a:pPr/>
              <a:t>2</a:t>
            </a:fld>
            <a:endParaRPr lang="en-GB" altLang="en-US" sz="1400">
              <a:latin typeface="Times New Roman" panose="02020603050405020304" pitchFamily="18" charset="0"/>
            </a:endParaRP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F7B07A66-2996-D92B-D2AB-99E9E71622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88913"/>
            <a:ext cx="9144000" cy="1563687"/>
          </a:xfrm>
        </p:spPr>
        <p:txBody>
          <a:bodyPr/>
          <a:lstStyle/>
          <a:p>
            <a:br>
              <a:rPr lang="en-GB" altLang="en-US" sz="2800" b="1">
                <a:solidFill>
                  <a:srgbClr val="000000"/>
                </a:solidFill>
              </a:rPr>
            </a:br>
            <a:br>
              <a:rPr lang="en-GB" altLang="en-US" sz="2800" b="1">
                <a:solidFill>
                  <a:srgbClr val="000000"/>
                </a:solidFill>
              </a:rPr>
            </a:br>
            <a:r>
              <a:rPr lang="en-GB" altLang="en-US" sz="2800" b="1">
                <a:solidFill>
                  <a:srgbClr val="000000"/>
                </a:solidFill>
              </a:rPr>
              <a:t> </a:t>
            </a:r>
            <a:r>
              <a:rPr lang="en-GB" altLang="en-US" sz="3200" b="1">
                <a:solidFill>
                  <a:srgbClr val="000000"/>
                </a:solidFill>
                <a:latin typeface="Arial Black" panose="020B0604020202020204" pitchFamily="34" charset="0"/>
              </a:rPr>
              <a:t>Review Multi-stepping</a:t>
            </a:r>
            <a:r>
              <a:rPr lang="en-GB" altLang="en-US" sz="2400">
                <a:solidFill>
                  <a:srgbClr val="000000"/>
                </a:solidFill>
              </a:rPr>
              <a:t> </a:t>
            </a:r>
            <a:br>
              <a:rPr lang="en-GB" altLang="en-US" sz="4000">
                <a:solidFill>
                  <a:srgbClr val="000000"/>
                </a:solidFill>
              </a:rPr>
            </a:br>
            <a:r>
              <a:rPr lang="en-GB" altLang="en-US" sz="4000">
                <a:solidFill>
                  <a:srgbClr val="000000"/>
                </a:solidFill>
              </a:rPr>
              <a:t>ICECREMO 1</a:t>
            </a:r>
          </a:p>
        </p:txBody>
      </p:sp>
      <p:sp>
        <p:nvSpPr>
          <p:cNvPr id="4100" name="Rectangle 3">
            <a:extLst>
              <a:ext uri="{FF2B5EF4-FFF2-40B4-BE49-F238E27FC236}">
                <a16:creationId xmlns:a16="http://schemas.microsoft.com/office/drawing/2014/main" id="{7ACE11C2-EB9F-39B9-3B1A-93B601F562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484313"/>
            <a:ext cx="9144000" cy="5905500"/>
          </a:xfrm>
        </p:spPr>
        <p:txBody>
          <a:bodyPr/>
          <a:lstStyle/>
          <a:p>
            <a:pPr>
              <a:buFont typeface="Webdings" pitchFamily="2" charset="2"/>
              <a:buNone/>
            </a:pPr>
            <a:endParaRPr lang="en-GB" altLang="en-US" sz="2000">
              <a:solidFill>
                <a:srgbClr val="000000"/>
              </a:solidFill>
            </a:endParaRPr>
          </a:p>
          <a:p>
            <a:pPr lvl="2">
              <a:buClr>
                <a:schemeClr val="tx1"/>
              </a:buClr>
              <a:buFont typeface="Wingdings" pitchFamily="2" charset="2"/>
              <a:buNone/>
            </a:pPr>
            <a:endParaRPr lang="en-GB" altLang="en-US" sz="2000">
              <a:solidFill>
                <a:srgbClr val="000000"/>
              </a:solidFill>
            </a:endParaRPr>
          </a:p>
          <a:p>
            <a:pPr lvl="2">
              <a:buClr>
                <a:srgbClr val="000000"/>
              </a:buClr>
              <a:buFont typeface="Wingdings" pitchFamily="2" charset="2"/>
              <a:buChar char="q"/>
            </a:pPr>
            <a:endParaRPr lang="en-GB" altLang="en-US" sz="2800">
              <a:solidFill>
                <a:srgbClr val="000000"/>
              </a:solidFill>
            </a:endParaRPr>
          </a:p>
          <a:p>
            <a:pPr lvl="2">
              <a:buClr>
                <a:srgbClr val="000000"/>
              </a:buClr>
              <a:buFont typeface="Wingdings" pitchFamily="2" charset="2"/>
              <a:buChar char="Ø"/>
            </a:pPr>
            <a:r>
              <a:rPr lang="en-GB" altLang="en-US" sz="2800">
                <a:solidFill>
                  <a:srgbClr val="000000"/>
                </a:solidFill>
              </a:rPr>
              <a:t> </a:t>
            </a:r>
            <a:r>
              <a:rPr lang="en-GB" altLang="en-US">
                <a:solidFill>
                  <a:srgbClr val="000000"/>
                </a:solidFill>
              </a:rPr>
              <a:t>Procedure successfully implemented</a:t>
            </a:r>
          </a:p>
          <a:p>
            <a:pPr lvl="2">
              <a:buClr>
                <a:srgbClr val="000000"/>
              </a:buClr>
              <a:buFont typeface="Wingdings" pitchFamily="2" charset="2"/>
              <a:buChar char="Ø"/>
            </a:pPr>
            <a:r>
              <a:rPr lang="en-GB" altLang="en-US">
                <a:solidFill>
                  <a:srgbClr val="000000"/>
                </a:solidFill>
              </a:rPr>
              <a:t> Fully automated</a:t>
            </a:r>
          </a:p>
          <a:p>
            <a:pPr lvl="2">
              <a:buClr>
                <a:srgbClr val="000000"/>
              </a:buClr>
              <a:buFont typeface="Wingdings" pitchFamily="2" charset="2"/>
              <a:buChar char="Ø"/>
            </a:pPr>
            <a:r>
              <a:rPr lang="en-GB" altLang="en-US">
                <a:solidFill>
                  <a:srgbClr val="000000"/>
                </a:solidFill>
              </a:rPr>
              <a:t> UNIX operating system</a:t>
            </a:r>
          </a:p>
          <a:p>
            <a:pPr lvl="2">
              <a:buClr>
                <a:srgbClr val="000000"/>
              </a:buClr>
              <a:buFont typeface="Wingdings" pitchFamily="2" charset="2"/>
              <a:buChar char="Ø"/>
            </a:pPr>
            <a:r>
              <a:rPr lang="en-GB" altLang="en-US">
                <a:solidFill>
                  <a:srgbClr val="000000"/>
                </a:solidFill>
              </a:rPr>
              <a:t> Language: FORTRAN77</a:t>
            </a:r>
          </a:p>
          <a:p>
            <a:pPr lvl="2">
              <a:buClr>
                <a:srgbClr val="000000"/>
              </a:buClr>
              <a:buFont typeface="Wingdings" pitchFamily="2" charset="2"/>
              <a:buChar char="Ø"/>
            </a:pPr>
            <a:r>
              <a:rPr lang="en-GB" altLang="en-US">
                <a:solidFill>
                  <a:srgbClr val="000000"/>
                </a:solidFill>
              </a:rPr>
              <a:t> Criterion for Restart based on Time</a:t>
            </a:r>
          </a:p>
          <a:p>
            <a:pPr lvl="3">
              <a:buClr>
                <a:srgbClr val="000000"/>
              </a:buClr>
              <a:buFont typeface="Wingdings" pitchFamily="2" charset="2"/>
              <a:buNone/>
            </a:pPr>
            <a:endParaRPr lang="en-GB" altLang="en-US">
              <a:solidFill>
                <a:srgbClr val="000000"/>
              </a:solidFill>
            </a:endParaRPr>
          </a:p>
          <a:p>
            <a:pPr lvl="2">
              <a:buClr>
                <a:schemeClr val="tx1"/>
              </a:buClr>
              <a:buFont typeface="Wingdings" pitchFamily="2" charset="2"/>
              <a:buNone/>
            </a:pPr>
            <a:endParaRPr lang="en-GB" altLang="en-US" sz="3600">
              <a:solidFill>
                <a:srgbClr val="000000"/>
              </a:solidFill>
            </a:endParaRPr>
          </a:p>
          <a:p>
            <a:endParaRPr lang="en-GB" altLang="en-US" sz="1500" b="0"/>
          </a:p>
          <a:p>
            <a:endParaRPr lang="en-GB" altLang="en-US" sz="200"/>
          </a:p>
          <a:p>
            <a:endParaRPr lang="en-GB" altLang="en-US" sz="200"/>
          </a:p>
          <a:p>
            <a:endParaRPr lang="en-GB" altLang="en-US" sz="200"/>
          </a:p>
          <a:p>
            <a:endParaRPr lang="en-GB" altLang="en-US" sz="200"/>
          </a:p>
          <a:p>
            <a:endParaRPr lang="en-GB" altLang="en-US" sz="200"/>
          </a:p>
          <a:p>
            <a:endParaRPr lang="en-GB" altLang="en-US" sz="200"/>
          </a:p>
          <a:p>
            <a:pPr>
              <a:buFont typeface="Webdings" pitchFamily="2" charset="2"/>
              <a:buNone/>
            </a:pPr>
            <a:r>
              <a:rPr lang="en-GB" altLang="en-US" sz="200"/>
              <a:t>	</a:t>
            </a:r>
          </a:p>
          <a:p>
            <a:pPr>
              <a:buFont typeface="Webdings" pitchFamily="2" charset="2"/>
              <a:buNone/>
            </a:pPr>
            <a:endParaRPr lang="en-GB" altLang="en-US" sz="200"/>
          </a:p>
          <a:p>
            <a:endParaRPr lang="en-GB" altLang="en-US" sz="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3">
            <a:extLst>
              <a:ext uri="{FF2B5EF4-FFF2-40B4-BE49-F238E27FC236}">
                <a16:creationId xmlns:a16="http://schemas.microsoft.com/office/drawing/2014/main" id="{37645ABB-0384-D876-7166-3F1FB1F68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B026248-B68D-154E-98B6-6D6EAFF2CB16}" type="slidenum">
              <a:rPr lang="en-GB" altLang="en-US" sz="1400">
                <a:latin typeface="Times New Roman" panose="02020603050405020304" pitchFamily="18" charset="0"/>
              </a:rPr>
              <a:pPr/>
              <a:t>3</a:t>
            </a:fld>
            <a:endParaRPr lang="en-GB" altLang="en-US" sz="1400">
              <a:latin typeface="Times New Roman" panose="02020603050405020304" pitchFamily="18" charset="0"/>
            </a:endParaRPr>
          </a:p>
        </p:txBody>
      </p:sp>
      <p:sp>
        <p:nvSpPr>
          <p:cNvPr id="5123" name="AutoShape 8">
            <a:extLst>
              <a:ext uri="{FF2B5EF4-FFF2-40B4-BE49-F238E27FC236}">
                <a16:creationId xmlns:a16="http://schemas.microsoft.com/office/drawing/2014/main" id="{5A5BD2B1-F24B-3242-D4DA-24AC9CD505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888" y="5949950"/>
            <a:ext cx="1150937" cy="431800"/>
          </a:xfrm>
          <a:prstGeom prst="roundRect">
            <a:avLst>
              <a:gd name="adj" fmla="val 16667"/>
            </a:avLst>
          </a:prstGeom>
          <a:solidFill>
            <a:srgbClr val="99CC00"/>
          </a:solidFill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1">
                <a:solidFill>
                  <a:srgbClr val="000000"/>
                </a:solidFill>
              </a:rPr>
              <a:t>End</a:t>
            </a:r>
          </a:p>
        </p:txBody>
      </p:sp>
      <p:sp>
        <p:nvSpPr>
          <p:cNvPr id="5124" name="Rectangle 9">
            <a:extLst>
              <a:ext uri="{FF2B5EF4-FFF2-40B4-BE49-F238E27FC236}">
                <a16:creationId xmlns:a16="http://schemas.microsoft.com/office/drawing/2014/main" id="{19BD933D-F377-EFBE-EDC6-86C08975E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4525" y="2781300"/>
            <a:ext cx="1871663" cy="790575"/>
          </a:xfrm>
          <a:prstGeom prst="rect">
            <a:avLst/>
          </a:prstGeom>
          <a:solidFill>
            <a:srgbClr val="FF9900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1">
                <a:solidFill>
                  <a:srgbClr val="000000"/>
                </a:solidFill>
              </a:rPr>
              <a:t>Geometry</a:t>
            </a:r>
          </a:p>
          <a:p>
            <a:pPr eaLnBrk="1" hangingPunct="1"/>
            <a:r>
              <a:rPr lang="en-GB" altLang="en-US" sz="1800" b="1">
                <a:solidFill>
                  <a:srgbClr val="000000"/>
                </a:solidFill>
              </a:rPr>
              <a:t>Update</a:t>
            </a:r>
          </a:p>
        </p:txBody>
      </p:sp>
      <p:sp>
        <p:nvSpPr>
          <p:cNvPr id="5125" name="Text Box 13">
            <a:extLst>
              <a:ext uri="{FF2B5EF4-FFF2-40B4-BE49-F238E27FC236}">
                <a16:creationId xmlns:a16="http://schemas.microsoft.com/office/drawing/2014/main" id="{D4D94093-9ADF-0348-E424-B98491FA02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4076700"/>
            <a:ext cx="863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GB" altLang="en-US" sz="1400" b="1">
                <a:solidFill>
                  <a:srgbClr val="000000"/>
                </a:solidFill>
              </a:rPr>
              <a:t>yes</a:t>
            </a:r>
          </a:p>
        </p:txBody>
      </p:sp>
      <p:sp>
        <p:nvSpPr>
          <p:cNvPr id="5126" name="Text Box 14">
            <a:extLst>
              <a:ext uri="{FF2B5EF4-FFF2-40B4-BE49-F238E27FC236}">
                <a16:creationId xmlns:a16="http://schemas.microsoft.com/office/drawing/2014/main" id="{B8C10B39-96DE-4048-FE0F-4137F142F4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4025" y="5661025"/>
            <a:ext cx="863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GB" altLang="en-US" sz="1400" b="1">
                <a:solidFill>
                  <a:srgbClr val="000000"/>
                </a:solidFill>
              </a:rPr>
              <a:t>no</a:t>
            </a:r>
          </a:p>
        </p:txBody>
      </p:sp>
      <p:sp>
        <p:nvSpPr>
          <p:cNvPr id="5127" name="Line 26">
            <a:extLst>
              <a:ext uri="{FF2B5EF4-FFF2-40B4-BE49-F238E27FC236}">
                <a16:creationId xmlns:a16="http://schemas.microsoft.com/office/drawing/2014/main" id="{CA40F861-F0FD-B2B0-7761-3E1CE7717C92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7675" y="5300663"/>
            <a:ext cx="26638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28" name="Text Box 28">
            <a:extLst>
              <a:ext uri="{FF2B5EF4-FFF2-40B4-BE49-F238E27FC236}">
                <a16:creationId xmlns:a16="http://schemas.microsoft.com/office/drawing/2014/main" id="{FFC989D0-DE7C-6672-150B-38B72A97F5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038" y="549275"/>
            <a:ext cx="48244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GB" altLang="en-US" sz="2400" b="1">
                <a:solidFill>
                  <a:srgbClr val="000000"/>
                </a:solidFill>
                <a:latin typeface="Arial Black" panose="020B0604020202020204" pitchFamily="34" charset="0"/>
              </a:rPr>
              <a:t>ALGORITHM ICECREMO1</a:t>
            </a:r>
            <a:endParaRPr lang="en-US" altLang="en-US" sz="2400" b="1">
              <a:solidFill>
                <a:srgbClr val="000000"/>
              </a:solidFill>
              <a:latin typeface="Arial Black" panose="020B0604020202020204" pitchFamily="34" charset="0"/>
            </a:endParaRPr>
          </a:p>
        </p:txBody>
      </p:sp>
      <p:sp>
        <p:nvSpPr>
          <p:cNvPr id="5129" name="AutoShape 29">
            <a:extLst>
              <a:ext uri="{FF2B5EF4-FFF2-40B4-BE49-F238E27FC236}">
                <a16:creationId xmlns:a16="http://schemas.microsoft.com/office/drawing/2014/main" id="{7474EECA-AD8B-D902-1956-D4576C61D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693738"/>
            <a:ext cx="1150938" cy="431800"/>
          </a:xfrm>
          <a:prstGeom prst="roundRect">
            <a:avLst>
              <a:gd name="adj" fmla="val 16667"/>
            </a:avLst>
          </a:prstGeom>
          <a:solidFill>
            <a:srgbClr val="99CC00"/>
          </a:solidFill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1">
                <a:solidFill>
                  <a:srgbClr val="000000"/>
                </a:solidFill>
              </a:rPr>
              <a:t>Start</a:t>
            </a:r>
          </a:p>
        </p:txBody>
      </p:sp>
      <p:sp>
        <p:nvSpPr>
          <p:cNvPr id="5130" name="Rectangle 30">
            <a:extLst>
              <a:ext uri="{FF2B5EF4-FFF2-40B4-BE49-F238E27FC236}">
                <a16:creationId xmlns:a16="http://schemas.microsoft.com/office/drawing/2014/main" id="{98B9374E-39DF-DC1E-4E66-E32751B2AB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1341438"/>
            <a:ext cx="2879725" cy="503237"/>
          </a:xfrm>
          <a:prstGeom prst="rect">
            <a:avLst/>
          </a:prstGeom>
          <a:solidFill>
            <a:srgbClr val="FF9900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1">
                <a:solidFill>
                  <a:srgbClr val="000000"/>
                </a:solidFill>
              </a:rPr>
              <a:t>Define Substrate</a:t>
            </a:r>
          </a:p>
        </p:txBody>
      </p:sp>
      <p:sp>
        <p:nvSpPr>
          <p:cNvPr id="5131" name="Rectangle 31">
            <a:extLst>
              <a:ext uri="{FF2B5EF4-FFF2-40B4-BE49-F238E27FC236}">
                <a16:creationId xmlns:a16="http://schemas.microsoft.com/office/drawing/2014/main" id="{A4AB0282-2B71-4E1A-4E58-1BC4DB64BC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205038"/>
            <a:ext cx="2879725" cy="503237"/>
          </a:xfrm>
          <a:prstGeom prst="rect">
            <a:avLst/>
          </a:prstGeom>
          <a:solidFill>
            <a:srgbClr val="FF9900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1">
                <a:solidFill>
                  <a:srgbClr val="000000"/>
                </a:solidFill>
              </a:rPr>
              <a:t>Create Mesh (GAMBIT)</a:t>
            </a:r>
            <a:r>
              <a:rPr lang="en-GB" altLang="en-US" sz="1800"/>
              <a:t> </a:t>
            </a:r>
          </a:p>
        </p:txBody>
      </p:sp>
      <p:sp>
        <p:nvSpPr>
          <p:cNvPr id="5132" name="Rectangle 32">
            <a:extLst>
              <a:ext uri="{FF2B5EF4-FFF2-40B4-BE49-F238E27FC236}">
                <a16:creationId xmlns:a16="http://schemas.microsoft.com/office/drawing/2014/main" id="{E37081C5-67B9-5BDD-E9EA-5B1E3B6ED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3644900"/>
            <a:ext cx="2879725" cy="503238"/>
          </a:xfrm>
          <a:prstGeom prst="rect">
            <a:avLst/>
          </a:prstGeom>
          <a:solidFill>
            <a:srgbClr val="FF9900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1">
                <a:solidFill>
                  <a:srgbClr val="000000"/>
                </a:solidFill>
              </a:rPr>
              <a:t>Int. FLUENT/ICECREMO1</a:t>
            </a:r>
          </a:p>
        </p:txBody>
      </p:sp>
      <p:sp>
        <p:nvSpPr>
          <p:cNvPr id="5133" name="Line 33">
            <a:extLst>
              <a:ext uri="{FF2B5EF4-FFF2-40B4-BE49-F238E27FC236}">
                <a16:creationId xmlns:a16="http://schemas.microsoft.com/office/drawing/2014/main" id="{AEEA980D-4C55-37F2-699C-6FAD29CA5035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2638" y="1125538"/>
            <a:ext cx="0" cy="2174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4" name="Line 34">
            <a:extLst>
              <a:ext uri="{FF2B5EF4-FFF2-40B4-BE49-F238E27FC236}">
                <a16:creationId xmlns:a16="http://schemas.microsoft.com/office/drawing/2014/main" id="{BE7EF610-4CE0-FE3E-1D94-A127BEB9266A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2638" y="2709863"/>
            <a:ext cx="0" cy="2174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5" name="Line 35">
            <a:extLst>
              <a:ext uri="{FF2B5EF4-FFF2-40B4-BE49-F238E27FC236}">
                <a16:creationId xmlns:a16="http://schemas.microsoft.com/office/drawing/2014/main" id="{93B7DDB0-ABCF-B484-F777-9F6766E503D2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1050" y="3429000"/>
            <a:ext cx="0" cy="2174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6" name="Line 36">
            <a:extLst>
              <a:ext uri="{FF2B5EF4-FFF2-40B4-BE49-F238E27FC236}">
                <a16:creationId xmlns:a16="http://schemas.microsoft.com/office/drawing/2014/main" id="{14B7B420-6778-3817-E3EB-8C9025CA3BCC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3000" y="4868863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7" name="Line 37">
            <a:extLst>
              <a:ext uri="{FF2B5EF4-FFF2-40B4-BE49-F238E27FC236}">
                <a16:creationId xmlns:a16="http://schemas.microsoft.com/office/drawing/2014/main" id="{DBCDD711-24FE-B14F-9E2A-57F9BC4218B3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2638" y="1844675"/>
            <a:ext cx="0" cy="36036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8" name="Rectangle 38">
            <a:extLst>
              <a:ext uri="{FF2B5EF4-FFF2-40B4-BE49-F238E27FC236}">
                <a16:creationId xmlns:a16="http://schemas.microsoft.com/office/drawing/2014/main" id="{C3FDD79D-E378-8C97-420F-DEE1E3339F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5084763"/>
            <a:ext cx="1871662" cy="790575"/>
          </a:xfrm>
          <a:prstGeom prst="rect">
            <a:avLst/>
          </a:prstGeom>
          <a:solidFill>
            <a:srgbClr val="FF9900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1">
                <a:solidFill>
                  <a:srgbClr val="000000"/>
                </a:solidFill>
              </a:rPr>
              <a:t>Restart File</a:t>
            </a:r>
          </a:p>
        </p:txBody>
      </p:sp>
      <p:sp>
        <p:nvSpPr>
          <p:cNvPr id="5139" name="Rectangle 39">
            <a:extLst>
              <a:ext uri="{FF2B5EF4-FFF2-40B4-BE49-F238E27FC236}">
                <a16:creationId xmlns:a16="http://schemas.microsoft.com/office/drawing/2014/main" id="{C14E2A0F-AF94-5454-2CB6-9B14FC675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2925763"/>
            <a:ext cx="2879725" cy="503237"/>
          </a:xfrm>
          <a:prstGeom prst="rect">
            <a:avLst/>
          </a:prstGeom>
          <a:solidFill>
            <a:srgbClr val="FF9900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1">
                <a:solidFill>
                  <a:srgbClr val="000000"/>
                </a:solidFill>
              </a:rPr>
              <a:t>Solve Flow (FLUENT)</a:t>
            </a:r>
          </a:p>
        </p:txBody>
      </p:sp>
      <p:sp>
        <p:nvSpPr>
          <p:cNvPr id="5140" name="Rectangle 40">
            <a:extLst>
              <a:ext uri="{FF2B5EF4-FFF2-40B4-BE49-F238E27FC236}">
                <a16:creationId xmlns:a16="http://schemas.microsoft.com/office/drawing/2014/main" id="{7DE9EFE6-EFD6-326E-784C-871C4BD8B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650" y="4365625"/>
            <a:ext cx="2879725" cy="503238"/>
          </a:xfrm>
          <a:prstGeom prst="rect">
            <a:avLst/>
          </a:prstGeom>
          <a:solidFill>
            <a:srgbClr val="FF9900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1">
                <a:solidFill>
                  <a:srgbClr val="000000"/>
                </a:solidFill>
              </a:rPr>
              <a:t>Predict Ice (ICECREMO1)</a:t>
            </a:r>
          </a:p>
        </p:txBody>
      </p:sp>
      <p:sp>
        <p:nvSpPr>
          <p:cNvPr id="5141" name="Line 41">
            <a:extLst>
              <a:ext uri="{FF2B5EF4-FFF2-40B4-BE49-F238E27FC236}">
                <a16:creationId xmlns:a16="http://schemas.microsoft.com/office/drawing/2014/main" id="{B8C7AE32-70CA-23EE-EEE0-2E53ED3E549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2638" y="4149725"/>
            <a:ext cx="0" cy="2174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42" name="Line 42">
            <a:extLst>
              <a:ext uri="{FF2B5EF4-FFF2-40B4-BE49-F238E27FC236}">
                <a16:creationId xmlns:a16="http://schemas.microsoft.com/office/drawing/2014/main" id="{62B4C356-A598-E715-141E-45A76B262B52}"/>
              </a:ext>
            </a:extLst>
          </p:cNvPr>
          <p:cNvSpPr>
            <a:spLocks noChangeShapeType="1"/>
          </p:cNvSpPr>
          <p:nvPr/>
        </p:nvSpPr>
        <p:spPr bwMode="auto">
          <a:xfrm>
            <a:off x="2052638" y="4868863"/>
            <a:ext cx="0" cy="2174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43" name="AutoShape 45">
            <a:extLst>
              <a:ext uri="{FF2B5EF4-FFF2-40B4-BE49-F238E27FC236}">
                <a16:creationId xmlns:a16="http://schemas.microsoft.com/office/drawing/2014/main" id="{6F1B97D7-20E2-1F8C-C96B-15D0F06F40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4868863"/>
            <a:ext cx="2087563" cy="865187"/>
          </a:xfrm>
          <a:prstGeom prst="diamond">
            <a:avLst/>
          </a:prstGeom>
          <a:solidFill>
            <a:srgbClr val="FF9900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GB" altLang="en-US" sz="1800" b="1">
                <a:solidFill>
                  <a:srgbClr val="000000"/>
                </a:solidFill>
              </a:rPr>
              <a:t>Multi-step</a:t>
            </a:r>
            <a:endParaRPr lang="en-US" altLang="en-US" sz="1800" b="1">
              <a:solidFill>
                <a:srgbClr val="000000"/>
              </a:solidFill>
            </a:endParaRPr>
          </a:p>
        </p:txBody>
      </p:sp>
      <p:sp>
        <p:nvSpPr>
          <p:cNvPr id="5144" name="Line 48">
            <a:extLst>
              <a:ext uri="{FF2B5EF4-FFF2-40B4-BE49-F238E27FC236}">
                <a16:creationId xmlns:a16="http://schemas.microsoft.com/office/drawing/2014/main" id="{7DCA2FA0-695B-D425-32F1-D3A63207F2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59563" y="3573463"/>
            <a:ext cx="0" cy="12954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45" name="Line 51">
            <a:extLst>
              <a:ext uri="{FF2B5EF4-FFF2-40B4-BE49-F238E27FC236}">
                <a16:creationId xmlns:a16="http://schemas.microsoft.com/office/drawing/2014/main" id="{AAB39281-C7C9-924C-58A0-714D2A05A68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59563" y="1268413"/>
            <a:ext cx="0" cy="15128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46" name="Line 52">
            <a:extLst>
              <a:ext uri="{FF2B5EF4-FFF2-40B4-BE49-F238E27FC236}">
                <a16:creationId xmlns:a16="http://schemas.microsoft.com/office/drawing/2014/main" id="{FA226F98-384C-F4A9-5FE4-D21CB10082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051050" y="1268413"/>
            <a:ext cx="4608513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47" name="Line 53">
            <a:extLst>
              <a:ext uri="{FF2B5EF4-FFF2-40B4-BE49-F238E27FC236}">
                <a16:creationId xmlns:a16="http://schemas.microsoft.com/office/drawing/2014/main" id="{560AD524-10BE-8857-44A5-2A2552FD9213}"/>
              </a:ext>
            </a:extLst>
          </p:cNvPr>
          <p:cNvSpPr>
            <a:spLocks noChangeShapeType="1"/>
          </p:cNvSpPr>
          <p:nvPr/>
        </p:nvSpPr>
        <p:spPr bwMode="auto">
          <a:xfrm>
            <a:off x="6659563" y="5734050"/>
            <a:ext cx="0" cy="2159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>
            <a:extLst>
              <a:ext uri="{FF2B5EF4-FFF2-40B4-BE49-F238E27FC236}">
                <a16:creationId xmlns:a16="http://schemas.microsoft.com/office/drawing/2014/main" id="{A47D3799-3351-9532-9A4C-457B15675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83734F1-743D-894B-8B6C-0D5B2134A9BA}" type="slidenum">
              <a:rPr lang="en-GB" altLang="en-US" sz="1400">
                <a:latin typeface="Times New Roman" panose="02020603050405020304" pitchFamily="18" charset="0"/>
              </a:rPr>
              <a:pPr/>
              <a:t>4</a:t>
            </a:fld>
            <a:endParaRPr lang="en-GB" altLang="en-US" sz="1400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28C34D2F-AD54-DE08-AC43-54881C0223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88913"/>
            <a:ext cx="9144000" cy="1563687"/>
          </a:xfrm>
        </p:spPr>
        <p:txBody>
          <a:bodyPr/>
          <a:lstStyle/>
          <a:p>
            <a:br>
              <a:rPr lang="en-GB" altLang="en-US" sz="2800" b="1">
                <a:solidFill>
                  <a:srgbClr val="000000"/>
                </a:solidFill>
              </a:rPr>
            </a:br>
            <a:br>
              <a:rPr lang="en-GB" altLang="en-US" sz="2800" b="1">
                <a:solidFill>
                  <a:srgbClr val="000000"/>
                </a:solidFill>
              </a:rPr>
            </a:br>
            <a:r>
              <a:rPr lang="en-GB" altLang="en-US" sz="2800" b="1">
                <a:solidFill>
                  <a:srgbClr val="000000"/>
                </a:solidFill>
              </a:rPr>
              <a:t> </a:t>
            </a:r>
            <a:r>
              <a:rPr lang="en-GB" altLang="en-US" sz="3200" b="1">
                <a:solidFill>
                  <a:srgbClr val="000000"/>
                </a:solidFill>
                <a:latin typeface="Arial Black" panose="020B0604020202020204" pitchFamily="34" charset="0"/>
              </a:rPr>
              <a:t>Limitations Multi-Stepping Procedure</a:t>
            </a:r>
            <a:r>
              <a:rPr lang="en-GB" altLang="en-US" sz="2400">
                <a:solidFill>
                  <a:srgbClr val="000000"/>
                </a:solidFill>
              </a:rPr>
              <a:t> </a:t>
            </a:r>
            <a:br>
              <a:rPr lang="en-GB" altLang="en-US" sz="4000">
                <a:solidFill>
                  <a:srgbClr val="000000"/>
                </a:solidFill>
              </a:rPr>
            </a:br>
            <a:r>
              <a:rPr lang="en-GB" altLang="en-US" sz="4000">
                <a:solidFill>
                  <a:srgbClr val="000000"/>
                </a:solidFill>
              </a:rPr>
              <a:t>ICECREMO 1</a:t>
            </a: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6C604F1A-8C44-EA6A-0B2C-F95CDAB2E6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-323850" y="1484313"/>
            <a:ext cx="9144000" cy="5905500"/>
          </a:xfrm>
        </p:spPr>
        <p:txBody>
          <a:bodyPr/>
          <a:lstStyle/>
          <a:p>
            <a:pPr>
              <a:buFont typeface="Webdings" pitchFamily="2" charset="2"/>
              <a:buNone/>
            </a:pPr>
            <a:endParaRPr lang="en-GB" altLang="en-US" sz="1800">
              <a:solidFill>
                <a:srgbClr val="000000"/>
              </a:solidFill>
            </a:endParaRPr>
          </a:p>
          <a:p>
            <a:pPr lvl="2">
              <a:buClr>
                <a:schemeClr val="tx1"/>
              </a:buClr>
              <a:buFont typeface="Wingdings" pitchFamily="2" charset="2"/>
              <a:buNone/>
            </a:pPr>
            <a:endParaRPr lang="en-GB" altLang="en-US" sz="1800">
              <a:solidFill>
                <a:srgbClr val="000000"/>
              </a:solidFill>
            </a:endParaRPr>
          </a:p>
          <a:p>
            <a:pPr lvl="2">
              <a:buClr>
                <a:srgbClr val="000000"/>
              </a:buClr>
              <a:buFont typeface="Wingdings" pitchFamily="2" charset="2"/>
              <a:buChar char="q"/>
            </a:pPr>
            <a:endParaRPr lang="en-GB" altLang="en-US">
              <a:solidFill>
                <a:srgbClr val="000000"/>
              </a:solidFill>
            </a:endParaRPr>
          </a:p>
          <a:p>
            <a:pPr lvl="2">
              <a:buClr>
                <a:srgbClr val="000000"/>
              </a:buClr>
              <a:buFont typeface="Wingdings" pitchFamily="2" charset="2"/>
              <a:buChar char="Ø"/>
            </a:pPr>
            <a:r>
              <a:rPr lang="en-GB" altLang="en-US">
                <a:solidFill>
                  <a:srgbClr val="000000"/>
                </a:solidFill>
              </a:rPr>
              <a:t> Slow process (mesh, flow, interface Fluent/Icecremo)</a:t>
            </a:r>
          </a:p>
          <a:p>
            <a:pPr lvl="2">
              <a:buClr>
                <a:srgbClr val="000000"/>
              </a:buClr>
              <a:buFont typeface="Wingdings" pitchFamily="2" charset="2"/>
              <a:buChar char="Ø"/>
            </a:pPr>
            <a:r>
              <a:rPr lang="en-GB" altLang="en-US">
                <a:solidFill>
                  <a:srgbClr val="000000"/>
                </a:solidFill>
              </a:rPr>
              <a:t> Difficulties to set-up droplets starting point </a:t>
            </a:r>
          </a:p>
          <a:p>
            <a:pPr lvl="2">
              <a:buClr>
                <a:srgbClr val="000000"/>
              </a:buClr>
              <a:buFont typeface="Wingdings" pitchFamily="2" charset="2"/>
              <a:buChar char="Ø"/>
            </a:pPr>
            <a:r>
              <a:rPr lang="en-GB" altLang="en-US">
                <a:solidFill>
                  <a:srgbClr val="000000"/>
                </a:solidFill>
              </a:rPr>
              <a:t> Problems with the particle tracking routine (SPLAT)</a:t>
            </a:r>
          </a:p>
          <a:p>
            <a:pPr lvl="2">
              <a:buClr>
                <a:srgbClr val="000000"/>
              </a:buClr>
              <a:buFont typeface="Wingdings" pitchFamily="2" charset="2"/>
              <a:buChar char="Ø"/>
            </a:pPr>
            <a:r>
              <a:rPr lang="en-GB" altLang="en-US">
                <a:solidFill>
                  <a:srgbClr val="000000"/>
                </a:solidFill>
              </a:rPr>
              <a:t> Difficulties with the automatic re-meshing in GAMBIT</a:t>
            </a:r>
          </a:p>
          <a:p>
            <a:pPr lvl="2">
              <a:buClr>
                <a:srgbClr val="000000"/>
              </a:buClr>
              <a:buFont typeface="Wingdings" pitchFamily="2" charset="2"/>
              <a:buChar char="Ø"/>
            </a:pPr>
            <a:r>
              <a:rPr lang="en-GB" altLang="en-US">
                <a:solidFill>
                  <a:srgbClr val="000000"/>
                </a:solidFill>
              </a:rPr>
              <a:t> No update of the water height between steps</a:t>
            </a:r>
          </a:p>
          <a:p>
            <a:pPr lvl="2">
              <a:buClr>
                <a:srgbClr val="000000"/>
              </a:buClr>
              <a:buFont typeface="Wingdings" pitchFamily="2" charset="2"/>
              <a:buChar char="Ø"/>
            </a:pPr>
            <a:r>
              <a:rPr lang="en-GB" altLang="en-US">
                <a:solidFill>
                  <a:srgbClr val="000000"/>
                </a:solidFill>
              </a:rPr>
              <a:t> No update of the surface temperature </a:t>
            </a:r>
          </a:p>
          <a:p>
            <a:pPr lvl="3">
              <a:buClr>
                <a:srgbClr val="000000"/>
              </a:buClr>
              <a:buFont typeface="Wingdings" pitchFamily="2" charset="2"/>
              <a:buNone/>
            </a:pPr>
            <a:endParaRPr lang="en-GB" altLang="en-US" sz="3200">
              <a:solidFill>
                <a:srgbClr val="000000"/>
              </a:solidFill>
            </a:endParaRPr>
          </a:p>
          <a:p>
            <a:pPr lvl="2">
              <a:buClr>
                <a:schemeClr val="tx1"/>
              </a:buClr>
              <a:buFont typeface="Wingdings" pitchFamily="2" charset="2"/>
              <a:buNone/>
            </a:pPr>
            <a:endParaRPr lang="en-GB" altLang="en-US" sz="3200">
              <a:solidFill>
                <a:srgbClr val="000000"/>
              </a:solidFill>
            </a:endParaRPr>
          </a:p>
          <a:p>
            <a:endParaRPr lang="en-GB" altLang="en-US" sz="1300" b="0"/>
          </a:p>
          <a:p>
            <a:endParaRPr lang="en-GB" altLang="en-US" sz="200"/>
          </a:p>
          <a:p>
            <a:endParaRPr lang="en-GB" altLang="en-US" sz="200"/>
          </a:p>
          <a:p>
            <a:endParaRPr lang="en-GB" altLang="en-US" sz="200"/>
          </a:p>
          <a:p>
            <a:endParaRPr lang="en-GB" altLang="en-US" sz="200"/>
          </a:p>
          <a:p>
            <a:endParaRPr lang="en-GB" altLang="en-US" sz="200"/>
          </a:p>
          <a:p>
            <a:endParaRPr lang="en-GB" altLang="en-US" sz="200"/>
          </a:p>
          <a:p>
            <a:pPr>
              <a:buFont typeface="Webdings" pitchFamily="2" charset="2"/>
              <a:buNone/>
            </a:pPr>
            <a:r>
              <a:rPr lang="en-GB" altLang="en-US" sz="200"/>
              <a:t>	</a:t>
            </a:r>
          </a:p>
          <a:p>
            <a:pPr>
              <a:buFont typeface="Webdings" pitchFamily="2" charset="2"/>
              <a:buNone/>
            </a:pPr>
            <a:endParaRPr lang="en-GB" altLang="en-US" sz="200"/>
          </a:p>
          <a:p>
            <a:endParaRPr lang="en-GB" altLang="en-US" sz="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7">
            <a:extLst>
              <a:ext uri="{FF2B5EF4-FFF2-40B4-BE49-F238E27FC236}">
                <a16:creationId xmlns:a16="http://schemas.microsoft.com/office/drawing/2014/main" id="{743E916D-FC24-6F21-1EC8-07C319E99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8072F6E-C7B3-6B40-B9A4-FFC9A8AECB32}" type="slidenum">
              <a:rPr lang="en-GB" altLang="en-US" sz="1400">
                <a:latin typeface="Times New Roman" panose="02020603050405020304" pitchFamily="18" charset="0"/>
              </a:rPr>
              <a:pPr/>
              <a:t>5</a:t>
            </a:fld>
            <a:endParaRPr lang="en-GB" altLang="en-US" sz="1400">
              <a:latin typeface="Times New Roman" panose="02020603050405020304" pitchFamily="18" charset="0"/>
            </a:endParaRPr>
          </a:p>
        </p:txBody>
      </p:sp>
      <p:graphicFrame>
        <p:nvGraphicFramePr>
          <p:cNvPr id="7171" name="Object 2">
            <a:extLst>
              <a:ext uri="{FF2B5EF4-FFF2-40B4-BE49-F238E27FC236}">
                <a16:creationId xmlns:a16="http://schemas.microsoft.com/office/drawing/2014/main" id="{87732ED2-BBDB-9B95-4E0F-F53D35A1427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28900" imgH="4102100" progId="Equation.DSMT4">
                  <p:embed/>
                </p:oleObj>
              </mc:Choice>
              <mc:Fallback>
                <p:oleObj name="Equation" r:id="rId2" imgW="2628900" imgH="41021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3">
            <a:extLst>
              <a:ext uri="{FF2B5EF4-FFF2-40B4-BE49-F238E27FC236}">
                <a16:creationId xmlns:a16="http://schemas.microsoft.com/office/drawing/2014/main" id="{C3571B6B-C787-DAFF-E397-6452FD483C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28900" imgH="4102100" progId="Equation.DSMT4">
                  <p:embed/>
                </p:oleObj>
              </mc:Choice>
              <mc:Fallback>
                <p:oleObj name="Equation" r:id="rId4" imgW="2628900" imgH="41021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73" name="Text Box 4">
            <a:extLst>
              <a:ext uri="{FF2B5EF4-FFF2-40B4-BE49-F238E27FC236}">
                <a16:creationId xmlns:a16="http://schemas.microsoft.com/office/drawing/2014/main" id="{6E0806B0-27F8-AC50-3013-1D561C7FE1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549275"/>
            <a:ext cx="7667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GB" altLang="en-US" sz="2400" b="1">
                <a:solidFill>
                  <a:srgbClr val="000000"/>
                </a:solidFill>
              </a:rPr>
              <a:t> NACA 0012 – T</a:t>
            </a:r>
            <a:r>
              <a:rPr lang="en-GB" altLang="en-US" sz="1200" b="1">
                <a:solidFill>
                  <a:srgbClr val="000000"/>
                </a:solidFill>
              </a:rPr>
              <a:t>s </a:t>
            </a:r>
            <a:r>
              <a:rPr lang="en-GB" altLang="en-US" sz="2400" b="1">
                <a:solidFill>
                  <a:srgbClr val="000000"/>
                </a:solidFill>
              </a:rPr>
              <a:t>= -26  C – T</a:t>
            </a:r>
            <a:r>
              <a:rPr lang="en-GB" altLang="en-US" sz="1200" b="1">
                <a:solidFill>
                  <a:srgbClr val="000000"/>
                </a:solidFill>
              </a:rPr>
              <a:t>exp </a:t>
            </a:r>
            <a:r>
              <a:rPr lang="en-GB" altLang="en-US" sz="2400" b="1">
                <a:solidFill>
                  <a:srgbClr val="000000"/>
                </a:solidFill>
              </a:rPr>
              <a:t>= 6min</a:t>
            </a:r>
            <a:endParaRPr lang="en-GB" altLang="en-US" sz="2400" b="1"/>
          </a:p>
        </p:txBody>
      </p:sp>
      <p:sp>
        <p:nvSpPr>
          <p:cNvPr id="7174" name="Text Box 5">
            <a:extLst>
              <a:ext uri="{FF2B5EF4-FFF2-40B4-BE49-F238E27FC236}">
                <a16:creationId xmlns:a16="http://schemas.microsoft.com/office/drawing/2014/main" id="{3D4C315B-26BD-6B15-80B1-7C4C4B015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6021388"/>
            <a:ext cx="4176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50000"/>
              </a:spcBef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7175" name="Text Box 6">
            <a:extLst>
              <a:ext uri="{FF2B5EF4-FFF2-40B4-BE49-F238E27FC236}">
                <a16:creationId xmlns:a16="http://schemas.microsoft.com/office/drawing/2014/main" id="{A23FC7AF-D615-C3D0-16E0-7702533DDB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5949950"/>
            <a:ext cx="17287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50000"/>
              </a:spcBef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7176" name="Rectangle 8">
            <a:extLst>
              <a:ext uri="{FF2B5EF4-FFF2-40B4-BE49-F238E27FC236}">
                <a16:creationId xmlns:a16="http://schemas.microsoft.com/office/drawing/2014/main" id="{631F155E-D953-E2FD-CF4C-B6924DAD87FE}"/>
              </a:ext>
            </a:extLst>
          </p:cNvPr>
          <p:cNvGraphicFramePr>
            <a:graphicFrameLocks/>
          </p:cNvGraphicFramePr>
          <p:nvPr>
            <p:ph sz="quarter" idx="2"/>
          </p:nvPr>
        </p:nvGraphicFramePr>
        <p:xfrm>
          <a:off x="6553200" y="2971800"/>
          <a:ext cx="0" cy="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0" imgH="0" progId="Equation.3">
                  <p:embed/>
                </p:oleObj>
              </mc:Choice>
              <mc:Fallback>
                <p:oleObj name="Equation" r:id="rId5" imgW="0" imgH="0" progId="Equation.3">
                  <p:embed/>
                  <p:pic>
                    <p:nvPicPr>
                      <p:cNvPr id="0" name="Rectangle 8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2971800"/>
                        <a:ext cx="0" cy="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177" name="Picture 12" descr="T247MScomp">
            <a:extLst>
              <a:ext uri="{FF2B5EF4-FFF2-40B4-BE49-F238E27FC236}">
                <a16:creationId xmlns:a16="http://schemas.microsoft.com/office/drawing/2014/main" id="{9C0620FE-0FCC-C0DA-063F-52DCE83FE765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981075"/>
            <a:ext cx="8172450" cy="545941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178" name="Object 17">
            <a:extLst>
              <a:ext uri="{FF2B5EF4-FFF2-40B4-BE49-F238E27FC236}">
                <a16:creationId xmlns:a16="http://schemas.microsoft.com/office/drawing/2014/main" id="{17780538-4ECA-9D2F-AF14-F56265EB16E3}"/>
              </a:ext>
            </a:extLst>
          </p:cNvPr>
          <p:cNvGraphicFramePr>
            <a:graphicFrameLocks noChangeAspect="1"/>
          </p:cNvGraphicFramePr>
          <p:nvPr>
            <p:ph sz="quarter" idx="3"/>
          </p:nvPr>
        </p:nvGraphicFramePr>
        <p:xfrm>
          <a:off x="3995738" y="549275"/>
          <a:ext cx="2444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336800" imgH="3797300" progId="Equation.DSMT4">
                  <p:embed/>
                </p:oleObj>
              </mc:Choice>
              <mc:Fallback>
                <p:oleObj name="Equation" r:id="rId7" imgW="2336800" imgH="37973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549275"/>
                        <a:ext cx="24447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7">
            <a:extLst>
              <a:ext uri="{FF2B5EF4-FFF2-40B4-BE49-F238E27FC236}">
                <a16:creationId xmlns:a16="http://schemas.microsoft.com/office/drawing/2014/main" id="{48FBF6F8-4655-AA9A-D921-C1C368FDA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8E59ECC-4F22-D34C-BC58-7C3C77C33B00}" type="slidenum">
              <a:rPr lang="en-GB" altLang="en-US" sz="1400">
                <a:latin typeface="Times New Roman" panose="02020603050405020304" pitchFamily="18" charset="0"/>
              </a:rPr>
              <a:pPr/>
              <a:t>6</a:t>
            </a:fld>
            <a:endParaRPr lang="en-GB" altLang="en-US" sz="1400">
              <a:latin typeface="Times New Roman" panose="02020603050405020304" pitchFamily="18" charset="0"/>
            </a:endParaRPr>
          </a:p>
        </p:txBody>
      </p:sp>
      <p:graphicFrame>
        <p:nvGraphicFramePr>
          <p:cNvPr id="8195" name="Object 2">
            <a:extLst>
              <a:ext uri="{FF2B5EF4-FFF2-40B4-BE49-F238E27FC236}">
                <a16:creationId xmlns:a16="http://schemas.microsoft.com/office/drawing/2014/main" id="{F9198C6D-6914-654F-E851-A3289442FA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28900" imgH="4102100" progId="Equation.DSMT4">
                  <p:embed/>
                </p:oleObj>
              </mc:Choice>
              <mc:Fallback>
                <p:oleObj name="Equation" r:id="rId2" imgW="2628900" imgH="41021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3">
            <a:extLst>
              <a:ext uri="{FF2B5EF4-FFF2-40B4-BE49-F238E27FC236}">
                <a16:creationId xmlns:a16="http://schemas.microsoft.com/office/drawing/2014/main" id="{2F1AD657-9B37-51D9-061A-FD29E49195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28900" imgH="4102100" progId="Equation.DSMT4">
                  <p:embed/>
                </p:oleObj>
              </mc:Choice>
              <mc:Fallback>
                <p:oleObj name="Equation" r:id="rId4" imgW="2628900" imgH="41021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7" name="Text Box 4">
            <a:extLst>
              <a:ext uri="{FF2B5EF4-FFF2-40B4-BE49-F238E27FC236}">
                <a16:creationId xmlns:a16="http://schemas.microsoft.com/office/drawing/2014/main" id="{AA9ED9F9-A6AC-73BD-E076-CD04120315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620713"/>
            <a:ext cx="7667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GB" altLang="en-US" sz="2400" b="1">
                <a:solidFill>
                  <a:srgbClr val="000000"/>
                </a:solidFill>
              </a:rPr>
              <a:t> NACA 0012 – T</a:t>
            </a:r>
            <a:r>
              <a:rPr lang="en-GB" altLang="en-US" sz="1200" b="1">
                <a:solidFill>
                  <a:srgbClr val="000000"/>
                </a:solidFill>
              </a:rPr>
              <a:t>s </a:t>
            </a:r>
            <a:r>
              <a:rPr lang="en-GB" altLang="en-US" sz="2400" b="1">
                <a:solidFill>
                  <a:srgbClr val="000000"/>
                </a:solidFill>
              </a:rPr>
              <a:t>= - 5.6  C – T</a:t>
            </a:r>
            <a:r>
              <a:rPr lang="en-GB" altLang="en-US" sz="1200" b="1">
                <a:solidFill>
                  <a:srgbClr val="000000"/>
                </a:solidFill>
              </a:rPr>
              <a:t>exp </a:t>
            </a:r>
            <a:r>
              <a:rPr lang="en-GB" altLang="en-US" sz="2400" b="1">
                <a:solidFill>
                  <a:srgbClr val="000000"/>
                </a:solidFill>
              </a:rPr>
              <a:t>= 6 min – 3 steps</a:t>
            </a:r>
            <a:endParaRPr lang="en-GB" altLang="en-US" sz="2400" b="1"/>
          </a:p>
        </p:txBody>
      </p:sp>
      <p:sp>
        <p:nvSpPr>
          <p:cNvPr id="8198" name="Text Box 5">
            <a:extLst>
              <a:ext uri="{FF2B5EF4-FFF2-40B4-BE49-F238E27FC236}">
                <a16:creationId xmlns:a16="http://schemas.microsoft.com/office/drawing/2014/main" id="{7597BEA8-AA9E-24D5-A675-7B6E599E3D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6021388"/>
            <a:ext cx="4176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50000"/>
              </a:spcBef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8199" name="Text Box 6">
            <a:extLst>
              <a:ext uri="{FF2B5EF4-FFF2-40B4-BE49-F238E27FC236}">
                <a16:creationId xmlns:a16="http://schemas.microsoft.com/office/drawing/2014/main" id="{66CD4189-AAE6-2E00-9A74-FC4E71B873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5949950"/>
            <a:ext cx="17287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50000"/>
              </a:spcBef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graphicFrame>
        <p:nvGraphicFramePr>
          <p:cNvPr id="8200" name="Rectangle 7">
            <a:extLst>
              <a:ext uri="{FF2B5EF4-FFF2-40B4-BE49-F238E27FC236}">
                <a16:creationId xmlns:a16="http://schemas.microsoft.com/office/drawing/2014/main" id="{6557C7D9-5EA1-0C69-D7B4-EA4340C4CB5E}"/>
              </a:ext>
            </a:extLst>
          </p:cNvPr>
          <p:cNvGraphicFramePr>
            <a:graphicFrameLocks/>
          </p:cNvGraphicFramePr>
          <p:nvPr>
            <p:ph sz="quarter" idx="2"/>
          </p:nvPr>
        </p:nvGraphicFramePr>
        <p:xfrm>
          <a:off x="6553200" y="2971800"/>
          <a:ext cx="0" cy="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0" imgH="0" progId="Equation.3">
                  <p:embed/>
                </p:oleObj>
              </mc:Choice>
              <mc:Fallback>
                <p:oleObj name="Equation" r:id="rId5" imgW="0" imgH="0" progId="Equation.3">
                  <p:embed/>
                  <p:pic>
                    <p:nvPicPr>
                      <p:cNvPr id="0" name="Rectangle 7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2971800"/>
                        <a:ext cx="0" cy="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201" name="Picture 10" descr="T267MScomp_3S">
            <a:extLst>
              <a:ext uri="{FF2B5EF4-FFF2-40B4-BE49-F238E27FC236}">
                <a16:creationId xmlns:a16="http://schemas.microsoft.com/office/drawing/2014/main" id="{9C86486B-C27E-DA60-9079-DE8215088963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11188" y="1027113"/>
            <a:ext cx="7561262" cy="5308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202" name="Object 11">
            <a:extLst>
              <a:ext uri="{FF2B5EF4-FFF2-40B4-BE49-F238E27FC236}">
                <a16:creationId xmlns:a16="http://schemas.microsoft.com/office/drawing/2014/main" id="{6880865E-0CA2-D33A-9F25-FF87379676FF}"/>
              </a:ext>
            </a:extLst>
          </p:cNvPr>
          <p:cNvGraphicFramePr>
            <a:graphicFrameLocks noChangeAspect="1"/>
          </p:cNvGraphicFramePr>
          <p:nvPr>
            <p:ph sz="quarter" idx="3"/>
          </p:nvPr>
        </p:nvGraphicFramePr>
        <p:xfrm>
          <a:off x="4427538" y="549275"/>
          <a:ext cx="2444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336800" imgH="3797300" progId="Equation.DSMT4">
                  <p:embed/>
                </p:oleObj>
              </mc:Choice>
              <mc:Fallback>
                <p:oleObj name="Equation" r:id="rId7" imgW="2336800" imgH="37973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549275"/>
                        <a:ext cx="24447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>
            <a:extLst>
              <a:ext uri="{FF2B5EF4-FFF2-40B4-BE49-F238E27FC236}">
                <a16:creationId xmlns:a16="http://schemas.microsoft.com/office/drawing/2014/main" id="{7CE62F44-C14A-8A07-760C-053CD16A7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A4C5AC0-8375-7345-87C3-FCDA025D0B84}" type="slidenum">
              <a:rPr lang="en-GB" altLang="en-US" sz="1400">
                <a:latin typeface="Times New Roman" panose="02020603050405020304" pitchFamily="18" charset="0"/>
              </a:rPr>
              <a:pPr/>
              <a:t>7</a:t>
            </a:fld>
            <a:endParaRPr lang="en-GB" altLang="en-US" sz="1400">
              <a:latin typeface="Times New Roman" panose="02020603050405020304" pitchFamily="18" charset="0"/>
            </a:endParaRPr>
          </a:p>
        </p:txBody>
      </p:sp>
      <p:sp>
        <p:nvSpPr>
          <p:cNvPr id="9219" name="Rectangle 2">
            <a:extLst>
              <a:ext uri="{FF2B5EF4-FFF2-40B4-BE49-F238E27FC236}">
                <a16:creationId xmlns:a16="http://schemas.microsoft.com/office/drawing/2014/main" id="{E1586BE1-E576-5706-7A42-9399FB34F7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88913"/>
            <a:ext cx="9144000" cy="1563687"/>
          </a:xfrm>
        </p:spPr>
        <p:txBody>
          <a:bodyPr/>
          <a:lstStyle/>
          <a:p>
            <a:br>
              <a:rPr lang="en-GB" altLang="en-US" sz="2800" b="1">
                <a:solidFill>
                  <a:srgbClr val="000000"/>
                </a:solidFill>
              </a:rPr>
            </a:br>
            <a:br>
              <a:rPr lang="en-GB" altLang="en-US" sz="3200" b="1">
                <a:solidFill>
                  <a:srgbClr val="000000"/>
                </a:solidFill>
              </a:rPr>
            </a:br>
            <a:r>
              <a:rPr lang="en-GB" altLang="en-US" sz="3200" b="1">
                <a:solidFill>
                  <a:srgbClr val="000000"/>
                </a:solidFill>
              </a:rPr>
              <a:t> </a:t>
            </a:r>
            <a:r>
              <a:rPr lang="en-GB" altLang="en-US" sz="3200" b="1">
                <a:solidFill>
                  <a:srgbClr val="000000"/>
                </a:solidFill>
                <a:latin typeface="Arial Black" panose="020B0604020202020204" pitchFamily="34" charset="0"/>
              </a:rPr>
              <a:t>Conclusion</a:t>
            </a:r>
            <a:r>
              <a:rPr lang="en-GB" altLang="en-US" sz="3600">
                <a:solidFill>
                  <a:srgbClr val="000000"/>
                </a:solidFill>
                <a:latin typeface="Arial Black" panose="020B0604020202020204" pitchFamily="34" charset="0"/>
              </a:rPr>
              <a:t> </a:t>
            </a:r>
            <a:br>
              <a:rPr lang="en-GB" altLang="en-US" sz="4000">
                <a:solidFill>
                  <a:srgbClr val="000000"/>
                </a:solidFill>
              </a:rPr>
            </a:br>
            <a:r>
              <a:rPr lang="en-GB" altLang="en-US" sz="4000">
                <a:solidFill>
                  <a:srgbClr val="000000"/>
                </a:solidFill>
              </a:rPr>
              <a:t>Multi-stepping ICECREMO 1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65596791-1842-D10B-6DFA-D878F6F5A9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484313"/>
            <a:ext cx="9144000" cy="5905500"/>
          </a:xfrm>
        </p:spPr>
        <p:txBody>
          <a:bodyPr/>
          <a:lstStyle/>
          <a:p>
            <a:pPr>
              <a:lnSpc>
                <a:spcPct val="80000"/>
              </a:lnSpc>
              <a:buFont typeface="Webdings" pitchFamily="2" charset="2"/>
              <a:buNone/>
            </a:pPr>
            <a:endParaRPr lang="en-GB" altLang="en-US" sz="1600">
              <a:solidFill>
                <a:srgbClr val="000000"/>
              </a:solidFill>
            </a:endParaRPr>
          </a:p>
          <a:p>
            <a:pPr lvl="2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GB" altLang="en-US" sz="1600">
              <a:solidFill>
                <a:srgbClr val="000000"/>
              </a:solidFill>
            </a:endParaRPr>
          </a:p>
          <a:p>
            <a:pPr lvl="2">
              <a:lnSpc>
                <a:spcPct val="80000"/>
              </a:lnSpc>
              <a:buClr>
                <a:srgbClr val="000000"/>
              </a:buClr>
              <a:buFont typeface="Wingdings" pitchFamily="2" charset="2"/>
              <a:buChar char="q"/>
            </a:pPr>
            <a:endParaRPr lang="en-GB" altLang="en-US" sz="2000">
              <a:solidFill>
                <a:srgbClr val="000000"/>
              </a:solidFill>
            </a:endParaRPr>
          </a:p>
          <a:p>
            <a:pPr lvl="2">
              <a:lnSpc>
                <a:spcPct val="80000"/>
              </a:lnSpc>
              <a:buClr>
                <a:srgbClr val="000000"/>
              </a:buClr>
              <a:buFont typeface="Wingdings" pitchFamily="2" charset="2"/>
              <a:buChar char="Ø"/>
            </a:pPr>
            <a:r>
              <a:rPr lang="en-GB" altLang="en-US" sz="2000">
                <a:solidFill>
                  <a:srgbClr val="000000"/>
                </a:solidFill>
              </a:rPr>
              <a:t> </a:t>
            </a:r>
            <a:r>
              <a:rPr lang="en-GB" altLang="en-US">
                <a:solidFill>
                  <a:srgbClr val="000000"/>
                </a:solidFill>
              </a:rPr>
              <a:t>Results encouraging</a:t>
            </a:r>
          </a:p>
          <a:p>
            <a:pPr lvl="2">
              <a:lnSpc>
                <a:spcPct val="80000"/>
              </a:lnSpc>
              <a:buClr>
                <a:srgbClr val="000000"/>
              </a:buClr>
              <a:buFont typeface="Wingdings" pitchFamily="2" charset="2"/>
              <a:buChar char="Ø"/>
            </a:pPr>
            <a:r>
              <a:rPr lang="en-GB" altLang="en-US">
                <a:solidFill>
                  <a:srgbClr val="000000"/>
                </a:solidFill>
              </a:rPr>
              <a:t> Validation report written</a:t>
            </a:r>
          </a:p>
          <a:p>
            <a:pPr lvl="2">
              <a:lnSpc>
                <a:spcPct val="80000"/>
              </a:lnSpc>
              <a:buClr>
                <a:srgbClr val="000000"/>
              </a:buClr>
              <a:buFont typeface="Wingdings" pitchFamily="2" charset="2"/>
              <a:buChar char="Ø"/>
            </a:pPr>
            <a:r>
              <a:rPr lang="en-GB" altLang="en-US">
                <a:solidFill>
                  <a:srgbClr val="000000"/>
                </a:solidFill>
              </a:rPr>
              <a:t> Problems identified and addressed in unstructured version:</a:t>
            </a:r>
          </a:p>
          <a:p>
            <a:pPr lvl="4">
              <a:lnSpc>
                <a:spcPct val="80000"/>
              </a:lnSpc>
              <a:buClr>
                <a:srgbClr val="000000"/>
              </a:buClr>
              <a:buFontTx/>
              <a:buChar char="•"/>
            </a:pPr>
            <a:r>
              <a:rPr lang="en-GB" altLang="en-US">
                <a:solidFill>
                  <a:srgbClr val="000000"/>
                </a:solidFill>
              </a:rPr>
              <a:t>Improve meshing and re-meshing</a:t>
            </a:r>
          </a:p>
          <a:p>
            <a:pPr lvl="4">
              <a:lnSpc>
                <a:spcPct val="80000"/>
              </a:lnSpc>
              <a:buClr>
                <a:srgbClr val="000000"/>
              </a:buClr>
              <a:buFontTx/>
              <a:buChar char="•"/>
            </a:pPr>
            <a:r>
              <a:rPr lang="en-GB" altLang="en-US">
                <a:solidFill>
                  <a:srgbClr val="000000"/>
                </a:solidFill>
              </a:rPr>
              <a:t>Update water and ice heights, surface temperature between the steps</a:t>
            </a:r>
          </a:p>
          <a:p>
            <a:pPr lvl="4">
              <a:lnSpc>
                <a:spcPct val="80000"/>
              </a:lnSpc>
              <a:buClr>
                <a:srgbClr val="000000"/>
              </a:buClr>
              <a:buFontTx/>
              <a:buChar char="•"/>
            </a:pPr>
            <a:r>
              <a:rPr lang="en-GB" altLang="en-US">
                <a:solidFill>
                  <a:srgbClr val="000000"/>
                </a:solidFill>
              </a:rPr>
              <a:t>Define criterion trigger new flow calculation</a:t>
            </a:r>
          </a:p>
          <a:p>
            <a:pPr lvl="4">
              <a:lnSpc>
                <a:spcPct val="80000"/>
              </a:lnSpc>
              <a:buClr>
                <a:srgbClr val="000000"/>
              </a:buClr>
              <a:buFontTx/>
              <a:buChar char="•"/>
            </a:pPr>
            <a:r>
              <a:rPr lang="en-GB" altLang="en-US">
                <a:solidFill>
                  <a:srgbClr val="000000"/>
                </a:solidFill>
              </a:rPr>
              <a:t>Speed-up multi-stepping procedure</a:t>
            </a:r>
          </a:p>
          <a:p>
            <a:pPr lvl="4">
              <a:lnSpc>
                <a:spcPct val="80000"/>
              </a:lnSpc>
              <a:buClr>
                <a:srgbClr val="000000"/>
              </a:buClr>
              <a:buFont typeface="Wingdings" pitchFamily="2" charset="2"/>
              <a:buChar char="q"/>
            </a:pPr>
            <a:endParaRPr lang="en-GB" altLang="en-US">
              <a:solidFill>
                <a:srgbClr val="000000"/>
              </a:solidFill>
            </a:endParaRPr>
          </a:p>
          <a:p>
            <a:pPr lvl="2">
              <a:lnSpc>
                <a:spcPct val="80000"/>
              </a:lnSpc>
              <a:buClr>
                <a:srgbClr val="000000"/>
              </a:buClr>
              <a:buFont typeface="Wingdings" pitchFamily="2" charset="2"/>
              <a:buNone/>
            </a:pPr>
            <a:endParaRPr lang="en-GB" altLang="en-US" sz="2000">
              <a:solidFill>
                <a:srgbClr val="000000"/>
              </a:solidFill>
            </a:endParaRPr>
          </a:p>
          <a:p>
            <a:pPr lvl="3">
              <a:lnSpc>
                <a:spcPct val="80000"/>
              </a:lnSpc>
              <a:buClr>
                <a:srgbClr val="000000"/>
              </a:buClr>
              <a:buFont typeface="Wingdings" pitchFamily="2" charset="2"/>
              <a:buNone/>
            </a:pPr>
            <a:endParaRPr lang="en-GB" altLang="en-US" sz="2800">
              <a:solidFill>
                <a:srgbClr val="000000"/>
              </a:solidFill>
            </a:endParaRPr>
          </a:p>
          <a:p>
            <a:pPr lvl="2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GB" altLang="en-US" sz="2800">
              <a:solidFill>
                <a:srgbClr val="000000"/>
              </a:solidFill>
            </a:endParaRPr>
          </a:p>
          <a:p>
            <a:pPr>
              <a:lnSpc>
                <a:spcPct val="80000"/>
              </a:lnSpc>
            </a:pPr>
            <a:endParaRPr lang="en-GB" altLang="en-US" sz="1100" b="0"/>
          </a:p>
          <a:p>
            <a:pPr>
              <a:lnSpc>
                <a:spcPct val="80000"/>
              </a:lnSpc>
            </a:pPr>
            <a:endParaRPr lang="en-GB" altLang="en-US" sz="200"/>
          </a:p>
          <a:p>
            <a:pPr>
              <a:lnSpc>
                <a:spcPct val="80000"/>
              </a:lnSpc>
            </a:pPr>
            <a:endParaRPr lang="en-GB" altLang="en-US" sz="200"/>
          </a:p>
          <a:p>
            <a:pPr>
              <a:lnSpc>
                <a:spcPct val="80000"/>
              </a:lnSpc>
            </a:pPr>
            <a:endParaRPr lang="en-GB" altLang="en-US" sz="200"/>
          </a:p>
          <a:p>
            <a:pPr>
              <a:lnSpc>
                <a:spcPct val="80000"/>
              </a:lnSpc>
            </a:pPr>
            <a:endParaRPr lang="en-GB" altLang="en-US" sz="200"/>
          </a:p>
          <a:p>
            <a:pPr>
              <a:lnSpc>
                <a:spcPct val="80000"/>
              </a:lnSpc>
            </a:pPr>
            <a:endParaRPr lang="en-GB" altLang="en-US" sz="200"/>
          </a:p>
          <a:p>
            <a:pPr>
              <a:lnSpc>
                <a:spcPct val="80000"/>
              </a:lnSpc>
            </a:pPr>
            <a:endParaRPr lang="en-GB" altLang="en-US" sz="200"/>
          </a:p>
          <a:p>
            <a:pPr>
              <a:lnSpc>
                <a:spcPct val="80000"/>
              </a:lnSpc>
              <a:buFont typeface="Webdings" pitchFamily="2" charset="2"/>
              <a:buNone/>
            </a:pPr>
            <a:r>
              <a:rPr lang="en-GB" altLang="en-US" sz="200"/>
              <a:t>	</a:t>
            </a:r>
          </a:p>
          <a:p>
            <a:pPr>
              <a:lnSpc>
                <a:spcPct val="80000"/>
              </a:lnSpc>
              <a:buFont typeface="Webdings" pitchFamily="2" charset="2"/>
              <a:buNone/>
            </a:pPr>
            <a:endParaRPr lang="en-GB" altLang="en-US" sz="200"/>
          </a:p>
          <a:p>
            <a:pPr>
              <a:lnSpc>
                <a:spcPct val="80000"/>
              </a:lnSpc>
            </a:pPr>
            <a:endParaRPr lang="en-GB" altLang="en-US" sz="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>
            <a:extLst>
              <a:ext uri="{FF2B5EF4-FFF2-40B4-BE49-F238E27FC236}">
                <a16:creationId xmlns:a16="http://schemas.microsoft.com/office/drawing/2014/main" id="{7010B6EE-3EDB-5770-8E9D-D59EFAA18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0F6BDCC-625F-8A46-8158-C5DC45E03AA4}" type="slidenum">
              <a:rPr lang="en-GB" altLang="en-US" sz="1400">
                <a:latin typeface="Times New Roman" panose="02020603050405020304" pitchFamily="18" charset="0"/>
              </a:rPr>
              <a:pPr/>
              <a:t>8</a:t>
            </a:fld>
            <a:endParaRPr lang="en-GB" altLang="en-US" sz="1400">
              <a:latin typeface="Times New Roman" panose="02020603050405020304" pitchFamily="18" charset="0"/>
            </a:endParaRPr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4F134804-C6E6-C6BF-15FB-B0CE0995BA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88913"/>
            <a:ext cx="9144000" cy="1563687"/>
          </a:xfrm>
        </p:spPr>
        <p:txBody>
          <a:bodyPr/>
          <a:lstStyle/>
          <a:p>
            <a:br>
              <a:rPr lang="en-GB" altLang="en-US" sz="2800" b="1">
                <a:solidFill>
                  <a:srgbClr val="000000"/>
                </a:solidFill>
              </a:rPr>
            </a:br>
            <a:br>
              <a:rPr lang="en-GB" altLang="en-US" sz="2800" b="1">
                <a:solidFill>
                  <a:srgbClr val="000000"/>
                </a:solidFill>
              </a:rPr>
            </a:br>
            <a:r>
              <a:rPr lang="en-GB" altLang="en-US" sz="2800" b="1">
                <a:solidFill>
                  <a:srgbClr val="000000"/>
                </a:solidFill>
              </a:rPr>
              <a:t> </a:t>
            </a:r>
            <a:r>
              <a:rPr lang="en-GB" altLang="en-US" sz="3200" b="1">
                <a:solidFill>
                  <a:srgbClr val="000000"/>
                </a:solidFill>
                <a:latin typeface="Arial Black" panose="020B0604020202020204" pitchFamily="34" charset="0"/>
              </a:rPr>
              <a:t>Review Multi-stepping</a:t>
            </a:r>
            <a:r>
              <a:rPr lang="en-GB" altLang="en-US" sz="2400">
                <a:solidFill>
                  <a:srgbClr val="000000"/>
                </a:solidFill>
              </a:rPr>
              <a:t> </a:t>
            </a:r>
            <a:br>
              <a:rPr lang="en-GB" altLang="en-US" sz="4000">
                <a:solidFill>
                  <a:srgbClr val="000000"/>
                </a:solidFill>
              </a:rPr>
            </a:br>
            <a:r>
              <a:rPr lang="en-GB" altLang="en-US" sz="4000">
                <a:solidFill>
                  <a:srgbClr val="000000"/>
                </a:solidFill>
              </a:rPr>
              <a:t>ICECREMO 2</a:t>
            </a: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B547333D-A095-3B78-D548-9EFF23FD5C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1484313"/>
            <a:ext cx="9144000" cy="5905500"/>
          </a:xfrm>
        </p:spPr>
        <p:txBody>
          <a:bodyPr/>
          <a:lstStyle/>
          <a:p>
            <a:pPr>
              <a:lnSpc>
                <a:spcPct val="80000"/>
              </a:lnSpc>
              <a:buFont typeface="Webdings" pitchFamily="2" charset="2"/>
              <a:buNone/>
            </a:pPr>
            <a:endParaRPr lang="en-GB" altLang="en-US" sz="2000">
              <a:solidFill>
                <a:srgbClr val="000000"/>
              </a:solidFill>
            </a:endParaRPr>
          </a:p>
          <a:p>
            <a:pPr lvl="2">
              <a:lnSpc>
                <a:spcPct val="80000"/>
              </a:lnSpc>
              <a:buClr>
                <a:srgbClr val="000000"/>
              </a:buClr>
              <a:buFont typeface="Wingdings" pitchFamily="2" charset="2"/>
              <a:buNone/>
            </a:pPr>
            <a:endParaRPr lang="en-GB" altLang="en-US" sz="2000">
              <a:solidFill>
                <a:srgbClr val="000000"/>
              </a:solidFill>
            </a:endParaRPr>
          </a:p>
          <a:p>
            <a:pPr lvl="2">
              <a:lnSpc>
                <a:spcPct val="80000"/>
              </a:lnSpc>
              <a:buClr>
                <a:srgbClr val="000000"/>
              </a:buClr>
              <a:buFont typeface="Wingdings" pitchFamily="2" charset="2"/>
              <a:buChar char="Ø"/>
            </a:pPr>
            <a:r>
              <a:rPr lang="en-GB" altLang="en-US">
                <a:solidFill>
                  <a:srgbClr val="000000"/>
                </a:solidFill>
              </a:rPr>
              <a:t> Two procedures successfully implemented</a:t>
            </a:r>
          </a:p>
          <a:p>
            <a:pPr lvl="3">
              <a:lnSpc>
                <a:spcPct val="80000"/>
              </a:lnSpc>
              <a:buClr>
                <a:srgbClr val="000000"/>
              </a:buClr>
              <a:buFontTx/>
              <a:buChar char="•"/>
            </a:pPr>
            <a:r>
              <a:rPr lang="en-GB" altLang="en-US">
                <a:solidFill>
                  <a:srgbClr val="000000"/>
                </a:solidFill>
              </a:rPr>
              <a:t> Restart with flow update</a:t>
            </a:r>
          </a:p>
          <a:p>
            <a:pPr lvl="3">
              <a:lnSpc>
                <a:spcPct val="80000"/>
              </a:lnSpc>
              <a:buClr>
                <a:srgbClr val="000000"/>
              </a:buClr>
              <a:buFontTx/>
              <a:buChar char="•"/>
            </a:pPr>
            <a:r>
              <a:rPr lang="en-GB" altLang="en-US">
                <a:solidFill>
                  <a:srgbClr val="000000"/>
                </a:solidFill>
              </a:rPr>
              <a:t> Restart without flow update (internal process)</a:t>
            </a:r>
          </a:p>
          <a:p>
            <a:pPr lvl="2">
              <a:lnSpc>
                <a:spcPct val="80000"/>
              </a:lnSpc>
              <a:buClr>
                <a:srgbClr val="000000"/>
              </a:buClr>
              <a:buFont typeface="Wingdings" pitchFamily="2" charset="2"/>
              <a:buChar char="Ø"/>
            </a:pPr>
            <a:r>
              <a:rPr lang="en-GB" altLang="en-US">
                <a:solidFill>
                  <a:srgbClr val="000000"/>
                </a:solidFill>
              </a:rPr>
              <a:t> Fully automated</a:t>
            </a:r>
          </a:p>
          <a:p>
            <a:pPr lvl="2">
              <a:lnSpc>
                <a:spcPct val="80000"/>
              </a:lnSpc>
              <a:buClr>
                <a:srgbClr val="000000"/>
              </a:buClr>
              <a:buFont typeface="Wingdings" pitchFamily="2" charset="2"/>
              <a:buChar char="Ø"/>
            </a:pPr>
            <a:r>
              <a:rPr lang="en-GB" altLang="en-US">
                <a:solidFill>
                  <a:srgbClr val="000000"/>
                </a:solidFill>
              </a:rPr>
              <a:t> Linux operating system</a:t>
            </a:r>
          </a:p>
          <a:p>
            <a:pPr lvl="2">
              <a:lnSpc>
                <a:spcPct val="80000"/>
              </a:lnSpc>
              <a:buClr>
                <a:srgbClr val="000000"/>
              </a:buClr>
              <a:buFont typeface="Wingdings" pitchFamily="2" charset="2"/>
              <a:buChar char="Ø"/>
            </a:pPr>
            <a:r>
              <a:rPr lang="en-GB" altLang="en-US">
                <a:solidFill>
                  <a:srgbClr val="000000"/>
                </a:solidFill>
              </a:rPr>
              <a:t> Languages: C++ / Fortran</a:t>
            </a:r>
          </a:p>
          <a:p>
            <a:pPr lvl="2">
              <a:lnSpc>
                <a:spcPct val="80000"/>
              </a:lnSpc>
              <a:buClr>
                <a:srgbClr val="000000"/>
              </a:buClr>
              <a:buFont typeface="Wingdings" pitchFamily="2" charset="2"/>
              <a:buChar char="Ø"/>
            </a:pPr>
            <a:r>
              <a:rPr lang="en-GB" altLang="en-US">
                <a:solidFill>
                  <a:srgbClr val="000000"/>
                </a:solidFill>
              </a:rPr>
              <a:t> 3 criteria for Restart based on:</a:t>
            </a:r>
          </a:p>
          <a:p>
            <a:pPr lvl="3">
              <a:lnSpc>
                <a:spcPct val="80000"/>
              </a:lnSpc>
              <a:buClr>
                <a:srgbClr val="000000"/>
              </a:buClr>
              <a:buFontTx/>
              <a:buChar char="•"/>
            </a:pPr>
            <a:r>
              <a:rPr lang="en-GB" altLang="en-US">
                <a:solidFill>
                  <a:srgbClr val="000000"/>
                </a:solidFill>
              </a:rPr>
              <a:t> Time (time-step defined by user)</a:t>
            </a:r>
          </a:p>
          <a:p>
            <a:pPr lvl="3">
              <a:lnSpc>
                <a:spcPct val="80000"/>
              </a:lnSpc>
              <a:buClr>
                <a:srgbClr val="000000"/>
              </a:buClr>
              <a:buFontTx/>
              <a:buChar char="•"/>
            </a:pPr>
            <a:r>
              <a:rPr lang="en-GB" altLang="en-US">
                <a:solidFill>
                  <a:srgbClr val="000000"/>
                </a:solidFill>
              </a:rPr>
              <a:t> Ice height (ice height max defined by user)</a:t>
            </a:r>
          </a:p>
          <a:p>
            <a:pPr lvl="3">
              <a:lnSpc>
                <a:spcPct val="80000"/>
              </a:lnSpc>
              <a:buClr>
                <a:srgbClr val="000000"/>
              </a:buClr>
              <a:buFontTx/>
              <a:buChar char="•"/>
            </a:pPr>
            <a:r>
              <a:rPr lang="en-GB" altLang="en-US">
                <a:solidFill>
                  <a:srgbClr val="000000"/>
                </a:solidFill>
              </a:rPr>
              <a:t> Automatic (determined automatically and based </a:t>
            </a:r>
          </a:p>
          <a:p>
            <a:pPr lvl="3">
              <a:lnSpc>
                <a:spcPct val="80000"/>
              </a:lnSpc>
              <a:buClr>
                <a:srgbClr val="000000"/>
              </a:buClr>
              <a:buFont typeface="Wingdings" pitchFamily="2" charset="2"/>
              <a:buNone/>
            </a:pPr>
            <a:r>
              <a:rPr lang="en-GB" altLang="en-US">
                <a:solidFill>
                  <a:srgbClr val="000000"/>
                </a:solidFill>
              </a:rPr>
              <a:t>    on chord length or cylinder diameter)</a:t>
            </a:r>
          </a:p>
          <a:p>
            <a:pPr lvl="3">
              <a:lnSpc>
                <a:spcPct val="80000"/>
              </a:lnSpc>
              <a:buClr>
                <a:srgbClr val="000000"/>
              </a:buClr>
              <a:buFont typeface="Wingdings" pitchFamily="2" charset="2"/>
              <a:buNone/>
            </a:pPr>
            <a:endParaRPr lang="en-GB" altLang="en-US">
              <a:solidFill>
                <a:srgbClr val="000000"/>
              </a:solidFill>
            </a:endParaRPr>
          </a:p>
          <a:p>
            <a:pPr lvl="2">
              <a:lnSpc>
                <a:spcPct val="80000"/>
              </a:lnSpc>
              <a:buClr>
                <a:schemeClr val="tx1"/>
              </a:buClr>
              <a:buFont typeface="Wingdings" pitchFamily="2" charset="2"/>
              <a:buNone/>
            </a:pPr>
            <a:endParaRPr lang="en-GB" altLang="en-US" sz="2800">
              <a:solidFill>
                <a:srgbClr val="000000"/>
              </a:solidFill>
            </a:endParaRPr>
          </a:p>
          <a:p>
            <a:pPr>
              <a:lnSpc>
                <a:spcPct val="80000"/>
              </a:lnSpc>
            </a:pPr>
            <a:endParaRPr lang="en-GB" altLang="en-US" sz="1100" b="0"/>
          </a:p>
          <a:p>
            <a:pPr>
              <a:lnSpc>
                <a:spcPct val="80000"/>
              </a:lnSpc>
            </a:pPr>
            <a:endParaRPr lang="en-GB" altLang="en-US" sz="200"/>
          </a:p>
          <a:p>
            <a:pPr>
              <a:lnSpc>
                <a:spcPct val="80000"/>
              </a:lnSpc>
            </a:pPr>
            <a:endParaRPr lang="en-GB" altLang="en-US" sz="200"/>
          </a:p>
          <a:p>
            <a:pPr>
              <a:lnSpc>
                <a:spcPct val="80000"/>
              </a:lnSpc>
            </a:pPr>
            <a:endParaRPr lang="en-GB" altLang="en-US" sz="200"/>
          </a:p>
          <a:p>
            <a:pPr>
              <a:lnSpc>
                <a:spcPct val="80000"/>
              </a:lnSpc>
            </a:pPr>
            <a:endParaRPr lang="en-GB" altLang="en-US" sz="200"/>
          </a:p>
          <a:p>
            <a:pPr>
              <a:lnSpc>
                <a:spcPct val="80000"/>
              </a:lnSpc>
            </a:pPr>
            <a:endParaRPr lang="en-GB" altLang="en-US" sz="200"/>
          </a:p>
          <a:p>
            <a:pPr>
              <a:lnSpc>
                <a:spcPct val="80000"/>
              </a:lnSpc>
            </a:pPr>
            <a:endParaRPr lang="en-GB" altLang="en-US" sz="200"/>
          </a:p>
          <a:p>
            <a:pPr>
              <a:lnSpc>
                <a:spcPct val="80000"/>
              </a:lnSpc>
              <a:buFont typeface="Webdings" pitchFamily="2" charset="2"/>
              <a:buNone/>
            </a:pPr>
            <a:r>
              <a:rPr lang="en-GB" altLang="en-US" sz="200"/>
              <a:t>	</a:t>
            </a:r>
          </a:p>
          <a:p>
            <a:pPr>
              <a:lnSpc>
                <a:spcPct val="80000"/>
              </a:lnSpc>
              <a:buFont typeface="Webdings" pitchFamily="2" charset="2"/>
              <a:buNone/>
            </a:pPr>
            <a:endParaRPr lang="en-GB" altLang="en-US" sz="200"/>
          </a:p>
          <a:p>
            <a:pPr>
              <a:lnSpc>
                <a:spcPct val="80000"/>
              </a:lnSpc>
            </a:pPr>
            <a:endParaRPr lang="en-GB" altLang="en-US" sz="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3">
            <a:extLst>
              <a:ext uri="{FF2B5EF4-FFF2-40B4-BE49-F238E27FC236}">
                <a16:creationId xmlns:a16="http://schemas.microsoft.com/office/drawing/2014/main" id="{4C37957E-D18A-6CDC-80DB-DD2EA03C1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95197AB6-25C7-2741-A1A8-8EA2C131CED1}" type="slidenum">
              <a:rPr lang="en-GB" altLang="en-US" sz="1400">
                <a:latin typeface="Times New Roman" panose="02020603050405020304" pitchFamily="18" charset="0"/>
              </a:rPr>
              <a:pPr/>
              <a:t>9</a:t>
            </a:fld>
            <a:endParaRPr lang="en-GB" altLang="en-US" sz="1400">
              <a:latin typeface="Times New Roman" panose="02020603050405020304" pitchFamily="18" charset="0"/>
            </a:endParaRPr>
          </a:p>
        </p:txBody>
      </p:sp>
      <p:sp>
        <p:nvSpPr>
          <p:cNvPr id="11267" name="AutoShape 2">
            <a:extLst>
              <a:ext uri="{FF2B5EF4-FFF2-40B4-BE49-F238E27FC236}">
                <a16:creationId xmlns:a16="http://schemas.microsoft.com/office/drawing/2014/main" id="{E880AF45-A547-6A55-426F-D607293D29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6738" y="477838"/>
            <a:ext cx="1150937" cy="431800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1">
                <a:solidFill>
                  <a:srgbClr val="000000"/>
                </a:solidFill>
              </a:rPr>
              <a:t>Start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81BFFAE2-C507-67E4-97A9-F58C53BAB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125538"/>
            <a:ext cx="2879725" cy="503237"/>
          </a:xfrm>
          <a:prstGeom prst="rect">
            <a:avLst/>
          </a:prstGeom>
          <a:solidFill>
            <a:srgbClr val="FF9900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1">
                <a:solidFill>
                  <a:srgbClr val="000000"/>
                </a:solidFill>
              </a:rPr>
              <a:t>Define Substrate</a:t>
            </a:r>
          </a:p>
        </p:txBody>
      </p:sp>
      <p:sp>
        <p:nvSpPr>
          <p:cNvPr id="11269" name="Rectangle 4">
            <a:extLst>
              <a:ext uri="{FF2B5EF4-FFF2-40B4-BE49-F238E27FC236}">
                <a16:creationId xmlns:a16="http://schemas.microsoft.com/office/drawing/2014/main" id="{E5282699-F381-519E-1BC5-10821A08EB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1989138"/>
            <a:ext cx="2879725" cy="503237"/>
          </a:xfrm>
          <a:prstGeom prst="rect">
            <a:avLst/>
          </a:prstGeom>
          <a:solidFill>
            <a:srgbClr val="FF9900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1">
                <a:solidFill>
                  <a:srgbClr val="000000"/>
                </a:solidFill>
              </a:rPr>
              <a:t>Create Mesh (GAMBIT)</a:t>
            </a:r>
            <a:r>
              <a:rPr lang="en-GB" altLang="en-US" sz="1800"/>
              <a:t> </a:t>
            </a:r>
          </a:p>
        </p:txBody>
      </p:sp>
      <p:sp>
        <p:nvSpPr>
          <p:cNvPr id="11270" name="Rectangle 5">
            <a:extLst>
              <a:ext uri="{FF2B5EF4-FFF2-40B4-BE49-F238E27FC236}">
                <a16:creationId xmlns:a16="http://schemas.microsoft.com/office/drawing/2014/main" id="{794F1A60-B743-6D5B-B5B0-74626D569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3429000"/>
            <a:ext cx="2879725" cy="503238"/>
          </a:xfrm>
          <a:prstGeom prst="rect">
            <a:avLst/>
          </a:prstGeom>
          <a:solidFill>
            <a:srgbClr val="99CC00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1">
                <a:solidFill>
                  <a:srgbClr val="000000"/>
                </a:solidFill>
              </a:rPr>
              <a:t>Predict Ice (ICECREMO2)</a:t>
            </a:r>
          </a:p>
        </p:txBody>
      </p:sp>
      <p:sp>
        <p:nvSpPr>
          <p:cNvPr id="11271" name="AutoShape 6">
            <a:extLst>
              <a:ext uri="{FF2B5EF4-FFF2-40B4-BE49-F238E27FC236}">
                <a16:creationId xmlns:a16="http://schemas.microsoft.com/office/drawing/2014/main" id="{37942CA6-76BE-4723-4D0A-A18B1E98E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0788" y="6021388"/>
            <a:ext cx="1150937" cy="431800"/>
          </a:xfrm>
          <a:prstGeom prst="roundRect">
            <a:avLst>
              <a:gd name="adj" fmla="val 16667"/>
            </a:avLst>
          </a:prstGeom>
          <a:solidFill>
            <a:srgbClr val="CCFFFF"/>
          </a:solidFill>
          <a:ln w="28575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1">
                <a:solidFill>
                  <a:srgbClr val="000000"/>
                </a:solidFill>
              </a:rPr>
              <a:t>End</a:t>
            </a:r>
          </a:p>
        </p:txBody>
      </p:sp>
      <p:sp>
        <p:nvSpPr>
          <p:cNvPr id="11272" name="Rectangle 7">
            <a:extLst>
              <a:ext uri="{FF2B5EF4-FFF2-40B4-BE49-F238E27FC236}">
                <a16:creationId xmlns:a16="http://schemas.microsoft.com/office/drawing/2014/main" id="{A6D87FBE-98EE-AEE7-8137-AE3CF8561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0425" y="2205038"/>
            <a:ext cx="1871663" cy="790575"/>
          </a:xfrm>
          <a:prstGeom prst="rect">
            <a:avLst/>
          </a:prstGeom>
          <a:solidFill>
            <a:srgbClr val="FF9900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1">
                <a:solidFill>
                  <a:srgbClr val="000000"/>
                </a:solidFill>
              </a:rPr>
              <a:t>Geometry</a:t>
            </a:r>
          </a:p>
          <a:p>
            <a:pPr eaLnBrk="1" hangingPunct="1"/>
            <a:r>
              <a:rPr lang="en-GB" altLang="en-US" sz="1800" b="1">
                <a:solidFill>
                  <a:srgbClr val="000000"/>
                </a:solidFill>
              </a:rPr>
              <a:t>Update</a:t>
            </a:r>
          </a:p>
        </p:txBody>
      </p:sp>
      <p:sp>
        <p:nvSpPr>
          <p:cNvPr id="11273" name="Line 8">
            <a:extLst>
              <a:ext uri="{FF2B5EF4-FFF2-40B4-BE49-F238E27FC236}">
                <a16:creationId xmlns:a16="http://schemas.microsoft.com/office/drawing/2014/main" id="{C8CFAEB4-F4EB-1F43-B285-7A7EFA673E2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3000" y="909638"/>
            <a:ext cx="0" cy="2174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4" name="Line 9">
            <a:extLst>
              <a:ext uri="{FF2B5EF4-FFF2-40B4-BE49-F238E27FC236}">
                <a16:creationId xmlns:a16="http://schemas.microsoft.com/office/drawing/2014/main" id="{71AB70CF-7397-1ADF-F319-CFF66DD8B3EA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3000" y="2493963"/>
            <a:ext cx="0" cy="217487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5" name="Line 10">
            <a:extLst>
              <a:ext uri="{FF2B5EF4-FFF2-40B4-BE49-F238E27FC236}">
                <a16:creationId xmlns:a16="http://schemas.microsoft.com/office/drawing/2014/main" id="{FB5F249A-62EE-B14A-7E14-609C486E0EE2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3000" y="3213100"/>
            <a:ext cx="0" cy="21748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6" name="Text Box 11">
            <a:extLst>
              <a:ext uri="{FF2B5EF4-FFF2-40B4-BE49-F238E27FC236}">
                <a16:creationId xmlns:a16="http://schemas.microsoft.com/office/drawing/2014/main" id="{F0A6F400-8121-419C-ACA6-C726517026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4076700"/>
            <a:ext cx="863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GB" altLang="en-US" sz="1400" b="1">
                <a:solidFill>
                  <a:srgbClr val="000000"/>
                </a:solidFill>
              </a:rPr>
              <a:t>yes</a:t>
            </a:r>
          </a:p>
        </p:txBody>
      </p:sp>
      <p:sp>
        <p:nvSpPr>
          <p:cNvPr id="11277" name="Text Box 12">
            <a:extLst>
              <a:ext uri="{FF2B5EF4-FFF2-40B4-BE49-F238E27FC236}">
                <a16:creationId xmlns:a16="http://schemas.microsoft.com/office/drawing/2014/main" id="{2F76CC90-2606-6F92-5C20-A0C1BF86C5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77050" y="5734050"/>
            <a:ext cx="863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GB" altLang="en-US" sz="1400" b="1">
                <a:solidFill>
                  <a:srgbClr val="000000"/>
                </a:solidFill>
              </a:rPr>
              <a:t>no</a:t>
            </a:r>
          </a:p>
        </p:txBody>
      </p:sp>
      <p:sp>
        <p:nvSpPr>
          <p:cNvPr id="11278" name="AutoShape 13">
            <a:extLst>
              <a:ext uri="{FF2B5EF4-FFF2-40B4-BE49-F238E27FC236}">
                <a16:creationId xmlns:a16="http://schemas.microsoft.com/office/drawing/2014/main" id="{B5B6B211-5B22-6F48-5C3A-5100BC53B1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1863" y="4437063"/>
            <a:ext cx="1727200" cy="1150937"/>
          </a:xfrm>
          <a:prstGeom prst="flowChartDecision">
            <a:avLst/>
          </a:prstGeom>
          <a:solidFill>
            <a:srgbClr val="99CC00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1">
                <a:solidFill>
                  <a:srgbClr val="000000"/>
                </a:solidFill>
              </a:rPr>
              <a:t>Multi-Step</a:t>
            </a:r>
          </a:p>
        </p:txBody>
      </p:sp>
      <p:sp>
        <p:nvSpPr>
          <p:cNvPr id="11279" name="Line 14">
            <a:extLst>
              <a:ext uri="{FF2B5EF4-FFF2-40B4-BE49-F238E27FC236}">
                <a16:creationId xmlns:a16="http://schemas.microsoft.com/office/drawing/2014/main" id="{99A75E6D-DB29-B382-369B-9A27ED81278D}"/>
              </a:ext>
            </a:extLst>
          </p:cNvPr>
          <p:cNvSpPr>
            <a:spLocks noChangeShapeType="1"/>
          </p:cNvSpPr>
          <p:nvPr/>
        </p:nvSpPr>
        <p:spPr bwMode="auto">
          <a:xfrm>
            <a:off x="2773363" y="4652963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0" name="Line 15">
            <a:extLst>
              <a:ext uri="{FF2B5EF4-FFF2-40B4-BE49-F238E27FC236}">
                <a16:creationId xmlns:a16="http://schemas.microsoft.com/office/drawing/2014/main" id="{6FACB8DE-184D-6279-C4FF-BDD23001AD6D}"/>
              </a:ext>
            </a:extLst>
          </p:cNvPr>
          <p:cNvSpPr>
            <a:spLocks noChangeShapeType="1"/>
          </p:cNvSpPr>
          <p:nvPr/>
        </p:nvSpPr>
        <p:spPr bwMode="auto">
          <a:xfrm>
            <a:off x="6877050" y="5589588"/>
            <a:ext cx="0" cy="4318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1" name="Text Box 16">
            <a:extLst>
              <a:ext uri="{FF2B5EF4-FFF2-40B4-BE49-F238E27FC236}">
                <a16:creationId xmlns:a16="http://schemas.microsoft.com/office/drawing/2014/main" id="{D01DAB20-4193-9609-0E99-18B46A4801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9125" y="3429000"/>
            <a:ext cx="2305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GB" altLang="en-US" sz="1400" b="1">
                <a:solidFill>
                  <a:srgbClr val="000000"/>
                </a:solidFill>
              </a:rPr>
              <a:t>Temperature Update</a:t>
            </a:r>
          </a:p>
        </p:txBody>
      </p:sp>
      <p:sp>
        <p:nvSpPr>
          <p:cNvPr id="11282" name="Line 17">
            <a:extLst>
              <a:ext uri="{FF2B5EF4-FFF2-40B4-BE49-F238E27FC236}">
                <a16:creationId xmlns:a16="http://schemas.microsoft.com/office/drawing/2014/main" id="{4D6E42C8-AD71-E698-6CA2-8C063FA201C4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3000" y="1628775"/>
            <a:ext cx="0" cy="36036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3" name="Rectangle 18">
            <a:extLst>
              <a:ext uri="{FF2B5EF4-FFF2-40B4-BE49-F238E27FC236}">
                <a16:creationId xmlns:a16="http://schemas.microsoft.com/office/drawing/2014/main" id="{67D0724A-A788-020A-03BF-C238ADBA3A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4652963"/>
            <a:ext cx="1871663" cy="790575"/>
          </a:xfrm>
          <a:prstGeom prst="rect">
            <a:avLst/>
          </a:prstGeom>
          <a:solidFill>
            <a:srgbClr val="99CC00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1">
                <a:solidFill>
                  <a:srgbClr val="000000"/>
                </a:solidFill>
              </a:rPr>
              <a:t>Restart File</a:t>
            </a:r>
          </a:p>
        </p:txBody>
      </p:sp>
      <p:sp>
        <p:nvSpPr>
          <p:cNvPr id="11284" name="Line 19">
            <a:extLst>
              <a:ext uri="{FF2B5EF4-FFF2-40B4-BE49-F238E27FC236}">
                <a16:creationId xmlns:a16="http://schemas.microsoft.com/office/drawing/2014/main" id="{CA231774-61EB-C8FE-4FA2-45E921D496DF}"/>
              </a:ext>
            </a:extLst>
          </p:cNvPr>
          <p:cNvSpPr>
            <a:spLocks noChangeShapeType="1"/>
          </p:cNvSpPr>
          <p:nvPr/>
        </p:nvSpPr>
        <p:spPr bwMode="auto">
          <a:xfrm>
            <a:off x="3349625" y="5013325"/>
            <a:ext cx="2665413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5" name="Line 20">
            <a:extLst>
              <a:ext uri="{FF2B5EF4-FFF2-40B4-BE49-F238E27FC236}">
                <a16:creationId xmlns:a16="http://schemas.microsoft.com/office/drawing/2014/main" id="{1DBCACA4-4334-5F69-C865-B9C27526D42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97325" y="3717925"/>
            <a:ext cx="28797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6" name="Line 21">
            <a:extLst>
              <a:ext uri="{FF2B5EF4-FFF2-40B4-BE49-F238E27FC236}">
                <a16:creationId xmlns:a16="http://schemas.microsoft.com/office/drawing/2014/main" id="{FC888F6E-4296-1C59-4672-740A37F940B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13000" y="1773238"/>
            <a:ext cx="44640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7" name="Line 22">
            <a:extLst>
              <a:ext uri="{FF2B5EF4-FFF2-40B4-BE49-F238E27FC236}">
                <a16:creationId xmlns:a16="http://schemas.microsoft.com/office/drawing/2014/main" id="{0F023D17-E233-AEB9-BFAD-69166970AFE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7050" y="1773238"/>
            <a:ext cx="0" cy="4318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8" name="Line 23">
            <a:extLst>
              <a:ext uri="{FF2B5EF4-FFF2-40B4-BE49-F238E27FC236}">
                <a16:creationId xmlns:a16="http://schemas.microsoft.com/office/drawing/2014/main" id="{2A2ED58A-D28A-2CFB-5FFB-DE43F3FB51B2}"/>
              </a:ext>
            </a:extLst>
          </p:cNvPr>
          <p:cNvSpPr>
            <a:spLocks noChangeShapeType="1"/>
          </p:cNvSpPr>
          <p:nvPr/>
        </p:nvSpPr>
        <p:spPr bwMode="auto">
          <a:xfrm>
            <a:off x="2413000" y="3933825"/>
            <a:ext cx="0" cy="719138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89" name="Rectangle 24">
            <a:extLst>
              <a:ext uri="{FF2B5EF4-FFF2-40B4-BE49-F238E27FC236}">
                <a16:creationId xmlns:a16="http://schemas.microsoft.com/office/drawing/2014/main" id="{FD4A2B83-E72C-1C6A-0975-908DEFBE7C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2708275"/>
            <a:ext cx="2879725" cy="503238"/>
          </a:xfrm>
          <a:prstGeom prst="rect">
            <a:avLst/>
          </a:prstGeom>
          <a:solidFill>
            <a:srgbClr val="FF9900"/>
          </a:solidFill>
          <a:ln w="2857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GB" altLang="en-US" sz="1800" b="1">
                <a:solidFill>
                  <a:srgbClr val="000000"/>
                </a:solidFill>
              </a:rPr>
              <a:t>Solve Flow (FLUENT)</a:t>
            </a:r>
          </a:p>
        </p:txBody>
      </p:sp>
      <p:sp>
        <p:nvSpPr>
          <p:cNvPr id="11290" name="Line 25">
            <a:extLst>
              <a:ext uri="{FF2B5EF4-FFF2-40B4-BE49-F238E27FC236}">
                <a16:creationId xmlns:a16="http://schemas.microsoft.com/office/drawing/2014/main" id="{39BA406A-71C0-8EF9-84F9-68DEA49B88B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7050" y="2997200"/>
            <a:ext cx="0" cy="1439863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91" name="Text Box 26">
            <a:extLst>
              <a:ext uri="{FF2B5EF4-FFF2-40B4-BE49-F238E27FC236}">
                <a16:creationId xmlns:a16="http://schemas.microsoft.com/office/drawing/2014/main" id="{C2185D08-A4E9-1888-6305-C36C9C1BDE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9125" y="3717925"/>
            <a:ext cx="23050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GB" altLang="en-US" sz="1400" b="1">
                <a:solidFill>
                  <a:srgbClr val="000000"/>
                </a:solidFill>
              </a:rPr>
              <a:t>Water height Update</a:t>
            </a:r>
          </a:p>
        </p:txBody>
      </p:sp>
      <p:sp>
        <p:nvSpPr>
          <p:cNvPr id="11292" name="Text Box 27">
            <a:extLst>
              <a:ext uri="{FF2B5EF4-FFF2-40B4-BE49-F238E27FC236}">
                <a16:creationId xmlns:a16="http://schemas.microsoft.com/office/drawing/2014/main" id="{A4233716-AA87-37E7-B701-3172D81FBA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1275" y="620713"/>
            <a:ext cx="48244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</a:pPr>
            <a:r>
              <a:rPr lang="en-GB" altLang="en-US" sz="2400" b="1">
                <a:solidFill>
                  <a:srgbClr val="000000"/>
                </a:solidFill>
                <a:latin typeface="Arial Black" panose="020B0604020202020204" pitchFamily="34" charset="0"/>
              </a:rPr>
              <a:t>ALGORITHM ICECREMO2</a:t>
            </a:r>
            <a:endParaRPr lang="en-US" altLang="en-US" sz="2400" b="1">
              <a:solidFill>
                <a:srgbClr val="000000"/>
              </a:solidFill>
              <a:latin typeface="Arial Black" panose="020B0604020202020204" pitchFamily="34" charset="0"/>
            </a:endParaRPr>
          </a:p>
        </p:txBody>
      </p:sp>
      <p:sp>
        <p:nvSpPr>
          <p:cNvPr id="11293" name="Line 28">
            <a:extLst>
              <a:ext uri="{FF2B5EF4-FFF2-40B4-BE49-F238E27FC236}">
                <a16:creationId xmlns:a16="http://schemas.microsoft.com/office/drawing/2014/main" id="{53F1D18F-8FCB-98E3-3B18-E369270D1C95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188" y="3284538"/>
            <a:ext cx="7777162" cy="0"/>
          </a:xfrm>
          <a:prstGeom prst="line">
            <a:avLst/>
          </a:prstGeom>
          <a:noFill/>
          <a:ln w="28575" cap="rnd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94" name="Line 29">
            <a:extLst>
              <a:ext uri="{FF2B5EF4-FFF2-40B4-BE49-F238E27FC236}">
                <a16:creationId xmlns:a16="http://schemas.microsoft.com/office/drawing/2014/main" id="{0291EDEA-E9D6-67BB-10CA-821EED786991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188" y="3284538"/>
            <a:ext cx="0" cy="2376487"/>
          </a:xfrm>
          <a:prstGeom prst="line">
            <a:avLst/>
          </a:prstGeom>
          <a:noFill/>
          <a:ln w="28575" cap="rnd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95" name="Line 30">
            <a:extLst>
              <a:ext uri="{FF2B5EF4-FFF2-40B4-BE49-F238E27FC236}">
                <a16:creationId xmlns:a16="http://schemas.microsoft.com/office/drawing/2014/main" id="{0C148673-1DC5-7AC9-CDF0-7DE423F5C4B4}"/>
              </a:ext>
            </a:extLst>
          </p:cNvPr>
          <p:cNvSpPr>
            <a:spLocks noChangeShapeType="1"/>
          </p:cNvSpPr>
          <p:nvPr/>
        </p:nvSpPr>
        <p:spPr bwMode="auto">
          <a:xfrm>
            <a:off x="611188" y="5661025"/>
            <a:ext cx="7777162" cy="0"/>
          </a:xfrm>
          <a:prstGeom prst="line">
            <a:avLst/>
          </a:prstGeom>
          <a:noFill/>
          <a:ln w="28575" cap="rnd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96" name="Line 31">
            <a:extLst>
              <a:ext uri="{FF2B5EF4-FFF2-40B4-BE49-F238E27FC236}">
                <a16:creationId xmlns:a16="http://schemas.microsoft.com/office/drawing/2014/main" id="{20A47F92-CB88-1D6A-85D5-5291D4DA6550}"/>
              </a:ext>
            </a:extLst>
          </p:cNvPr>
          <p:cNvSpPr>
            <a:spLocks noChangeShapeType="1"/>
          </p:cNvSpPr>
          <p:nvPr/>
        </p:nvSpPr>
        <p:spPr bwMode="auto">
          <a:xfrm>
            <a:off x="8388350" y="3284538"/>
            <a:ext cx="0" cy="2376487"/>
          </a:xfrm>
          <a:prstGeom prst="line">
            <a:avLst/>
          </a:prstGeom>
          <a:noFill/>
          <a:ln w="28575" cap="rnd">
            <a:solidFill>
              <a:srgbClr val="FF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97" name="Line 32">
            <a:extLst>
              <a:ext uri="{FF2B5EF4-FFF2-40B4-BE49-F238E27FC236}">
                <a16:creationId xmlns:a16="http://schemas.microsoft.com/office/drawing/2014/main" id="{F3B2EA2B-9DE8-4E05-74A9-980C01CBBBC1}"/>
              </a:ext>
            </a:extLst>
          </p:cNvPr>
          <p:cNvSpPr>
            <a:spLocks noChangeShapeType="1"/>
          </p:cNvSpPr>
          <p:nvPr/>
        </p:nvSpPr>
        <p:spPr bwMode="auto">
          <a:xfrm>
            <a:off x="827088" y="1700213"/>
            <a:ext cx="0" cy="4105275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98" name="Line 33">
            <a:extLst>
              <a:ext uri="{FF2B5EF4-FFF2-40B4-BE49-F238E27FC236}">
                <a16:creationId xmlns:a16="http://schemas.microsoft.com/office/drawing/2014/main" id="{F753A48B-51BD-0374-CF10-A458FE07974A}"/>
              </a:ext>
            </a:extLst>
          </p:cNvPr>
          <p:cNvSpPr>
            <a:spLocks noChangeShapeType="1"/>
          </p:cNvSpPr>
          <p:nvPr/>
        </p:nvSpPr>
        <p:spPr bwMode="auto">
          <a:xfrm>
            <a:off x="8172450" y="1700213"/>
            <a:ext cx="0" cy="4105275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99" name="Line 36">
            <a:extLst>
              <a:ext uri="{FF2B5EF4-FFF2-40B4-BE49-F238E27FC236}">
                <a16:creationId xmlns:a16="http://schemas.microsoft.com/office/drawing/2014/main" id="{2D623A58-2622-C138-ADB2-8F17CEAECCB4}"/>
              </a:ext>
            </a:extLst>
          </p:cNvPr>
          <p:cNvSpPr>
            <a:spLocks noChangeShapeType="1"/>
          </p:cNvSpPr>
          <p:nvPr/>
        </p:nvSpPr>
        <p:spPr bwMode="auto">
          <a:xfrm>
            <a:off x="827088" y="5805488"/>
            <a:ext cx="7345362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00" name="Line 37">
            <a:extLst>
              <a:ext uri="{FF2B5EF4-FFF2-40B4-BE49-F238E27FC236}">
                <a16:creationId xmlns:a16="http://schemas.microsoft.com/office/drawing/2014/main" id="{05DD5316-348F-D442-8285-609295E5FB0E}"/>
              </a:ext>
            </a:extLst>
          </p:cNvPr>
          <p:cNvSpPr>
            <a:spLocks noChangeShapeType="1"/>
          </p:cNvSpPr>
          <p:nvPr/>
        </p:nvSpPr>
        <p:spPr bwMode="auto">
          <a:xfrm>
            <a:off x="827088" y="1700213"/>
            <a:ext cx="7345362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01" name="Text Box 38">
            <a:extLst>
              <a:ext uri="{FF2B5EF4-FFF2-40B4-BE49-F238E27FC236}">
                <a16:creationId xmlns:a16="http://schemas.microsoft.com/office/drawing/2014/main" id="{1CF50EF4-1F87-AF10-6618-1B63758204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6021388"/>
            <a:ext cx="43926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>
                <a:solidFill>
                  <a:srgbClr val="CC3300"/>
                </a:solidFill>
              </a:rPr>
              <a:t>Internal Multi-stepping (same Flow)</a:t>
            </a:r>
          </a:p>
        </p:txBody>
      </p:sp>
      <p:sp>
        <p:nvSpPr>
          <p:cNvPr id="11302" name="Line 39">
            <a:extLst>
              <a:ext uri="{FF2B5EF4-FFF2-40B4-BE49-F238E27FC236}">
                <a16:creationId xmlns:a16="http://schemas.microsoft.com/office/drawing/2014/main" id="{B1CEB038-0294-6FBE-A3F4-7105CE631D9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9750" y="5734050"/>
            <a:ext cx="71438" cy="360363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303" name="Text Box 40">
            <a:extLst>
              <a:ext uri="{FF2B5EF4-FFF2-40B4-BE49-F238E27FC236}">
                <a16:creationId xmlns:a16="http://schemas.microsoft.com/office/drawing/2014/main" id="{44A75ABE-234F-7D42-2A8E-7D1DFBCA69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1125538"/>
            <a:ext cx="4392612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/>
              <a:t>Multi-stepping with Flow Update</a:t>
            </a:r>
          </a:p>
        </p:txBody>
      </p:sp>
      <p:sp>
        <p:nvSpPr>
          <p:cNvPr id="11304" name="Line 41">
            <a:extLst>
              <a:ext uri="{FF2B5EF4-FFF2-40B4-BE49-F238E27FC236}">
                <a16:creationId xmlns:a16="http://schemas.microsoft.com/office/drawing/2014/main" id="{72074EC8-C30E-8618-DF68-3BA470DC716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43888" y="1484313"/>
            <a:ext cx="215900" cy="431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8">
            <a:extLst>
              <a:ext uri="{FF2B5EF4-FFF2-40B4-BE49-F238E27FC236}">
                <a16:creationId xmlns:a16="http://schemas.microsoft.com/office/drawing/2014/main" id="{D3FE069C-AC6C-1174-FBF7-1217AAB68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289965A-44B2-CD42-9C9D-F3B6F44325D7}" type="slidenum">
              <a:rPr lang="en-GB" altLang="en-US" sz="1400">
                <a:latin typeface="Times New Roman" panose="02020603050405020304" pitchFamily="18" charset="0"/>
              </a:rPr>
              <a:pPr/>
              <a:t>10</a:t>
            </a:fld>
            <a:endParaRPr lang="en-GB" altLang="en-US" sz="1400">
              <a:latin typeface="Times New Roman" panose="02020603050405020304" pitchFamily="18" charset="0"/>
            </a:endParaRPr>
          </a:p>
        </p:txBody>
      </p:sp>
      <p:graphicFrame>
        <p:nvGraphicFramePr>
          <p:cNvPr id="12291" name="Object 2">
            <a:extLst>
              <a:ext uri="{FF2B5EF4-FFF2-40B4-BE49-F238E27FC236}">
                <a16:creationId xmlns:a16="http://schemas.microsoft.com/office/drawing/2014/main" id="{CE397721-66B8-35B0-A9D1-4291FF0E331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28900" imgH="4102100" progId="Equation.DSMT4">
                  <p:embed/>
                </p:oleObj>
              </mc:Choice>
              <mc:Fallback>
                <p:oleObj name="Equation" r:id="rId2" imgW="2628900" imgH="41021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" name="Object 3">
            <a:extLst>
              <a:ext uri="{FF2B5EF4-FFF2-40B4-BE49-F238E27FC236}">
                <a16:creationId xmlns:a16="http://schemas.microsoft.com/office/drawing/2014/main" id="{9547D9CD-6C9D-2EA5-A981-7F3F0717EC1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28900" imgH="4102100" progId="Equation.DSMT4">
                  <p:embed/>
                </p:oleObj>
              </mc:Choice>
              <mc:Fallback>
                <p:oleObj name="Equation" r:id="rId4" imgW="2628900" imgH="41021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3" name="Text Box 4">
            <a:extLst>
              <a:ext uri="{FF2B5EF4-FFF2-40B4-BE49-F238E27FC236}">
                <a16:creationId xmlns:a16="http://schemas.microsoft.com/office/drawing/2014/main" id="{9D6D7E37-1383-97FA-D5BA-12BE542A72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04813"/>
            <a:ext cx="81359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GB" altLang="en-US" sz="2400" b="1">
                <a:solidFill>
                  <a:srgbClr val="000000"/>
                </a:solidFill>
              </a:rPr>
              <a:t> CASE O5 - NATO/RTO – Ts=270.2K – T</a:t>
            </a:r>
            <a:r>
              <a:rPr lang="en-GB" altLang="en-US" sz="1200" b="1">
                <a:solidFill>
                  <a:srgbClr val="000000"/>
                </a:solidFill>
              </a:rPr>
              <a:t>exp</a:t>
            </a:r>
            <a:r>
              <a:rPr lang="en-GB" altLang="en-US" sz="2400" b="1">
                <a:solidFill>
                  <a:srgbClr val="000000"/>
                </a:solidFill>
              </a:rPr>
              <a:t>=330 s</a:t>
            </a:r>
            <a:endParaRPr lang="en-GB" altLang="en-US" sz="2400" b="1"/>
          </a:p>
        </p:txBody>
      </p:sp>
      <p:sp>
        <p:nvSpPr>
          <p:cNvPr id="12294" name="Text Box 5">
            <a:extLst>
              <a:ext uri="{FF2B5EF4-FFF2-40B4-BE49-F238E27FC236}">
                <a16:creationId xmlns:a16="http://schemas.microsoft.com/office/drawing/2014/main" id="{8103B49D-5FE2-A9BA-8092-96191C6A8B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6021388"/>
            <a:ext cx="4176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50000"/>
              </a:spcBef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2295" name="Text Box 6">
            <a:extLst>
              <a:ext uri="{FF2B5EF4-FFF2-40B4-BE49-F238E27FC236}">
                <a16:creationId xmlns:a16="http://schemas.microsoft.com/office/drawing/2014/main" id="{0AAD58CA-DB5B-2521-D45F-47C780B79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5949950"/>
            <a:ext cx="17287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50000"/>
              </a:spcBef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pic>
        <p:nvPicPr>
          <p:cNvPr id="12296" name="Picture 12" descr="Compar_Criterion_case5">
            <a:extLst>
              <a:ext uri="{FF2B5EF4-FFF2-40B4-BE49-F238E27FC236}">
                <a16:creationId xmlns:a16="http://schemas.microsoft.com/office/drawing/2014/main" id="{5389ACAA-FC52-CAEE-1ED6-F14A40A1CF8B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9388" y="981075"/>
            <a:ext cx="5545137" cy="5400675"/>
          </a:xfrm>
        </p:spPr>
      </p:pic>
      <p:graphicFrame>
        <p:nvGraphicFramePr>
          <p:cNvPr id="12297" name="Rectangle 7">
            <a:extLst>
              <a:ext uri="{FF2B5EF4-FFF2-40B4-BE49-F238E27FC236}">
                <a16:creationId xmlns:a16="http://schemas.microsoft.com/office/drawing/2014/main" id="{661CCE39-820C-ECC8-C106-B9EA91E7324D}"/>
              </a:ext>
            </a:extLst>
          </p:cNvPr>
          <p:cNvGraphicFramePr>
            <a:graphicFrameLocks/>
          </p:cNvGraphicFramePr>
          <p:nvPr>
            <p:ph sz="quarter" idx="2"/>
          </p:nvPr>
        </p:nvGraphicFramePr>
        <p:xfrm>
          <a:off x="6553200" y="2971800"/>
          <a:ext cx="0" cy="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Rectangle 7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2971800"/>
                        <a:ext cx="0" cy="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298" name="Picture 13" descr="case05_comp_crit_zoom_up2">
            <a:extLst>
              <a:ext uri="{FF2B5EF4-FFF2-40B4-BE49-F238E27FC236}">
                <a16:creationId xmlns:a16="http://schemas.microsoft.com/office/drawing/2014/main" id="{0D136B24-6B72-1E84-3EDF-06BB3AAED77B}"/>
              </a:ext>
            </a:extLst>
          </p:cNvPr>
          <p:cNvPicPr>
            <a:picLocks noChangeAspect="1" noChangeArrowheads="1"/>
          </p:cNvPicPr>
          <p:nvPr>
            <p:ph sz="quarter" idx="3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759450" y="1268413"/>
            <a:ext cx="3384550" cy="27368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2299" name="Picture 16" descr="case05_comp_crit_zoom_down2">
            <a:extLst>
              <a:ext uri="{FF2B5EF4-FFF2-40B4-BE49-F238E27FC236}">
                <a16:creationId xmlns:a16="http://schemas.microsoft.com/office/drawing/2014/main" id="{BEAA3988-0D65-7B4B-7407-8CEA3438D03B}"/>
              </a:ext>
            </a:extLst>
          </p:cNvPr>
          <p:cNvPicPr>
            <a:picLocks noChangeAspect="1" noChangeArrowheads="1"/>
          </p:cNvPicPr>
          <p:nvPr>
            <p:ph sz="quarter" idx="4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859338" y="3933825"/>
            <a:ext cx="3095625" cy="25193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2300" name="Text Box 19">
            <a:extLst>
              <a:ext uri="{FF2B5EF4-FFF2-40B4-BE49-F238E27FC236}">
                <a16:creationId xmlns:a16="http://schemas.microsoft.com/office/drawing/2014/main" id="{68A4A722-ACB6-BA6E-7FD1-BE8AEA9369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25" y="3789363"/>
            <a:ext cx="2555875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Time crit: 20 steps</a:t>
            </a:r>
          </a:p>
          <a:p>
            <a:pPr>
              <a:spcBef>
                <a:spcPct val="50000"/>
              </a:spcBef>
            </a:pPr>
            <a:r>
              <a:rPr lang="en-GB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Ice crit: 10 steps</a:t>
            </a:r>
          </a:p>
          <a:p>
            <a:pPr>
              <a:spcBef>
                <a:spcPct val="50000"/>
              </a:spcBef>
            </a:pPr>
            <a:r>
              <a:rPr lang="en-GB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Auto crit: 20 steps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8">
            <a:extLst>
              <a:ext uri="{FF2B5EF4-FFF2-40B4-BE49-F238E27FC236}">
                <a16:creationId xmlns:a16="http://schemas.microsoft.com/office/drawing/2014/main" id="{83ED3A1F-8880-1594-6EEC-908076284F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3F9B471-607A-2C44-8A00-E1AE38D99310}" type="slidenum">
              <a:rPr lang="en-GB" altLang="en-US" sz="1400">
                <a:latin typeface="Times New Roman" panose="02020603050405020304" pitchFamily="18" charset="0"/>
              </a:rPr>
              <a:pPr/>
              <a:t>11</a:t>
            </a:fld>
            <a:endParaRPr lang="en-GB" altLang="en-US" sz="1400">
              <a:latin typeface="Times New Roman" panose="02020603050405020304" pitchFamily="18" charset="0"/>
            </a:endParaRPr>
          </a:p>
        </p:txBody>
      </p:sp>
      <p:graphicFrame>
        <p:nvGraphicFramePr>
          <p:cNvPr id="13315" name="Object 2">
            <a:extLst>
              <a:ext uri="{FF2B5EF4-FFF2-40B4-BE49-F238E27FC236}">
                <a16:creationId xmlns:a16="http://schemas.microsoft.com/office/drawing/2014/main" id="{838785FF-9312-9CA6-C2EA-6198C857A2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28900" imgH="4102100" progId="Equation.DSMT4">
                  <p:embed/>
                </p:oleObj>
              </mc:Choice>
              <mc:Fallback>
                <p:oleObj name="Equation" r:id="rId2" imgW="2628900" imgH="41021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Object 3">
            <a:extLst>
              <a:ext uri="{FF2B5EF4-FFF2-40B4-BE49-F238E27FC236}">
                <a16:creationId xmlns:a16="http://schemas.microsoft.com/office/drawing/2014/main" id="{32243BDB-137A-FB33-23BB-DE98897E68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28900" imgH="4102100" progId="Equation.DSMT4">
                  <p:embed/>
                </p:oleObj>
              </mc:Choice>
              <mc:Fallback>
                <p:oleObj name="Equation" r:id="rId4" imgW="2628900" imgH="41021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Text Box 4">
            <a:extLst>
              <a:ext uri="{FF2B5EF4-FFF2-40B4-BE49-F238E27FC236}">
                <a16:creationId xmlns:a16="http://schemas.microsoft.com/office/drawing/2014/main" id="{32B82774-7714-E3C0-ED59-6C1DC3333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04813"/>
            <a:ext cx="81359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GB" altLang="en-US" sz="2400" b="1">
                <a:solidFill>
                  <a:srgbClr val="000000"/>
                </a:solidFill>
              </a:rPr>
              <a:t> CASE O6 - NATO/RTO – T</a:t>
            </a:r>
            <a:r>
              <a:rPr lang="en-GB" altLang="en-US" sz="1200" b="1">
                <a:solidFill>
                  <a:srgbClr val="000000"/>
                </a:solidFill>
              </a:rPr>
              <a:t>s</a:t>
            </a:r>
            <a:r>
              <a:rPr lang="en-GB" altLang="en-US" sz="2400" b="1">
                <a:solidFill>
                  <a:srgbClr val="000000"/>
                </a:solidFill>
              </a:rPr>
              <a:t>=270.6K  T</a:t>
            </a:r>
            <a:r>
              <a:rPr lang="en-GB" altLang="en-US" sz="1200" b="1">
                <a:solidFill>
                  <a:srgbClr val="000000"/>
                </a:solidFill>
              </a:rPr>
              <a:t>exp</a:t>
            </a:r>
            <a:r>
              <a:rPr lang="en-GB" altLang="en-US" sz="2400" b="1">
                <a:solidFill>
                  <a:srgbClr val="000000"/>
                </a:solidFill>
              </a:rPr>
              <a:t>=330s</a:t>
            </a:r>
            <a:endParaRPr lang="en-GB" altLang="en-US" sz="2400" b="1"/>
          </a:p>
        </p:txBody>
      </p:sp>
      <p:sp>
        <p:nvSpPr>
          <p:cNvPr id="13318" name="Text Box 5">
            <a:extLst>
              <a:ext uri="{FF2B5EF4-FFF2-40B4-BE49-F238E27FC236}">
                <a16:creationId xmlns:a16="http://schemas.microsoft.com/office/drawing/2014/main" id="{17B846F6-DC62-B2AE-083C-6268582EC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6021388"/>
            <a:ext cx="4176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50000"/>
              </a:spcBef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3319" name="Text Box 6">
            <a:extLst>
              <a:ext uri="{FF2B5EF4-FFF2-40B4-BE49-F238E27FC236}">
                <a16:creationId xmlns:a16="http://schemas.microsoft.com/office/drawing/2014/main" id="{F7FA9711-6522-BA69-1F98-4E0FD98F77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5949950"/>
            <a:ext cx="17287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50000"/>
              </a:spcBef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pic>
        <p:nvPicPr>
          <p:cNvPr id="13320" name="Picture 23" descr="Compar_Criterion_O6">
            <a:extLst>
              <a:ext uri="{FF2B5EF4-FFF2-40B4-BE49-F238E27FC236}">
                <a16:creationId xmlns:a16="http://schemas.microsoft.com/office/drawing/2014/main" id="{B0884B32-45AC-78C5-7A64-BF9883A500AC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052513"/>
            <a:ext cx="5435600" cy="5329237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3321" name="Rectangle 8">
            <a:extLst>
              <a:ext uri="{FF2B5EF4-FFF2-40B4-BE49-F238E27FC236}">
                <a16:creationId xmlns:a16="http://schemas.microsoft.com/office/drawing/2014/main" id="{93DE0756-8470-782F-DB4F-37D0D10020EE}"/>
              </a:ext>
            </a:extLst>
          </p:cNvPr>
          <p:cNvGraphicFramePr>
            <a:graphicFrameLocks/>
          </p:cNvGraphicFramePr>
          <p:nvPr>
            <p:ph sz="quarter" idx="2"/>
          </p:nvPr>
        </p:nvGraphicFramePr>
        <p:xfrm>
          <a:off x="6553200" y="2971800"/>
          <a:ext cx="0" cy="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Rectangle 8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2971800"/>
                        <a:ext cx="0" cy="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322" name="Picture 24" descr="case06_comp_crit_zoom_down2">
            <a:extLst>
              <a:ext uri="{FF2B5EF4-FFF2-40B4-BE49-F238E27FC236}">
                <a16:creationId xmlns:a16="http://schemas.microsoft.com/office/drawing/2014/main" id="{6A084B90-24AD-B48F-40AE-D9E689BDB631}"/>
              </a:ext>
            </a:extLst>
          </p:cNvPr>
          <p:cNvPicPr>
            <a:picLocks noGrp="1" noChangeAspect="1" noChangeArrowheads="1"/>
          </p:cNvPicPr>
          <p:nvPr>
            <p:ph sz="quarter" idx="3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651500" y="3284538"/>
            <a:ext cx="2952750" cy="29464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3" name="Picture 25" descr="case06_comp_crit_zoom_up2">
            <a:extLst>
              <a:ext uri="{FF2B5EF4-FFF2-40B4-BE49-F238E27FC236}">
                <a16:creationId xmlns:a16="http://schemas.microsoft.com/office/drawing/2014/main" id="{104B201C-3EC3-677D-DB34-FEC0D4A2D80B}"/>
              </a:ext>
            </a:extLst>
          </p:cNvPr>
          <p:cNvPicPr>
            <a:picLocks noChangeAspect="1" noChangeArrowheads="1"/>
          </p:cNvPicPr>
          <p:nvPr>
            <p:ph sz="quarter" idx="4"/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11863" y="908050"/>
            <a:ext cx="2786062" cy="2768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3324" name="Text Box 27">
            <a:extLst>
              <a:ext uri="{FF2B5EF4-FFF2-40B4-BE49-F238E27FC236}">
                <a16:creationId xmlns:a16="http://schemas.microsoft.com/office/drawing/2014/main" id="{26F216CE-FC4B-F06D-6B36-AF62E92CD3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25" y="2924175"/>
            <a:ext cx="2555875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Time crit: 20 steps</a:t>
            </a:r>
          </a:p>
          <a:p>
            <a:pPr>
              <a:spcBef>
                <a:spcPct val="50000"/>
              </a:spcBef>
            </a:pPr>
            <a:r>
              <a:rPr lang="en-GB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Ice crit: 10 steps</a:t>
            </a:r>
          </a:p>
          <a:p>
            <a:pPr>
              <a:spcBef>
                <a:spcPct val="50000"/>
              </a:spcBef>
            </a:pPr>
            <a:r>
              <a:rPr lang="en-GB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Auto crit: 17 steps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8">
            <a:extLst>
              <a:ext uri="{FF2B5EF4-FFF2-40B4-BE49-F238E27FC236}">
                <a16:creationId xmlns:a16="http://schemas.microsoft.com/office/drawing/2014/main" id="{EF506EAD-EB11-0550-4967-FE5D5B1EF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D10B3DC-9E14-5B44-BF88-FFDC007769F4}" type="slidenum">
              <a:rPr lang="en-GB" altLang="en-US" sz="1400">
                <a:latin typeface="Times New Roman" panose="02020603050405020304" pitchFamily="18" charset="0"/>
              </a:rPr>
              <a:pPr/>
              <a:t>12</a:t>
            </a:fld>
            <a:endParaRPr lang="en-GB" altLang="en-US" sz="1400">
              <a:latin typeface="Times New Roman" panose="02020603050405020304" pitchFamily="18" charset="0"/>
            </a:endParaRPr>
          </a:p>
        </p:txBody>
      </p:sp>
      <p:graphicFrame>
        <p:nvGraphicFramePr>
          <p:cNvPr id="14339" name="Object 2">
            <a:extLst>
              <a:ext uri="{FF2B5EF4-FFF2-40B4-BE49-F238E27FC236}">
                <a16:creationId xmlns:a16="http://schemas.microsoft.com/office/drawing/2014/main" id="{1FDE1C9D-F8AD-6B44-90D9-895A75E947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28900" imgH="4102100" progId="Equation.DSMT4">
                  <p:embed/>
                </p:oleObj>
              </mc:Choice>
              <mc:Fallback>
                <p:oleObj name="Equation" r:id="rId2" imgW="2628900" imgH="41021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0" name="Object 3">
            <a:extLst>
              <a:ext uri="{FF2B5EF4-FFF2-40B4-BE49-F238E27FC236}">
                <a16:creationId xmlns:a16="http://schemas.microsoft.com/office/drawing/2014/main" id="{188A4396-9189-CEDD-0A9D-17CF64A0CC1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28900" imgH="4102100" progId="Equation.DSMT4">
                  <p:embed/>
                </p:oleObj>
              </mc:Choice>
              <mc:Fallback>
                <p:oleObj name="Equation" r:id="rId4" imgW="2628900" imgH="41021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1" name="Text Box 4">
            <a:extLst>
              <a:ext uri="{FF2B5EF4-FFF2-40B4-BE49-F238E27FC236}">
                <a16:creationId xmlns:a16="http://schemas.microsoft.com/office/drawing/2014/main" id="{84A35595-774E-2EA5-E89A-9987E729BD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76250"/>
            <a:ext cx="8675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GB" altLang="en-US" sz="2400" b="1">
                <a:solidFill>
                  <a:srgbClr val="000000"/>
                </a:solidFill>
              </a:rPr>
              <a:t> NACA 0012 - NATO/RTO - C17 – T</a:t>
            </a:r>
            <a:r>
              <a:rPr lang="en-GB" altLang="en-US" sz="1200" b="1">
                <a:solidFill>
                  <a:srgbClr val="000000"/>
                </a:solidFill>
              </a:rPr>
              <a:t>s</a:t>
            </a:r>
            <a:r>
              <a:rPr lang="en-GB" altLang="en-US" sz="2400" b="1">
                <a:solidFill>
                  <a:srgbClr val="000000"/>
                </a:solidFill>
              </a:rPr>
              <a:t>= -7  C – T</a:t>
            </a:r>
            <a:r>
              <a:rPr lang="en-GB" altLang="en-US" sz="1200" b="1">
                <a:solidFill>
                  <a:srgbClr val="000000"/>
                </a:solidFill>
              </a:rPr>
              <a:t>exp</a:t>
            </a:r>
            <a:r>
              <a:rPr lang="en-GB" altLang="en-US" sz="2400" b="1">
                <a:solidFill>
                  <a:srgbClr val="000000"/>
                </a:solidFill>
              </a:rPr>
              <a:t>=20min</a:t>
            </a:r>
            <a:endParaRPr lang="en-GB" altLang="en-US" sz="2400" b="1"/>
          </a:p>
        </p:txBody>
      </p:sp>
      <p:sp>
        <p:nvSpPr>
          <p:cNvPr id="14342" name="Text Box 5">
            <a:extLst>
              <a:ext uri="{FF2B5EF4-FFF2-40B4-BE49-F238E27FC236}">
                <a16:creationId xmlns:a16="http://schemas.microsoft.com/office/drawing/2014/main" id="{AC3A5858-0245-840F-8424-5342711B56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6021388"/>
            <a:ext cx="4176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50000"/>
              </a:spcBef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4343" name="Text Box 6">
            <a:extLst>
              <a:ext uri="{FF2B5EF4-FFF2-40B4-BE49-F238E27FC236}">
                <a16:creationId xmlns:a16="http://schemas.microsoft.com/office/drawing/2014/main" id="{AE4D2640-4BFA-958C-11BD-FF3DBBBFD5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5949950"/>
            <a:ext cx="17287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50000"/>
              </a:spcBef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pic>
        <p:nvPicPr>
          <p:cNvPr id="14344" name="Picture 24" descr="NACA0012_T263_comparall">
            <a:extLst>
              <a:ext uri="{FF2B5EF4-FFF2-40B4-BE49-F238E27FC236}">
                <a16:creationId xmlns:a16="http://schemas.microsoft.com/office/drawing/2014/main" id="{11E8A0B0-2EB6-3853-529F-E77117902D19}"/>
              </a:ext>
            </a:extLst>
          </p:cNvPr>
          <p:cNvPicPr>
            <a:picLocks noChangeAspect="1" noChangeArrowheads="1"/>
          </p:cNvPicPr>
          <p:nvPr>
            <p:ph sz="quarter"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981075"/>
            <a:ext cx="5875338" cy="51117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aphicFrame>
        <p:nvGraphicFramePr>
          <p:cNvPr id="14345" name="Rectangle 8">
            <a:extLst>
              <a:ext uri="{FF2B5EF4-FFF2-40B4-BE49-F238E27FC236}">
                <a16:creationId xmlns:a16="http://schemas.microsoft.com/office/drawing/2014/main" id="{2428302F-9770-669D-EFF1-DA0CD564EF7C}"/>
              </a:ext>
            </a:extLst>
          </p:cNvPr>
          <p:cNvGraphicFramePr>
            <a:graphicFrameLocks/>
          </p:cNvGraphicFramePr>
          <p:nvPr>
            <p:ph sz="quarter" idx="2"/>
          </p:nvPr>
        </p:nvGraphicFramePr>
        <p:xfrm>
          <a:off x="6553200" y="2971800"/>
          <a:ext cx="0" cy="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Rectangle 8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2971800"/>
                        <a:ext cx="0" cy="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346" name="Picture 27" descr="T263_auto3d_iced">
            <a:extLst>
              <a:ext uri="{FF2B5EF4-FFF2-40B4-BE49-F238E27FC236}">
                <a16:creationId xmlns:a16="http://schemas.microsoft.com/office/drawing/2014/main" id="{168A730A-F865-C6C5-5D05-E4356B269F2E}"/>
              </a:ext>
            </a:extLst>
          </p:cNvPr>
          <p:cNvPicPr>
            <a:picLocks noChangeAspect="1" noChangeArrowheads="1"/>
          </p:cNvPicPr>
          <p:nvPr>
            <p:ph sz="quarter" idx="3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356100" y="2982913"/>
            <a:ext cx="3678238" cy="325596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4347" name="Text Box 30">
            <a:extLst>
              <a:ext uri="{FF2B5EF4-FFF2-40B4-BE49-F238E27FC236}">
                <a16:creationId xmlns:a16="http://schemas.microsoft.com/office/drawing/2014/main" id="{FE8F2F57-11E5-650B-C749-32A2CD18DD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325" y="1412875"/>
            <a:ext cx="2627313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GB" altLang="en-US" sz="240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en-GB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Ice crit: 4 steps</a:t>
            </a:r>
          </a:p>
          <a:p>
            <a:pPr>
              <a:spcBef>
                <a:spcPct val="50000"/>
              </a:spcBef>
            </a:pPr>
            <a:r>
              <a:rPr lang="en-GB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Auto crit:10 steps</a:t>
            </a:r>
          </a:p>
        </p:txBody>
      </p:sp>
      <p:graphicFrame>
        <p:nvGraphicFramePr>
          <p:cNvPr id="14348" name="Object 31">
            <a:extLst>
              <a:ext uri="{FF2B5EF4-FFF2-40B4-BE49-F238E27FC236}">
                <a16:creationId xmlns:a16="http://schemas.microsoft.com/office/drawing/2014/main" id="{62BDEBA8-35AB-F01B-6041-DBAF95956985}"/>
              </a:ext>
            </a:extLst>
          </p:cNvPr>
          <p:cNvGraphicFramePr>
            <a:graphicFrameLocks noChangeAspect="1"/>
          </p:cNvGraphicFramePr>
          <p:nvPr>
            <p:ph sz="quarter" idx="4"/>
          </p:nvPr>
        </p:nvGraphicFramePr>
        <p:xfrm>
          <a:off x="5651500" y="404813"/>
          <a:ext cx="220663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36800" imgH="3797300" progId="Equation.DSMT4">
                  <p:embed/>
                </p:oleObj>
              </mc:Choice>
              <mc:Fallback>
                <p:oleObj name="Equation" r:id="rId8" imgW="2336800" imgH="3797300" progId="Equation.DSMT4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404813"/>
                        <a:ext cx="220663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8">
            <a:extLst>
              <a:ext uri="{FF2B5EF4-FFF2-40B4-BE49-F238E27FC236}">
                <a16:creationId xmlns:a16="http://schemas.microsoft.com/office/drawing/2014/main" id="{02A09825-31C2-86B8-6A12-9720B8E6C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171DE25-81B1-DC42-A6FF-67A689C5F120}" type="slidenum">
              <a:rPr lang="en-GB" altLang="en-US" sz="1400">
                <a:latin typeface="Times New Roman" panose="02020603050405020304" pitchFamily="18" charset="0"/>
              </a:rPr>
              <a:pPr/>
              <a:t>13</a:t>
            </a:fld>
            <a:endParaRPr lang="en-GB" altLang="en-US" sz="1400">
              <a:latin typeface="Times New Roman" panose="02020603050405020304" pitchFamily="18" charset="0"/>
            </a:endParaRPr>
          </a:p>
        </p:txBody>
      </p:sp>
      <p:graphicFrame>
        <p:nvGraphicFramePr>
          <p:cNvPr id="15363" name="Object 2">
            <a:extLst>
              <a:ext uri="{FF2B5EF4-FFF2-40B4-BE49-F238E27FC236}">
                <a16:creationId xmlns:a16="http://schemas.microsoft.com/office/drawing/2014/main" id="{F27BF73E-D787-80FA-234B-7AAF73D70E5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28900" imgH="4102100" progId="Equation.DSMT4">
                  <p:embed/>
                </p:oleObj>
              </mc:Choice>
              <mc:Fallback>
                <p:oleObj name="Equation" r:id="rId2" imgW="2628900" imgH="41021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4" name="Object 3">
            <a:extLst>
              <a:ext uri="{FF2B5EF4-FFF2-40B4-BE49-F238E27FC236}">
                <a16:creationId xmlns:a16="http://schemas.microsoft.com/office/drawing/2014/main" id="{A2BEE2D9-BAB7-C66F-F1D4-C8185B7F00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0"/>
          <a:ext cx="914400" cy="198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28900" imgH="4102100" progId="Equation.DSMT4">
                  <p:embed/>
                </p:oleObj>
              </mc:Choice>
              <mc:Fallback>
                <p:oleObj name="Equation" r:id="rId4" imgW="2628900" imgH="41021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" cy="198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5" name="Text Box 4">
            <a:extLst>
              <a:ext uri="{FF2B5EF4-FFF2-40B4-BE49-F238E27FC236}">
                <a16:creationId xmlns:a16="http://schemas.microsoft.com/office/drawing/2014/main" id="{C78EC195-D677-3DE4-8B3E-0C2EB5780D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04813"/>
            <a:ext cx="81359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50000"/>
              </a:spcBef>
            </a:pPr>
            <a:r>
              <a:rPr lang="en-GB" altLang="en-US" sz="2400" b="1">
                <a:solidFill>
                  <a:srgbClr val="000000"/>
                </a:solidFill>
              </a:rPr>
              <a:t> NACA0012 – T</a:t>
            </a:r>
            <a:r>
              <a:rPr lang="en-GB" altLang="en-US" sz="1200" b="1">
                <a:solidFill>
                  <a:srgbClr val="000000"/>
                </a:solidFill>
              </a:rPr>
              <a:t>s</a:t>
            </a:r>
            <a:r>
              <a:rPr lang="en-GB" altLang="en-US" sz="2400" b="1">
                <a:solidFill>
                  <a:srgbClr val="000000"/>
                </a:solidFill>
              </a:rPr>
              <a:t> = -26  C – T</a:t>
            </a:r>
            <a:r>
              <a:rPr lang="en-GB" altLang="en-US" sz="1200" b="1">
                <a:solidFill>
                  <a:srgbClr val="000000"/>
                </a:solidFill>
              </a:rPr>
              <a:t>exp</a:t>
            </a:r>
            <a:r>
              <a:rPr lang="en-GB" altLang="en-US" sz="2400" b="1">
                <a:solidFill>
                  <a:srgbClr val="000000"/>
                </a:solidFill>
              </a:rPr>
              <a:t> = 6min</a:t>
            </a:r>
            <a:endParaRPr lang="en-GB" altLang="en-US" sz="2400" b="1"/>
          </a:p>
        </p:txBody>
      </p:sp>
      <p:sp>
        <p:nvSpPr>
          <p:cNvPr id="15366" name="Text Box 5">
            <a:extLst>
              <a:ext uri="{FF2B5EF4-FFF2-40B4-BE49-F238E27FC236}">
                <a16:creationId xmlns:a16="http://schemas.microsoft.com/office/drawing/2014/main" id="{54F48BA6-7AB9-48E4-0A42-C67DFE829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6021388"/>
            <a:ext cx="4176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50000"/>
              </a:spcBef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367" name="Text Box 6">
            <a:extLst>
              <a:ext uri="{FF2B5EF4-FFF2-40B4-BE49-F238E27FC236}">
                <a16:creationId xmlns:a16="http://schemas.microsoft.com/office/drawing/2014/main" id="{A73C2C10-8A23-3B33-0ADE-8BE3E05244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5949950"/>
            <a:ext cx="17287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>
              <a:spcBef>
                <a:spcPct val="50000"/>
              </a:spcBef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pic>
        <p:nvPicPr>
          <p:cNvPr id="15368" name="Picture 15" descr="NACA0012_T44_comparall">
            <a:extLst>
              <a:ext uri="{FF2B5EF4-FFF2-40B4-BE49-F238E27FC236}">
                <a16:creationId xmlns:a16="http://schemas.microsoft.com/office/drawing/2014/main" id="{C076A236-B314-8512-2FC6-75A139AF1945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154113"/>
            <a:ext cx="6084888" cy="4270375"/>
          </a:xfrm>
        </p:spPr>
      </p:pic>
      <p:graphicFrame>
        <p:nvGraphicFramePr>
          <p:cNvPr id="15369" name="Rectangle 8">
            <a:extLst>
              <a:ext uri="{FF2B5EF4-FFF2-40B4-BE49-F238E27FC236}">
                <a16:creationId xmlns:a16="http://schemas.microsoft.com/office/drawing/2014/main" id="{B3972356-A249-34EF-CAB1-6DEDB98FB0E7}"/>
              </a:ext>
            </a:extLst>
          </p:cNvPr>
          <p:cNvGraphicFramePr>
            <a:graphicFrameLocks/>
          </p:cNvGraphicFramePr>
          <p:nvPr>
            <p:ph sz="quarter" idx="2"/>
          </p:nvPr>
        </p:nvGraphicFramePr>
        <p:xfrm>
          <a:off x="6553200" y="2971800"/>
          <a:ext cx="0" cy="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0" imgH="0" progId="Equation.3">
                  <p:embed/>
                </p:oleObj>
              </mc:Choice>
              <mc:Fallback>
                <p:oleObj name="Equation" r:id="rId6" imgW="0" imgH="0" progId="Equation.3">
                  <p:embed/>
                  <p:pic>
                    <p:nvPicPr>
                      <p:cNvPr id="0" name="Rectangle 8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2971800"/>
                        <a:ext cx="0" cy="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370" name="Picture 21" descr="T244_iceheight3d_iced">
            <a:extLst>
              <a:ext uri="{FF2B5EF4-FFF2-40B4-BE49-F238E27FC236}">
                <a16:creationId xmlns:a16="http://schemas.microsoft.com/office/drawing/2014/main" id="{6BFAAB34-177E-3C1F-1307-A6EF9E1EAB7E}"/>
              </a:ext>
            </a:extLst>
          </p:cNvPr>
          <p:cNvPicPr>
            <a:picLocks noGrp="1" noChangeAspect="1" noChangeArrowheads="1"/>
          </p:cNvPicPr>
          <p:nvPr>
            <p:ph sz="quarter" idx="3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076825" y="3357563"/>
            <a:ext cx="3311525" cy="2930525"/>
          </a:xfrm>
        </p:spPr>
      </p:pic>
      <p:sp>
        <p:nvSpPr>
          <p:cNvPr id="15371" name="Text Box 22">
            <a:extLst>
              <a:ext uri="{FF2B5EF4-FFF2-40B4-BE49-F238E27FC236}">
                <a16:creationId xmlns:a16="http://schemas.microsoft.com/office/drawing/2014/main" id="{0121F442-835C-2B98-6D4D-18F5DD3AAD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950" y="1052513"/>
            <a:ext cx="1727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5372" name="Text Box 23">
            <a:extLst>
              <a:ext uri="{FF2B5EF4-FFF2-40B4-BE49-F238E27FC236}">
                <a16:creationId xmlns:a16="http://schemas.microsoft.com/office/drawing/2014/main" id="{1887A034-EC3F-34FE-13C8-170CBFDC8F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88125" y="1268413"/>
            <a:ext cx="2555875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GB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Time crit: 3 steps</a:t>
            </a:r>
          </a:p>
          <a:p>
            <a:pPr>
              <a:spcBef>
                <a:spcPct val="50000"/>
              </a:spcBef>
            </a:pPr>
            <a:r>
              <a:rPr lang="en-GB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Ice crit: 20 steps</a:t>
            </a:r>
          </a:p>
          <a:p>
            <a:pPr>
              <a:spcBef>
                <a:spcPct val="50000"/>
              </a:spcBef>
            </a:pPr>
            <a:r>
              <a:rPr lang="en-GB" altLang="en-US" sz="2400">
                <a:solidFill>
                  <a:srgbClr val="000000"/>
                </a:solidFill>
                <a:latin typeface="Times New Roman" panose="02020603050405020304" pitchFamily="18" charset="0"/>
              </a:rPr>
              <a:t>Auto crit: 6 steps</a:t>
            </a:r>
          </a:p>
        </p:txBody>
      </p:sp>
      <p:graphicFrame>
        <p:nvGraphicFramePr>
          <p:cNvPr id="15373" name="Object 24">
            <a:extLst>
              <a:ext uri="{FF2B5EF4-FFF2-40B4-BE49-F238E27FC236}">
                <a16:creationId xmlns:a16="http://schemas.microsoft.com/office/drawing/2014/main" id="{8072D0EF-DD4A-4745-AFCD-4865FBC66948}"/>
              </a:ext>
            </a:extLst>
          </p:cNvPr>
          <p:cNvGraphicFramePr>
            <a:graphicFrameLocks noChangeAspect="1"/>
          </p:cNvGraphicFramePr>
          <p:nvPr>
            <p:ph sz="quarter" idx="4"/>
          </p:nvPr>
        </p:nvGraphicFramePr>
        <p:xfrm>
          <a:off x="3563938" y="333375"/>
          <a:ext cx="239712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336800" imgH="3797300" progId="Equation.DSMT4">
                  <p:embed/>
                </p:oleObj>
              </mc:Choice>
              <mc:Fallback>
                <p:oleObj name="Equation" r:id="rId8" imgW="2336800" imgH="37973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333375"/>
                        <a:ext cx="239712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>
            <a:extLst>
              <a:ext uri="{FF2B5EF4-FFF2-40B4-BE49-F238E27FC236}">
                <a16:creationId xmlns:a16="http://schemas.microsoft.com/office/drawing/2014/main" id="{115C8A58-088C-087E-060B-5640F1270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4AC6C84-1342-4945-BABD-A1F155940EEF}" type="slidenum">
              <a:rPr lang="en-GB" altLang="en-US" sz="1400">
                <a:latin typeface="Times New Roman" panose="02020603050405020304" pitchFamily="18" charset="0"/>
              </a:rPr>
              <a:pPr/>
              <a:t>14</a:t>
            </a:fld>
            <a:endParaRPr lang="en-GB" altLang="en-US" sz="1400">
              <a:latin typeface="Times New Roman" panose="02020603050405020304" pitchFamily="18" charset="0"/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CAD911DB-D6A3-7950-3660-415B23A0C8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88913"/>
            <a:ext cx="9144000" cy="1563687"/>
          </a:xfrm>
        </p:spPr>
        <p:txBody>
          <a:bodyPr/>
          <a:lstStyle/>
          <a:p>
            <a:br>
              <a:rPr lang="en-GB" altLang="en-US" sz="2800" b="1">
                <a:solidFill>
                  <a:srgbClr val="000000"/>
                </a:solidFill>
              </a:rPr>
            </a:br>
            <a:br>
              <a:rPr lang="en-GB" altLang="en-US" sz="2800" b="1">
                <a:solidFill>
                  <a:srgbClr val="000000"/>
                </a:solidFill>
              </a:rPr>
            </a:br>
            <a:r>
              <a:rPr lang="en-GB" altLang="en-US" sz="2800" b="1">
                <a:solidFill>
                  <a:srgbClr val="000000"/>
                </a:solidFill>
              </a:rPr>
              <a:t> </a:t>
            </a:r>
            <a:r>
              <a:rPr lang="en-GB" altLang="en-US" sz="3200" b="1">
                <a:solidFill>
                  <a:srgbClr val="000000"/>
                </a:solidFill>
                <a:latin typeface="Arial Black" panose="020B0604020202020204" pitchFamily="34" charset="0"/>
              </a:rPr>
              <a:t>Limitations Multi-Stepping Procedure</a:t>
            </a:r>
            <a:r>
              <a:rPr lang="en-GB" altLang="en-US" sz="2400">
                <a:solidFill>
                  <a:srgbClr val="000000"/>
                </a:solidFill>
              </a:rPr>
              <a:t> </a:t>
            </a:r>
            <a:br>
              <a:rPr lang="en-GB" altLang="en-US" sz="4000">
                <a:solidFill>
                  <a:srgbClr val="000000"/>
                </a:solidFill>
              </a:rPr>
            </a:br>
            <a:r>
              <a:rPr lang="en-GB" altLang="en-US" sz="4000">
                <a:solidFill>
                  <a:srgbClr val="000000"/>
                </a:solidFill>
              </a:rPr>
              <a:t>ICECREMO 2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A5530FF6-DF23-D782-030A-B0D6162684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-323850" y="1484313"/>
            <a:ext cx="9144000" cy="5905500"/>
          </a:xfrm>
        </p:spPr>
        <p:txBody>
          <a:bodyPr/>
          <a:lstStyle/>
          <a:p>
            <a:pPr>
              <a:buFont typeface="Webdings" pitchFamily="2" charset="2"/>
              <a:buNone/>
            </a:pPr>
            <a:endParaRPr lang="en-GB" altLang="en-US" sz="1800">
              <a:solidFill>
                <a:srgbClr val="000000"/>
              </a:solidFill>
            </a:endParaRPr>
          </a:p>
          <a:p>
            <a:pPr lvl="2">
              <a:buClr>
                <a:schemeClr val="tx1"/>
              </a:buClr>
              <a:buFont typeface="Wingdings" pitchFamily="2" charset="2"/>
              <a:buNone/>
            </a:pPr>
            <a:endParaRPr lang="en-GB" altLang="en-US" sz="1800">
              <a:solidFill>
                <a:srgbClr val="000000"/>
              </a:solidFill>
            </a:endParaRPr>
          </a:p>
          <a:p>
            <a:pPr lvl="2">
              <a:buClr>
                <a:srgbClr val="000000"/>
              </a:buClr>
              <a:buFont typeface="Wingdings" pitchFamily="2" charset="2"/>
              <a:buNone/>
            </a:pPr>
            <a:endParaRPr lang="en-GB" altLang="en-US">
              <a:solidFill>
                <a:srgbClr val="000000"/>
              </a:solidFill>
            </a:endParaRPr>
          </a:p>
          <a:p>
            <a:pPr lvl="2">
              <a:buClr>
                <a:srgbClr val="000000"/>
              </a:buClr>
              <a:buFont typeface="Wingdings" pitchFamily="2" charset="2"/>
              <a:buChar char="Ø"/>
            </a:pPr>
            <a:r>
              <a:rPr lang="en-GB" altLang="en-US">
                <a:solidFill>
                  <a:srgbClr val="000000"/>
                </a:solidFill>
              </a:rPr>
              <a:t> Current procedure limited to cylinders and airfoils studies</a:t>
            </a:r>
          </a:p>
          <a:p>
            <a:pPr lvl="2">
              <a:buClr>
                <a:srgbClr val="000000"/>
              </a:buClr>
              <a:buFont typeface="Wingdings" pitchFamily="2" charset="2"/>
              <a:buChar char="Ø"/>
            </a:pPr>
            <a:r>
              <a:rPr lang="en-GB" altLang="en-US">
                <a:solidFill>
                  <a:srgbClr val="000000"/>
                </a:solidFill>
              </a:rPr>
              <a:t> Loss of precision due to the interpolation Faces/Nodes for multi-stepping with Flow update</a:t>
            </a:r>
          </a:p>
          <a:p>
            <a:pPr lvl="2">
              <a:buClr>
                <a:srgbClr val="000000"/>
              </a:buClr>
              <a:buFont typeface="Wingdings" pitchFamily="2" charset="2"/>
              <a:buChar char="Ø"/>
            </a:pPr>
            <a:r>
              <a:rPr lang="en-GB" altLang="en-US">
                <a:solidFill>
                  <a:srgbClr val="000000"/>
                </a:solidFill>
              </a:rPr>
              <a:t> Solving grid has to be structured (rectangles) due to Gambit’s limitations</a:t>
            </a:r>
          </a:p>
          <a:p>
            <a:pPr lvl="2">
              <a:buClr>
                <a:srgbClr val="000000"/>
              </a:buClr>
              <a:buFont typeface="Wingdings" pitchFamily="2" charset="2"/>
              <a:buChar char="Ø"/>
            </a:pPr>
            <a:r>
              <a:rPr lang="en-GB" altLang="en-US">
                <a:solidFill>
                  <a:srgbClr val="000000"/>
                </a:solidFill>
              </a:rPr>
              <a:t> Procedure only adapted to CFD suite FLUENT</a:t>
            </a:r>
          </a:p>
          <a:p>
            <a:pPr lvl="3">
              <a:buClr>
                <a:srgbClr val="000000"/>
              </a:buClr>
              <a:buFont typeface="Wingdings" pitchFamily="2" charset="2"/>
              <a:buNone/>
            </a:pPr>
            <a:endParaRPr lang="en-GB" altLang="en-US" sz="3200">
              <a:solidFill>
                <a:srgbClr val="000000"/>
              </a:solidFill>
            </a:endParaRPr>
          </a:p>
          <a:p>
            <a:pPr lvl="2">
              <a:buClr>
                <a:schemeClr val="tx1"/>
              </a:buClr>
              <a:buFont typeface="Wingdings" pitchFamily="2" charset="2"/>
              <a:buNone/>
            </a:pPr>
            <a:endParaRPr lang="en-GB" altLang="en-US" sz="3200">
              <a:solidFill>
                <a:srgbClr val="000000"/>
              </a:solidFill>
            </a:endParaRPr>
          </a:p>
          <a:p>
            <a:endParaRPr lang="en-GB" altLang="en-US" sz="1300" b="0"/>
          </a:p>
          <a:p>
            <a:endParaRPr lang="en-GB" altLang="en-US" sz="200"/>
          </a:p>
          <a:p>
            <a:endParaRPr lang="en-GB" altLang="en-US" sz="200"/>
          </a:p>
          <a:p>
            <a:endParaRPr lang="en-GB" altLang="en-US" sz="200"/>
          </a:p>
          <a:p>
            <a:endParaRPr lang="en-GB" altLang="en-US" sz="200"/>
          </a:p>
          <a:p>
            <a:endParaRPr lang="en-GB" altLang="en-US" sz="200"/>
          </a:p>
          <a:p>
            <a:endParaRPr lang="en-GB" altLang="en-US" sz="200"/>
          </a:p>
          <a:p>
            <a:pPr>
              <a:buFont typeface="Webdings" pitchFamily="2" charset="2"/>
              <a:buNone/>
            </a:pPr>
            <a:r>
              <a:rPr lang="en-GB" altLang="en-US" sz="200"/>
              <a:t>	</a:t>
            </a:r>
          </a:p>
          <a:p>
            <a:pPr>
              <a:buFont typeface="Webdings" pitchFamily="2" charset="2"/>
              <a:buNone/>
            </a:pPr>
            <a:endParaRPr lang="en-GB" altLang="en-US" sz="200"/>
          </a:p>
          <a:p>
            <a:endParaRPr lang="en-GB" altLang="en-US" sz="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>
            <a:extLst>
              <a:ext uri="{FF2B5EF4-FFF2-40B4-BE49-F238E27FC236}">
                <a16:creationId xmlns:a16="http://schemas.microsoft.com/office/drawing/2014/main" id="{64A161EF-450E-2AE4-0E1C-4042EAF17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FFA4BC9-11B4-F24A-ADB1-AA2A51039A00}" type="slidenum">
              <a:rPr lang="en-GB" altLang="en-US" sz="1400">
                <a:latin typeface="Times New Roman" panose="02020603050405020304" pitchFamily="18" charset="0"/>
              </a:rPr>
              <a:pPr/>
              <a:t>15</a:t>
            </a:fld>
            <a:endParaRPr lang="en-GB" altLang="en-US" sz="1400">
              <a:latin typeface="Times New Roman" panose="02020603050405020304" pitchFamily="18" charset="0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1C87B03F-FE7A-35DE-12E4-88143FEBF1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200" b="1">
                <a:solidFill>
                  <a:srgbClr val="000000"/>
                </a:solidFill>
                <a:latin typeface="Arial Black" panose="020B0604020202020204" pitchFamily="34" charset="0"/>
              </a:rPr>
              <a:t>Conclusion</a:t>
            </a:r>
            <a:r>
              <a:rPr lang="en-GB" altLang="en-US" sz="3600">
                <a:solidFill>
                  <a:srgbClr val="000000"/>
                </a:solidFill>
                <a:latin typeface="Arial Black" panose="020B0604020202020204" pitchFamily="34" charset="0"/>
              </a:rPr>
              <a:t> </a:t>
            </a:r>
            <a:br>
              <a:rPr lang="en-GB" altLang="en-US" sz="4000">
                <a:solidFill>
                  <a:srgbClr val="000000"/>
                </a:solidFill>
              </a:rPr>
            </a:br>
            <a:r>
              <a:rPr lang="en-GB" altLang="en-US" sz="3600">
                <a:solidFill>
                  <a:srgbClr val="000000"/>
                </a:solidFill>
              </a:rPr>
              <a:t>Multi-stepping ICECREMO 2</a:t>
            </a:r>
          </a:p>
        </p:txBody>
      </p:sp>
      <p:sp>
        <p:nvSpPr>
          <p:cNvPr id="17412" name="Rectangle 3">
            <a:extLst>
              <a:ext uri="{FF2B5EF4-FFF2-40B4-BE49-F238E27FC236}">
                <a16:creationId xmlns:a16="http://schemas.microsoft.com/office/drawing/2014/main" id="{22626923-F61D-5504-4918-E7F38899C7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2133600"/>
            <a:ext cx="7772400" cy="4114800"/>
          </a:xfrm>
        </p:spPr>
        <p:txBody>
          <a:bodyPr/>
          <a:lstStyle/>
          <a:p>
            <a:pPr>
              <a:lnSpc>
                <a:spcPct val="90000"/>
              </a:lnSpc>
              <a:buClr>
                <a:srgbClr val="000000"/>
              </a:buClr>
              <a:buFont typeface="Wingdings" pitchFamily="2" charset="2"/>
              <a:buChar char="Ø"/>
            </a:pPr>
            <a:r>
              <a:rPr lang="en-GB" altLang="en-US" sz="2000">
                <a:solidFill>
                  <a:srgbClr val="000000"/>
                </a:solidFill>
              </a:rPr>
              <a:t>Implementation successful</a:t>
            </a:r>
          </a:p>
          <a:p>
            <a:pPr>
              <a:lnSpc>
                <a:spcPct val="90000"/>
              </a:lnSpc>
              <a:buClr>
                <a:srgbClr val="000000"/>
              </a:buClr>
              <a:buFont typeface="Wingdings" pitchFamily="2" charset="2"/>
              <a:buChar char="Ø"/>
            </a:pPr>
            <a:r>
              <a:rPr lang="en-GB" altLang="en-US" sz="2000">
                <a:solidFill>
                  <a:srgbClr val="000000"/>
                </a:solidFill>
              </a:rPr>
              <a:t>Fully automated</a:t>
            </a:r>
          </a:p>
          <a:p>
            <a:pPr>
              <a:lnSpc>
                <a:spcPct val="90000"/>
              </a:lnSpc>
              <a:buClr>
                <a:srgbClr val="000000"/>
              </a:buClr>
              <a:buFont typeface="Wingdings" pitchFamily="2" charset="2"/>
              <a:buChar char="Ø"/>
            </a:pPr>
            <a:r>
              <a:rPr lang="en-GB" altLang="en-US" sz="2000">
                <a:solidFill>
                  <a:srgbClr val="000000"/>
                </a:solidFill>
              </a:rPr>
              <a:t>Problems from structured version fixed:</a:t>
            </a:r>
          </a:p>
          <a:p>
            <a:pPr lvl="1">
              <a:lnSpc>
                <a:spcPct val="90000"/>
              </a:lnSpc>
              <a:buClr>
                <a:srgbClr val="000000"/>
              </a:buClr>
              <a:buFontTx/>
              <a:buChar char="•"/>
            </a:pPr>
            <a:r>
              <a:rPr lang="en-GB" altLang="en-US" sz="2000">
                <a:solidFill>
                  <a:srgbClr val="000000"/>
                </a:solidFill>
              </a:rPr>
              <a:t>Improved automated process</a:t>
            </a:r>
          </a:p>
          <a:p>
            <a:pPr lvl="1">
              <a:lnSpc>
                <a:spcPct val="90000"/>
              </a:lnSpc>
              <a:buClr>
                <a:srgbClr val="000000"/>
              </a:buClr>
              <a:buFontTx/>
              <a:buChar char="•"/>
            </a:pPr>
            <a:r>
              <a:rPr lang="en-GB" altLang="en-US" sz="2000">
                <a:solidFill>
                  <a:srgbClr val="000000"/>
                </a:solidFill>
              </a:rPr>
              <a:t>Updates of water and ice heights</a:t>
            </a:r>
          </a:p>
          <a:p>
            <a:pPr lvl="1">
              <a:lnSpc>
                <a:spcPct val="90000"/>
              </a:lnSpc>
              <a:buClr>
                <a:srgbClr val="000000"/>
              </a:buClr>
              <a:buFontTx/>
              <a:buChar char="•"/>
            </a:pPr>
            <a:r>
              <a:rPr lang="en-GB" altLang="en-US" sz="2000">
                <a:solidFill>
                  <a:srgbClr val="000000"/>
                </a:solidFill>
              </a:rPr>
              <a:t>Update of surface temperature</a:t>
            </a:r>
          </a:p>
          <a:p>
            <a:pPr lvl="1">
              <a:lnSpc>
                <a:spcPct val="90000"/>
              </a:lnSpc>
              <a:buClr>
                <a:srgbClr val="000000"/>
              </a:buClr>
              <a:buFontTx/>
              <a:buChar char="•"/>
            </a:pPr>
            <a:r>
              <a:rPr lang="en-GB" altLang="en-US" sz="2000">
                <a:solidFill>
                  <a:srgbClr val="000000"/>
                </a:solidFill>
              </a:rPr>
              <a:t>3 Criteria trigger new flow calculation</a:t>
            </a:r>
          </a:p>
          <a:p>
            <a:pPr lvl="3">
              <a:lnSpc>
                <a:spcPct val="90000"/>
              </a:lnSpc>
              <a:buClr>
                <a:srgbClr val="000000"/>
              </a:buClr>
              <a:buFont typeface="Wingdings" pitchFamily="2" charset="2"/>
              <a:buChar char="ü"/>
            </a:pPr>
            <a:r>
              <a:rPr lang="en-GB" altLang="en-US">
                <a:solidFill>
                  <a:srgbClr val="000000"/>
                </a:solidFill>
              </a:rPr>
              <a:t>Automatic criterion appeared to produce the most accurate results</a:t>
            </a:r>
          </a:p>
          <a:p>
            <a:pPr lvl="1">
              <a:lnSpc>
                <a:spcPct val="90000"/>
              </a:lnSpc>
              <a:buClr>
                <a:srgbClr val="000000"/>
              </a:buClr>
              <a:buFont typeface="Wingdings" pitchFamily="2" charset="2"/>
              <a:buChar char="Ø"/>
            </a:pPr>
            <a:r>
              <a:rPr lang="en-GB" altLang="en-US" sz="2000">
                <a:solidFill>
                  <a:srgbClr val="000000"/>
                </a:solidFill>
              </a:rPr>
              <a:t>Good validation results</a:t>
            </a:r>
          </a:p>
          <a:p>
            <a:pPr lvl="1">
              <a:lnSpc>
                <a:spcPct val="90000"/>
              </a:lnSpc>
              <a:buClr>
                <a:srgbClr val="000000"/>
              </a:buClr>
              <a:buFont typeface="Wingdings" pitchFamily="2" charset="2"/>
              <a:buChar char="Ø"/>
            </a:pPr>
            <a:r>
              <a:rPr lang="en-GB" altLang="en-US" sz="2000">
                <a:solidFill>
                  <a:srgbClr val="000000"/>
                </a:solidFill>
              </a:rPr>
              <a:t>Software delivered August 2005</a:t>
            </a:r>
          </a:p>
          <a:p>
            <a:pPr lvl="1">
              <a:lnSpc>
                <a:spcPct val="90000"/>
              </a:lnSpc>
              <a:buClr>
                <a:srgbClr val="000000"/>
              </a:buClr>
              <a:buFont typeface="Wingdings" pitchFamily="2" charset="2"/>
              <a:buChar char="Ø"/>
            </a:pPr>
            <a:r>
              <a:rPr lang="en-GB" altLang="en-US" sz="2000">
                <a:solidFill>
                  <a:srgbClr val="000000"/>
                </a:solidFill>
              </a:rPr>
              <a:t>User-Guide written</a:t>
            </a:r>
          </a:p>
          <a:p>
            <a:pPr lvl="1">
              <a:lnSpc>
                <a:spcPct val="90000"/>
              </a:lnSpc>
              <a:buClr>
                <a:srgbClr val="000000"/>
              </a:buClr>
              <a:buFont typeface="Wingdings" pitchFamily="2" charset="2"/>
              <a:buChar char="Ø"/>
            </a:pPr>
            <a:endParaRPr lang="en-GB" altLang="en-US" sz="200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buClr>
                <a:srgbClr val="000000"/>
              </a:buClr>
              <a:buFont typeface="Wingdings" pitchFamily="2" charset="2"/>
              <a:buChar char="Ø"/>
            </a:pPr>
            <a:endParaRPr lang="en-GB" altLang="en-US" sz="200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buClr>
                <a:srgbClr val="000000"/>
              </a:buClr>
              <a:buFont typeface="Wingdings" pitchFamily="2" charset="2"/>
              <a:buChar char="Ø"/>
            </a:pPr>
            <a:endParaRPr lang="en-GB" altLang="en-US" sz="200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buClr>
                <a:srgbClr val="000000"/>
              </a:buClr>
              <a:buFont typeface="Wingdings" pitchFamily="2" charset="2"/>
              <a:buChar char="Ø"/>
            </a:pPr>
            <a:endParaRPr lang="en-GB" altLang="en-US" sz="20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>
            <a:extLst>
              <a:ext uri="{FF2B5EF4-FFF2-40B4-BE49-F238E27FC236}">
                <a16:creationId xmlns:a16="http://schemas.microsoft.com/office/drawing/2014/main" id="{387A45C5-47FB-15EF-503F-B7002D5BA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910E26A-AA5F-2F46-AA78-D692D4605031}" type="slidenum">
              <a:rPr lang="en-GB" altLang="en-US" sz="1400">
                <a:latin typeface="Times New Roman" panose="02020603050405020304" pitchFamily="18" charset="0"/>
              </a:rPr>
              <a:pPr/>
              <a:t>16</a:t>
            </a:fld>
            <a:endParaRPr lang="en-GB" altLang="en-US" sz="1400">
              <a:latin typeface="Times New Roman" panose="02020603050405020304" pitchFamily="18" charset="0"/>
            </a:endParaRPr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CB81C50C-E2E7-4B11-9C18-7908C56FA1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88913"/>
            <a:ext cx="9144000" cy="1563687"/>
          </a:xfrm>
        </p:spPr>
        <p:txBody>
          <a:bodyPr/>
          <a:lstStyle/>
          <a:p>
            <a:br>
              <a:rPr lang="en-GB" altLang="en-US" sz="2800" b="1">
                <a:solidFill>
                  <a:srgbClr val="000000"/>
                </a:solidFill>
              </a:rPr>
            </a:br>
            <a:br>
              <a:rPr lang="en-GB" altLang="en-US" sz="3200" b="1">
                <a:solidFill>
                  <a:srgbClr val="000000"/>
                </a:solidFill>
              </a:rPr>
            </a:br>
            <a:r>
              <a:rPr lang="en-GB" altLang="en-US" sz="3200" b="1">
                <a:solidFill>
                  <a:srgbClr val="000000"/>
                </a:solidFill>
              </a:rPr>
              <a:t> </a:t>
            </a:r>
            <a:r>
              <a:rPr lang="en-GB" altLang="en-US" sz="3200" b="1">
                <a:solidFill>
                  <a:srgbClr val="000000"/>
                </a:solidFill>
                <a:latin typeface="Arial Black" panose="020B0604020202020204" pitchFamily="34" charset="0"/>
              </a:rPr>
              <a:t>Potential Future Work</a:t>
            </a:r>
            <a:br>
              <a:rPr lang="en-GB" altLang="en-US" sz="4000">
                <a:solidFill>
                  <a:srgbClr val="000000"/>
                </a:solidFill>
              </a:rPr>
            </a:br>
            <a:r>
              <a:rPr lang="en-GB" altLang="en-US" sz="4000">
                <a:solidFill>
                  <a:srgbClr val="000000"/>
                </a:solidFill>
              </a:rPr>
              <a:t>Multi-stepping ICECREMO 2</a:t>
            </a:r>
          </a:p>
        </p:txBody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46D2CDA2-F48B-052E-9B67-DCE419D9EB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84213" y="2205038"/>
            <a:ext cx="7920037" cy="3889375"/>
          </a:xfrm>
        </p:spPr>
        <p:txBody>
          <a:bodyPr/>
          <a:lstStyle/>
          <a:p>
            <a:pPr>
              <a:buFont typeface="Webdings" pitchFamily="2" charset="2"/>
              <a:buNone/>
            </a:pPr>
            <a:endParaRPr lang="en-GB" altLang="en-US" sz="1000">
              <a:solidFill>
                <a:srgbClr val="000000"/>
              </a:solidFill>
            </a:endParaRPr>
          </a:p>
          <a:p>
            <a:pPr lvl="2">
              <a:buClr>
                <a:schemeClr val="tx1"/>
              </a:buClr>
              <a:buFont typeface="Wingdings" pitchFamily="2" charset="2"/>
              <a:buNone/>
            </a:pPr>
            <a:endParaRPr lang="en-GB" altLang="en-US" sz="1000">
              <a:solidFill>
                <a:srgbClr val="000000"/>
              </a:solidFill>
            </a:endParaRPr>
          </a:p>
          <a:p>
            <a:pPr lvl="2">
              <a:buClr>
                <a:srgbClr val="000000"/>
              </a:buClr>
              <a:buFont typeface="Wingdings" pitchFamily="2" charset="2"/>
              <a:buNone/>
            </a:pPr>
            <a:endParaRPr lang="en-GB" altLang="en-US" sz="1400">
              <a:solidFill>
                <a:srgbClr val="000000"/>
              </a:solidFill>
            </a:endParaRPr>
          </a:p>
          <a:p>
            <a:pPr lvl="2">
              <a:buClr>
                <a:srgbClr val="000000"/>
              </a:buClr>
              <a:buFont typeface="Wingdings" pitchFamily="2" charset="2"/>
              <a:buChar char="Ø"/>
            </a:pPr>
            <a:r>
              <a:rPr lang="en-GB" altLang="en-US" sz="2000">
                <a:solidFill>
                  <a:srgbClr val="000000"/>
                </a:solidFill>
              </a:rPr>
              <a:t> </a:t>
            </a:r>
            <a:r>
              <a:rPr lang="en-GB" altLang="en-US">
                <a:solidFill>
                  <a:srgbClr val="000000"/>
                </a:solidFill>
              </a:rPr>
              <a:t>Coupling with de-icing procedure</a:t>
            </a:r>
          </a:p>
          <a:p>
            <a:pPr lvl="2">
              <a:buClr>
                <a:srgbClr val="000000"/>
              </a:buClr>
              <a:buFont typeface="Wingdings" pitchFamily="2" charset="2"/>
              <a:buChar char="Ø"/>
            </a:pPr>
            <a:r>
              <a:rPr lang="en-GB" altLang="en-US">
                <a:solidFill>
                  <a:srgbClr val="000000"/>
                </a:solidFill>
              </a:rPr>
              <a:t> Coupling with adaptive mesh refinement</a:t>
            </a:r>
          </a:p>
          <a:p>
            <a:pPr lvl="2">
              <a:buClr>
                <a:srgbClr val="000000"/>
              </a:buClr>
              <a:buFont typeface="Wingdings" pitchFamily="2" charset="2"/>
              <a:buChar char="Ø"/>
            </a:pPr>
            <a:r>
              <a:rPr lang="en-GB" altLang="en-US">
                <a:solidFill>
                  <a:srgbClr val="000000"/>
                </a:solidFill>
              </a:rPr>
              <a:t> Adapt to other geometries</a:t>
            </a:r>
          </a:p>
          <a:p>
            <a:pPr lvl="2">
              <a:buClr>
                <a:srgbClr val="000000"/>
              </a:buClr>
              <a:buFont typeface="Wingdings" pitchFamily="2" charset="2"/>
              <a:buChar char="Ø"/>
            </a:pPr>
            <a:r>
              <a:rPr lang="en-GB" altLang="en-US">
                <a:solidFill>
                  <a:srgbClr val="000000"/>
                </a:solidFill>
              </a:rPr>
              <a:t> Adapt to other CFD packages</a:t>
            </a:r>
          </a:p>
          <a:p>
            <a:pPr lvl="2">
              <a:buClr>
                <a:srgbClr val="000000"/>
              </a:buClr>
              <a:buFont typeface="Wingdings" pitchFamily="2" charset="2"/>
              <a:buChar char="Ø"/>
            </a:pPr>
            <a:r>
              <a:rPr lang="en-GB" altLang="en-US">
                <a:solidFill>
                  <a:srgbClr val="000000"/>
                </a:solidFill>
              </a:rPr>
              <a:t> Speed-up the whole procedure using parallel calculations</a:t>
            </a:r>
          </a:p>
          <a:p>
            <a:endParaRPr lang="en-GB" altLang="en-US" b="0"/>
          </a:p>
          <a:p>
            <a:endParaRPr lang="en-GB" altLang="en-US" sz="100"/>
          </a:p>
          <a:p>
            <a:endParaRPr lang="en-GB" altLang="en-US" sz="100"/>
          </a:p>
          <a:p>
            <a:endParaRPr lang="en-GB" altLang="en-US" sz="100"/>
          </a:p>
          <a:p>
            <a:endParaRPr lang="en-GB" altLang="en-US" sz="100"/>
          </a:p>
          <a:p>
            <a:endParaRPr lang="en-GB" altLang="en-US" sz="100"/>
          </a:p>
          <a:p>
            <a:endParaRPr lang="en-GB" altLang="en-US" sz="100"/>
          </a:p>
          <a:p>
            <a:pPr>
              <a:buFont typeface="Webdings" pitchFamily="2" charset="2"/>
              <a:buNone/>
            </a:pPr>
            <a:r>
              <a:rPr lang="en-GB" altLang="en-US" sz="100"/>
              <a:t>	</a:t>
            </a:r>
          </a:p>
          <a:p>
            <a:pPr>
              <a:buFont typeface="Webdings" pitchFamily="2" charset="2"/>
              <a:buNone/>
            </a:pPr>
            <a:endParaRPr lang="en-GB" altLang="en-US" sz="100"/>
          </a:p>
          <a:p>
            <a:endParaRPr lang="en-GB" altLang="en-US" sz="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ran blue with lines">
  <a:themeElements>
    <a:clrScheme name="cran blue with line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ran blue with lin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ran blue with lin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n blue with line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n blue with line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n blue with line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n blue with line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n blue with line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n blue with line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cran white with lines">
  <a:themeElements>
    <a:clrScheme name="">
      <a:dk1>
        <a:srgbClr val="002E7A"/>
      </a:dk1>
      <a:lt1>
        <a:srgbClr val="FFFFFF"/>
      </a:lt1>
      <a:dk2>
        <a:srgbClr val="002E7A"/>
      </a:dk2>
      <a:lt2>
        <a:srgbClr val="808080"/>
      </a:lt2>
      <a:accent1>
        <a:srgbClr val="00CC99"/>
      </a:accent1>
      <a:accent2>
        <a:srgbClr val="002E7A"/>
      </a:accent2>
      <a:accent3>
        <a:srgbClr val="FFFFFF"/>
      </a:accent3>
      <a:accent4>
        <a:srgbClr val="002667"/>
      </a:accent4>
      <a:accent5>
        <a:srgbClr val="AAE2CA"/>
      </a:accent5>
      <a:accent6>
        <a:srgbClr val="00296E"/>
      </a:accent6>
      <a:hlink>
        <a:srgbClr val="002E7A"/>
      </a:hlink>
      <a:folHlink>
        <a:srgbClr val="B2B2B2"/>
      </a:folHlink>
    </a:clrScheme>
    <a:fontScheme name="cran white with lin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ran white with lin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n white with line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ran white with line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n white with line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n white with line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n white with line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ran white with line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6728</TotalTime>
  <Words>646</Words>
  <Application>Microsoft Macintosh PowerPoint</Application>
  <PresentationFormat>On-screen Show (4:3)</PresentationFormat>
  <Paragraphs>206</Paragraphs>
  <Slides>16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Webdings</vt:lpstr>
      <vt:lpstr>Times New Roman</vt:lpstr>
      <vt:lpstr>Arial Black</vt:lpstr>
      <vt:lpstr>Wingdings</vt:lpstr>
      <vt:lpstr>cran blue with lines</vt:lpstr>
      <vt:lpstr>cran white with lines</vt:lpstr>
      <vt:lpstr>MathType 5.0 Equation</vt:lpstr>
      <vt:lpstr>Microsoft Equation 3.0</vt:lpstr>
      <vt:lpstr>  CRANFIELD UNIVERSITY Applied Mathematics and Computing Group (AMAC)  Multi-stepping procedure   ICECREMO </vt:lpstr>
      <vt:lpstr>   Review Multi-stepping  ICECREMO 1</vt:lpstr>
      <vt:lpstr>PowerPoint Presentation</vt:lpstr>
      <vt:lpstr>   Limitations Multi-Stepping Procedure  ICECREMO 1</vt:lpstr>
      <vt:lpstr>PowerPoint Presentation</vt:lpstr>
      <vt:lpstr>PowerPoint Presentation</vt:lpstr>
      <vt:lpstr>   Conclusion  Multi-stepping ICECREMO 1</vt:lpstr>
      <vt:lpstr>   Review Multi-stepping  ICECREMO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Limitations Multi-Stepping Procedure  ICECREMO 2</vt:lpstr>
      <vt:lpstr>Conclusion  Multi-stepping ICECREMO 2</vt:lpstr>
      <vt:lpstr>   Potential Future Work Multi-stepping ICECREMO 2</vt:lpstr>
    </vt:vector>
  </TitlesOfParts>
  <Company>Cranfield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Ice Accretion types</dc:title>
  <dc:creator>Cranfield University</dc:creator>
  <cp:lastModifiedBy>Christopher Thompson</cp:lastModifiedBy>
  <cp:revision>272</cp:revision>
  <dcterms:created xsi:type="dcterms:W3CDTF">2002-07-01T10:55:16Z</dcterms:created>
  <dcterms:modified xsi:type="dcterms:W3CDTF">2026-10-19T20:55:25Z</dcterms:modified>
</cp:coreProperties>
</file>