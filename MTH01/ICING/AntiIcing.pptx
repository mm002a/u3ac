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2" r:id="rId2"/>
    <p:sldId id="270" r:id="rId3"/>
    <p:sldId id="271" r:id="rId4"/>
    <p:sldId id="263" r:id="rId5"/>
    <p:sldId id="264" r:id="rId6"/>
    <p:sldId id="266" r:id="rId7"/>
    <p:sldId id="265" r:id="rId8"/>
    <p:sldId id="267" r:id="rId9"/>
    <p:sldId id="256" r:id="rId10"/>
    <p:sldId id="258" r:id="rId11"/>
    <p:sldId id="261" r:id="rId12"/>
    <p:sldId id="260" r:id="rId13"/>
    <p:sldId id="259" r:id="rId14"/>
    <p:sldId id="268" r:id="rId15"/>
    <p:sldId id="269" r:id="rId16"/>
  </p:sldIdLst>
  <p:sldSz cx="9144000" cy="6858000" type="screen4x3"/>
  <p:notesSz cx="6662738" cy="983297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0853"/>
  </p:normalViewPr>
  <p:slideViewPr>
    <p:cSldViewPr>
      <p:cViewPr varScale="1">
        <p:scale>
          <a:sx n="101" d="100"/>
          <a:sy n="101" d="100"/>
        </p:scale>
        <p:origin x="8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D8599EF-A66F-FB93-BE21-B2BD63D91A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62DBF28-F613-9C25-3A73-2877A50FFB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5075" y="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C9500FA6-B09C-8411-93BB-FE87A376AE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4085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6C3CE68B-AE9C-96A9-90AF-50FFC3F9FEC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5075" y="934085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41EEA7-BEA3-0A41-A58C-9BBD194C3C38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313CDD2-E259-E825-33D5-0647F1BD9C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1674472-C14D-E36D-79D2-21C0E6CD8DF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B031C0C8-9785-23F7-9504-4505C9C87FB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693BE3E-6483-539B-72F7-09FB683CEE4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79995151-14B1-AE49-F49A-BF4528E23B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BC49E758-3AF1-517D-8A0E-61BB02DA67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605CF5-9B4C-F140-AA4F-152048E69D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5B3FEE9-E18C-4E0A-B160-FA16B156C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1684395-E17B-2843-9899-840E5E46B6F6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A9C783A-CB96-604E-1E60-BF32ACCEEB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0134CEB-61BD-9FA5-B944-1A542E1D8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B031E68-E833-FE95-2F76-CC9112655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A16726F-55CB-E847-8530-A415FDCA4269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6D64703-1DBA-80D7-0255-20522DBEBF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8398A1C-ACC2-25CF-5917-B42F95DC2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37F6A52A-A8AB-1954-061F-9D5E9FD73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0D366E9-A109-9A49-A25F-CA67FA425A85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E6DAC84-B1AB-98C5-C17C-09FF3CA8FF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D9C0AAA-0B52-F4D6-446C-A5FC9ED12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3F856D7-7300-5D2D-A51F-033B7F307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CFB73E1-9435-7A49-B5B4-A1F668EA617E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CCA6F78-7AE1-BD73-B909-6DB4FF1114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2753207-F3E9-C7D3-AF24-F119D08243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17744C8-8AB7-F97D-73A3-47B0234F16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B6E943B-0777-314E-8BEB-21A051D9D547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F1BA55F-80F2-C64B-C4F8-614D201F28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8649A0C-4535-1B92-AE67-BD40ABEFD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139CB593-1C2E-E946-2D6D-96D7E913D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3269D9E-1354-1F43-BA74-17C3D2B44028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8C0372E-7152-7D2F-933A-D5210AF5397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64837D1-90E4-F2AC-A7B8-69C56C0DFC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C9820E0-C8EF-1D25-C4AF-2D2BBC9759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8B40802-A608-0A48-8460-11C8E9A61E90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AA4775C-E8E6-BF27-03D0-AB209AC685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E4E4E3-9EA8-E694-0C4C-4CB2334E7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AF55AB9-26DA-D9B5-D345-AEF679043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D422204-CB23-4549-9980-D715DF5D621D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0563807-03A4-8AE8-1A90-10A404333A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63DDCEE-A68C-CDD6-DD0E-E4E9F6E88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1E1B667-2845-A2F4-A7A4-B8419B2A1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720694-0D4C-C047-8528-D18D8E96DF57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AE625DC-D11C-3952-B0EF-C9564BCBD6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04FE83D-E571-CE2F-2982-E86326DC5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F48C645-AE03-A3C3-C7FD-35C56BD552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AC950E-4B66-2F4F-ABE9-1E741AB445BF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A23AE2E-4598-E41D-71B4-E850C2374E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B6E3A8D-D15C-2816-C289-CA15D0D58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DF4A62A-AE69-7407-6BC9-3AA23A2D1F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12B3668-A9E3-634A-9812-DEBB7552F587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18F3A01-C636-2267-4015-2C6AE3B265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1A4886F-59D7-9DCE-83C9-51B05DFED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8DF8371-0459-6E89-4456-03F73999B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FB13F2-2959-3D42-9DE5-270037364982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4F1CBC1-C7B0-7C39-25BE-050CF4259C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55E8032-BB72-042B-64E4-91C3B4DDA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62E9614E-EAAE-B73D-1013-875D20EFE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F35737C-7A96-6640-822A-B5BEF06136FE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5325460-8F51-0EEE-00CF-2C386CDAEB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1C62CE4-C1D6-A2D1-44C5-C9E717AED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DB94EC0-3DF9-56B7-D3C3-CD6170B42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F285EA-9090-F840-966B-E3ABBB40F018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88448C0-B99B-3AE3-6B49-D62663015D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6B57AF5-210C-EAE8-5A09-939203D20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3CFB802-8DD8-F6BD-D823-4E3A4D8416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45C630-F24C-F643-A60D-DF01787A68CD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3494166-CE38-9459-7FB8-D4F1FCC092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10271DB-E3BB-1FF0-C0B6-1CDC5FD11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B14FFD-65C3-AF60-8B38-AA5604CEC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A4C77B-8365-D083-9652-5E84C73285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3288BD-D3E0-C087-568A-B49D5013DE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B1155-A2B1-1F4A-B2C9-61DBFB9C0A6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390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96A5D4-660A-05D9-408D-077F7E740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EBA2CB-49D7-6564-8B4A-2C6101647B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63996F-64C6-5DDC-D1A5-F00E974C3F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44DC99-8431-584B-BF3C-E9C5683ECA4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602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1983D6-250F-1CA4-16B2-E27EFFC6DD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D9CCD7C-377C-361D-9180-A8D29EE6AC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F6B626-52B9-0E24-7218-A60E2E4749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24B78-1F66-A441-912E-756237E5ACA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492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A3B609-FD97-4A27-94E9-8CB85154B6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4B875-C8DF-F903-2B32-7FA6A5612B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E783B-8704-79CA-4F1F-57263C6928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40AE9D-9305-4249-8520-5F16F3537F0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52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6AA1AC-BF98-5C81-FCAD-94D47A7A89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E65627-8330-DC9E-81C0-EDC45547D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C71623-95A1-F5C8-0BE4-8C9489FBF7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637728-716D-F343-B4CF-8D0114C316A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24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8FFD5CB-A5CD-A64A-86B2-47217F9787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D10A76-4B18-9E3C-DAFC-993C117F2F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6119FCF-F8B5-3927-16ED-62700845C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21D73-9D2C-2446-806E-7DC5A5BCD7A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4940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984EA1-4816-8C91-648E-898B6DF115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E75569-4CD2-5E34-4B30-6E2C1D1D73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74A719F-1058-6A6B-75DF-236301987A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4DEF1-C9B9-0C4B-B5A7-D720FC25B41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62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itchFamily="34" charset="0"/>
                <a:cs typeface="Arial" pitchFamily="34" charset="0"/>
              </a:defRPr>
            </a:lvl1pPr>
            <a:lvl2pPr>
              <a:defRPr sz="2800">
                <a:latin typeface="Arial" pitchFamily="34" charset="0"/>
                <a:cs typeface="Arial" pitchFamily="34" charset="0"/>
              </a:defRPr>
            </a:lvl2pPr>
            <a:lvl3pPr>
              <a:defRPr sz="2400">
                <a:latin typeface="Arial" pitchFamily="34" charset="0"/>
                <a:cs typeface="Arial" pitchFamily="34" charset="0"/>
              </a:defRPr>
            </a:lvl3pPr>
            <a:lvl4pPr>
              <a:defRPr sz="2000">
                <a:latin typeface="Arial" pitchFamily="34" charset="0"/>
                <a:cs typeface="Arial" pitchFamily="34" charset="0"/>
              </a:defRPr>
            </a:lvl4pPr>
            <a:lvl5pPr>
              <a:defRPr sz="2000">
                <a:latin typeface="Arial" pitchFamily="34" charset="0"/>
                <a:cs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76505-6CD8-DBD7-C0D2-15C346F5F2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8C8AE-850A-1D9D-D5CB-3B56E495CF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FFABC-2FD6-BF90-A537-1F4A6C01D7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6B211-95C9-1C49-8333-3A1BA76CC39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538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4D03B9E-D0B4-4FF1-0C08-215882B7FE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CD532F4-529F-1BEB-D658-397B79E8A6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2686E2-5F13-06E0-37EA-01783505E3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505FE5-A4F9-AB45-999A-52A7BDFDB55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556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EE6DE-00A4-0415-66BC-D08185114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70E4B6-23FE-A3B5-F4B9-442789246B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2FF488-67AB-527F-9B09-27D6172349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A635D0-EC61-6741-B389-7F34562C01C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513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C27733-F5D9-712C-1045-2398FB145D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705CD6-767C-4104-05E6-014A2129D6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F2DD5B-BF2B-75B3-749E-1BD2FF3347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B4DC5-AA95-994D-B8F1-6B27343896E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1729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F63C3-1846-8028-C3E5-6FF5F8ACC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F33469-1BAC-0428-3F34-20583A002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5FF7D5-9DF6-90F8-3763-C371499CE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4170D-E497-3545-AEE9-EB9D4203BF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907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B0B4663A-3F7F-B01C-B923-D8BF41116E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83C910C-3BD8-851F-A490-2B8E5064C6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892B1F-2601-6197-ECBA-5D7169950E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48A53D-BF8C-1740-9081-624061B4356F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37DC0AEE-1B04-9BBF-5553-F442BBB0F7B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381000"/>
            <a:ext cx="6400800" cy="0"/>
          </a:xfrm>
          <a:prstGeom prst="line">
            <a:avLst/>
          </a:prstGeom>
          <a:noFill/>
          <a:ln w="28575">
            <a:solidFill>
              <a:srgbClr val="002E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pic>
        <p:nvPicPr>
          <p:cNvPr id="2054" name="Picture 8" descr="cranlogo blue1">
            <a:extLst>
              <a:ext uri="{FF2B5EF4-FFF2-40B4-BE49-F238E27FC236}">
                <a16:creationId xmlns:a16="http://schemas.microsoft.com/office/drawing/2014/main" id="{04BD7DAB-75FC-F452-8875-6A5B1686148A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76200"/>
            <a:ext cx="22098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026">
            <a:extLst>
              <a:ext uri="{FF2B5EF4-FFF2-40B4-BE49-F238E27FC236}">
                <a16:creationId xmlns:a16="http://schemas.microsoft.com/office/drawing/2014/main" id="{C40E2FE3-EB0A-5B20-6ED7-3FCFB2B3F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86000"/>
            <a:ext cx="6172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Anti-icing Capability  </a:t>
            </a:r>
            <a:br>
              <a:rPr lang="en-GB" altLang="en-US"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ICECREMO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57F75667-A43D-42F2-A957-BA62D7E31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Contents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6DEA348C-CCD0-446D-9FF2-4038DE4C1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09688"/>
            <a:ext cx="754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800" b="1">
                <a:solidFill>
                  <a:srgbClr val="000066"/>
                </a:solidFill>
              </a:rPr>
              <a:t> </a:t>
            </a:r>
            <a:r>
              <a:rPr lang="en-GB" altLang="en-US" b="1">
                <a:solidFill>
                  <a:srgbClr val="000066"/>
                </a:solidFill>
              </a:rPr>
              <a:t>Objective of the anti-icing module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E2C82F2E-D9EB-B240-0183-A3BE7644A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812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800" b="1">
                <a:solidFill>
                  <a:srgbClr val="000066"/>
                </a:solidFill>
              </a:rPr>
              <a:t> </a:t>
            </a:r>
            <a:r>
              <a:rPr lang="en-GB" altLang="en-US" b="1">
                <a:solidFill>
                  <a:srgbClr val="000066"/>
                </a:solidFill>
              </a:rPr>
              <a:t>Main features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7F010E1E-E1F4-15B0-B958-26D5369B3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67000"/>
            <a:ext cx="749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800" b="1">
                <a:solidFill>
                  <a:srgbClr val="000066"/>
                </a:solidFill>
              </a:rPr>
              <a:t> </a:t>
            </a:r>
            <a:r>
              <a:rPr lang="en-GB" altLang="en-US" b="1">
                <a:solidFill>
                  <a:srgbClr val="000066"/>
                </a:solidFill>
              </a:rPr>
              <a:t>Water Film Flow under shear stress on a flat substrate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8DECCDE1-AFFE-1E20-FBB1-BAE4E8B32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505200"/>
            <a:ext cx="7412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800" b="1">
                <a:solidFill>
                  <a:srgbClr val="000066"/>
                </a:solidFill>
              </a:rPr>
              <a:t> </a:t>
            </a:r>
            <a:r>
              <a:rPr lang="en-GB" altLang="en-US" b="1">
                <a:solidFill>
                  <a:srgbClr val="000066"/>
                </a:solidFill>
              </a:rPr>
              <a:t>Flat substrate under uniform heat input: Q=20kW/m</a:t>
            </a:r>
            <a:r>
              <a:rPr lang="en-GB" altLang="en-US" b="1" baseline="30000">
                <a:solidFill>
                  <a:srgbClr val="000066"/>
                </a:solidFill>
              </a:rPr>
              <a:t>2</a:t>
            </a:r>
            <a:endParaRPr lang="en-GB" altLang="en-US" b="1">
              <a:solidFill>
                <a:srgbClr val="000066"/>
              </a:solidFill>
            </a:endParaRP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B820AE15-43DB-2839-5AC4-CC7544D5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332288"/>
            <a:ext cx="714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b="1">
                <a:solidFill>
                  <a:srgbClr val="000066"/>
                </a:solidFill>
              </a:rPr>
              <a:t> NACA0012 under uniform heat input: Q=40kW/m</a:t>
            </a:r>
            <a:r>
              <a:rPr lang="en-GB" altLang="en-US" b="1" baseline="30000">
                <a:solidFill>
                  <a:srgbClr val="000066"/>
                </a:solidFill>
              </a:rPr>
              <a:t>2</a:t>
            </a:r>
            <a:r>
              <a:rPr lang="en-GB" altLang="en-US" b="1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1BA3B2A9-7BD6-2CF6-B804-2E51C0291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105400"/>
            <a:ext cx="714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b="1">
                <a:solidFill>
                  <a:srgbClr val="000066"/>
                </a:solidFill>
              </a:rPr>
              <a:t> NACA0012 under uniform heat input: Q=10kW/m</a:t>
            </a:r>
            <a:r>
              <a:rPr lang="en-GB" altLang="en-US" b="1" baseline="30000">
                <a:solidFill>
                  <a:srgbClr val="000066"/>
                </a:solidFill>
              </a:rPr>
              <a:t>2</a:t>
            </a:r>
            <a:r>
              <a:rPr lang="en-GB" altLang="en-US" b="1">
                <a:solidFill>
                  <a:srgbClr val="000066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09" grpId="0" autoUpdateAnimBg="0"/>
      <p:bldP spid="21513" grpId="0" autoUpdateAnimBg="0"/>
      <p:bldP spid="21515" grpId="0" autoUpdateAnimBg="0"/>
      <p:bldP spid="215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0167D6C-2928-0BED-1496-54C2D36A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85800"/>
            <a:ext cx="2652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b="1">
                <a:solidFill>
                  <a:srgbClr val="000066"/>
                </a:solidFill>
              </a:rPr>
              <a:t> Work in progress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9B6A9CF-9DF2-AB13-7605-F5D59A6B5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2947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b="1">
                <a:solidFill>
                  <a:srgbClr val="000066"/>
                </a:solidFill>
              </a:rPr>
              <a:t> Potential extensions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6">
            <a:extLst>
              <a:ext uri="{FF2B5EF4-FFF2-40B4-BE49-F238E27FC236}">
                <a16:creationId xmlns:a16="http://schemas.microsoft.com/office/drawing/2014/main" id="{321D16D9-0D86-59AB-B124-63EF1CECA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Objective of the anti-icing module</a:t>
            </a:r>
          </a:p>
        </p:txBody>
      </p:sp>
      <p:sp>
        <p:nvSpPr>
          <p:cNvPr id="14339" name="Text Box 1027">
            <a:extLst>
              <a:ext uri="{FF2B5EF4-FFF2-40B4-BE49-F238E27FC236}">
                <a16:creationId xmlns:a16="http://schemas.microsoft.com/office/drawing/2014/main" id="{9ADB64DA-928B-A50C-2FF7-416A31B31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71600"/>
            <a:ext cx="6858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Allows the user to perform the required tests in order to optimise the heater mat distribution in an anti-icing system</a:t>
            </a:r>
          </a:p>
        </p:txBody>
      </p:sp>
      <p:sp>
        <p:nvSpPr>
          <p:cNvPr id="14340" name="Text Box 1028">
            <a:extLst>
              <a:ext uri="{FF2B5EF4-FFF2-40B4-BE49-F238E27FC236}">
                <a16:creationId xmlns:a16="http://schemas.microsoft.com/office/drawing/2014/main" id="{52532775-DD96-0BDB-849C-BE8186E07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56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Main features</a:t>
            </a:r>
          </a:p>
        </p:txBody>
      </p:sp>
      <p:sp>
        <p:nvSpPr>
          <p:cNvPr id="14341" name="Text Box 1029">
            <a:extLst>
              <a:ext uri="{FF2B5EF4-FFF2-40B4-BE49-F238E27FC236}">
                <a16:creationId xmlns:a16="http://schemas.microsoft.com/office/drawing/2014/main" id="{198F707F-A38D-EB28-4D1B-26583D39C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733800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Heat conduction in the substrate is coupled to the flow and evaporation of the water film</a:t>
            </a:r>
          </a:p>
        </p:txBody>
      </p:sp>
      <p:sp>
        <p:nvSpPr>
          <p:cNvPr id="14342" name="Text Box 1030">
            <a:extLst>
              <a:ext uri="{FF2B5EF4-FFF2-40B4-BE49-F238E27FC236}">
                <a16:creationId xmlns:a16="http://schemas.microsoft.com/office/drawing/2014/main" id="{1A561967-0A25-3CD1-3CC4-6221C140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006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Explicit integration with respect to time is used</a:t>
            </a:r>
          </a:p>
        </p:txBody>
      </p:sp>
      <p:sp>
        <p:nvSpPr>
          <p:cNvPr id="14344" name="Text Box 1032">
            <a:extLst>
              <a:ext uri="{FF2B5EF4-FFF2-40B4-BE49-F238E27FC236}">
                <a16:creationId xmlns:a16="http://schemas.microsoft.com/office/drawing/2014/main" id="{6DA056B5-DA2A-C6F9-CF76-A430F9A3A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562600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Temperature in the substrate can be updated at intervals of several time steps of the film flow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339" grpId="0" autoUpdateAnimBg="0"/>
      <p:bldP spid="14340" grpId="0" autoUpdateAnimBg="0"/>
      <p:bldP spid="14341" grpId="0" autoUpdateAnimBg="0"/>
      <p:bldP spid="14342" grpId="0" autoUpdateAnimBg="0"/>
      <p:bldP spid="1434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1027">
            <a:extLst>
              <a:ext uri="{FF2B5EF4-FFF2-40B4-BE49-F238E27FC236}">
                <a16:creationId xmlns:a16="http://schemas.microsoft.com/office/drawing/2014/main" id="{81427661-09FB-3F3D-3BE8-AF114E88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35013"/>
            <a:ext cx="716280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There are two possibilities for the modelling of  heat input from the anti-icing equipment: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- prescribed heat flux (kW/m</a:t>
            </a:r>
            <a:r>
              <a:rPr lang="en-GB" altLang="en-US" baseline="30000">
                <a:solidFill>
                  <a:srgbClr val="000066"/>
                </a:solidFill>
              </a:rPr>
              <a:t>2</a:t>
            </a:r>
            <a:r>
              <a:rPr lang="en-GB" altLang="en-US">
                <a:solidFill>
                  <a:srgbClr val="000066"/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- convection with hot air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(air temperature + heat transfer coefficient)</a:t>
            </a:r>
            <a:endParaRPr lang="en-GB" altLang="en-US" baseline="30000">
              <a:solidFill>
                <a:srgbClr val="000066"/>
              </a:solidFill>
            </a:endParaRPr>
          </a:p>
        </p:txBody>
      </p:sp>
      <p:sp>
        <p:nvSpPr>
          <p:cNvPr id="15378" name="Text Box 1042">
            <a:extLst>
              <a:ext uri="{FF2B5EF4-FFF2-40B4-BE49-F238E27FC236}">
                <a16:creationId xmlns:a16="http://schemas.microsoft.com/office/drawing/2014/main" id="{910ABB4B-9EBE-9DE7-28E6-1577A6CDE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06875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An interactive capability for generating heater zones is available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7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9D48B492-FBC4-A8A2-9C29-9C109E83C61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33400"/>
            <a:ext cx="7924800" cy="2465388"/>
            <a:chOff x="432" y="2160"/>
            <a:chExt cx="4992" cy="1553"/>
          </a:xfrm>
        </p:grpSpPr>
        <p:sp>
          <p:nvSpPr>
            <p:cNvPr id="1033" name="Text Box 4">
              <a:extLst>
                <a:ext uri="{FF2B5EF4-FFF2-40B4-BE49-F238E27FC236}">
                  <a16:creationId xmlns:a16="http://schemas.microsoft.com/office/drawing/2014/main" id="{F590D59E-D657-D12B-9865-1BB514F73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160"/>
              <a:ext cx="4512" cy="1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GB" altLang="en-US"/>
                <a:t> </a:t>
              </a:r>
              <a:r>
                <a:rPr lang="en-GB" altLang="en-US">
                  <a:solidFill>
                    <a:srgbClr val="000066"/>
                  </a:solidFill>
                </a:rPr>
                <a:t>On the top surface of the substrate boundary conditions depend on the wettedness factor </a:t>
              </a:r>
              <a:r>
                <a:rPr lang="en-GB" altLang="en-US" i="1">
                  <a:solidFill>
                    <a:srgbClr val="000066"/>
                  </a:solidFill>
                </a:rPr>
                <a:t>w</a:t>
              </a:r>
              <a:r>
                <a:rPr lang="en-GB" altLang="en-US" i="1" baseline="-25000">
                  <a:solidFill>
                    <a:srgbClr val="000066"/>
                  </a:solidFill>
                </a:rPr>
                <a:t>f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altLang="en-US" b="1">
                  <a:solidFill>
                    <a:srgbClr val="000066"/>
                  </a:solidFill>
                </a:rPr>
                <a:t>	- </a:t>
              </a:r>
              <a:r>
                <a:rPr lang="en-GB" altLang="en-US">
                  <a:solidFill>
                    <a:srgbClr val="000066"/>
                  </a:solidFill>
                </a:rPr>
                <a:t>wet region under impingement 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altLang="en-US" b="1">
                  <a:solidFill>
                    <a:srgbClr val="000066"/>
                  </a:solidFill>
                </a:rPr>
                <a:t>	- </a:t>
              </a:r>
              <a:r>
                <a:rPr lang="en-GB" altLang="en-US">
                  <a:solidFill>
                    <a:srgbClr val="000066"/>
                  </a:solidFill>
                </a:rPr>
                <a:t>wet region, no impingement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rgbClr val="000066"/>
                  </a:solidFill>
                </a:rPr>
                <a:t>	- dry region </a:t>
              </a:r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F73359B1-2899-58C0-4558-7A5E7F4BDF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713"/>
              <a:ext cx="1296" cy="359"/>
              <a:chOff x="2880" y="2688"/>
              <a:chExt cx="1296" cy="359"/>
            </a:xfrm>
          </p:grpSpPr>
          <p:sp>
            <p:nvSpPr>
              <p:cNvPr id="1039" name="Line 6">
                <a:extLst>
                  <a:ext uri="{FF2B5EF4-FFF2-40B4-BE49-F238E27FC236}">
                    <a16:creationId xmlns:a16="http://schemas.microsoft.com/office/drawing/2014/main" id="{2ED978D6-B713-867A-83CE-E2109F86A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880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029" name="Object 7">
                <a:extLst>
                  <a:ext uri="{FF2B5EF4-FFF2-40B4-BE49-F238E27FC236}">
                    <a16:creationId xmlns:a16="http://schemas.microsoft.com/office/drawing/2014/main" id="{56D10E78-8D16-1B0E-9C0D-869711AE6E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688"/>
              <a:ext cx="624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9652000" imgH="5562600" progId="Equation.DSMT4">
                      <p:embed/>
                    </p:oleObj>
                  </mc:Choice>
                  <mc:Fallback>
                    <p:oleObj name="Equation" r:id="rId3" imgW="9652000" imgH="55626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688"/>
                            <a:ext cx="624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35" name="Group 8">
              <a:extLst>
                <a:ext uri="{FF2B5EF4-FFF2-40B4-BE49-F238E27FC236}">
                  <a16:creationId xmlns:a16="http://schemas.microsoft.com/office/drawing/2014/main" id="{6B386402-139E-2E30-497B-B2163C8F5C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049"/>
              <a:ext cx="1632" cy="359"/>
              <a:chOff x="2880" y="3049"/>
              <a:chExt cx="1632" cy="359"/>
            </a:xfrm>
          </p:grpSpPr>
          <p:sp>
            <p:nvSpPr>
              <p:cNvPr id="1038" name="Line 9">
                <a:extLst>
                  <a:ext uri="{FF2B5EF4-FFF2-40B4-BE49-F238E27FC236}">
                    <a16:creationId xmlns:a16="http://schemas.microsoft.com/office/drawing/2014/main" id="{113D49C0-CEFD-0178-DA6F-BD572668F9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216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028" name="Object 10">
                <a:extLst>
                  <a:ext uri="{FF2B5EF4-FFF2-40B4-BE49-F238E27FC236}">
                    <a16:creationId xmlns:a16="http://schemas.microsoft.com/office/drawing/2014/main" id="{FCE22DC4-68EC-276B-B3C8-81B10076AF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47" y="3049"/>
              <a:ext cx="965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4922500" imgH="5562600" progId="Equation.DSMT4">
                      <p:embed/>
                    </p:oleObj>
                  </mc:Choice>
                  <mc:Fallback>
                    <p:oleObj name="Equation" r:id="rId5" imgW="14922500" imgH="55626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47" y="3049"/>
                            <a:ext cx="965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36" name="Group 11">
              <a:extLst>
                <a:ext uri="{FF2B5EF4-FFF2-40B4-BE49-F238E27FC236}">
                  <a16:creationId xmlns:a16="http://schemas.microsoft.com/office/drawing/2014/main" id="{324C2A8A-7028-EF9F-BDCB-CCAD59495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337"/>
              <a:ext cx="1315" cy="359"/>
              <a:chOff x="3792" y="3337"/>
              <a:chExt cx="1315" cy="359"/>
            </a:xfrm>
          </p:grpSpPr>
          <p:sp>
            <p:nvSpPr>
              <p:cNvPr id="1037" name="Line 12">
                <a:extLst>
                  <a:ext uri="{FF2B5EF4-FFF2-40B4-BE49-F238E27FC236}">
                    <a16:creationId xmlns:a16="http://schemas.microsoft.com/office/drawing/2014/main" id="{A3DB664E-0042-528D-B054-EEF91F3D1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3529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1027" name="Object 13">
                <a:extLst>
                  <a:ext uri="{FF2B5EF4-FFF2-40B4-BE49-F238E27FC236}">
                    <a16:creationId xmlns:a16="http://schemas.microsoft.com/office/drawing/2014/main" id="{8F5BCA49-545C-AA4A-1891-61C6769A5E6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45" y="3337"/>
              <a:ext cx="662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0236200" imgH="5562600" progId="Equation.DSMT4">
                      <p:embed/>
                    </p:oleObj>
                  </mc:Choice>
                  <mc:Fallback>
                    <p:oleObj name="Equation" r:id="rId7" imgW="10236200" imgH="55626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5" y="3337"/>
                            <a:ext cx="662" cy="3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55E91C50-E24E-4FDC-40F5-3EB329C3532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695700"/>
            <a:ext cx="8077200" cy="1181100"/>
            <a:chOff x="432" y="2112"/>
            <a:chExt cx="5088" cy="744"/>
          </a:xfrm>
        </p:grpSpPr>
        <p:sp>
          <p:nvSpPr>
            <p:cNvPr id="1032" name="Text Box 14">
              <a:extLst>
                <a:ext uri="{FF2B5EF4-FFF2-40B4-BE49-F238E27FC236}">
                  <a16:creationId xmlns:a16="http://schemas.microsoft.com/office/drawing/2014/main" id="{666E0236-8DA6-E9DE-7453-667A6228E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112"/>
              <a:ext cx="50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solidFill>
                    <a:srgbClr val="000066"/>
                  </a:solidFill>
                </a:rPr>
                <a:t>Heat balance at the surface of  the substrate:</a:t>
              </a:r>
            </a:p>
          </p:txBody>
        </p:sp>
        <p:graphicFrame>
          <p:nvGraphicFramePr>
            <p:cNvPr id="1026" name="Object 15">
              <a:extLst>
                <a:ext uri="{FF2B5EF4-FFF2-40B4-BE49-F238E27FC236}">
                  <a16:creationId xmlns:a16="http://schemas.microsoft.com/office/drawing/2014/main" id="{3F060A06-1F55-F0AB-2731-9C6912A268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2496"/>
            <a:ext cx="465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1970900" imgH="5562600" progId="Equation.DSMT4">
                    <p:embed/>
                  </p:oleObj>
                </mc:Choice>
                <mc:Fallback>
                  <p:oleObj name="Equation" r:id="rId9" imgW="71970900" imgH="55626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496"/>
                          <a:ext cx="465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026">
            <a:extLst>
              <a:ext uri="{FF2B5EF4-FFF2-40B4-BE49-F238E27FC236}">
                <a16:creationId xmlns:a16="http://schemas.microsoft.com/office/drawing/2014/main" id="{5BB50CDE-4DCF-4C1A-4BC1-A0E5BBBC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71628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Two approaches are available for the integration of the transient heat conduction in the system substrate-water film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- Semi-analytical: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ignores convection of heat by the film flow</a:t>
            </a:r>
          </a:p>
          <a:p>
            <a:pPr eaLnBrk="1" hangingPunct="1">
              <a:spcBef>
                <a:spcPct val="50000"/>
              </a:spcBef>
              <a:buFontTx/>
              <a:buChar char="-"/>
            </a:pPr>
            <a:r>
              <a:rPr lang="en-GB" altLang="en-US">
                <a:solidFill>
                  <a:srgbClr val="000066"/>
                </a:solidFill>
              </a:rPr>
              <a:t>Discretisation of the water film: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convection taken into account (more time-	consuming)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1A983129-B097-9B7C-7A10-B1381825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1000"/>
            <a:ext cx="71628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The substrate mesh is extruded over the substrate thickness along the normals to the nodes of the surface mesh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- Several mesh layers can be generated over the 	substrate thickness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rgbClr val="000066"/>
                </a:solidFill>
              </a:rPr>
              <a:t>	- Currently, the substrate material is assumed 	homogeneous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Text Box 18">
            <a:extLst>
              <a:ext uri="{FF2B5EF4-FFF2-40B4-BE49-F238E27FC236}">
                <a16:creationId xmlns:a16="http://schemas.microsoft.com/office/drawing/2014/main" id="{4916DC98-25C6-383F-C659-29308C51D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768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Water Film Flow under shear stress on a flat substrate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011367E2-6530-9DE2-3AA5-E2E31D612D3F}"/>
              </a:ext>
            </a:extLst>
          </p:cNvPr>
          <p:cNvGrpSpPr>
            <a:grpSpLocks/>
          </p:cNvGrpSpPr>
          <p:nvPr/>
        </p:nvGrpSpPr>
        <p:grpSpPr bwMode="auto">
          <a:xfrm>
            <a:off x="158750" y="1301750"/>
            <a:ext cx="8756650" cy="5099050"/>
            <a:chOff x="100" y="628"/>
            <a:chExt cx="5516" cy="3212"/>
          </a:xfrm>
        </p:grpSpPr>
        <p:pic>
          <p:nvPicPr>
            <p:cNvPr id="10244" name="Picture 9">
              <a:extLst>
                <a:ext uri="{FF2B5EF4-FFF2-40B4-BE49-F238E27FC236}">
                  <a16:creationId xmlns:a16="http://schemas.microsoft.com/office/drawing/2014/main" id="{907E3AC6-948D-E35F-1A9A-82C9173F3F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388" y="628"/>
              <a:ext cx="2204" cy="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5" name="Picture 10">
              <a:extLst>
                <a:ext uri="{FF2B5EF4-FFF2-40B4-BE49-F238E27FC236}">
                  <a16:creationId xmlns:a16="http://schemas.microsoft.com/office/drawing/2014/main" id="{A7C2DC7E-6F6A-6484-DE89-57BC52BA55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340" y="2356"/>
              <a:ext cx="2204" cy="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6" name="Picture 11">
              <a:extLst>
                <a:ext uri="{FF2B5EF4-FFF2-40B4-BE49-F238E27FC236}">
                  <a16:creationId xmlns:a16="http://schemas.microsoft.com/office/drawing/2014/main" id="{8BE80D19-3460-45AB-A359-5FECE35A5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3364" y="724"/>
              <a:ext cx="2160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7" name="Picture 12">
              <a:extLst>
                <a:ext uri="{FF2B5EF4-FFF2-40B4-BE49-F238E27FC236}">
                  <a16:creationId xmlns:a16="http://schemas.microsoft.com/office/drawing/2014/main" id="{9722320D-E211-5C0B-03AB-97CEF3EEE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3220" y="2164"/>
              <a:ext cx="2348" cy="1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8" name="Text Box 13">
              <a:extLst>
                <a:ext uri="{FF2B5EF4-FFF2-40B4-BE49-F238E27FC236}">
                  <a16:creationId xmlns:a16="http://schemas.microsoft.com/office/drawing/2014/main" id="{63F934BC-FA2B-02F6-806D-AC1DFBFE4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" y="820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t=5s</a:t>
              </a:r>
            </a:p>
          </p:txBody>
        </p:sp>
        <p:sp>
          <p:nvSpPr>
            <p:cNvPr id="10249" name="Text Box 14">
              <a:extLst>
                <a:ext uri="{FF2B5EF4-FFF2-40B4-BE49-F238E27FC236}">
                  <a16:creationId xmlns:a16="http://schemas.microsoft.com/office/drawing/2014/main" id="{32B1DD40-11BE-D126-064B-58FB00871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" y="916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t=20s</a:t>
              </a:r>
            </a:p>
          </p:txBody>
        </p:sp>
        <p:sp>
          <p:nvSpPr>
            <p:cNvPr id="10250" name="Text Box 15">
              <a:extLst>
                <a:ext uri="{FF2B5EF4-FFF2-40B4-BE49-F238E27FC236}">
                  <a16:creationId xmlns:a16="http://schemas.microsoft.com/office/drawing/2014/main" id="{AB5F90DB-D6F5-EACE-05A0-EA4ACAD85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" y="2500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t=10s</a:t>
              </a:r>
            </a:p>
          </p:txBody>
        </p:sp>
        <p:sp>
          <p:nvSpPr>
            <p:cNvPr id="10251" name="Text Box 16">
              <a:extLst>
                <a:ext uri="{FF2B5EF4-FFF2-40B4-BE49-F238E27FC236}">
                  <a16:creationId xmlns:a16="http://schemas.microsoft.com/office/drawing/2014/main" id="{AEE6D307-4D78-DCF6-8ECB-309BBC539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2" y="2452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t=30s</a:t>
              </a:r>
            </a:p>
          </p:txBody>
        </p:sp>
        <p:sp>
          <p:nvSpPr>
            <p:cNvPr id="10252" name="Text Box 22">
              <a:extLst>
                <a:ext uri="{FF2B5EF4-FFF2-40B4-BE49-F238E27FC236}">
                  <a16:creationId xmlns:a16="http://schemas.microsoft.com/office/drawing/2014/main" id="{40690194-BD4E-A4A2-BE9B-928E6928E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768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h=0.120mm</a:t>
              </a:r>
            </a:p>
          </p:txBody>
        </p:sp>
        <p:sp>
          <p:nvSpPr>
            <p:cNvPr id="10253" name="Text Box 23">
              <a:extLst>
                <a:ext uri="{FF2B5EF4-FFF2-40B4-BE49-F238E27FC236}">
                  <a16:creationId xmlns:a16="http://schemas.microsoft.com/office/drawing/2014/main" id="{4FB79448-FDD8-8E59-B745-DC4367BCB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768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h=0.126mm</a:t>
              </a:r>
            </a:p>
          </p:txBody>
        </p:sp>
        <p:sp>
          <p:nvSpPr>
            <p:cNvPr id="10254" name="Text Box 24">
              <a:extLst>
                <a:ext uri="{FF2B5EF4-FFF2-40B4-BE49-F238E27FC236}">
                  <a16:creationId xmlns:a16="http://schemas.microsoft.com/office/drawing/2014/main" id="{47D236D8-0F25-5E9C-C2C1-445310E0F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534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h=0.126mm</a:t>
              </a:r>
            </a:p>
          </p:txBody>
        </p:sp>
        <p:sp>
          <p:nvSpPr>
            <p:cNvPr id="10255" name="Text Box 25">
              <a:extLst>
                <a:ext uri="{FF2B5EF4-FFF2-40B4-BE49-F238E27FC236}">
                  <a16:creationId xmlns:a16="http://schemas.microsoft.com/office/drawing/2014/main" id="{6FE5D27C-9320-B4A4-B6EE-92D5F6ED1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534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h=0.126mm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4" name="Text Box 16">
            <a:extLst>
              <a:ext uri="{FF2B5EF4-FFF2-40B4-BE49-F238E27FC236}">
                <a16:creationId xmlns:a16="http://schemas.microsoft.com/office/drawing/2014/main" id="{C12F2407-7061-CBBF-276B-B56EA4EF0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23888"/>
            <a:ext cx="891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Flat substrate under uniform heat input: Q=20kW/m</a:t>
            </a:r>
            <a:r>
              <a:rPr lang="en-GB" altLang="en-US" sz="2800" b="1" baseline="30000">
                <a:solidFill>
                  <a:srgbClr val="000066"/>
                </a:solidFill>
              </a:rPr>
              <a:t>2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4C505E89-5D6B-00D7-E519-003C08D950C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35075"/>
            <a:ext cx="8534400" cy="5622925"/>
            <a:chOff x="48" y="461"/>
            <a:chExt cx="5568" cy="3878"/>
          </a:xfrm>
        </p:grpSpPr>
        <p:pic>
          <p:nvPicPr>
            <p:cNvPr id="11268" name="Picture 2">
              <a:extLst>
                <a:ext uri="{FF2B5EF4-FFF2-40B4-BE49-F238E27FC236}">
                  <a16:creationId xmlns:a16="http://schemas.microsoft.com/office/drawing/2014/main" id="{0525388C-CED8-2B04-C76A-B8003D05F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96" y="461"/>
              <a:ext cx="3072" cy="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9" name="Picture 3">
              <a:extLst>
                <a:ext uri="{FF2B5EF4-FFF2-40B4-BE49-F238E27FC236}">
                  <a16:creationId xmlns:a16="http://schemas.microsoft.com/office/drawing/2014/main" id="{A698FCAA-59FB-891A-5E9B-F148426FE1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48" y="2235"/>
              <a:ext cx="3120" cy="2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0" name="Picture 8">
              <a:extLst>
                <a:ext uri="{FF2B5EF4-FFF2-40B4-BE49-F238E27FC236}">
                  <a16:creationId xmlns:a16="http://schemas.microsoft.com/office/drawing/2014/main" id="{B2361D75-CB87-0B45-DA0B-CD33565A1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592" y="672"/>
              <a:ext cx="3024" cy="2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1" name="Picture 9">
              <a:extLst>
                <a:ext uri="{FF2B5EF4-FFF2-40B4-BE49-F238E27FC236}">
                  <a16:creationId xmlns:a16="http://schemas.microsoft.com/office/drawing/2014/main" id="{FDD613AF-EDC2-56B7-8CC8-633B66F3B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592" y="2304"/>
              <a:ext cx="3024" cy="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2" name="Text Box 14">
              <a:extLst>
                <a:ext uri="{FF2B5EF4-FFF2-40B4-BE49-F238E27FC236}">
                  <a16:creationId xmlns:a16="http://schemas.microsoft.com/office/drawing/2014/main" id="{517B3C59-91C7-3BF5-C8E1-F3F66B165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883"/>
              <a:ext cx="57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t=10s</a:t>
              </a:r>
            </a:p>
          </p:txBody>
        </p:sp>
        <p:sp>
          <p:nvSpPr>
            <p:cNvPr id="11273" name="Text Box 15">
              <a:extLst>
                <a:ext uri="{FF2B5EF4-FFF2-40B4-BE49-F238E27FC236}">
                  <a16:creationId xmlns:a16="http://schemas.microsoft.com/office/drawing/2014/main" id="{9FF01684-1583-EC1D-E7D9-12A27F687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515"/>
              <a:ext cx="57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t=20s</a:t>
              </a:r>
            </a:p>
          </p:txBody>
        </p:sp>
        <p:sp>
          <p:nvSpPr>
            <p:cNvPr id="11274" name="Text Box 19">
              <a:extLst>
                <a:ext uri="{FF2B5EF4-FFF2-40B4-BE49-F238E27FC236}">
                  <a16:creationId xmlns:a16="http://schemas.microsoft.com/office/drawing/2014/main" id="{7377FB47-ADAA-1F2C-EAF0-EB7D59549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893"/>
              <a:ext cx="1392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</a:t>
              </a:r>
              <a:r>
                <a:rPr lang="en-GB" altLang="en-US" sz="2000" baseline="-25000">
                  <a:solidFill>
                    <a:srgbClr val="000066"/>
                  </a:solidFill>
                </a:rPr>
                <a:t>max</a:t>
              </a:r>
              <a:r>
                <a:rPr lang="en-GB" altLang="en-US" sz="2000">
                  <a:solidFill>
                    <a:srgbClr val="000066"/>
                  </a:solidFill>
                </a:rPr>
                <a:t>=0.122mm</a:t>
              </a:r>
              <a:endParaRPr lang="en-GB" altLang="en-US"/>
            </a:p>
          </p:txBody>
        </p:sp>
        <p:sp>
          <p:nvSpPr>
            <p:cNvPr id="11275" name="Text Box 20">
              <a:extLst>
                <a:ext uri="{FF2B5EF4-FFF2-40B4-BE49-F238E27FC236}">
                  <a16:creationId xmlns:a16="http://schemas.microsoft.com/office/drawing/2014/main" id="{971D74F5-645D-8D80-FB4C-1370908F8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707"/>
              <a:ext cx="139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</a:t>
              </a:r>
              <a:r>
                <a:rPr lang="en-GB" altLang="en-US" sz="2000" baseline="-25000">
                  <a:solidFill>
                    <a:srgbClr val="000066"/>
                  </a:solidFill>
                </a:rPr>
                <a:t>max</a:t>
              </a:r>
              <a:r>
                <a:rPr lang="en-GB" altLang="en-US" sz="2000">
                  <a:solidFill>
                    <a:srgbClr val="000066"/>
                  </a:solidFill>
                </a:rPr>
                <a:t>=0.122mm</a:t>
              </a:r>
              <a:endParaRPr lang="en-GB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9">
            <a:extLst>
              <a:ext uri="{FF2B5EF4-FFF2-40B4-BE49-F238E27FC236}">
                <a16:creationId xmlns:a16="http://schemas.microsoft.com/office/drawing/2014/main" id="{AB0D7D1D-7F48-7D42-C026-81932B394C4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762000"/>
            <a:ext cx="8686800" cy="5943600"/>
            <a:chOff x="96" y="480"/>
            <a:chExt cx="5472" cy="3744"/>
          </a:xfrm>
        </p:grpSpPr>
        <p:pic>
          <p:nvPicPr>
            <p:cNvPr id="12291" name="Picture 4">
              <a:extLst>
                <a:ext uri="{FF2B5EF4-FFF2-40B4-BE49-F238E27FC236}">
                  <a16:creationId xmlns:a16="http://schemas.microsoft.com/office/drawing/2014/main" id="{7FB73A0C-B58E-B33A-C475-EF3E6C1783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187" y="480"/>
              <a:ext cx="2782" cy="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2" name="Picture 7">
              <a:extLst>
                <a:ext uri="{FF2B5EF4-FFF2-40B4-BE49-F238E27FC236}">
                  <a16:creationId xmlns:a16="http://schemas.microsoft.com/office/drawing/2014/main" id="{5E08A3BA-C79C-C791-4E9A-2838CC067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604" y="566"/>
              <a:ext cx="2964" cy="1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3" name="Text Box 11">
              <a:extLst>
                <a:ext uri="{FF2B5EF4-FFF2-40B4-BE49-F238E27FC236}">
                  <a16:creationId xmlns:a16="http://schemas.microsoft.com/office/drawing/2014/main" id="{47897BC6-4DF6-5163-F9AA-159F9D292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" y="770"/>
              <a:ext cx="5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t=30s</a:t>
              </a:r>
            </a:p>
          </p:txBody>
        </p:sp>
        <p:pic>
          <p:nvPicPr>
            <p:cNvPr id="12294" name="Picture 12">
              <a:extLst>
                <a:ext uri="{FF2B5EF4-FFF2-40B4-BE49-F238E27FC236}">
                  <a16:creationId xmlns:a16="http://schemas.microsoft.com/office/drawing/2014/main" id="{9D60127A-4C5B-4D88-991B-A4134D26DD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96" y="2151"/>
              <a:ext cx="3010" cy="1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5" name="Picture 13">
              <a:extLst>
                <a:ext uri="{FF2B5EF4-FFF2-40B4-BE49-F238E27FC236}">
                  <a16:creationId xmlns:a16="http://schemas.microsoft.com/office/drawing/2014/main" id="{5214C21F-37F7-B07E-8FE2-A66C5E52B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558" y="2351"/>
              <a:ext cx="2961" cy="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6" name="Text Box 14">
              <a:extLst>
                <a:ext uri="{FF2B5EF4-FFF2-40B4-BE49-F238E27FC236}">
                  <a16:creationId xmlns:a16="http://schemas.microsoft.com/office/drawing/2014/main" id="{4CA6E742-BB24-A0F9-4680-6C88FEB12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" y="2400"/>
              <a:ext cx="5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 b="1">
                  <a:solidFill>
                    <a:srgbClr val="000066"/>
                  </a:solidFill>
                </a:rPr>
                <a:t>t=50s</a:t>
              </a:r>
            </a:p>
          </p:txBody>
        </p:sp>
        <p:sp>
          <p:nvSpPr>
            <p:cNvPr id="12297" name="Text Box 16">
              <a:extLst>
                <a:ext uri="{FF2B5EF4-FFF2-40B4-BE49-F238E27FC236}">
                  <a16:creationId xmlns:a16="http://schemas.microsoft.com/office/drawing/2014/main" id="{B70AB57A-3325-3A04-8C75-68B79AB57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8" y="867"/>
              <a:ext cx="1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</a:t>
              </a:r>
              <a:r>
                <a:rPr lang="en-GB" altLang="en-US" sz="2000" baseline="-25000">
                  <a:solidFill>
                    <a:srgbClr val="000066"/>
                  </a:solidFill>
                </a:rPr>
                <a:t>max</a:t>
              </a:r>
              <a:r>
                <a:rPr lang="en-GB" altLang="en-US" sz="2000">
                  <a:solidFill>
                    <a:srgbClr val="000066"/>
                  </a:solidFill>
                </a:rPr>
                <a:t>=0.122mm</a:t>
              </a:r>
              <a:endParaRPr lang="en-GB" altLang="en-US"/>
            </a:p>
          </p:txBody>
        </p:sp>
        <p:sp>
          <p:nvSpPr>
            <p:cNvPr id="12298" name="Text Box 17">
              <a:extLst>
                <a:ext uri="{FF2B5EF4-FFF2-40B4-BE49-F238E27FC236}">
                  <a16:creationId xmlns:a16="http://schemas.microsoft.com/office/drawing/2014/main" id="{6E610D66-19E6-D3F3-85D8-D4C3A3FF0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8" y="2614"/>
              <a:ext cx="1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2000">
                  <a:solidFill>
                    <a:srgbClr val="000066"/>
                  </a:solidFill>
                </a:rPr>
                <a:t>h</a:t>
              </a:r>
              <a:r>
                <a:rPr lang="en-GB" altLang="en-US" sz="2000" baseline="-25000">
                  <a:solidFill>
                    <a:srgbClr val="000066"/>
                  </a:solidFill>
                </a:rPr>
                <a:t>max</a:t>
              </a:r>
              <a:r>
                <a:rPr lang="en-GB" altLang="en-US" sz="2000">
                  <a:solidFill>
                    <a:srgbClr val="000066"/>
                  </a:solidFill>
                </a:rPr>
                <a:t>=0.122mm</a:t>
              </a:r>
              <a:endParaRPr lang="en-GB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Text Box 6">
            <a:extLst>
              <a:ext uri="{FF2B5EF4-FFF2-40B4-BE49-F238E27FC236}">
                <a16:creationId xmlns:a16="http://schemas.microsoft.com/office/drawing/2014/main" id="{D066ADD8-80E7-D620-B202-4940D073C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00088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NACA0012 under uniform heat input: Q=40kW/m</a:t>
            </a:r>
            <a:r>
              <a:rPr lang="en-GB" altLang="en-US" sz="2800" b="1" baseline="30000">
                <a:solidFill>
                  <a:srgbClr val="000066"/>
                </a:solidFill>
              </a:rPr>
              <a:t>2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7F18DDC-EAFC-7DF2-7A38-A9429B3EF9CD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2057400"/>
            <a:ext cx="8890000" cy="3238500"/>
            <a:chOff x="112" y="1073"/>
            <a:chExt cx="5600" cy="2040"/>
          </a:xfrm>
        </p:grpSpPr>
        <p:pic>
          <p:nvPicPr>
            <p:cNvPr id="13316" name="Picture 8">
              <a:extLst>
                <a:ext uri="{FF2B5EF4-FFF2-40B4-BE49-F238E27FC236}">
                  <a16:creationId xmlns:a16="http://schemas.microsoft.com/office/drawing/2014/main" id="{8521861A-2C9F-1E26-F26E-3DDEC3650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751" y="1073"/>
              <a:ext cx="2961" cy="1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7" name="Picture 9">
              <a:extLst>
                <a:ext uri="{FF2B5EF4-FFF2-40B4-BE49-F238E27FC236}">
                  <a16:creationId xmlns:a16="http://schemas.microsoft.com/office/drawing/2014/main" id="{DAE986DE-6B84-68F8-7705-EEC71FAB9E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112" y="1248"/>
              <a:ext cx="2771" cy="1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6">
            <a:extLst>
              <a:ext uri="{FF2B5EF4-FFF2-40B4-BE49-F238E27FC236}">
                <a16:creationId xmlns:a16="http://schemas.microsoft.com/office/drawing/2014/main" id="{C69228F5-A83C-C11A-88E8-459F38546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00088"/>
            <a:ext cx="8013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NACA0012 under uniform heat input: Q=10kW/m</a:t>
            </a:r>
            <a:r>
              <a:rPr lang="en-GB" altLang="en-US" sz="2800" b="1" baseline="30000">
                <a:solidFill>
                  <a:srgbClr val="000066"/>
                </a:solidFill>
              </a:rPr>
              <a:t>2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C96C3EF3-5546-FC35-1CD1-4981B34F0924}"/>
              </a:ext>
            </a:extLst>
          </p:cNvPr>
          <p:cNvGrpSpPr>
            <a:grpSpLocks/>
          </p:cNvGrpSpPr>
          <p:nvPr/>
        </p:nvGrpSpPr>
        <p:grpSpPr bwMode="auto">
          <a:xfrm>
            <a:off x="147638" y="1973263"/>
            <a:ext cx="8920162" cy="3284537"/>
            <a:chOff x="93" y="1099"/>
            <a:chExt cx="5619" cy="2069"/>
          </a:xfrm>
        </p:grpSpPr>
        <p:pic>
          <p:nvPicPr>
            <p:cNvPr id="14340" name="Picture 9">
              <a:extLst>
                <a:ext uri="{FF2B5EF4-FFF2-40B4-BE49-F238E27FC236}">
                  <a16:creationId xmlns:a16="http://schemas.microsoft.com/office/drawing/2014/main" id="{9B4CE6F0-ECAE-431D-AED2-DF447D8DD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2638" y="1099"/>
              <a:ext cx="3074" cy="2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1" name="Picture 10">
              <a:extLst>
                <a:ext uri="{FF2B5EF4-FFF2-40B4-BE49-F238E27FC236}">
                  <a16:creationId xmlns:a16="http://schemas.microsoft.com/office/drawing/2014/main" id="{CC1C7009-1EAA-C52C-45C0-6A0870C638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" t="824" r="557" b="824"/>
            <a:stretch>
              <a:fillRect/>
            </a:stretch>
          </p:blipFill>
          <p:spPr bwMode="auto">
            <a:xfrm>
              <a:off x="93" y="1206"/>
              <a:ext cx="2819" cy="1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C0F45C69-0B76-DDC5-8D87-B05F878C2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Work in progress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C7DF1DB-1A5B-B925-A355-ABDEECA6E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16075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Validation against experimental tests performed at the Cranfield University icing tunnel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173F6971-BD94-ACE3-7136-A12E88ECB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16275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Implementation of a de-icing module which allows for ice accretion and melting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60" grpId="0" autoUpdateAnimBg="0"/>
      <p:bldP spid="1946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201B8F21-DAFC-97A3-523E-EAAB9DC14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>
                <a:solidFill>
                  <a:srgbClr val="000066"/>
                </a:solidFill>
              </a:rPr>
              <a:t>Potential extensions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BEC76B99-F8D7-F2BE-C75F-55DE9884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16075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Modelling of the substrate as a composite material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C206BD0-3FE9-4445-E963-5D2403CB1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0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Heat sources applied at individual layers within the substrate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6463A710-4942-861D-DEBD-E03D26CA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368675"/>
            <a:ext cx="7162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Computation of the wettedness factor based on the modelling of the formation of rivulets</a:t>
            </a: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9502D4BA-A258-F0A6-7ABF-5289C59B4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5800"/>
            <a:ext cx="7162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/>
              <a:t> </a:t>
            </a:r>
            <a:r>
              <a:rPr lang="en-GB" altLang="en-US">
                <a:solidFill>
                  <a:srgbClr val="000066"/>
                </a:solidFill>
              </a:rPr>
              <a:t>Implicit integration of the heat conduction in the system substrate-water-ice with the possibility to keep the film flow integration explicit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484" grpId="0" autoUpdateAnimBg="0"/>
      <p:bldP spid="20485" grpId="0" autoUpdateAnimBg="0"/>
      <p:bldP spid="20486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6041</TotalTime>
  <Words>518</Words>
  <Application>Microsoft Macintosh PowerPoint</Application>
  <PresentationFormat>On-screen Show (4:3)</PresentationFormat>
  <Paragraphs>77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Times New Roman</vt:lpstr>
      <vt:lpstr>Arial</vt:lpstr>
      <vt:lpstr>Default Design</vt:lpstr>
      <vt:lpstr>MathType 5.0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Cranfield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Harireche</dc:creator>
  <cp:lastModifiedBy>Christopher Thompson</cp:lastModifiedBy>
  <cp:revision>54</cp:revision>
  <dcterms:created xsi:type="dcterms:W3CDTF">2005-06-15T17:11:20Z</dcterms:created>
  <dcterms:modified xsi:type="dcterms:W3CDTF">2026-10-19T20:56:31Z</dcterms:modified>
</cp:coreProperties>
</file>