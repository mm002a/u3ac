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7.xml" ContentType="application/vnd.openxmlformats-officedocument.presentationml.notesSlide+xml"/>
  <Override PartName="/ppt/tags/tag45.xml" ContentType="application/vnd.openxmlformats-officedocument.presentationml.tags+xml"/>
  <Override PartName="/ppt/notesSlides/notesSlide1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sldIdLst>
    <p:sldId id="259" r:id="rId2"/>
    <p:sldId id="261" r:id="rId3"/>
    <p:sldId id="310" r:id="rId4"/>
    <p:sldId id="311" r:id="rId5"/>
    <p:sldId id="316" r:id="rId6"/>
    <p:sldId id="312" r:id="rId7"/>
    <p:sldId id="301" r:id="rId8"/>
    <p:sldId id="302" r:id="rId9"/>
    <p:sldId id="303" r:id="rId10"/>
    <p:sldId id="282" r:id="rId11"/>
    <p:sldId id="304" r:id="rId12"/>
    <p:sldId id="306" r:id="rId13"/>
    <p:sldId id="308" r:id="rId14"/>
    <p:sldId id="318" r:id="rId15"/>
    <p:sldId id="314" r:id="rId16"/>
    <p:sldId id="315" r:id="rId17"/>
    <p:sldId id="256" r:id="rId18"/>
    <p:sldId id="280" r:id="rId19"/>
    <p:sldId id="296" r:id="rId20"/>
    <p:sldId id="309" r:id="rId21"/>
    <p:sldId id="266" r:id="rId22"/>
    <p:sldId id="284" r:id="rId23"/>
    <p:sldId id="298" r:id="rId24"/>
    <p:sldId id="299" r:id="rId25"/>
    <p:sldId id="300" r:id="rId26"/>
    <p:sldId id="297" r:id="rId27"/>
    <p:sldId id="267" r:id="rId28"/>
    <p:sldId id="285" r:id="rId29"/>
    <p:sldId id="273" r:id="rId30"/>
    <p:sldId id="286" r:id="rId31"/>
    <p:sldId id="288" r:id="rId32"/>
    <p:sldId id="281" r:id="rId33"/>
    <p:sldId id="31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DE0B81-8606-1748-8BC2-96E94617D749}">
          <p14:sldIdLst>
            <p14:sldId id="259"/>
          </p14:sldIdLst>
        </p14:section>
        <p14:section name="Intro" id="{1CD7A9C2-0808-3E42-8FF1-C16C3CCEFA5A}">
          <p14:sldIdLst>
            <p14:sldId id="261"/>
          </p14:sldIdLst>
        </p14:section>
        <p14:section name="Belousov-Zhabotinski Reaction" id="{BD8CE348-4022-844F-A1ED-3F01FB849C90}">
          <p14:sldIdLst>
            <p14:sldId id="310"/>
            <p14:sldId id="311"/>
            <p14:sldId id="316"/>
            <p14:sldId id="312"/>
          </p14:sldIdLst>
        </p14:section>
        <p14:section name="Brusselator" id="{24AED99E-F671-4947-BC15-D498CB56FC36}">
          <p14:sldIdLst>
            <p14:sldId id="301"/>
            <p14:sldId id="302"/>
            <p14:sldId id="303"/>
            <p14:sldId id="282"/>
            <p14:sldId id="304"/>
            <p14:sldId id="306"/>
            <p14:sldId id="308"/>
            <p14:sldId id="318"/>
          </p14:sldIdLst>
        </p14:section>
        <p14:section name="Oreganator\" id="{71AE01A8-063A-C443-858E-B01DDE18A142}">
          <p14:sldIdLst>
            <p14:sldId id="314"/>
            <p14:sldId id="315"/>
            <p14:sldId id="256"/>
          </p14:sldIdLst>
        </p14:section>
        <p14:section name="Conclusions" id="{FDB1D7FE-D5EA-0749-8922-A15A96A748B0}">
          <p14:sldIdLst>
            <p14:sldId id="280"/>
            <p14:sldId id="296"/>
            <p14:sldId id="309"/>
            <p14:sldId id="266"/>
          </p14:sldIdLst>
        </p14:section>
        <p14:section name="BriggsRauscher" id="{09A52C2C-76BA-0549-B45A-06399BC40002}">
          <p14:sldIdLst>
            <p14:sldId id="284"/>
            <p14:sldId id="298"/>
            <p14:sldId id="299"/>
            <p14:sldId id="300"/>
          </p14:sldIdLst>
        </p14:section>
        <p14:section name="Backmatter" id="{7A65D3E2-2B85-714B-A681-94C42EC7BB8F}">
          <p14:sldIdLst>
            <p14:sldId id="297"/>
            <p14:sldId id="267"/>
            <p14:sldId id="285"/>
            <p14:sldId id="273"/>
            <p14:sldId id="286"/>
            <p14:sldId id="288"/>
            <p14:sldId id="281"/>
            <p14:sldId id="3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59"/>
    <p:restoredTop sz="92500"/>
  </p:normalViewPr>
  <p:slideViewPr>
    <p:cSldViewPr snapToGrid="0">
      <p:cViewPr varScale="1">
        <p:scale>
          <a:sx n="98" d="100"/>
          <a:sy n="98" d="100"/>
        </p:scale>
        <p:origin x="208" y="27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CA4E6-C37F-FF4C-A48F-F977E2581AA4}"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E134E-CF3A-1047-99F8-330D8E9F5A64}" type="slidenum">
              <a:rPr lang="en-US" smtClean="0"/>
              <a:t>‹#›</a:t>
            </a:fld>
            <a:endParaRPr lang="en-US"/>
          </a:p>
        </p:txBody>
      </p:sp>
    </p:spTree>
    <p:extLst>
      <p:ext uri="{BB962C8B-B14F-4D97-AF65-F5344CB8AC3E}">
        <p14:creationId xmlns:p14="http://schemas.microsoft.com/office/powerpoint/2010/main" val="337383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/shorts/ieh9qIkkMJQ</a:t>
            </a:r>
          </a:p>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1</a:t>
            </a:fld>
            <a:endParaRPr lang="en-US"/>
          </a:p>
        </p:txBody>
      </p:sp>
    </p:spTree>
    <p:extLst>
      <p:ext uri="{BB962C8B-B14F-4D97-AF65-F5344CB8AC3E}">
        <p14:creationId xmlns:p14="http://schemas.microsoft.com/office/powerpoint/2010/main" val="586809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Interactive Linear Algebra - Mendeley</a:t>
            </a:r>
          </a:p>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2</a:t>
            </a:fld>
            <a:endParaRPr lang="en-US"/>
          </a:p>
        </p:txBody>
      </p:sp>
    </p:spTree>
    <p:extLst>
      <p:ext uri="{BB962C8B-B14F-4D97-AF65-F5344CB8AC3E}">
        <p14:creationId xmlns:p14="http://schemas.microsoft.com/office/powerpoint/2010/main" val="2697683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Krebs cycle occurs in mitochondria</a:t>
            </a:r>
          </a:p>
        </p:txBody>
      </p:sp>
      <p:sp>
        <p:nvSpPr>
          <p:cNvPr id="4" name="Slide Number Placeholder 3"/>
          <p:cNvSpPr>
            <a:spLocks noGrp="1"/>
          </p:cNvSpPr>
          <p:nvPr>
            <p:ph type="sldNum" sz="quarter" idx="5"/>
          </p:nvPr>
        </p:nvSpPr>
        <p:spPr/>
        <p:txBody>
          <a:bodyPr/>
          <a:lstStyle/>
          <a:p>
            <a:fld id="{BDDE134E-CF3A-1047-99F8-330D8E9F5A64}" type="slidenum">
              <a:rPr lang="en-US" smtClean="0"/>
              <a:t>3</a:t>
            </a:fld>
            <a:endParaRPr lang="en-US"/>
          </a:p>
        </p:txBody>
      </p:sp>
    </p:spTree>
    <p:extLst>
      <p:ext uri="{BB962C8B-B14F-4D97-AF65-F5344CB8AC3E}">
        <p14:creationId xmlns:p14="http://schemas.microsoft.com/office/powerpoint/2010/main" val="358719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F0B21-8808-0359-12B3-635341141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EC0C4-BAF7-3410-B30E-DE3774D46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ED57B-0949-20BB-8CF1-2182F012F4D8}"/>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14A982D7-5A0D-8A25-CAD4-BFF735D65E68}"/>
              </a:ext>
            </a:extLst>
          </p:cNvPr>
          <p:cNvSpPr>
            <a:spLocks noGrp="1"/>
          </p:cNvSpPr>
          <p:nvPr>
            <p:ph type="sldNum" sz="quarter" idx="5"/>
          </p:nvPr>
        </p:nvSpPr>
        <p:spPr/>
        <p:txBody>
          <a:bodyPr/>
          <a:lstStyle/>
          <a:p>
            <a:fld id="{BDDE134E-CF3A-1047-99F8-330D8E9F5A64}" type="slidenum">
              <a:rPr lang="en-US" smtClean="0"/>
              <a:t>7</a:t>
            </a:fld>
            <a:endParaRPr lang="en-US"/>
          </a:p>
        </p:txBody>
      </p:sp>
    </p:spTree>
    <p:extLst>
      <p:ext uri="{BB962C8B-B14F-4D97-AF65-F5344CB8AC3E}">
        <p14:creationId xmlns:p14="http://schemas.microsoft.com/office/powerpoint/2010/main" val="2496041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0D17-FADC-174C-CC05-91A884F7E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02221-3B71-1CBC-BBA7-E2777ECFF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9516C-13A4-A9C8-5AFA-E8A9DAD3CDAF}"/>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497062AF-5EB8-1B83-67DC-C56920AEA6EF}"/>
              </a:ext>
            </a:extLst>
          </p:cNvPr>
          <p:cNvSpPr>
            <a:spLocks noGrp="1"/>
          </p:cNvSpPr>
          <p:nvPr>
            <p:ph type="sldNum" sz="quarter" idx="5"/>
          </p:nvPr>
        </p:nvSpPr>
        <p:spPr/>
        <p:txBody>
          <a:bodyPr/>
          <a:lstStyle/>
          <a:p>
            <a:fld id="{BDDE134E-CF3A-1047-99F8-330D8E9F5A64}" type="slidenum">
              <a:rPr lang="en-US" smtClean="0"/>
              <a:t>8</a:t>
            </a:fld>
            <a:endParaRPr lang="en-US"/>
          </a:p>
        </p:txBody>
      </p:sp>
    </p:spTree>
    <p:extLst>
      <p:ext uri="{BB962C8B-B14F-4D97-AF65-F5344CB8AC3E}">
        <p14:creationId xmlns:p14="http://schemas.microsoft.com/office/powerpoint/2010/main" val="686545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F47D-BE66-DDF8-A9F9-B639EA33D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101F2-2C2C-D24C-447C-08CD8F957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6A164-4ACD-CC93-8C90-9C806ED33FEB}"/>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9B7153EB-5C35-BE12-8A4E-76B7C5F27112}"/>
              </a:ext>
            </a:extLst>
          </p:cNvPr>
          <p:cNvSpPr>
            <a:spLocks noGrp="1"/>
          </p:cNvSpPr>
          <p:nvPr>
            <p:ph type="sldNum" sz="quarter" idx="5"/>
          </p:nvPr>
        </p:nvSpPr>
        <p:spPr/>
        <p:txBody>
          <a:bodyPr/>
          <a:lstStyle/>
          <a:p>
            <a:fld id="{BDDE134E-CF3A-1047-99F8-330D8E9F5A64}" type="slidenum">
              <a:rPr lang="en-US" smtClean="0"/>
              <a:t>9</a:t>
            </a:fld>
            <a:endParaRPr lang="en-US"/>
          </a:p>
        </p:txBody>
      </p:sp>
    </p:spTree>
    <p:extLst>
      <p:ext uri="{BB962C8B-B14F-4D97-AF65-F5344CB8AC3E}">
        <p14:creationId xmlns:p14="http://schemas.microsoft.com/office/powerpoint/2010/main" val="3664437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10</a:t>
            </a:fld>
            <a:endParaRPr lang="en-US"/>
          </a:p>
        </p:txBody>
      </p:sp>
    </p:spTree>
    <p:extLst>
      <p:ext uri="{BB962C8B-B14F-4D97-AF65-F5344CB8AC3E}">
        <p14:creationId xmlns:p14="http://schemas.microsoft.com/office/powerpoint/2010/main" val="2569841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77A2A-8BFD-471B-74C5-C6DC91248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2F621-5C5B-956A-C023-C07E88CC1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C01B9-7A01-EBD8-1F0D-0EE7245A3A8D}"/>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898A2A11-FC01-DF90-AE77-8652A10741F9}"/>
              </a:ext>
            </a:extLst>
          </p:cNvPr>
          <p:cNvSpPr>
            <a:spLocks noGrp="1"/>
          </p:cNvSpPr>
          <p:nvPr>
            <p:ph type="sldNum" sz="quarter" idx="5"/>
          </p:nvPr>
        </p:nvSpPr>
        <p:spPr/>
        <p:txBody>
          <a:bodyPr/>
          <a:lstStyle/>
          <a:p>
            <a:fld id="{BDDE134E-CF3A-1047-99F8-330D8E9F5A64}" type="slidenum">
              <a:rPr lang="en-US" smtClean="0"/>
              <a:t>11</a:t>
            </a:fld>
            <a:endParaRPr lang="en-US"/>
          </a:p>
        </p:txBody>
      </p:sp>
    </p:spTree>
    <p:extLst>
      <p:ext uri="{BB962C8B-B14F-4D97-AF65-F5344CB8AC3E}">
        <p14:creationId xmlns:p14="http://schemas.microsoft.com/office/powerpoint/2010/main" val="3343377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63A57-CED7-7141-D846-19157471E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ABBB1-BF65-E162-084B-598F511C6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647C4-04EF-E8D9-DDC8-00B578637765}"/>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33BB33D8-7774-4161-B1A2-F4474FF2BBE2}"/>
              </a:ext>
            </a:extLst>
          </p:cNvPr>
          <p:cNvSpPr>
            <a:spLocks noGrp="1"/>
          </p:cNvSpPr>
          <p:nvPr>
            <p:ph type="sldNum" sz="quarter" idx="5"/>
          </p:nvPr>
        </p:nvSpPr>
        <p:spPr/>
        <p:txBody>
          <a:bodyPr/>
          <a:lstStyle/>
          <a:p>
            <a:fld id="{BDDE134E-CF3A-1047-99F8-330D8E9F5A64}" type="slidenum">
              <a:rPr lang="en-US" smtClean="0"/>
              <a:t>12</a:t>
            </a:fld>
            <a:endParaRPr lang="en-US"/>
          </a:p>
        </p:txBody>
      </p:sp>
    </p:spTree>
    <p:extLst>
      <p:ext uri="{BB962C8B-B14F-4D97-AF65-F5344CB8AC3E}">
        <p14:creationId xmlns:p14="http://schemas.microsoft.com/office/powerpoint/2010/main" val="1106041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8D01-D4E3-4773-C21F-157E9AB0A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CDFB5-D57E-D53B-A226-A1B86DBC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79735-9E61-3F9B-DD15-6983B733BC33}"/>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8E9DE754-D034-A44B-B8E2-5BE7DC1C5192}"/>
              </a:ext>
            </a:extLst>
          </p:cNvPr>
          <p:cNvSpPr>
            <a:spLocks noGrp="1"/>
          </p:cNvSpPr>
          <p:nvPr>
            <p:ph type="sldNum" sz="quarter" idx="5"/>
          </p:nvPr>
        </p:nvSpPr>
        <p:spPr/>
        <p:txBody>
          <a:bodyPr/>
          <a:lstStyle/>
          <a:p>
            <a:fld id="{BDDE134E-CF3A-1047-99F8-330D8E9F5A64}" type="slidenum">
              <a:rPr lang="en-US" smtClean="0"/>
              <a:t>13</a:t>
            </a:fld>
            <a:endParaRPr lang="en-US"/>
          </a:p>
        </p:txBody>
      </p:sp>
    </p:spTree>
    <p:extLst>
      <p:ext uri="{BB962C8B-B14F-4D97-AF65-F5344CB8AC3E}">
        <p14:creationId xmlns:p14="http://schemas.microsoft.com/office/powerpoint/2010/main" val="2292642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D7AA7-B94B-F36B-23EF-0791F640F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A2FD3-A348-5622-6C74-D5EBCE0A6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A0021-3299-068C-E0DE-A8A6EF7A0D56}"/>
              </a:ext>
            </a:extLst>
          </p:cNvPr>
          <p:cNvSpPr>
            <a:spLocks noGrp="1"/>
          </p:cNvSpPr>
          <p:nvPr>
            <p:ph type="body" idx="1"/>
          </p:nvPr>
        </p:nvSpPr>
        <p:spPr/>
        <p:txBody>
          <a:bodyPr/>
          <a:lstStyle/>
          <a:p>
            <a:r>
              <a:rPr lang="en-US" dirty="0"/>
              <a:t>Poincare (date): Mathematics is the science of naming things which are the same.</a:t>
            </a:r>
          </a:p>
          <a:p>
            <a:endParaRPr lang="en-US" dirty="0"/>
          </a:p>
        </p:txBody>
      </p:sp>
      <p:sp>
        <p:nvSpPr>
          <p:cNvPr id="4" name="Slide Number Placeholder 3">
            <a:extLst>
              <a:ext uri="{FF2B5EF4-FFF2-40B4-BE49-F238E27FC236}">
                <a16:creationId xmlns:a16="http://schemas.microsoft.com/office/drawing/2014/main" id="{4F7D0666-D754-8603-C56D-A5655E671606}"/>
              </a:ext>
            </a:extLst>
          </p:cNvPr>
          <p:cNvSpPr>
            <a:spLocks noGrp="1"/>
          </p:cNvSpPr>
          <p:nvPr>
            <p:ph type="sldNum" sz="quarter" idx="5"/>
          </p:nvPr>
        </p:nvSpPr>
        <p:spPr/>
        <p:txBody>
          <a:bodyPr/>
          <a:lstStyle/>
          <a:p>
            <a:fld id="{BDDE134E-CF3A-1047-99F8-330D8E9F5A64}" type="slidenum">
              <a:rPr lang="en-US" smtClean="0"/>
              <a:t>14</a:t>
            </a:fld>
            <a:endParaRPr lang="en-US"/>
          </a:p>
        </p:txBody>
      </p:sp>
    </p:spTree>
    <p:extLst>
      <p:ext uri="{BB962C8B-B14F-4D97-AF65-F5344CB8AC3E}">
        <p14:creationId xmlns:p14="http://schemas.microsoft.com/office/powerpoint/2010/main" val="934991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also Murray: Mathematical Biology: I An Introduction. P234 </a:t>
            </a:r>
            <a:r>
              <a:rPr lang="en-US"/>
              <a:t>(Mendeley)</a:t>
            </a:r>
          </a:p>
        </p:txBody>
      </p:sp>
      <p:sp>
        <p:nvSpPr>
          <p:cNvPr id="4" name="Slide Number Placeholder 3"/>
          <p:cNvSpPr>
            <a:spLocks noGrp="1"/>
          </p:cNvSpPr>
          <p:nvPr>
            <p:ph type="sldNum" sz="quarter" idx="5"/>
          </p:nvPr>
        </p:nvSpPr>
        <p:spPr/>
        <p:txBody>
          <a:bodyPr/>
          <a:lstStyle/>
          <a:p>
            <a:fld id="{BDDE134E-CF3A-1047-99F8-330D8E9F5A64}" type="slidenum">
              <a:rPr lang="en-US" smtClean="0"/>
              <a:t>16</a:t>
            </a:fld>
            <a:endParaRPr lang="en-US"/>
          </a:p>
        </p:txBody>
      </p:sp>
    </p:spTree>
    <p:extLst>
      <p:ext uri="{BB962C8B-B14F-4D97-AF65-F5344CB8AC3E}">
        <p14:creationId xmlns:p14="http://schemas.microsoft.com/office/powerpoint/2010/main" val="3566311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5100120"/>
          </a:xfrm>
          <a:prstGeom prst="rect">
            <a:avLst/>
          </a:prstGeom>
        </p:spPr>
        <p:txBody>
          <a:bodyPr lIns="0" tIns="0" rIns="0" bIns="0"/>
          <a:lstStyle/>
          <a:p>
            <a:r>
              <a:rPr lang="en-US" sz="2000" b="0" strike="noStrike" spc="-1" dirty="0">
                <a:latin typeface="Arial"/>
              </a:rPr>
              <a:t>Target patterns in a petri dish. Image by Prof Stephen W. Morris.</a:t>
            </a:r>
          </a:p>
          <a:p>
            <a:r>
              <a:rPr lang="en-US" sz="2000" b="0" strike="noStrike" spc="-1" dirty="0">
                <a:latin typeface="Arial"/>
              </a:rPr>
              <a:t>Cover Scientific American 1975</a:t>
            </a:r>
          </a:p>
        </p:txBody>
      </p:sp>
    </p:spTree>
    <p:extLst>
      <p:ext uri="{BB962C8B-B14F-4D97-AF65-F5344CB8AC3E}">
        <p14:creationId xmlns:p14="http://schemas.microsoft.com/office/powerpoint/2010/main" val="3015967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20</a:t>
            </a:fld>
            <a:endParaRPr lang="en-US"/>
          </a:p>
        </p:txBody>
      </p:sp>
    </p:spTree>
    <p:extLst>
      <p:ext uri="{BB962C8B-B14F-4D97-AF65-F5344CB8AC3E}">
        <p14:creationId xmlns:p14="http://schemas.microsoft.com/office/powerpoint/2010/main" val="896756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https://cs357.cs.illinois.edu/textbook/notes/</a:t>
            </a:r>
            <a:r>
              <a:rPr lang="en-US" dirty="0" err="1"/>
              <a:t>condition.html</a:t>
            </a:r>
            <a:endParaRPr lang="en-US" dirty="0"/>
          </a:p>
          <a:p>
            <a:r>
              <a:rPr lang="en-US" dirty="0"/>
              <a:t>Hilbert matrix (Wikipedia) - \kappa BIG</a:t>
            </a:r>
          </a:p>
        </p:txBody>
      </p:sp>
      <p:sp>
        <p:nvSpPr>
          <p:cNvPr id="4" name="Slide Number Placeholder 3"/>
          <p:cNvSpPr>
            <a:spLocks noGrp="1"/>
          </p:cNvSpPr>
          <p:nvPr>
            <p:ph type="sldNum" sz="quarter" idx="5"/>
          </p:nvPr>
        </p:nvSpPr>
        <p:spPr/>
        <p:txBody>
          <a:bodyPr/>
          <a:lstStyle/>
          <a:p>
            <a:fld id="{BDDE134E-CF3A-1047-99F8-330D8E9F5A64}" type="slidenum">
              <a:rPr lang="en-US" smtClean="0"/>
              <a:t>21</a:t>
            </a:fld>
            <a:endParaRPr lang="en-US"/>
          </a:p>
        </p:txBody>
      </p:sp>
    </p:spTree>
    <p:extLst>
      <p:ext uri="{BB962C8B-B14F-4D97-AF65-F5344CB8AC3E}">
        <p14:creationId xmlns:p14="http://schemas.microsoft.com/office/powerpoint/2010/main" val="4280790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ocw.mit.edu</a:t>
            </a:r>
            <a:r>
              <a:rPr lang="en-US" dirty="0"/>
              <a:t>/courses/res-hs-002-chemistry-behind-the-magic-chemical-demonstrations-for-the-classroom/resources/</a:t>
            </a:r>
            <a:r>
              <a:rPr lang="en-US" dirty="0" err="1"/>
              <a:t>briggs_rauscher_pdf</a:t>
            </a:r>
            <a:r>
              <a:rPr lang="en-US" dirty="0"/>
              <a:t>/</a:t>
            </a:r>
          </a:p>
        </p:txBody>
      </p:sp>
      <p:sp>
        <p:nvSpPr>
          <p:cNvPr id="4" name="Slide Number Placeholder 3"/>
          <p:cNvSpPr>
            <a:spLocks noGrp="1"/>
          </p:cNvSpPr>
          <p:nvPr>
            <p:ph type="sldNum" sz="quarter" idx="5"/>
          </p:nvPr>
        </p:nvSpPr>
        <p:spPr/>
        <p:txBody>
          <a:bodyPr/>
          <a:lstStyle/>
          <a:p>
            <a:fld id="{BDDE134E-CF3A-1047-99F8-330D8E9F5A64}" type="slidenum">
              <a:rPr lang="en-US" smtClean="0"/>
              <a:t>22</a:t>
            </a:fld>
            <a:endParaRPr lang="en-US"/>
          </a:p>
        </p:txBody>
      </p:sp>
    </p:spTree>
    <p:extLst>
      <p:ext uri="{BB962C8B-B14F-4D97-AF65-F5344CB8AC3E}">
        <p14:creationId xmlns:p14="http://schemas.microsoft.com/office/powerpoint/2010/main" val="2296466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7F36-3648-2534-186E-FD2927F41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3A733-FBDD-2637-CCCC-97FAD45DA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3A142-5C52-423E-5303-D55AEB024BA9}"/>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first use of the word "determinant" in the modern sense appeared in: Cauchy, Augustin-Louis "Memoire sur les </a:t>
            </a:r>
            <a:r>
              <a:rPr lang="en-GB" sz="1200" b="0" i="0" kern="1200" dirty="0" err="1">
                <a:solidFill>
                  <a:schemeClr val="tx1"/>
                </a:solidFill>
                <a:effectLst/>
                <a:latin typeface="+mn-lt"/>
                <a:ea typeface="+mn-ea"/>
                <a:cs typeface="+mn-cs"/>
              </a:rPr>
              <a:t>fonctions</a:t>
            </a:r>
            <a:r>
              <a:rPr lang="en-GB" sz="1200" b="0" i="0" kern="1200" dirty="0">
                <a:solidFill>
                  <a:schemeClr val="tx1"/>
                </a:solidFill>
                <a:effectLst/>
                <a:latin typeface="+mn-lt"/>
                <a:ea typeface="+mn-ea"/>
                <a:cs typeface="+mn-cs"/>
              </a:rPr>
              <a:t> qui ne </a:t>
            </a:r>
            <a:r>
              <a:rPr lang="en-GB" sz="1200" b="0" i="0" kern="1200" dirty="0" err="1">
                <a:solidFill>
                  <a:schemeClr val="tx1"/>
                </a:solidFill>
                <a:effectLst/>
                <a:latin typeface="+mn-lt"/>
                <a:ea typeface="+mn-ea"/>
                <a:cs typeface="+mn-cs"/>
              </a:rPr>
              <a:t>peuvent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obtenir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que</a:t>
            </a:r>
            <a:r>
              <a:rPr lang="en-GB" sz="1200" b="0" i="0" kern="1200" dirty="0">
                <a:solidFill>
                  <a:schemeClr val="tx1"/>
                </a:solidFill>
                <a:effectLst/>
                <a:latin typeface="+mn-lt"/>
                <a:ea typeface="+mn-ea"/>
                <a:cs typeface="+mn-cs"/>
              </a:rPr>
              <a:t> deux </a:t>
            </a:r>
            <a:r>
              <a:rPr lang="en-GB" sz="1200" b="0" i="0" kern="1200" dirty="0" err="1">
                <a:solidFill>
                  <a:schemeClr val="tx1"/>
                </a:solidFill>
                <a:effectLst/>
                <a:latin typeface="+mn-lt"/>
                <a:ea typeface="+mn-ea"/>
                <a:cs typeface="+mn-cs"/>
              </a:rPr>
              <a:t>valeurs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égales</a:t>
            </a:r>
            <a:r>
              <a:rPr lang="en-GB" sz="1200" b="0" i="0" kern="1200" dirty="0">
                <a:solidFill>
                  <a:schemeClr val="tx1"/>
                </a:solidFill>
                <a:effectLst/>
                <a:latin typeface="+mn-lt"/>
                <a:ea typeface="+mn-ea"/>
                <a:cs typeface="+mn-cs"/>
              </a:rPr>
              <a:t> et des </a:t>
            </a:r>
            <a:r>
              <a:rPr lang="en-GB" sz="1200" b="0" i="0" kern="1200" dirty="0" err="1">
                <a:solidFill>
                  <a:schemeClr val="tx1"/>
                </a:solidFill>
                <a:effectLst/>
                <a:latin typeface="+mn-lt"/>
                <a:ea typeface="+mn-ea"/>
                <a:cs typeface="+mn-cs"/>
              </a:rPr>
              <a:t>signes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contraires</a:t>
            </a:r>
            <a:r>
              <a:rPr lang="en-GB" sz="1200" b="0" i="0" kern="1200" dirty="0">
                <a:solidFill>
                  <a:schemeClr val="tx1"/>
                </a:solidFill>
                <a:effectLst/>
                <a:latin typeface="+mn-lt"/>
                <a:ea typeface="+mn-ea"/>
                <a:cs typeface="+mn-cs"/>
              </a:rPr>
              <a:t> par suite des transpositions </a:t>
            </a:r>
            <a:r>
              <a:rPr lang="en-GB" sz="1200" b="0" i="0" kern="1200" dirty="0" err="1">
                <a:solidFill>
                  <a:schemeClr val="tx1"/>
                </a:solidFill>
                <a:effectLst/>
                <a:latin typeface="+mn-lt"/>
                <a:ea typeface="+mn-ea"/>
                <a:cs typeface="+mn-cs"/>
              </a:rPr>
              <a:t>operées</a:t>
            </a:r>
            <a:r>
              <a:rPr lang="en-GB" sz="1200" b="0" i="0" kern="1200" dirty="0">
                <a:solidFill>
                  <a:schemeClr val="tx1"/>
                </a:solidFill>
                <a:effectLst/>
                <a:latin typeface="+mn-lt"/>
                <a:ea typeface="+mn-ea"/>
                <a:cs typeface="+mn-cs"/>
              </a:rPr>
              <a:t> entre les variables </a:t>
            </a:r>
            <a:r>
              <a:rPr lang="en-GB" sz="1200" b="0" i="0" kern="1200" dirty="0" err="1">
                <a:solidFill>
                  <a:schemeClr val="tx1"/>
                </a:solidFill>
                <a:effectLst/>
                <a:latin typeface="+mn-lt"/>
                <a:ea typeface="+mn-ea"/>
                <a:cs typeface="+mn-cs"/>
              </a:rPr>
              <a:t>qu'elles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renferment</a:t>
            </a:r>
            <a:r>
              <a:rPr lang="en-GB" sz="1200" b="0" i="0" kern="1200" dirty="0">
                <a:solidFill>
                  <a:schemeClr val="tx1"/>
                </a:solidFill>
                <a:effectLst/>
                <a:latin typeface="+mn-lt"/>
                <a:ea typeface="+mn-ea"/>
                <a:cs typeface="+mn-cs"/>
              </a:rPr>
              <a:t>," which was first read at the Institute de France in Paris on November 30, 1812, and which was subsequently published in the </a:t>
            </a:r>
            <a:r>
              <a:rPr lang="en-GB" sz="1200" b="0" i="1" kern="1200" dirty="0">
                <a:solidFill>
                  <a:schemeClr val="tx1"/>
                </a:solidFill>
                <a:effectLst/>
                <a:latin typeface="+mn-lt"/>
                <a:ea typeface="+mn-ea"/>
                <a:cs typeface="+mn-cs"/>
              </a:rPr>
              <a:t>Journal de </a:t>
            </a:r>
            <a:r>
              <a:rPr lang="en-GB" sz="1200" b="0" i="1" kern="1200" dirty="0" err="1">
                <a:solidFill>
                  <a:schemeClr val="tx1"/>
                </a:solidFill>
                <a:effectLst/>
                <a:latin typeface="+mn-lt"/>
                <a:ea typeface="+mn-ea"/>
                <a:cs typeface="+mn-cs"/>
              </a:rPr>
              <a:t>l'Ecole</a:t>
            </a:r>
            <a:r>
              <a:rPr lang="en-GB" sz="1200" b="0" i="1" kern="1200" dirty="0">
                <a:solidFill>
                  <a:schemeClr val="tx1"/>
                </a:solidFill>
                <a:effectLst/>
                <a:latin typeface="+mn-lt"/>
                <a:ea typeface="+mn-ea"/>
                <a:cs typeface="+mn-cs"/>
              </a:rPr>
              <a:t> Polytechnique</a:t>
            </a:r>
            <a:r>
              <a:rPr lang="en-GB" sz="1200" b="0" i="0" kern="1200" dirty="0">
                <a:solidFill>
                  <a:schemeClr val="tx1"/>
                </a:solidFill>
                <a:effectLst/>
                <a:latin typeface="+mn-lt"/>
                <a:ea typeface="+mn-ea"/>
                <a:cs typeface="+mn-cs"/>
              </a:rPr>
              <a:t>, Cahier 17, Tome 10, pages 29–112 (1815).</a:t>
            </a:r>
          </a:p>
          <a:p>
            <a:endParaRPr lang="en-US" dirty="0"/>
          </a:p>
        </p:txBody>
      </p:sp>
      <p:sp>
        <p:nvSpPr>
          <p:cNvPr id="4" name="Slide Number Placeholder 3">
            <a:extLst>
              <a:ext uri="{FF2B5EF4-FFF2-40B4-BE49-F238E27FC236}">
                <a16:creationId xmlns:a16="http://schemas.microsoft.com/office/drawing/2014/main" id="{43F57689-C57E-8AD9-07DC-2572735717CC}"/>
              </a:ext>
            </a:extLst>
          </p:cNvPr>
          <p:cNvSpPr>
            <a:spLocks noGrp="1"/>
          </p:cNvSpPr>
          <p:nvPr>
            <p:ph type="sldNum" sz="quarter" idx="5"/>
          </p:nvPr>
        </p:nvSpPr>
        <p:spPr/>
        <p:txBody>
          <a:bodyPr/>
          <a:lstStyle/>
          <a:p>
            <a:fld id="{BDDE134E-CF3A-1047-99F8-330D8E9F5A64}" type="slidenum">
              <a:rPr lang="en-US" smtClean="0"/>
              <a:t>29</a:t>
            </a:fld>
            <a:endParaRPr lang="en-US"/>
          </a:p>
        </p:txBody>
      </p:sp>
    </p:spTree>
    <p:extLst>
      <p:ext uri="{BB962C8B-B14F-4D97-AF65-F5344CB8AC3E}">
        <p14:creationId xmlns:p14="http://schemas.microsoft.com/office/powerpoint/2010/main" val="1091242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AF11C-4ACA-4568-DB77-5ACE19C10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CA572-59CE-2FF6-2BD0-885810DE2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97D3D-67B5-2E94-4795-3919FEEA7716}"/>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first use of the word "determinant" in the modern sense appeared in: Cauchy, Augustin-Louis "Memoire sur les </a:t>
            </a:r>
            <a:r>
              <a:rPr lang="en-GB" sz="1200" b="0" i="0" kern="1200" dirty="0" err="1">
                <a:solidFill>
                  <a:schemeClr val="tx1"/>
                </a:solidFill>
                <a:effectLst/>
                <a:latin typeface="+mn-lt"/>
                <a:ea typeface="+mn-ea"/>
                <a:cs typeface="+mn-cs"/>
              </a:rPr>
              <a:t>fonctions</a:t>
            </a:r>
            <a:r>
              <a:rPr lang="en-GB" sz="1200" b="0" i="0" kern="1200" dirty="0">
                <a:solidFill>
                  <a:schemeClr val="tx1"/>
                </a:solidFill>
                <a:effectLst/>
                <a:latin typeface="+mn-lt"/>
                <a:ea typeface="+mn-ea"/>
                <a:cs typeface="+mn-cs"/>
              </a:rPr>
              <a:t> qui ne </a:t>
            </a:r>
            <a:r>
              <a:rPr lang="en-GB" sz="1200" b="0" i="0" kern="1200" dirty="0" err="1">
                <a:solidFill>
                  <a:schemeClr val="tx1"/>
                </a:solidFill>
                <a:effectLst/>
                <a:latin typeface="+mn-lt"/>
                <a:ea typeface="+mn-ea"/>
                <a:cs typeface="+mn-cs"/>
              </a:rPr>
              <a:t>peuvent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obtenir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que</a:t>
            </a:r>
            <a:r>
              <a:rPr lang="en-GB" sz="1200" b="0" i="0" kern="1200" dirty="0">
                <a:solidFill>
                  <a:schemeClr val="tx1"/>
                </a:solidFill>
                <a:effectLst/>
                <a:latin typeface="+mn-lt"/>
                <a:ea typeface="+mn-ea"/>
                <a:cs typeface="+mn-cs"/>
              </a:rPr>
              <a:t> deux </a:t>
            </a:r>
            <a:r>
              <a:rPr lang="en-GB" sz="1200" b="0" i="0" kern="1200" dirty="0" err="1">
                <a:solidFill>
                  <a:schemeClr val="tx1"/>
                </a:solidFill>
                <a:effectLst/>
                <a:latin typeface="+mn-lt"/>
                <a:ea typeface="+mn-ea"/>
                <a:cs typeface="+mn-cs"/>
              </a:rPr>
              <a:t>valeurs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égales</a:t>
            </a:r>
            <a:r>
              <a:rPr lang="en-GB" sz="1200" b="0" i="0" kern="1200" dirty="0">
                <a:solidFill>
                  <a:schemeClr val="tx1"/>
                </a:solidFill>
                <a:effectLst/>
                <a:latin typeface="+mn-lt"/>
                <a:ea typeface="+mn-ea"/>
                <a:cs typeface="+mn-cs"/>
              </a:rPr>
              <a:t> et des </a:t>
            </a:r>
            <a:r>
              <a:rPr lang="en-GB" sz="1200" b="0" i="0" kern="1200" dirty="0" err="1">
                <a:solidFill>
                  <a:schemeClr val="tx1"/>
                </a:solidFill>
                <a:effectLst/>
                <a:latin typeface="+mn-lt"/>
                <a:ea typeface="+mn-ea"/>
                <a:cs typeface="+mn-cs"/>
              </a:rPr>
              <a:t>signes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contraires</a:t>
            </a:r>
            <a:r>
              <a:rPr lang="en-GB" sz="1200" b="0" i="0" kern="1200" dirty="0">
                <a:solidFill>
                  <a:schemeClr val="tx1"/>
                </a:solidFill>
                <a:effectLst/>
                <a:latin typeface="+mn-lt"/>
                <a:ea typeface="+mn-ea"/>
                <a:cs typeface="+mn-cs"/>
              </a:rPr>
              <a:t> par suite des transpositions </a:t>
            </a:r>
            <a:r>
              <a:rPr lang="en-GB" sz="1200" b="0" i="0" kern="1200" dirty="0" err="1">
                <a:solidFill>
                  <a:schemeClr val="tx1"/>
                </a:solidFill>
                <a:effectLst/>
                <a:latin typeface="+mn-lt"/>
                <a:ea typeface="+mn-ea"/>
                <a:cs typeface="+mn-cs"/>
              </a:rPr>
              <a:t>operées</a:t>
            </a:r>
            <a:r>
              <a:rPr lang="en-GB" sz="1200" b="0" i="0" kern="1200" dirty="0">
                <a:solidFill>
                  <a:schemeClr val="tx1"/>
                </a:solidFill>
                <a:effectLst/>
                <a:latin typeface="+mn-lt"/>
                <a:ea typeface="+mn-ea"/>
                <a:cs typeface="+mn-cs"/>
              </a:rPr>
              <a:t> entre les variables </a:t>
            </a:r>
            <a:r>
              <a:rPr lang="en-GB" sz="1200" b="0" i="0" kern="1200" dirty="0" err="1">
                <a:solidFill>
                  <a:schemeClr val="tx1"/>
                </a:solidFill>
                <a:effectLst/>
                <a:latin typeface="+mn-lt"/>
                <a:ea typeface="+mn-ea"/>
                <a:cs typeface="+mn-cs"/>
              </a:rPr>
              <a:t>qu'elles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renferment</a:t>
            </a:r>
            <a:r>
              <a:rPr lang="en-GB" sz="1200" b="0" i="0" kern="1200" dirty="0">
                <a:solidFill>
                  <a:schemeClr val="tx1"/>
                </a:solidFill>
                <a:effectLst/>
                <a:latin typeface="+mn-lt"/>
                <a:ea typeface="+mn-ea"/>
                <a:cs typeface="+mn-cs"/>
              </a:rPr>
              <a:t>," which was first read at the Institute de France in Paris on November 30, 1812, and which was subsequently published in the </a:t>
            </a:r>
            <a:r>
              <a:rPr lang="en-GB" sz="1200" b="0" i="1" kern="1200" dirty="0">
                <a:solidFill>
                  <a:schemeClr val="tx1"/>
                </a:solidFill>
                <a:effectLst/>
                <a:latin typeface="+mn-lt"/>
                <a:ea typeface="+mn-ea"/>
                <a:cs typeface="+mn-cs"/>
              </a:rPr>
              <a:t>Journal de </a:t>
            </a:r>
            <a:r>
              <a:rPr lang="en-GB" sz="1200" b="0" i="1" kern="1200" dirty="0" err="1">
                <a:solidFill>
                  <a:schemeClr val="tx1"/>
                </a:solidFill>
                <a:effectLst/>
                <a:latin typeface="+mn-lt"/>
                <a:ea typeface="+mn-ea"/>
                <a:cs typeface="+mn-cs"/>
              </a:rPr>
              <a:t>l'Ecole</a:t>
            </a:r>
            <a:r>
              <a:rPr lang="en-GB" sz="1200" b="0" i="1" kern="1200" dirty="0">
                <a:solidFill>
                  <a:schemeClr val="tx1"/>
                </a:solidFill>
                <a:effectLst/>
                <a:latin typeface="+mn-lt"/>
                <a:ea typeface="+mn-ea"/>
                <a:cs typeface="+mn-cs"/>
              </a:rPr>
              <a:t> Polytechnique</a:t>
            </a:r>
            <a:r>
              <a:rPr lang="en-GB" sz="1200" b="0" i="0" kern="1200" dirty="0">
                <a:solidFill>
                  <a:schemeClr val="tx1"/>
                </a:solidFill>
                <a:effectLst/>
                <a:latin typeface="+mn-lt"/>
                <a:ea typeface="+mn-ea"/>
                <a:cs typeface="+mn-cs"/>
              </a:rPr>
              <a:t>, Cahier 17, Tome 10, pages 29–112 (1815).</a:t>
            </a:r>
          </a:p>
          <a:p>
            <a:endParaRPr lang="en-US" dirty="0"/>
          </a:p>
        </p:txBody>
      </p:sp>
      <p:sp>
        <p:nvSpPr>
          <p:cNvPr id="4" name="Slide Number Placeholder 3">
            <a:extLst>
              <a:ext uri="{FF2B5EF4-FFF2-40B4-BE49-F238E27FC236}">
                <a16:creationId xmlns:a16="http://schemas.microsoft.com/office/drawing/2014/main" id="{0C64950D-2B36-1AD3-074D-BBD15B59219F}"/>
              </a:ext>
            </a:extLst>
          </p:cNvPr>
          <p:cNvSpPr>
            <a:spLocks noGrp="1"/>
          </p:cNvSpPr>
          <p:nvPr>
            <p:ph type="sldNum" sz="quarter" idx="5"/>
          </p:nvPr>
        </p:nvSpPr>
        <p:spPr/>
        <p:txBody>
          <a:bodyPr/>
          <a:lstStyle/>
          <a:p>
            <a:fld id="{BDDE134E-CF3A-1047-99F8-330D8E9F5A64}" type="slidenum">
              <a:rPr lang="en-US" smtClean="0"/>
              <a:t>31</a:t>
            </a:fld>
            <a:endParaRPr lang="en-US"/>
          </a:p>
        </p:txBody>
      </p:sp>
    </p:spTree>
    <p:extLst>
      <p:ext uri="{BB962C8B-B14F-4D97-AF65-F5344CB8AC3E}">
        <p14:creationId xmlns:p14="http://schemas.microsoft.com/office/powerpoint/2010/main" val="3479559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12AB-BC9F-9398-AF76-120CFED66C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50C292C-9B1E-B4EB-E513-732DA4ADFB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A3BC6DE-AE10-0B02-D21D-3AC0F9337FF3}"/>
              </a:ext>
            </a:extLst>
          </p:cNvPr>
          <p:cNvSpPr>
            <a:spLocks noGrp="1"/>
          </p:cNvSpPr>
          <p:nvPr>
            <p:ph type="dt" sz="half" idx="10"/>
          </p:nvPr>
        </p:nvSpPr>
        <p:spPr/>
        <p:txBody>
          <a:bodyPr/>
          <a:lstStyle/>
          <a:p>
            <a:fld id="{27F99EB5-2AF6-F54C-8368-591B57101106}" type="datetime1">
              <a:rPr lang="en-GB" smtClean="0"/>
              <a:t>27/09/2026</a:t>
            </a:fld>
            <a:endParaRPr lang="en-US"/>
          </a:p>
        </p:txBody>
      </p:sp>
      <p:sp>
        <p:nvSpPr>
          <p:cNvPr id="5" name="Footer Placeholder 4">
            <a:extLst>
              <a:ext uri="{FF2B5EF4-FFF2-40B4-BE49-F238E27FC236}">
                <a16:creationId xmlns:a16="http://schemas.microsoft.com/office/drawing/2014/main" id="{92C254C9-1827-E53D-8880-FC4FF0805025}"/>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8AAE49C7-C967-56B1-05F5-64DA758EFC52}"/>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31712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B157-B40F-9CC7-B378-684C1153C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F10336-DAB6-3BD5-35B6-90A8CC97C7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1C1B43-1A8C-8B49-67F1-BF04FCCDCC67}"/>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1F224D07-05CD-C681-EFC7-D39E20D0D866}"/>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270FB753-D778-22F5-CC48-1DEE4E11639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841422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0BAA-A2EC-6829-303E-A952A357686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3D0D5D2-F1A3-0BFF-4D53-1628301D4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89402B3-D0C9-7AEC-D222-8EEC0BC02F4B}"/>
              </a:ext>
            </a:extLst>
          </p:cNvPr>
          <p:cNvSpPr>
            <a:spLocks noGrp="1"/>
          </p:cNvSpPr>
          <p:nvPr>
            <p:ph type="dt" sz="half" idx="10"/>
          </p:nvPr>
        </p:nvSpPr>
        <p:spPr/>
        <p:txBody>
          <a:bodyPr/>
          <a:lstStyle/>
          <a:p>
            <a:fld id="{B4111129-5D85-E14F-9689-E716CEEF5439}" type="datetime1">
              <a:rPr lang="en-GB" smtClean="0"/>
              <a:t>27/09/2026</a:t>
            </a:fld>
            <a:endParaRPr lang="en-US"/>
          </a:p>
        </p:txBody>
      </p:sp>
      <p:sp>
        <p:nvSpPr>
          <p:cNvPr id="5" name="Footer Placeholder 4">
            <a:extLst>
              <a:ext uri="{FF2B5EF4-FFF2-40B4-BE49-F238E27FC236}">
                <a16:creationId xmlns:a16="http://schemas.microsoft.com/office/drawing/2014/main" id="{1AF20266-D85F-68C6-8C3A-B0E0CB60FE3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44E52B30-A729-5E40-13E1-86C780F43CC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098779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7239-9316-F88D-93D0-244F3386E1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F8ED30-93B6-907F-5F83-07BC2B10684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F5CF7A6-7E5C-54AA-532A-55A41C6845E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D43F53-2924-D8A8-8372-4F7A36113918}"/>
              </a:ext>
            </a:extLst>
          </p:cNvPr>
          <p:cNvSpPr>
            <a:spLocks noGrp="1"/>
          </p:cNvSpPr>
          <p:nvPr>
            <p:ph type="dt" sz="half" idx="10"/>
          </p:nvPr>
        </p:nvSpPr>
        <p:spPr/>
        <p:txBody>
          <a:bodyPr/>
          <a:lstStyle/>
          <a:p>
            <a:fld id="{1A984EE7-A60D-C640-8018-EDBB7F10E32A}" type="datetime1">
              <a:rPr lang="en-GB" smtClean="0"/>
              <a:t>27/09/2026</a:t>
            </a:fld>
            <a:endParaRPr lang="en-US"/>
          </a:p>
        </p:txBody>
      </p:sp>
      <p:sp>
        <p:nvSpPr>
          <p:cNvPr id="6" name="Footer Placeholder 5">
            <a:extLst>
              <a:ext uri="{FF2B5EF4-FFF2-40B4-BE49-F238E27FC236}">
                <a16:creationId xmlns:a16="http://schemas.microsoft.com/office/drawing/2014/main" id="{869B69BB-8867-FAEB-507C-8311FB14D5D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FD10249A-E7EA-64DE-77A4-4F5D69FA272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366958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D3E9-A29E-F5A4-99F9-06CFC0A7E8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2387C8-98CC-220B-8075-FFC43E3AB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0E7FA50-F2A1-9335-6FC7-AB6AF43A674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AAF627E-8EC0-F096-EE4A-EB19D05ECC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9146B03-36D5-49D5-1BAF-2D576139EE2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88BABE1-417A-AEF4-9F8F-AACA3F8B7B57}"/>
              </a:ext>
            </a:extLst>
          </p:cNvPr>
          <p:cNvSpPr>
            <a:spLocks noGrp="1"/>
          </p:cNvSpPr>
          <p:nvPr>
            <p:ph type="dt" sz="half" idx="10"/>
          </p:nvPr>
        </p:nvSpPr>
        <p:spPr/>
        <p:txBody>
          <a:bodyPr/>
          <a:lstStyle/>
          <a:p>
            <a:fld id="{6A13EC4E-B6E8-0848-89DF-B66E3D0BFD1B}" type="datetime1">
              <a:rPr lang="en-GB" smtClean="0"/>
              <a:t>27/09/2026</a:t>
            </a:fld>
            <a:endParaRPr lang="en-US"/>
          </a:p>
        </p:txBody>
      </p:sp>
      <p:sp>
        <p:nvSpPr>
          <p:cNvPr id="8" name="Footer Placeholder 7">
            <a:extLst>
              <a:ext uri="{FF2B5EF4-FFF2-40B4-BE49-F238E27FC236}">
                <a16:creationId xmlns:a16="http://schemas.microsoft.com/office/drawing/2014/main" id="{BF6A5D20-B19C-77C3-4B13-6E13EA5AFF5F}"/>
              </a:ext>
            </a:extLst>
          </p:cNvPr>
          <p:cNvSpPr>
            <a:spLocks noGrp="1"/>
          </p:cNvSpPr>
          <p:nvPr>
            <p:ph type="ftr" sz="quarter" idx="11"/>
          </p:nvPr>
        </p:nvSpPr>
        <p:spPr/>
        <p:txBody>
          <a:bodyPr/>
          <a:lstStyle/>
          <a:p>
            <a:r>
              <a:rPr lang="en-US"/>
              <a:t>U3AC 2026</a:t>
            </a:r>
          </a:p>
        </p:txBody>
      </p:sp>
      <p:sp>
        <p:nvSpPr>
          <p:cNvPr id="9" name="Slide Number Placeholder 8">
            <a:extLst>
              <a:ext uri="{FF2B5EF4-FFF2-40B4-BE49-F238E27FC236}">
                <a16:creationId xmlns:a16="http://schemas.microsoft.com/office/drawing/2014/main" id="{1278BEBD-725B-52E9-2FCC-D04C668FC00E}"/>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4380661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6EF1-6663-8C60-9A57-65C5ADD0916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DB79796-9EFA-B97B-FF1C-33364B8DE604}"/>
              </a:ext>
            </a:extLst>
          </p:cNvPr>
          <p:cNvSpPr>
            <a:spLocks noGrp="1"/>
          </p:cNvSpPr>
          <p:nvPr>
            <p:ph type="dt" sz="half" idx="10"/>
          </p:nvPr>
        </p:nvSpPr>
        <p:spPr/>
        <p:txBody>
          <a:bodyPr/>
          <a:lstStyle/>
          <a:p>
            <a:fld id="{D9B123D1-D7AC-C445-A8AD-E8643C8957D1}" type="datetime1">
              <a:rPr lang="en-GB" smtClean="0"/>
              <a:t>27/09/2026</a:t>
            </a:fld>
            <a:endParaRPr lang="en-US"/>
          </a:p>
        </p:txBody>
      </p:sp>
      <p:sp>
        <p:nvSpPr>
          <p:cNvPr id="4" name="Footer Placeholder 3">
            <a:extLst>
              <a:ext uri="{FF2B5EF4-FFF2-40B4-BE49-F238E27FC236}">
                <a16:creationId xmlns:a16="http://schemas.microsoft.com/office/drawing/2014/main" id="{9038377A-A7FF-670D-B9B3-008B23EA5C09}"/>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9B9757-5179-B105-D297-2AD646E6E728}"/>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5964599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8E377-35C4-F5EA-EBA0-EB04EAF4E55E}"/>
              </a:ext>
            </a:extLst>
          </p:cNvPr>
          <p:cNvSpPr>
            <a:spLocks noGrp="1"/>
          </p:cNvSpPr>
          <p:nvPr>
            <p:ph type="dt" sz="half" idx="10"/>
          </p:nvPr>
        </p:nvSpPr>
        <p:spPr/>
        <p:txBody>
          <a:bodyPr/>
          <a:lstStyle/>
          <a:p>
            <a:fld id="{69C99383-B18B-D549-BD11-048332AC4DF0}" type="datetime1">
              <a:rPr lang="en-GB" smtClean="0"/>
              <a:t>27/09/2026</a:t>
            </a:fld>
            <a:endParaRPr lang="en-US"/>
          </a:p>
        </p:txBody>
      </p:sp>
      <p:sp>
        <p:nvSpPr>
          <p:cNvPr id="3" name="Footer Placeholder 2">
            <a:extLst>
              <a:ext uri="{FF2B5EF4-FFF2-40B4-BE49-F238E27FC236}">
                <a16:creationId xmlns:a16="http://schemas.microsoft.com/office/drawing/2014/main" id="{B279F97C-F50E-182F-56A1-8C96916375D9}"/>
              </a:ext>
            </a:extLst>
          </p:cNvPr>
          <p:cNvSpPr>
            <a:spLocks noGrp="1"/>
          </p:cNvSpPr>
          <p:nvPr>
            <p:ph type="ftr" sz="quarter" idx="11"/>
          </p:nvPr>
        </p:nvSpPr>
        <p:spPr/>
        <p:txBody>
          <a:bodyPr/>
          <a:lstStyle/>
          <a:p>
            <a:r>
              <a:rPr lang="en-US"/>
              <a:t>U3AC 2026</a:t>
            </a:r>
          </a:p>
        </p:txBody>
      </p:sp>
      <p:sp>
        <p:nvSpPr>
          <p:cNvPr id="4" name="Slide Number Placeholder 3">
            <a:extLst>
              <a:ext uri="{FF2B5EF4-FFF2-40B4-BE49-F238E27FC236}">
                <a16:creationId xmlns:a16="http://schemas.microsoft.com/office/drawing/2014/main" id="{92A07113-4AFA-858E-7972-65CEF2D14147}"/>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34249095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BEDF-0D3A-D8A3-EE5E-660A31588A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D4E4D9-8265-D979-CDA8-01E86A65B7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A872E1-C844-40BE-9942-47C70E00C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825B73-C368-2268-2F6C-C45F11DE0C64}"/>
              </a:ext>
            </a:extLst>
          </p:cNvPr>
          <p:cNvSpPr>
            <a:spLocks noGrp="1"/>
          </p:cNvSpPr>
          <p:nvPr>
            <p:ph type="dt" sz="half" idx="10"/>
          </p:nvPr>
        </p:nvSpPr>
        <p:spPr/>
        <p:txBody>
          <a:bodyPr/>
          <a:lstStyle/>
          <a:p>
            <a:fld id="{86A9DDF2-FE22-A74C-AAB1-09CB68559F36}" type="datetime1">
              <a:rPr lang="en-GB" smtClean="0"/>
              <a:t>27/09/2026</a:t>
            </a:fld>
            <a:endParaRPr lang="en-US"/>
          </a:p>
        </p:txBody>
      </p:sp>
      <p:sp>
        <p:nvSpPr>
          <p:cNvPr id="6" name="Footer Placeholder 5">
            <a:extLst>
              <a:ext uri="{FF2B5EF4-FFF2-40B4-BE49-F238E27FC236}">
                <a16:creationId xmlns:a16="http://schemas.microsoft.com/office/drawing/2014/main" id="{BE6DBE39-2EF4-D0BC-4E52-09AC437CCAE5}"/>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2FE73C51-5BD8-03E3-0DDC-07607C2E405D}"/>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964838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AB32-B146-2081-BD55-B5EF92E678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89AE6A7-114A-E534-1165-9A87B0567E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E5535A-5BAF-DA36-C891-13F897F2D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D44AE6-8462-B99E-A7EC-1AB3EAFFCACC}"/>
              </a:ext>
            </a:extLst>
          </p:cNvPr>
          <p:cNvSpPr>
            <a:spLocks noGrp="1"/>
          </p:cNvSpPr>
          <p:nvPr>
            <p:ph type="dt" sz="half" idx="10"/>
          </p:nvPr>
        </p:nvSpPr>
        <p:spPr/>
        <p:txBody>
          <a:bodyPr/>
          <a:lstStyle/>
          <a:p>
            <a:fld id="{7F3F4899-A69D-4741-ABDF-EA54E301A028}" type="datetime1">
              <a:rPr lang="en-GB" smtClean="0"/>
              <a:t>27/09/2026</a:t>
            </a:fld>
            <a:endParaRPr lang="en-US"/>
          </a:p>
        </p:txBody>
      </p:sp>
      <p:sp>
        <p:nvSpPr>
          <p:cNvPr id="6" name="Footer Placeholder 5">
            <a:extLst>
              <a:ext uri="{FF2B5EF4-FFF2-40B4-BE49-F238E27FC236}">
                <a16:creationId xmlns:a16="http://schemas.microsoft.com/office/drawing/2014/main" id="{0E8AF901-E29C-DD1E-2187-DA0CFCB82D7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CD2EE70F-2D17-C3BA-D24C-2B1E7FA1E23A}"/>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8737262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ADF9-3AF4-5FDF-750D-85AD1B31C2A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0DBBC8-4A59-63F7-6D3F-79D065A0B6C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39BB33-612E-8417-F4A2-E71DA3089A66}"/>
              </a:ext>
            </a:extLst>
          </p:cNvPr>
          <p:cNvSpPr>
            <a:spLocks noGrp="1"/>
          </p:cNvSpPr>
          <p:nvPr>
            <p:ph type="dt" sz="half" idx="10"/>
          </p:nvPr>
        </p:nvSpPr>
        <p:spPr/>
        <p:txBody>
          <a:bodyPr/>
          <a:lstStyle/>
          <a:p>
            <a:fld id="{2983E0C3-1EFA-9240-9C94-D03AA9EEB08C}" type="datetime1">
              <a:rPr lang="en-GB" smtClean="0"/>
              <a:t>27/09/2026</a:t>
            </a:fld>
            <a:endParaRPr lang="en-US"/>
          </a:p>
        </p:txBody>
      </p:sp>
      <p:sp>
        <p:nvSpPr>
          <p:cNvPr id="5" name="Footer Placeholder 4">
            <a:extLst>
              <a:ext uri="{FF2B5EF4-FFF2-40B4-BE49-F238E27FC236}">
                <a16:creationId xmlns:a16="http://schemas.microsoft.com/office/drawing/2014/main" id="{7FF77469-EF65-CC04-80CE-4C75E132FCE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FE6D76F1-9256-877B-7B03-EA5646BA2C5F}"/>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68057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5FD65D-4AE7-3D18-5158-C3F5769D99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06A926-775E-2728-6F3B-3613714133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D18A4F-4A91-69A7-6FCB-62CEFA9EAEAB}"/>
              </a:ext>
            </a:extLst>
          </p:cNvPr>
          <p:cNvSpPr>
            <a:spLocks noGrp="1"/>
          </p:cNvSpPr>
          <p:nvPr>
            <p:ph type="dt" sz="half" idx="10"/>
          </p:nvPr>
        </p:nvSpPr>
        <p:spPr/>
        <p:txBody>
          <a:bodyPr/>
          <a:lstStyle/>
          <a:p>
            <a:fld id="{ABF76E83-343A-F549-927F-CD342D6A998E}" type="datetime1">
              <a:rPr lang="en-GB" smtClean="0"/>
              <a:t>27/09/2026</a:t>
            </a:fld>
            <a:endParaRPr lang="en-US"/>
          </a:p>
        </p:txBody>
      </p:sp>
      <p:sp>
        <p:nvSpPr>
          <p:cNvPr id="5" name="Footer Placeholder 4">
            <a:extLst>
              <a:ext uri="{FF2B5EF4-FFF2-40B4-BE49-F238E27FC236}">
                <a16:creationId xmlns:a16="http://schemas.microsoft.com/office/drawing/2014/main" id="{26FB0006-4837-575D-7F04-8DF745F16257}"/>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6BCE4C8F-8EEC-EF83-5DE8-58461795466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037304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latin typeface="Arial"/>
            </a:endParaRPr>
          </a:p>
        </p:txBody>
      </p:sp>
    </p:spTree>
    <p:extLst>
      <p:ext uri="{BB962C8B-B14F-4D97-AF65-F5344CB8AC3E}">
        <p14:creationId xmlns:p14="http://schemas.microsoft.com/office/powerpoint/2010/main" val="359570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13284-5FCA-A210-1F54-91FCED86DA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CFF4153-C33E-DD08-AA70-2B1E24017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BB62933-494B-796B-FAF7-3449489975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6B3B4-79AF-B948-B552-D1A1F8FD6A2C}" type="datetime1">
              <a:rPr lang="en-GB" smtClean="0"/>
              <a:t>27/09/2026</a:t>
            </a:fld>
            <a:endParaRPr lang="en-US"/>
          </a:p>
        </p:txBody>
      </p:sp>
      <p:sp>
        <p:nvSpPr>
          <p:cNvPr id="5" name="Footer Placeholder 4">
            <a:extLst>
              <a:ext uri="{FF2B5EF4-FFF2-40B4-BE49-F238E27FC236}">
                <a16:creationId xmlns:a16="http://schemas.microsoft.com/office/drawing/2014/main" id="{2784072C-4579-59A8-A392-03CFD4E53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U3AC 2026</a:t>
            </a:r>
          </a:p>
        </p:txBody>
      </p:sp>
      <p:sp>
        <p:nvSpPr>
          <p:cNvPr id="6" name="Slide Number Placeholder 5">
            <a:extLst>
              <a:ext uri="{FF2B5EF4-FFF2-40B4-BE49-F238E27FC236}">
                <a16:creationId xmlns:a16="http://schemas.microsoft.com/office/drawing/2014/main" id="{E3C16D66-364A-23C8-D775-A313E5ADD1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E52F69-22B0-9141-B095-D977E71C7FB4}" type="slidenum">
              <a:rPr lang="en-US" smtClean="0"/>
              <a:t>‹#›</a:t>
            </a:fld>
            <a:endParaRPr lang="en-US"/>
          </a:p>
        </p:txBody>
      </p:sp>
    </p:spTree>
    <p:extLst>
      <p:ext uri="{BB962C8B-B14F-4D97-AF65-F5344CB8AC3E}">
        <p14:creationId xmlns:p14="http://schemas.microsoft.com/office/powerpoint/2010/main" val="23865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driv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19.xml"/><Relationship Id="rId7" Type="http://schemas.openxmlformats.org/officeDocument/2006/relationships/notesSlide" Target="../notesSlides/notesSlide16.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2.xml"/><Relationship Id="rId5" Type="http://schemas.openxmlformats.org/officeDocument/2006/relationships/tags" Target="../tags/tag21.xml"/><Relationship Id="rId4" Type="http://schemas.openxmlformats.org/officeDocument/2006/relationships/tags" Target="../tags/tag20.xml"/></Relationships>
</file>

<file path=ppt/slides/_rels/slide23.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19.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2.xml"/><Relationship Id="rId5" Type="http://schemas.openxmlformats.org/officeDocument/2006/relationships/tags" Target="../tags/tag26.xml"/><Relationship Id="rId4" Type="http://schemas.openxmlformats.org/officeDocument/2006/relationships/tags" Target="../tags/tag25.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29.xml"/><Relationship Id="rId7"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35.xml"/><Relationship Id="rId7"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2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2.xml"/><Relationship Id="rId5" Type="http://schemas.openxmlformats.org/officeDocument/2006/relationships/tags" Target="../tags/tag43.xml"/><Relationship Id="rId4" Type="http://schemas.openxmlformats.org/officeDocument/2006/relationships/tags" Target="../tags/tag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en.wikipedia.org/wiki/Definitions_of_mathematics#cite_note-22" TargetMode="External"/><Relationship Id="rId13" Type="http://schemas.openxmlformats.org/officeDocument/2006/relationships/hyperlink" Target="https://en.wikipedia.org/wiki/Eugene_Wigner" TargetMode="External"/><Relationship Id="rId3" Type="http://schemas.openxmlformats.org/officeDocument/2006/relationships/hyperlink" Target="https://en.wikipedia.org/wiki/Bertrand_Russell" TargetMode="External"/><Relationship Id="rId7" Type="http://schemas.openxmlformats.org/officeDocument/2006/relationships/hyperlink" Target="https://en.wikipedia.org/wiki/Definitions_of_mathematics#cite_note-21" TargetMode="External"/><Relationship Id="rId12" Type="http://schemas.openxmlformats.org/officeDocument/2006/relationships/hyperlink" Target="https://en.wikipedia.org/wiki/Definitions_of_mathematics#cite_note-23" TargetMode="External"/><Relationship Id="rId2" Type="http://schemas.openxmlformats.org/officeDocument/2006/relationships/hyperlink" Target="https://en.wikipedia.org/wiki/Definitions_of_mathematics#cite_note-19" TargetMode="External"/><Relationship Id="rId1" Type="http://schemas.openxmlformats.org/officeDocument/2006/relationships/slideLayout" Target="../slideLayouts/slideLayout2.xml"/><Relationship Id="rId6" Type="http://schemas.openxmlformats.org/officeDocument/2006/relationships/hyperlink" Target="https://en.wikipedia.org/wiki/Charles_Darwin" TargetMode="External"/><Relationship Id="rId11" Type="http://schemas.openxmlformats.org/officeDocument/2006/relationships/hyperlink" Target="https://en.wikipedia.org/wiki/Henri_Poincar%C3%A9" TargetMode="External"/><Relationship Id="rId5" Type="http://schemas.openxmlformats.org/officeDocument/2006/relationships/hyperlink" Target="https://en.wikipedia.org/wiki/Definitions_of_mathematics#cite_note-20" TargetMode="External"/><Relationship Id="rId10" Type="http://schemas.openxmlformats.org/officeDocument/2006/relationships/hyperlink" Target="https://en.wikipedia.org/wiki/Definitions_of_mathematics#cite_note-eves-10" TargetMode="External"/><Relationship Id="rId4" Type="http://schemas.openxmlformats.org/officeDocument/2006/relationships/hyperlink" Target="https://en.wikipedia.org/wiki/Black_cat_analogy" TargetMode="External"/><Relationship Id="rId9" Type="http://schemas.openxmlformats.org/officeDocument/2006/relationships/hyperlink" Target="https://en.wikipedia.org/wiki/G._H._Hardy"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27.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2.xml"/><Relationship Id="rId5" Type="http://schemas.openxmlformats.org/officeDocument/2006/relationships/tags" Target="../tags/tag51.xml"/><Relationship Id="rId4"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18BE-6058-ADD0-2B56-A9E000FCE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3E0F7-5EC9-676A-CB73-208B048D2002}"/>
              </a:ext>
            </a:extLst>
          </p:cNvPr>
          <p:cNvSpPr>
            <a:spLocks noGrp="1"/>
          </p:cNvSpPr>
          <p:nvPr>
            <p:ph type="ctrTitle"/>
          </p:nvPr>
        </p:nvSpPr>
        <p:spPr>
          <a:xfrm>
            <a:off x="1219199" y="527504"/>
            <a:ext cx="9753601" cy="4293878"/>
          </a:xfrm>
        </p:spPr>
        <p:txBody>
          <a:bodyPr>
            <a:normAutofit fontScale="90000"/>
          </a:bodyPr>
          <a:lstStyle/>
          <a:p>
            <a:pPr algn="l"/>
            <a:r>
              <a:rPr lang="en-US" sz="4400" dirty="0"/>
              <a:t>Mathematical Thinking</a:t>
            </a:r>
            <a:br>
              <a:rPr lang="en-US" sz="5300" dirty="0"/>
            </a:br>
            <a:br>
              <a:rPr lang="en-US" sz="5300" dirty="0"/>
            </a:br>
            <a:r>
              <a:rPr lang="en-US" dirty="0"/>
              <a:t>Chemical Oscillations</a:t>
            </a:r>
            <a:br>
              <a:rPr lang="en-US" sz="4800" dirty="0"/>
            </a:br>
            <a:r>
              <a:rPr lang="en-US" sz="4800" dirty="0"/>
              <a:t>	</a:t>
            </a:r>
            <a:br>
              <a:rPr lang="en-US" sz="4800" dirty="0"/>
            </a:br>
            <a:br>
              <a:rPr lang="en-US" sz="4800" dirty="0"/>
            </a:br>
            <a:r>
              <a:rPr lang="en-US" sz="3600" dirty="0"/>
              <a:t>Chemical clocks                           Predator-prey systems</a:t>
            </a:r>
            <a:br>
              <a:rPr lang="en-US" sz="3600" dirty="0"/>
            </a:br>
            <a:r>
              <a:rPr lang="en-US" sz="3600" dirty="0"/>
              <a:t>Why zebras have stripes           Control</a:t>
            </a:r>
            <a:endParaRPr lang="en-US" dirty="0"/>
          </a:p>
        </p:txBody>
      </p:sp>
      <p:sp>
        <p:nvSpPr>
          <p:cNvPr id="3" name="Subtitle 2">
            <a:extLst>
              <a:ext uri="{FF2B5EF4-FFF2-40B4-BE49-F238E27FC236}">
                <a16:creationId xmlns:a16="http://schemas.microsoft.com/office/drawing/2014/main" id="{3BA217DA-5F34-79B5-737C-5B59B5C430C5}"/>
              </a:ext>
            </a:extLst>
          </p:cNvPr>
          <p:cNvSpPr>
            <a:spLocks noGrp="1"/>
          </p:cNvSpPr>
          <p:nvPr>
            <p:ph type="subTitle" idx="1"/>
          </p:nvPr>
        </p:nvSpPr>
        <p:spPr>
          <a:xfrm>
            <a:off x="1523998" y="5444835"/>
            <a:ext cx="10155383" cy="1219201"/>
          </a:xfrm>
        </p:spPr>
        <p:txBody>
          <a:bodyPr>
            <a:normAutofit fontScale="62500" lnSpcReduction="20000"/>
          </a:bodyPr>
          <a:lstStyle/>
          <a:p>
            <a:pPr algn="l"/>
            <a:r>
              <a:rPr lang="en-US" sz="4500" dirty="0"/>
              <a:t>Chris Thompson</a:t>
            </a:r>
            <a:r>
              <a:rPr lang="en-US" sz="4800" dirty="0"/>
              <a:t> 								</a:t>
            </a:r>
            <a:r>
              <a:rPr lang="en-US" sz="2500" dirty="0"/>
              <a:t>V1.5</a:t>
            </a:r>
            <a:endParaRPr lang="en-US" sz="4500" dirty="0"/>
          </a:p>
          <a:p>
            <a:pPr algn="just"/>
            <a:r>
              <a:rPr lang="en-US" sz="4500" dirty="0"/>
              <a:t>Ray Adams, Alan Richardson		</a:t>
            </a:r>
            <a:r>
              <a:rPr lang="en-US" dirty="0"/>
              <a:t>https://</a:t>
            </a:r>
            <a:r>
              <a:rPr lang="en-US" dirty="0" err="1"/>
              <a:t>www.youtube.com</a:t>
            </a:r>
            <a:r>
              <a:rPr lang="en-US" dirty="0"/>
              <a:t>/shorts/ieh9qIkkMJQ</a:t>
            </a:r>
          </a:p>
        </p:txBody>
      </p:sp>
    </p:spTree>
    <p:extLst>
      <p:ext uri="{BB962C8B-B14F-4D97-AF65-F5344CB8AC3E}">
        <p14:creationId xmlns:p14="http://schemas.microsoft.com/office/powerpoint/2010/main" val="19459877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BCBDE-8CCE-A25D-1C1D-E6FE097B439F}"/>
              </a:ext>
            </a:extLst>
          </p:cNvPr>
          <p:cNvSpPr>
            <a:spLocks noGrp="1"/>
          </p:cNvSpPr>
          <p:nvPr>
            <p:ph type="title"/>
          </p:nvPr>
        </p:nvSpPr>
        <p:spPr/>
        <p:txBody>
          <a:bodyPr>
            <a:normAutofit/>
          </a:bodyPr>
          <a:lstStyle/>
          <a:p>
            <a:pPr fontAlgn="ctr"/>
            <a:r>
              <a:rPr lang="en-GB" dirty="0"/>
              <a:t>Systems of ODEs (and some PDEs)</a:t>
            </a:r>
            <a:endParaRPr lang="en-US" dirty="0"/>
          </a:p>
        </p:txBody>
      </p:sp>
      <p:sp>
        <p:nvSpPr>
          <p:cNvPr id="3" name="Content Placeholder 2">
            <a:extLst>
              <a:ext uri="{FF2B5EF4-FFF2-40B4-BE49-F238E27FC236}">
                <a16:creationId xmlns:a16="http://schemas.microsoft.com/office/drawing/2014/main" id="{AA7B8FDA-DB11-38AA-DDE1-136EFC7E0F6F}"/>
              </a:ext>
            </a:extLst>
          </p:cNvPr>
          <p:cNvSpPr>
            <a:spLocks noGrp="1"/>
          </p:cNvSpPr>
          <p:nvPr>
            <p:ph idx="1"/>
          </p:nvPr>
        </p:nvSpPr>
        <p:spPr/>
        <p:txBody>
          <a:bodyPr>
            <a:normAutofit fontScale="92500" lnSpcReduction="10000"/>
          </a:bodyPr>
          <a:lstStyle/>
          <a:p>
            <a:pPr fontAlgn="ctr"/>
            <a:r>
              <a:rPr lang="en-GB" dirty="0"/>
              <a:t>Lotka-Volterra equations</a:t>
            </a:r>
          </a:p>
          <a:p>
            <a:pPr lvl="1" fontAlgn="ctr"/>
            <a:r>
              <a:rPr lang="en-GB" dirty="0"/>
              <a:t>Snowshoe hare vs Canada Lynx</a:t>
            </a:r>
          </a:p>
          <a:p>
            <a:pPr fontAlgn="ctr"/>
            <a:r>
              <a:rPr lang="en-GB" dirty="0"/>
              <a:t>Belousov-</a:t>
            </a:r>
            <a:r>
              <a:rPr lang="en-GB" dirty="0" err="1"/>
              <a:t>Zhabotinski</a:t>
            </a:r>
            <a:r>
              <a:rPr lang="en-GB" dirty="0"/>
              <a:t> reaction</a:t>
            </a:r>
          </a:p>
          <a:p>
            <a:pPr lvl="1" fontAlgn="ctr"/>
            <a:r>
              <a:rPr lang="en-GB" dirty="0"/>
              <a:t>Non-equilibrium chemical oscillations</a:t>
            </a:r>
          </a:p>
          <a:p>
            <a:pPr fontAlgn="ctr"/>
            <a:r>
              <a:rPr lang="en-GB" dirty="0"/>
              <a:t>Lorentz attractor</a:t>
            </a:r>
          </a:p>
          <a:p>
            <a:pPr lvl="1" fontAlgn="ctr"/>
            <a:r>
              <a:rPr lang="en-GB" dirty="0"/>
              <a:t>Weather and chaos</a:t>
            </a:r>
          </a:p>
          <a:p>
            <a:pPr fontAlgn="ctr"/>
            <a:r>
              <a:rPr lang="en-GB" dirty="0"/>
              <a:t>Turing structures</a:t>
            </a:r>
          </a:p>
          <a:p>
            <a:pPr lvl="1" fontAlgn="ctr"/>
            <a:r>
              <a:rPr lang="en-GB" dirty="0"/>
              <a:t>Why zebras have stripes</a:t>
            </a:r>
          </a:p>
          <a:p>
            <a:pPr fontAlgn="ctr"/>
            <a:r>
              <a:rPr lang="en-GB" dirty="0"/>
              <a:t>The mathematics of burglary</a:t>
            </a:r>
          </a:p>
          <a:p>
            <a:pPr lvl="1" fontAlgn="ctr"/>
            <a:r>
              <a:rPr lang="en-US" dirty="0"/>
              <a:t>Echoes of pre-crime*</a:t>
            </a:r>
          </a:p>
          <a:p>
            <a:pPr marL="457200" lvl="1" indent="0" algn="r" fontAlgn="ctr">
              <a:buNone/>
            </a:pPr>
            <a:r>
              <a:rPr lang="en-US" sz="1800" dirty="0"/>
              <a:t>*Minority Report</a:t>
            </a:r>
          </a:p>
        </p:txBody>
      </p:sp>
      <p:sp>
        <p:nvSpPr>
          <p:cNvPr id="4" name="Footer Placeholder 3">
            <a:extLst>
              <a:ext uri="{FF2B5EF4-FFF2-40B4-BE49-F238E27FC236}">
                <a16:creationId xmlns:a16="http://schemas.microsoft.com/office/drawing/2014/main" id="{557D3577-C38B-9CC1-DCFA-500D76C26A6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51B5D131-4D64-7829-7AD2-F9E32A59D595}"/>
              </a:ext>
            </a:extLst>
          </p:cNvPr>
          <p:cNvSpPr>
            <a:spLocks noGrp="1"/>
          </p:cNvSpPr>
          <p:nvPr>
            <p:ph type="sldNum" sz="quarter" idx="12"/>
          </p:nvPr>
        </p:nvSpPr>
        <p:spPr/>
        <p:txBody>
          <a:bodyPr/>
          <a:lstStyle/>
          <a:p>
            <a:fld id="{02E52F69-22B0-9141-B095-D977E71C7FB4}" type="slidenum">
              <a:rPr lang="en-US" smtClean="0"/>
              <a:t>2</a:t>
            </a:fld>
            <a:endParaRPr lang="en-US"/>
          </a:p>
        </p:txBody>
      </p:sp>
      <p:sp>
        <p:nvSpPr>
          <p:cNvPr id="6" name="Date Placeholder 5">
            <a:extLst>
              <a:ext uri="{FF2B5EF4-FFF2-40B4-BE49-F238E27FC236}">
                <a16:creationId xmlns:a16="http://schemas.microsoft.com/office/drawing/2014/main" id="{E78EDEA1-4CE5-D114-C266-2E975CD2A895}"/>
              </a:ext>
            </a:extLst>
          </p:cNvPr>
          <p:cNvSpPr>
            <a:spLocks noGrp="1"/>
          </p:cNvSpPr>
          <p:nvPr>
            <p:ph type="dt" sz="half" idx="10"/>
          </p:nvPr>
        </p:nvSpPr>
        <p:spPr/>
        <p:txBody>
          <a:bodyPr/>
          <a:lstStyle/>
          <a:p>
            <a:fld id="{9ADAD4DC-8417-F04A-8651-C2781AF1D746}" type="datetime1">
              <a:rPr lang="en-GB" smtClean="0"/>
              <a:t>27/09/2026</a:t>
            </a:fld>
            <a:endParaRPr lang="en-US"/>
          </a:p>
        </p:txBody>
      </p:sp>
    </p:spTree>
    <p:extLst>
      <p:ext uri="{BB962C8B-B14F-4D97-AF65-F5344CB8AC3E}">
        <p14:creationId xmlns:p14="http://schemas.microsoft.com/office/powerpoint/2010/main" val="15899530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C5134-41E9-968B-465E-02DFE19F9038}"/>
              </a:ext>
            </a:extLst>
          </p:cNvPr>
          <p:cNvSpPr>
            <a:spLocks noGrp="1"/>
          </p:cNvSpPr>
          <p:nvPr>
            <p:ph type="title"/>
          </p:nvPr>
        </p:nvSpPr>
        <p:spPr/>
        <p:txBody>
          <a:bodyPr/>
          <a:lstStyle/>
          <a:p>
            <a:r>
              <a:rPr lang="en-GB" dirty="0"/>
              <a:t>Belousov-</a:t>
            </a:r>
            <a:r>
              <a:rPr lang="en-GB" dirty="0" err="1"/>
              <a:t>Zhabotinski</a:t>
            </a:r>
            <a:r>
              <a:rPr lang="en-GB" dirty="0"/>
              <a:t> reaction			</a:t>
            </a:r>
            <a:r>
              <a:rPr lang="en-US" dirty="0"/>
              <a:t>(</a:t>
            </a:r>
            <a:r>
              <a:rPr lang="en-US" dirty="0" err="1"/>
              <a:t>i</a:t>
            </a:r>
            <a:r>
              <a:rPr lang="en-US" dirty="0"/>
              <a:t>)</a:t>
            </a:r>
          </a:p>
        </p:txBody>
      </p:sp>
      <p:sp>
        <p:nvSpPr>
          <p:cNvPr id="3" name="Content Placeholder 2">
            <a:extLst>
              <a:ext uri="{FF2B5EF4-FFF2-40B4-BE49-F238E27FC236}">
                <a16:creationId xmlns:a16="http://schemas.microsoft.com/office/drawing/2014/main" id="{BA9B5A05-D8C7-D3A1-7947-9DA44FE51168}"/>
              </a:ext>
            </a:extLst>
          </p:cNvPr>
          <p:cNvSpPr>
            <a:spLocks noGrp="1"/>
          </p:cNvSpPr>
          <p:nvPr>
            <p:ph sz="half" idx="1"/>
          </p:nvPr>
        </p:nvSpPr>
        <p:spPr>
          <a:xfrm>
            <a:off x="838199" y="1825625"/>
            <a:ext cx="7772401" cy="4351338"/>
          </a:xfrm>
        </p:spPr>
        <p:txBody>
          <a:bodyPr>
            <a:normAutofit fontScale="85000" lnSpcReduction="10000"/>
          </a:bodyPr>
          <a:lstStyle/>
          <a:p>
            <a:r>
              <a:rPr lang="en-US" dirty="0"/>
              <a:t>Early 1950s Belousov discovered an oscillating reaction.</a:t>
            </a:r>
          </a:p>
          <a:p>
            <a:pPr lvl="1"/>
            <a:r>
              <a:rPr lang="en-US" dirty="0"/>
              <a:t>Attempting to find a non-biological version of the Krebs cycle</a:t>
            </a:r>
          </a:p>
          <a:p>
            <a:r>
              <a:rPr lang="en-US" dirty="0"/>
              <a:t>Oscillations observed and effects of acidity and temperature are al studied.</a:t>
            </a:r>
          </a:p>
          <a:p>
            <a:r>
              <a:rPr lang="en-US" dirty="0"/>
              <a:t>Tentative reaction scheme proposed.</a:t>
            </a:r>
          </a:p>
          <a:p>
            <a:r>
              <a:rPr lang="en-US" dirty="0"/>
              <a:t>Acknowledgement to Safronov</a:t>
            </a:r>
          </a:p>
          <a:p>
            <a:pPr lvl="1"/>
            <a:r>
              <a:rPr lang="en-US" dirty="0"/>
              <a:t>Perfecting recipe</a:t>
            </a:r>
          </a:p>
          <a:p>
            <a:pPr lvl="1"/>
            <a:r>
              <a:rPr lang="en-US" dirty="0"/>
              <a:t>Iron phenanthroline – superior </a:t>
            </a:r>
            <a:r>
              <a:rPr lang="en-US" dirty="0" err="1"/>
              <a:t>colour</a:t>
            </a:r>
            <a:r>
              <a:rPr lang="en-US" dirty="0"/>
              <a:t> indicator.</a:t>
            </a:r>
          </a:p>
          <a:p>
            <a:endParaRPr lang="en-US" dirty="0"/>
          </a:p>
          <a:p>
            <a:r>
              <a:rPr lang="en-US" dirty="0"/>
              <a:t>Paper was rejected.</a:t>
            </a:r>
          </a:p>
          <a:p>
            <a:pPr lvl="1"/>
            <a:r>
              <a:rPr lang="en-US" dirty="0"/>
              <a:t>Editor: “supposedly discovered discovery” quite impossible.</a:t>
            </a:r>
          </a:p>
        </p:txBody>
      </p:sp>
      <p:pic>
        <p:nvPicPr>
          <p:cNvPr id="12" name="Content Placeholder 11">
            <a:extLst>
              <a:ext uri="{FF2B5EF4-FFF2-40B4-BE49-F238E27FC236}">
                <a16:creationId xmlns:a16="http://schemas.microsoft.com/office/drawing/2014/main" id="{005BAF3B-CE6F-9426-0A0C-31E7AA5B0ACE}"/>
              </a:ext>
            </a:extLst>
          </p:cNvPr>
          <p:cNvPicPr>
            <a:picLocks noGrp="1" noChangeAspect="1"/>
          </p:cNvPicPr>
          <p:nvPr>
            <p:ph sz="half" idx="2"/>
          </p:nvPr>
        </p:nvPicPr>
        <p:blipFill>
          <a:blip r:embed="rId3"/>
          <a:stretch>
            <a:fillRect/>
          </a:stretch>
        </p:blipFill>
        <p:spPr>
          <a:xfrm>
            <a:off x="8892886" y="1447440"/>
            <a:ext cx="3009900" cy="4165600"/>
          </a:xfrm>
          <a:prstGeom prst="rect">
            <a:avLst/>
          </a:prstGeom>
        </p:spPr>
      </p:pic>
      <p:sp>
        <p:nvSpPr>
          <p:cNvPr id="5" name="Date Placeholder 4">
            <a:extLst>
              <a:ext uri="{FF2B5EF4-FFF2-40B4-BE49-F238E27FC236}">
                <a16:creationId xmlns:a16="http://schemas.microsoft.com/office/drawing/2014/main" id="{381498C7-EB63-EBFB-59E7-75B61FBA1883}"/>
              </a:ext>
            </a:extLst>
          </p:cNvPr>
          <p:cNvSpPr>
            <a:spLocks noGrp="1"/>
          </p:cNvSpPr>
          <p:nvPr>
            <p:ph type="dt" sz="half" idx="10"/>
          </p:nvPr>
        </p:nvSpPr>
        <p:spPr/>
        <p:txBody>
          <a:bodyPr/>
          <a:lstStyle/>
          <a:p>
            <a:fld id="{1A984EE7-A60D-C640-8018-EDBB7F10E32A}" type="datetime1">
              <a:rPr lang="en-GB" smtClean="0"/>
              <a:t>27/09/2026</a:t>
            </a:fld>
            <a:endParaRPr lang="en-US"/>
          </a:p>
        </p:txBody>
      </p:sp>
      <p:sp>
        <p:nvSpPr>
          <p:cNvPr id="6" name="Footer Placeholder 5">
            <a:extLst>
              <a:ext uri="{FF2B5EF4-FFF2-40B4-BE49-F238E27FC236}">
                <a16:creationId xmlns:a16="http://schemas.microsoft.com/office/drawing/2014/main" id="{EDA10B3D-FBA0-BAAF-05A0-3A0B1B6F848F}"/>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F0194233-A1DE-3ABF-94ED-89999DA7AE83}"/>
              </a:ext>
            </a:extLst>
          </p:cNvPr>
          <p:cNvSpPr>
            <a:spLocks noGrp="1"/>
          </p:cNvSpPr>
          <p:nvPr>
            <p:ph type="sldNum" sz="quarter" idx="12"/>
          </p:nvPr>
        </p:nvSpPr>
        <p:spPr/>
        <p:txBody>
          <a:bodyPr/>
          <a:lstStyle/>
          <a:p>
            <a:fld id="{02E52F69-22B0-9141-B095-D977E71C7FB4}" type="slidenum">
              <a:rPr lang="en-US" smtClean="0"/>
              <a:t>3</a:t>
            </a:fld>
            <a:endParaRPr lang="en-US"/>
          </a:p>
        </p:txBody>
      </p:sp>
    </p:spTree>
    <p:extLst>
      <p:ext uri="{BB962C8B-B14F-4D97-AF65-F5344CB8AC3E}">
        <p14:creationId xmlns:p14="http://schemas.microsoft.com/office/powerpoint/2010/main" val="13599019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7DEC-5F33-A8DF-849C-68B8B4E5FDD7}"/>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CA88615-EE0C-DD04-440A-A3A00AD4CFA0}"/>
              </a:ext>
            </a:extLst>
          </p:cNvPr>
          <p:cNvPicPr>
            <a:picLocks noGrp="1" noChangeAspect="1"/>
          </p:cNvPicPr>
          <p:nvPr>
            <p:ph sz="half" idx="1"/>
          </p:nvPr>
        </p:nvPicPr>
        <p:blipFill>
          <a:blip r:embed="rId2"/>
          <a:stretch>
            <a:fillRect/>
          </a:stretch>
        </p:blipFill>
        <p:spPr>
          <a:xfrm>
            <a:off x="5994400" y="3292764"/>
            <a:ext cx="4775200" cy="4064000"/>
          </a:xfrm>
          <a:prstGeom prst="rect">
            <a:avLst/>
          </a:prstGeom>
        </p:spPr>
      </p:pic>
      <p:pic>
        <p:nvPicPr>
          <p:cNvPr id="12" name="Content Placeholder 11">
            <a:extLst>
              <a:ext uri="{FF2B5EF4-FFF2-40B4-BE49-F238E27FC236}">
                <a16:creationId xmlns:a16="http://schemas.microsoft.com/office/drawing/2014/main" id="{2B312149-9881-E155-2F6B-DAF27CCB080F}"/>
              </a:ext>
            </a:extLst>
          </p:cNvPr>
          <p:cNvPicPr>
            <a:picLocks noGrp="1" noChangeAspect="1"/>
          </p:cNvPicPr>
          <p:nvPr>
            <p:ph sz="half" idx="2"/>
          </p:nvPr>
        </p:nvPicPr>
        <p:blipFill>
          <a:blip r:embed="rId3"/>
          <a:stretch>
            <a:fillRect/>
          </a:stretch>
        </p:blipFill>
        <p:spPr>
          <a:xfrm>
            <a:off x="8929254" y="1346200"/>
            <a:ext cx="3009900" cy="4165600"/>
          </a:xfrm>
          <a:prstGeom prst="rect">
            <a:avLst/>
          </a:prstGeom>
        </p:spPr>
      </p:pic>
      <p:sp>
        <p:nvSpPr>
          <p:cNvPr id="6" name="Footer Placeholder 5">
            <a:extLst>
              <a:ext uri="{FF2B5EF4-FFF2-40B4-BE49-F238E27FC236}">
                <a16:creationId xmlns:a16="http://schemas.microsoft.com/office/drawing/2014/main" id="{F46431F8-ABD3-661B-2D54-9D6F04C98BAE}"/>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A5BD396D-BFCC-B2A7-4E04-DAE89AD914FC}"/>
              </a:ext>
            </a:extLst>
          </p:cNvPr>
          <p:cNvSpPr>
            <a:spLocks noGrp="1"/>
          </p:cNvSpPr>
          <p:nvPr>
            <p:ph type="sldNum" sz="quarter" idx="12"/>
          </p:nvPr>
        </p:nvSpPr>
        <p:spPr/>
        <p:txBody>
          <a:bodyPr/>
          <a:lstStyle/>
          <a:p>
            <a:fld id="{02E52F69-22B0-9141-B095-D977E71C7FB4}" type="slidenum">
              <a:rPr lang="en-US" smtClean="0"/>
              <a:t>4</a:t>
            </a:fld>
            <a:endParaRPr lang="en-US"/>
          </a:p>
        </p:txBody>
      </p:sp>
      <p:sp>
        <p:nvSpPr>
          <p:cNvPr id="2" name="Title 1">
            <a:extLst>
              <a:ext uri="{FF2B5EF4-FFF2-40B4-BE49-F238E27FC236}">
                <a16:creationId xmlns:a16="http://schemas.microsoft.com/office/drawing/2014/main" id="{C12AF5BB-2DB2-5BCE-2899-49DA8DF80EF3}"/>
              </a:ext>
            </a:extLst>
          </p:cNvPr>
          <p:cNvSpPr>
            <a:spLocks noGrp="1"/>
          </p:cNvSpPr>
          <p:nvPr>
            <p:ph type="title"/>
          </p:nvPr>
        </p:nvSpPr>
        <p:spPr/>
        <p:txBody>
          <a:bodyPr/>
          <a:lstStyle/>
          <a:p>
            <a:r>
              <a:rPr lang="en-GB" dirty="0"/>
              <a:t>Belousov-</a:t>
            </a:r>
            <a:r>
              <a:rPr lang="en-GB" dirty="0" err="1"/>
              <a:t>Zhabotinski</a:t>
            </a:r>
            <a:r>
              <a:rPr lang="en-GB" dirty="0"/>
              <a:t> reaction			</a:t>
            </a:r>
            <a:r>
              <a:rPr lang="en-US" dirty="0"/>
              <a:t>(ii)</a:t>
            </a:r>
          </a:p>
        </p:txBody>
      </p:sp>
      <p:sp>
        <p:nvSpPr>
          <p:cNvPr id="5" name="Date Placeholder 4">
            <a:extLst>
              <a:ext uri="{FF2B5EF4-FFF2-40B4-BE49-F238E27FC236}">
                <a16:creationId xmlns:a16="http://schemas.microsoft.com/office/drawing/2014/main" id="{753AC410-55D2-04E2-123C-468D39860B93}"/>
              </a:ext>
            </a:extLst>
          </p:cNvPr>
          <p:cNvSpPr>
            <a:spLocks noGrp="1"/>
          </p:cNvSpPr>
          <p:nvPr>
            <p:ph type="dt" sz="half" idx="10"/>
          </p:nvPr>
        </p:nvSpPr>
        <p:spPr/>
        <p:txBody>
          <a:bodyPr/>
          <a:lstStyle/>
          <a:p>
            <a:fld id="{1A984EE7-A60D-C640-8018-EDBB7F10E32A}" type="datetime1">
              <a:rPr lang="en-GB" smtClean="0"/>
              <a:t>27/09/2026</a:t>
            </a:fld>
            <a:endParaRPr lang="en-US"/>
          </a:p>
        </p:txBody>
      </p:sp>
      <p:sp>
        <p:nvSpPr>
          <p:cNvPr id="10" name="TextBox 9">
            <a:extLst>
              <a:ext uri="{FF2B5EF4-FFF2-40B4-BE49-F238E27FC236}">
                <a16:creationId xmlns:a16="http://schemas.microsoft.com/office/drawing/2014/main" id="{639B96C4-E03F-2F93-2F8F-25DCB3E44FDB}"/>
              </a:ext>
            </a:extLst>
          </p:cNvPr>
          <p:cNvSpPr txBox="1"/>
          <p:nvPr/>
        </p:nvSpPr>
        <p:spPr>
          <a:xfrm>
            <a:off x="637308" y="2014672"/>
            <a:ext cx="5357091" cy="3970318"/>
          </a:xfrm>
          <a:prstGeom prst="rect">
            <a:avLst/>
          </a:prstGeom>
          <a:noFill/>
        </p:spPr>
        <p:txBody>
          <a:bodyPr wrap="square">
            <a:spAutoFit/>
          </a:bodyPr>
          <a:lstStyle/>
          <a:p>
            <a:pPr marL="457200" indent="-457200">
              <a:buFont typeface="Arial" panose="020B0604020202020204" pitchFamily="34" charset="0"/>
              <a:buChar char="•"/>
            </a:pPr>
            <a:r>
              <a:rPr lang="en-US" sz="2800" dirty="0"/>
              <a:t>Belousov submitted more careful and evidenced paper six years later</a:t>
            </a:r>
          </a:p>
          <a:p>
            <a:pPr marL="914400" lvl="1" indent="-457200">
              <a:buFont typeface="Arial" panose="020B0604020202020204" pitchFamily="34" charset="0"/>
              <a:buChar char="•"/>
            </a:pPr>
            <a:r>
              <a:rPr lang="en-US" sz="2800" dirty="0"/>
              <a:t>Truncated to a “letter to the editor”</a:t>
            </a:r>
          </a:p>
          <a:p>
            <a:pPr marL="914400" lvl="1" indent="-457200">
              <a:buFont typeface="Arial" panose="020B0604020202020204" pitchFamily="34" charset="0"/>
              <a:buChar char="•"/>
            </a:pPr>
            <a:r>
              <a:rPr lang="en-US" sz="2800" dirty="0"/>
              <a:t>Evidence deleted by referees.</a:t>
            </a:r>
          </a:p>
          <a:p>
            <a:pPr marL="914400" lvl="1" indent="-457200">
              <a:buFont typeface="Arial" panose="020B0604020202020204" pitchFamily="34" charset="0"/>
              <a:buChar char="•"/>
            </a:pPr>
            <a:r>
              <a:rPr lang="en-US" sz="2800" dirty="0" err="1"/>
              <a:t>Zhabotinski</a:t>
            </a:r>
            <a:r>
              <a:rPr lang="en-US" sz="2800" dirty="0"/>
              <a:t> assigned to study</a:t>
            </a:r>
          </a:p>
        </p:txBody>
      </p:sp>
    </p:spTree>
    <p:extLst>
      <p:ext uri="{BB962C8B-B14F-4D97-AF65-F5344CB8AC3E}">
        <p14:creationId xmlns:p14="http://schemas.microsoft.com/office/powerpoint/2010/main" val="843326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6907A-6DDB-0B8F-8DA7-657EBB0046F9}"/>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06042EF-B6A4-B5AE-A335-483991ECB01E}"/>
              </a:ext>
            </a:extLst>
          </p:cNvPr>
          <p:cNvPicPr>
            <a:picLocks noGrp="1" noChangeAspect="1"/>
          </p:cNvPicPr>
          <p:nvPr>
            <p:ph sz="half" idx="1"/>
          </p:nvPr>
        </p:nvPicPr>
        <p:blipFill>
          <a:blip r:embed="rId2"/>
          <a:stretch>
            <a:fillRect/>
          </a:stretch>
        </p:blipFill>
        <p:spPr>
          <a:xfrm>
            <a:off x="5994400" y="3292764"/>
            <a:ext cx="4775200" cy="4064000"/>
          </a:xfrm>
          <a:prstGeom prst="rect">
            <a:avLst/>
          </a:prstGeom>
        </p:spPr>
      </p:pic>
      <p:pic>
        <p:nvPicPr>
          <p:cNvPr id="12" name="Content Placeholder 11">
            <a:extLst>
              <a:ext uri="{FF2B5EF4-FFF2-40B4-BE49-F238E27FC236}">
                <a16:creationId xmlns:a16="http://schemas.microsoft.com/office/drawing/2014/main" id="{4FDA9DD3-4F1F-0EDD-3C1E-73B54865553B}"/>
              </a:ext>
            </a:extLst>
          </p:cNvPr>
          <p:cNvPicPr>
            <a:picLocks noGrp="1" noChangeAspect="1"/>
          </p:cNvPicPr>
          <p:nvPr>
            <p:ph sz="half" idx="2"/>
          </p:nvPr>
        </p:nvPicPr>
        <p:blipFill>
          <a:blip r:embed="rId3"/>
          <a:stretch>
            <a:fillRect/>
          </a:stretch>
        </p:blipFill>
        <p:spPr>
          <a:xfrm>
            <a:off x="8929254" y="1346200"/>
            <a:ext cx="3009900" cy="4165600"/>
          </a:xfrm>
          <a:prstGeom prst="rect">
            <a:avLst/>
          </a:prstGeom>
        </p:spPr>
      </p:pic>
      <p:sp>
        <p:nvSpPr>
          <p:cNvPr id="6" name="Footer Placeholder 5">
            <a:extLst>
              <a:ext uri="{FF2B5EF4-FFF2-40B4-BE49-F238E27FC236}">
                <a16:creationId xmlns:a16="http://schemas.microsoft.com/office/drawing/2014/main" id="{701AE0A3-93DB-906A-FE58-0F469CD3D214}"/>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4E293A96-8B90-5EEA-FBE2-10A1E3CAC253}"/>
              </a:ext>
            </a:extLst>
          </p:cNvPr>
          <p:cNvSpPr>
            <a:spLocks noGrp="1"/>
          </p:cNvSpPr>
          <p:nvPr>
            <p:ph type="sldNum" sz="quarter" idx="12"/>
          </p:nvPr>
        </p:nvSpPr>
        <p:spPr/>
        <p:txBody>
          <a:bodyPr/>
          <a:lstStyle/>
          <a:p>
            <a:fld id="{02E52F69-22B0-9141-B095-D977E71C7FB4}" type="slidenum">
              <a:rPr lang="en-US" smtClean="0"/>
              <a:t>5</a:t>
            </a:fld>
            <a:endParaRPr lang="en-US"/>
          </a:p>
        </p:txBody>
      </p:sp>
      <p:sp>
        <p:nvSpPr>
          <p:cNvPr id="2" name="Title 1">
            <a:extLst>
              <a:ext uri="{FF2B5EF4-FFF2-40B4-BE49-F238E27FC236}">
                <a16:creationId xmlns:a16="http://schemas.microsoft.com/office/drawing/2014/main" id="{C582A6C8-C975-865D-4E65-6EE37A543C64}"/>
              </a:ext>
            </a:extLst>
          </p:cNvPr>
          <p:cNvSpPr>
            <a:spLocks noGrp="1"/>
          </p:cNvSpPr>
          <p:nvPr>
            <p:ph type="title"/>
          </p:nvPr>
        </p:nvSpPr>
        <p:spPr/>
        <p:txBody>
          <a:bodyPr/>
          <a:lstStyle/>
          <a:p>
            <a:r>
              <a:rPr lang="en-GB" dirty="0"/>
              <a:t>Belousov-</a:t>
            </a:r>
            <a:r>
              <a:rPr lang="en-GB" dirty="0" err="1"/>
              <a:t>Zhabotinski</a:t>
            </a:r>
            <a:r>
              <a:rPr lang="en-GB" dirty="0"/>
              <a:t> reaction			</a:t>
            </a:r>
            <a:r>
              <a:rPr lang="en-US" dirty="0"/>
              <a:t>(iii)</a:t>
            </a:r>
          </a:p>
        </p:txBody>
      </p:sp>
      <p:sp>
        <p:nvSpPr>
          <p:cNvPr id="5" name="Date Placeholder 4">
            <a:extLst>
              <a:ext uri="{FF2B5EF4-FFF2-40B4-BE49-F238E27FC236}">
                <a16:creationId xmlns:a16="http://schemas.microsoft.com/office/drawing/2014/main" id="{7D7A8E41-59C0-0EF2-4BD6-F9DBA982BC7F}"/>
              </a:ext>
            </a:extLst>
          </p:cNvPr>
          <p:cNvSpPr>
            <a:spLocks noGrp="1"/>
          </p:cNvSpPr>
          <p:nvPr>
            <p:ph type="dt" sz="half" idx="10"/>
          </p:nvPr>
        </p:nvSpPr>
        <p:spPr/>
        <p:txBody>
          <a:bodyPr/>
          <a:lstStyle/>
          <a:p>
            <a:fld id="{1A984EE7-A60D-C640-8018-EDBB7F10E32A}" type="datetime1">
              <a:rPr lang="en-GB" smtClean="0"/>
              <a:t>27/09/2026</a:t>
            </a:fld>
            <a:endParaRPr lang="en-US"/>
          </a:p>
        </p:txBody>
      </p:sp>
      <p:sp>
        <p:nvSpPr>
          <p:cNvPr id="10" name="TextBox 9">
            <a:extLst>
              <a:ext uri="{FF2B5EF4-FFF2-40B4-BE49-F238E27FC236}">
                <a16:creationId xmlns:a16="http://schemas.microsoft.com/office/drawing/2014/main" id="{A5B5601B-9636-4AC8-6DCB-2FDD2286D5A8}"/>
              </a:ext>
            </a:extLst>
          </p:cNvPr>
          <p:cNvSpPr txBox="1"/>
          <p:nvPr/>
        </p:nvSpPr>
        <p:spPr>
          <a:xfrm>
            <a:off x="584201" y="1346200"/>
            <a:ext cx="5357091" cy="4893647"/>
          </a:xfrm>
          <a:prstGeom prst="rect">
            <a:avLst/>
          </a:prstGeom>
          <a:noFill/>
        </p:spPr>
        <p:txBody>
          <a:bodyPr wrap="square">
            <a:spAutoFit/>
          </a:bodyPr>
          <a:lstStyle/>
          <a:p>
            <a:r>
              <a:rPr lang="en-US" sz="2400" dirty="0"/>
              <a:t>Meanwhile</a:t>
            </a:r>
          </a:p>
          <a:p>
            <a:pPr marL="457200" indent="-457200">
              <a:buFont typeface="Arial" panose="020B0604020202020204" pitchFamily="34" charset="0"/>
              <a:buChar char="•"/>
            </a:pPr>
            <a:r>
              <a:rPr lang="en-US" sz="2400" dirty="0"/>
              <a:t>Lots of preliminary work (outside Russia) until 1973</a:t>
            </a:r>
          </a:p>
          <a:p>
            <a:pPr marL="457200" indent="-457200">
              <a:buFont typeface="Arial" panose="020B0604020202020204" pitchFamily="34" charset="0"/>
              <a:buChar char="•"/>
            </a:pPr>
            <a:r>
              <a:rPr lang="en-US" sz="2400" dirty="0"/>
              <a:t>Recipe circulating in Moscow State Univ and </a:t>
            </a:r>
            <a:r>
              <a:rPr lang="en-US" sz="2400" dirty="0" err="1"/>
              <a:t>Biophysis</a:t>
            </a:r>
            <a:r>
              <a:rPr lang="en-US" sz="2400" dirty="0"/>
              <a:t> Inst. </a:t>
            </a:r>
          </a:p>
          <a:p>
            <a:pPr marL="914400" lvl="1" indent="-457200">
              <a:buFont typeface="Arial" panose="020B0604020202020204" pitchFamily="34" charset="0"/>
              <a:buChar char="•"/>
            </a:pPr>
            <a:r>
              <a:rPr lang="en-US" sz="2400" dirty="0"/>
              <a:t>Origin unknown!</a:t>
            </a:r>
          </a:p>
          <a:p>
            <a:pPr marL="457200" indent="-457200">
              <a:buFont typeface="Arial" panose="020B0604020202020204" pitchFamily="34" charset="0"/>
              <a:buChar char="•"/>
            </a:pPr>
            <a:r>
              <a:rPr lang="en-US" sz="2400" dirty="0" err="1"/>
              <a:t>Zhabotinski</a:t>
            </a:r>
            <a:r>
              <a:rPr lang="en-US" sz="2400" dirty="0"/>
              <a:t> assigned to study.</a:t>
            </a:r>
          </a:p>
          <a:p>
            <a:pPr marL="457200" indent="-457200">
              <a:buFont typeface="Arial" panose="020B0604020202020204" pitchFamily="34" charset="0"/>
              <a:buChar char="•"/>
            </a:pPr>
            <a:r>
              <a:rPr lang="en-US" sz="2400" dirty="0"/>
              <a:t>1968 the </a:t>
            </a:r>
            <a:r>
              <a:rPr lang="en-US" sz="2400" dirty="0" err="1"/>
              <a:t>Zhabotinski</a:t>
            </a:r>
            <a:r>
              <a:rPr lang="en-US" sz="2400" dirty="0"/>
              <a:t> reaction becoming well-known</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The term </a:t>
            </a:r>
            <a:r>
              <a:rPr lang="en-US" sz="2400" b="1" dirty="0"/>
              <a:t>Belousov-</a:t>
            </a:r>
            <a:r>
              <a:rPr lang="en-US" sz="2400" b="1" dirty="0" err="1"/>
              <a:t>Zhabotinski</a:t>
            </a:r>
            <a:r>
              <a:rPr lang="en-US" sz="2400" dirty="0"/>
              <a:t> reaction became more common after ~1980</a:t>
            </a:r>
          </a:p>
        </p:txBody>
      </p:sp>
    </p:spTree>
    <p:extLst>
      <p:ext uri="{BB962C8B-B14F-4D97-AF65-F5344CB8AC3E}">
        <p14:creationId xmlns:p14="http://schemas.microsoft.com/office/powerpoint/2010/main" val="63413035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2ECB-247B-5923-ECBB-9FB14BBCC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283D1-797A-CC21-0132-2496ACA14915}"/>
              </a:ext>
            </a:extLst>
          </p:cNvPr>
          <p:cNvSpPr>
            <a:spLocks noGrp="1"/>
          </p:cNvSpPr>
          <p:nvPr>
            <p:ph type="title"/>
            <p:custDataLst>
              <p:tags r:id="rId1"/>
            </p:custDataLst>
          </p:nvPr>
        </p:nvSpPr>
        <p:spPr>
          <a:xfrm>
            <a:off x="838200" y="365125"/>
            <a:ext cx="10515600" cy="743239"/>
          </a:xfrm>
        </p:spPr>
        <p:txBody>
          <a:bodyPr/>
          <a:lstStyle/>
          <a:p>
            <a:r>
              <a:rPr lang="en-GB" dirty="0"/>
              <a:t>Belousov-</a:t>
            </a:r>
            <a:r>
              <a:rPr lang="en-GB" dirty="0" err="1"/>
              <a:t>Zhabotinski</a:t>
            </a:r>
            <a:r>
              <a:rPr lang="en-GB" dirty="0"/>
              <a:t> reaction			</a:t>
            </a:r>
            <a:r>
              <a:rPr lang="en-US" dirty="0"/>
              <a:t>(iv)</a:t>
            </a:r>
          </a:p>
        </p:txBody>
      </p:sp>
      <p:pic>
        <p:nvPicPr>
          <p:cNvPr id="32" name="Picture 31" descr="\documentclass{article}&#10;\usepackage{amsmath}&#10;\usepackage[version=4]{mhchem}\usepackage[margin=0in,paperwidth=8in,verbose,marginparwidth=0pt,marginparsep=0pt]{geometry}&#10;\usepackage{sectsty}&#10;\allsectionsfont{\bfseries\sffamily}&#10;\pagestyle{empty}&#10;\begin{document}&#10;\begin{sf}&#10;\section*{Core Reagents}&#10;\begin{itemize}&#10;\item Malonic Acid (\ce{CH2(COOH)2}):&#10;\\ \hspace*{3cm}&#10;Acts as the organic substrate that undergoes bromination and oxidation.&#10;\item Sodium Bromate (\ce{NaBrO_3}) or Potassium Bromate (\ce{KBrO_3}): &#10;\\ \hspace*{3cm}&#10;Serves as the primary inorganic oxidizing agent.&#10;\item Sulfuric Acid (\ce{H_2 SO_4}): &#10;\\ \hspace*{3cm}&#10;Provides the highly acidic medium required for the reaction kinetics to proceed.&#10;\end{itemize}&#10;&#10;\section*{Redox Catalyst / Indicator}&#10;\begin{itemize}&#10;\item Ferroin (\(\text{[Fe(o-phen)}_{3}\text{]}^{2+}\)): A coordination complex of iron and phenanthroline.&#10;\\ \hspace*{3cm}&#10;Changes color based on its oxidation state, shifting between red (reduced state) and blue (oxidized state)&#10;\\ \hspace*{3cm}&#10;Visible traveling wave patterns.&#10;\item Alternative: Cerium or manganese ions &#10;\\ \hspace*{3cm}&#10;Also be used as catalysts, &#10;\\ \hspace*{3cm}&#10;Different color changes (e.g., yellow to colorless).&#10;\end{itemize}&#10;&#10;\end{sf}&#10;\end{document}" title="IguanaTex Picture Display">
            <a:extLst>
              <a:ext uri="{FF2B5EF4-FFF2-40B4-BE49-F238E27FC236}">
                <a16:creationId xmlns:a16="http://schemas.microsoft.com/office/drawing/2014/main" id="{23013A5C-C21A-10D9-7275-7B5DAD02523F}"/>
              </a:ext>
            </a:extLst>
          </p:cNvPr>
          <p:cNvPicPr>
            <a:picLocks noChangeAspect="1"/>
          </p:cNvPicPr>
          <p:nvPr>
            <p:custDataLst>
              <p:tags r:id="rId2"/>
            </p:custDataLst>
          </p:nvPr>
        </p:nvPicPr>
        <p:blipFill>
          <a:blip r:embed="rId7"/>
          <a:stretch>
            <a:fillRect/>
          </a:stretch>
        </p:blipFill>
        <p:spPr>
          <a:xfrm>
            <a:off x="682119" y="1484566"/>
            <a:ext cx="9787533" cy="4194655"/>
          </a:xfrm>
          <a:prstGeom prst="rect">
            <a:avLst/>
          </a:prstGeom>
        </p:spPr>
      </p:pic>
      <p:sp>
        <p:nvSpPr>
          <p:cNvPr id="37" name="Footer Placeholder 36">
            <a:extLst>
              <a:ext uri="{FF2B5EF4-FFF2-40B4-BE49-F238E27FC236}">
                <a16:creationId xmlns:a16="http://schemas.microsoft.com/office/drawing/2014/main" id="{0FB474BC-23F2-DDA7-8737-5E15C7D88745}"/>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A5479899-F276-42C5-8C91-AFCA03A4D108}"/>
              </a:ext>
            </a:extLst>
          </p:cNvPr>
          <p:cNvSpPr>
            <a:spLocks noGrp="1"/>
          </p:cNvSpPr>
          <p:nvPr>
            <p:ph type="sldNum" sz="quarter" idx="12"/>
            <p:custDataLst>
              <p:tags r:id="rId4"/>
            </p:custDataLst>
          </p:nvPr>
        </p:nvSpPr>
        <p:spPr/>
        <p:txBody>
          <a:bodyPr/>
          <a:lstStyle/>
          <a:p>
            <a:fld id="{02E52F69-22B0-9141-B095-D977E71C7FB4}" type="slidenum">
              <a:rPr lang="en-US" smtClean="0"/>
              <a:t>6</a:t>
            </a:fld>
            <a:endParaRPr lang="en-US"/>
          </a:p>
        </p:txBody>
      </p:sp>
      <p:sp>
        <p:nvSpPr>
          <p:cNvPr id="39" name="Date Placeholder 38">
            <a:extLst>
              <a:ext uri="{FF2B5EF4-FFF2-40B4-BE49-F238E27FC236}">
                <a16:creationId xmlns:a16="http://schemas.microsoft.com/office/drawing/2014/main" id="{913731DB-2E19-CA08-BB1B-F25DF24CAD91}"/>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29161676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F1006-64A1-B2F3-E8D0-DAFF49B89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95525-4E2D-D8FB-C7B6-CAB667268CC4}"/>
              </a:ext>
            </a:extLst>
          </p:cNvPr>
          <p:cNvSpPr>
            <a:spLocks noGrp="1"/>
          </p:cNvSpPr>
          <p:nvPr>
            <p:ph type="title"/>
          </p:nvPr>
        </p:nvSpPr>
        <p:spPr>
          <a:xfrm>
            <a:off x="838200" y="365125"/>
            <a:ext cx="10515600" cy="764231"/>
          </a:xfrm>
        </p:spPr>
        <p:txBody>
          <a:bodyPr/>
          <a:lstStyle/>
          <a:p>
            <a:r>
              <a:rPr lang="en-US" dirty="0"/>
              <a:t>The </a:t>
            </a:r>
            <a:r>
              <a:rPr lang="en-US" dirty="0" err="1"/>
              <a:t>Brusselator</a:t>
            </a:r>
            <a:r>
              <a:rPr lang="en-US" dirty="0"/>
              <a:t>						(</a:t>
            </a:r>
            <a:r>
              <a:rPr lang="en-US" dirty="0" err="1"/>
              <a:t>i</a:t>
            </a:r>
            <a:r>
              <a:rPr lang="en-US" dirty="0"/>
              <a:t>)</a:t>
            </a:r>
          </a:p>
        </p:txBody>
      </p:sp>
      <p:pic>
        <p:nvPicPr>
          <p:cNvPr id="4" name="Picture 3" descr="\documentclass{article}&#10;\usepackage{amsmath}&#10;\usepackage[version=4]{mhchem}&#10;\pagestyle{empty}&#10;\begin{document}&#10;\begin{sf}&#10;&#10;\begin{itemize}&#10;\item [] A common theoretical model for oscillating reactions is the Brusselator.&#10;\item[] Introduced by: Prigogine and Lefever , Univ Brussels&#10;\begin{itemize}&#10;\item [] Prigogine, I.; Lefever, R. (1968). \\&#10;&#9;&quot;Symmetry Breaking Instabilities in Dissipative Systems. II&quot;. J Chem Phys&#10;\end{itemize}&#10;\item[]It is reasonably simple but generates a rich set of stability breaking phenomena.&#10;\item[] In brief we have:&#10;\ce{A + B -&gt; D + E}\\&#10;\ \bigskip \\&#10;\hspace*{2cm}with intermediate reactions involving \\&#10;\hspace*{4cm}two autocatalytic species \ce{X and Y}&#10;\end{itemize}&#10;&#10;&#10;\end{sf}&#10;\end{document}" title="IguanaTex Picture Display">
            <a:extLst>
              <a:ext uri="{FF2B5EF4-FFF2-40B4-BE49-F238E27FC236}">
                <a16:creationId xmlns:a16="http://schemas.microsoft.com/office/drawing/2014/main" id="{8D86C3F0-A210-A771-90E9-FBEBB5A79C6F}"/>
              </a:ext>
            </a:extLst>
          </p:cNvPr>
          <p:cNvPicPr>
            <a:picLocks noChangeAspect="1"/>
          </p:cNvPicPr>
          <p:nvPr>
            <p:custDataLst>
              <p:tags r:id="rId1"/>
            </p:custDataLst>
          </p:nvPr>
        </p:nvPicPr>
        <p:blipFill>
          <a:blip r:embed="rId4"/>
          <a:stretch>
            <a:fillRect/>
          </a:stretch>
        </p:blipFill>
        <p:spPr>
          <a:xfrm>
            <a:off x="682117" y="1484579"/>
            <a:ext cx="8071105" cy="4074160"/>
          </a:xfrm>
          <a:prstGeom prst="rect">
            <a:avLst/>
          </a:prstGeom>
        </p:spPr>
      </p:pic>
      <p:sp>
        <p:nvSpPr>
          <p:cNvPr id="37" name="Footer Placeholder 36">
            <a:extLst>
              <a:ext uri="{FF2B5EF4-FFF2-40B4-BE49-F238E27FC236}">
                <a16:creationId xmlns:a16="http://schemas.microsoft.com/office/drawing/2014/main" id="{800125CE-011B-E317-9D6C-42D3BF6C1BC2}"/>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E2F1304A-EA71-FC20-194A-42903F500F60}"/>
              </a:ext>
            </a:extLst>
          </p:cNvPr>
          <p:cNvSpPr>
            <a:spLocks noGrp="1"/>
          </p:cNvSpPr>
          <p:nvPr>
            <p:ph type="sldNum" sz="quarter" idx="12"/>
          </p:nvPr>
        </p:nvSpPr>
        <p:spPr/>
        <p:txBody>
          <a:bodyPr/>
          <a:lstStyle/>
          <a:p>
            <a:fld id="{02E52F69-22B0-9141-B095-D977E71C7FB4}" type="slidenum">
              <a:rPr lang="en-US" smtClean="0"/>
              <a:t>7</a:t>
            </a:fld>
            <a:endParaRPr lang="en-US"/>
          </a:p>
        </p:txBody>
      </p:sp>
      <p:sp>
        <p:nvSpPr>
          <p:cNvPr id="39" name="Date Placeholder 38">
            <a:extLst>
              <a:ext uri="{FF2B5EF4-FFF2-40B4-BE49-F238E27FC236}">
                <a16:creationId xmlns:a16="http://schemas.microsoft.com/office/drawing/2014/main" id="{B4D5C8BB-0FCE-BBBB-FC57-82E4F46A6B30}"/>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35494064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6001-AAED-FE91-022F-3D7E602FB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24F49-CD83-BB2F-1839-7E9AC1336422}"/>
              </a:ext>
            </a:extLst>
          </p:cNvPr>
          <p:cNvSpPr>
            <a:spLocks noGrp="1"/>
          </p:cNvSpPr>
          <p:nvPr>
            <p:ph type="title"/>
          </p:nvPr>
        </p:nvSpPr>
        <p:spPr>
          <a:xfrm>
            <a:off x="838200" y="365125"/>
            <a:ext cx="10515600" cy="764231"/>
          </a:xfrm>
        </p:spPr>
        <p:txBody>
          <a:bodyPr/>
          <a:lstStyle/>
          <a:p>
            <a:r>
              <a:rPr lang="en-US" dirty="0"/>
              <a:t>The </a:t>
            </a:r>
            <a:r>
              <a:rPr lang="en-US" dirty="0" err="1"/>
              <a:t>Brusselator</a:t>
            </a:r>
            <a:r>
              <a:rPr lang="en-US" dirty="0"/>
              <a:t>						(iii)</a:t>
            </a:r>
          </a:p>
        </p:txBody>
      </p:sp>
      <p:pic>
        <p:nvPicPr>
          <p:cNvPr id="11" name="Picture 10" descr="\documentclass{article}&#10;\usepackage{amsmath}&#10;\usepackage[version=4]{mhchem}&#10;\pagestyle{empty}&#10;\begin{document}&#10;\begin{sf}&#10;&#10;We can write the following differential equations for [X] and [Y]:\\&#10;\begin{enumerate}&#10;\item \ce{A -&gt;[k1] X }&#10;\item \ce{2X + Y -&gt;[k2] 3X}&#10;\item \ce{B + X -&gt;[k3] Y + D}&#10;\item \ce{X -&gt;[k4] E}&#10;\end{enumerate}&#10;As usual we denote $[\bullet]$ as the molar concentration of a substance.\\&#10;\ \\&#10;Assume that $[A], [B], [D]$ and $[E]$ are constants.&#10;\end{sf}&#10;\end{document}" title="IguanaTex Picture Display">
            <a:extLst>
              <a:ext uri="{FF2B5EF4-FFF2-40B4-BE49-F238E27FC236}">
                <a16:creationId xmlns:a16="http://schemas.microsoft.com/office/drawing/2014/main" id="{E22BD956-88C4-B5B3-523D-EBF0AEC300BF}"/>
              </a:ext>
            </a:extLst>
          </p:cNvPr>
          <p:cNvPicPr>
            <a:picLocks noChangeAspect="1"/>
          </p:cNvPicPr>
          <p:nvPr>
            <p:custDataLst>
              <p:tags r:id="rId1"/>
            </p:custDataLst>
          </p:nvPr>
        </p:nvPicPr>
        <p:blipFill>
          <a:blip r:embed="rId4"/>
          <a:stretch>
            <a:fillRect/>
          </a:stretch>
        </p:blipFill>
        <p:spPr>
          <a:xfrm>
            <a:off x="682118" y="1484575"/>
            <a:ext cx="7174993" cy="3767328"/>
          </a:xfrm>
          <a:prstGeom prst="rect">
            <a:avLst/>
          </a:prstGeom>
        </p:spPr>
      </p:pic>
      <p:sp>
        <p:nvSpPr>
          <p:cNvPr id="37" name="Footer Placeholder 36">
            <a:extLst>
              <a:ext uri="{FF2B5EF4-FFF2-40B4-BE49-F238E27FC236}">
                <a16:creationId xmlns:a16="http://schemas.microsoft.com/office/drawing/2014/main" id="{3AC423BB-7B75-61CD-B94A-5572349C9D68}"/>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7E794A89-14CB-4BF4-8CAF-FEAEDFD90122}"/>
              </a:ext>
            </a:extLst>
          </p:cNvPr>
          <p:cNvSpPr>
            <a:spLocks noGrp="1"/>
          </p:cNvSpPr>
          <p:nvPr>
            <p:ph type="sldNum" sz="quarter" idx="12"/>
          </p:nvPr>
        </p:nvSpPr>
        <p:spPr/>
        <p:txBody>
          <a:bodyPr/>
          <a:lstStyle/>
          <a:p>
            <a:fld id="{02E52F69-22B0-9141-B095-D977E71C7FB4}" type="slidenum">
              <a:rPr lang="en-US" smtClean="0"/>
              <a:t>8</a:t>
            </a:fld>
            <a:endParaRPr lang="en-US"/>
          </a:p>
        </p:txBody>
      </p:sp>
      <p:sp>
        <p:nvSpPr>
          <p:cNvPr id="39" name="Date Placeholder 38">
            <a:extLst>
              <a:ext uri="{FF2B5EF4-FFF2-40B4-BE49-F238E27FC236}">
                <a16:creationId xmlns:a16="http://schemas.microsoft.com/office/drawing/2014/main" id="{D7C786DA-603C-D35F-BACF-FFC3148108EC}"/>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1999639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13F5-2482-4CE2-F824-1420353D7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7F2C8-B9BD-ABAE-DC53-FD4390ECF790}"/>
              </a:ext>
            </a:extLst>
          </p:cNvPr>
          <p:cNvSpPr>
            <a:spLocks noGrp="1"/>
          </p:cNvSpPr>
          <p:nvPr>
            <p:ph type="title"/>
          </p:nvPr>
        </p:nvSpPr>
        <p:spPr>
          <a:xfrm>
            <a:off x="838200" y="365125"/>
            <a:ext cx="10515600" cy="764231"/>
          </a:xfrm>
        </p:spPr>
        <p:txBody>
          <a:bodyPr/>
          <a:lstStyle/>
          <a:p>
            <a:r>
              <a:rPr lang="en-US" dirty="0"/>
              <a:t>The </a:t>
            </a:r>
            <a:r>
              <a:rPr lang="en-US" dirty="0" err="1"/>
              <a:t>Brusselator</a:t>
            </a:r>
            <a:r>
              <a:rPr lang="en-US" dirty="0"/>
              <a:t>						(iii)</a:t>
            </a:r>
          </a:p>
        </p:txBody>
      </p:sp>
      <p:pic>
        <p:nvPicPr>
          <p:cNvPr id="52" name="Picture 51" descr="\documentclass{article}&#10;\usepackage{amsmath}&#10;\usepackage[version=4]{mhchem}&#10;\pagestyle{empty}&#10;\begin{document}&#10;\begin{sf}&#10;&#10;The autocatalytic reactions have the form:\\&#10;\begin{flalign}&#10;\frac{d[X]}{dt} &amp;= k_1[A] + k_2[X]^2[Y] - k_3[B][X] -k_4[X]\\&#10;\frac{d[Y]}{dt} &amp;= -k_2[X]^2[Y] + k_3[B][X] &#10;\end{flalign}&#10;We can simplify the arithmetic by {\em changing variables}.\\&#10;Write:&#10;\begin{flalign*}&#10;x &amp;= [X]\sqrt{\frac{k_2}{k_4}} ~~~~~ y = [Y]\sqrt{\frac{k_2}{k_4}}&#10;~~~~~ a = [A]\frac{k_2}{k_4}\sqrt{\frac{k_2}{k_4}}&#10;~~~~~ b = [B]\frac{k_3}{k_4}\\ &#10;~~~~~&amp;\text{and re-scale } t \text{ by: }k_4&#10;\end{flalign*}&#10;&#10;\end{sf}&#10;\end{document}" title="IguanaTex Picture Display">
            <a:extLst>
              <a:ext uri="{FF2B5EF4-FFF2-40B4-BE49-F238E27FC236}">
                <a16:creationId xmlns:a16="http://schemas.microsoft.com/office/drawing/2014/main" id="{A46A671A-B276-6E59-8C56-D1B9971E4418}"/>
              </a:ext>
            </a:extLst>
          </p:cNvPr>
          <p:cNvPicPr>
            <a:picLocks noChangeAspect="1"/>
          </p:cNvPicPr>
          <p:nvPr>
            <p:custDataLst>
              <p:tags r:id="rId1"/>
            </p:custDataLst>
          </p:nvPr>
        </p:nvPicPr>
        <p:blipFill>
          <a:blip r:embed="rId5"/>
          <a:stretch>
            <a:fillRect/>
          </a:stretch>
        </p:blipFill>
        <p:spPr>
          <a:xfrm>
            <a:off x="682123" y="1484571"/>
            <a:ext cx="8698993" cy="3948176"/>
          </a:xfrm>
          <a:prstGeom prst="rect">
            <a:avLst/>
          </a:prstGeom>
        </p:spPr>
      </p:pic>
      <p:sp>
        <p:nvSpPr>
          <p:cNvPr id="37" name="Footer Placeholder 36">
            <a:extLst>
              <a:ext uri="{FF2B5EF4-FFF2-40B4-BE49-F238E27FC236}">
                <a16:creationId xmlns:a16="http://schemas.microsoft.com/office/drawing/2014/main" id="{201313F0-EB74-0536-ECEB-ABBA956E8DBF}"/>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9CFDF408-9358-4ED9-B2EA-B15DFBF3EE80}"/>
              </a:ext>
            </a:extLst>
          </p:cNvPr>
          <p:cNvSpPr>
            <a:spLocks noGrp="1"/>
          </p:cNvSpPr>
          <p:nvPr>
            <p:ph type="sldNum" sz="quarter" idx="12"/>
          </p:nvPr>
        </p:nvSpPr>
        <p:spPr/>
        <p:txBody>
          <a:bodyPr/>
          <a:lstStyle/>
          <a:p>
            <a:fld id="{02E52F69-22B0-9141-B095-D977E71C7FB4}" type="slidenum">
              <a:rPr lang="en-US" smtClean="0"/>
              <a:t>9</a:t>
            </a:fld>
            <a:endParaRPr lang="en-US"/>
          </a:p>
        </p:txBody>
      </p:sp>
      <p:sp>
        <p:nvSpPr>
          <p:cNvPr id="39" name="Date Placeholder 38">
            <a:extLst>
              <a:ext uri="{FF2B5EF4-FFF2-40B4-BE49-F238E27FC236}">
                <a16:creationId xmlns:a16="http://schemas.microsoft.com/office/drawing/2014/main" id="{97F1F33C-63FB-BCB8-520B-6EDC1D399309}"/>
              </a:ext>
            </a:extLst>
          </p:cNvPr>
          <p:cNvSpPr>
            <a:spLocks noGrp="1"/>
          </p:cNvSpPr>
          <p:nvPr>
            <p:ph type="dt" sz="half" idx="10"/>
          </p:nvPr>
        </p:nvSpPr>
        <p:spPr/>
        <p:txBody>
          <a:bodyPr/>
          <a:lstStyle/>
          <a:p>
            <a:fld id="{878483A1-F101-374A-B4A4-F79795DB47B2}" type="datetime1">
              <a:rPr lang="en-GB" smtClean="0"/>
              <a:t>27/09/2026</a:t>
            </a:fld>
            <a:endParaRPr lang="en-US"/>
          </a:p>
        </p:txBody>
      </p:sp>
      <p:pic>
        <p:nvPicPr>
          <p:cNvPr id="7" name="Picture 6" descr="\documentclass{article}&#10;\usepackage{amsmath}&#10;\usepackage[version=4]{mhchem}&#10;\pagestyle{empty}&#10;\begin{document}&#10;\begin{sf}&#10;&#10;\begin{enumerate}&#10;\item \ce{A -&gt;[k1] X }&#10;\item \ce{2X + Y -&gt;[k2] 3X}&#10;\item \ce{B + X -&gt;[k3] Y + D}&#10;\item \ce{X -&gt;[k4] E}&#10;\end{enumerate}&#10;\end{sf}&#10;\end{document}" title="IguanaTex Picture Display">
            <a:extLst>
              <a:ext uri="{FF2B5EF4-FFF2-40B4-BE49-F238E27FC236}">
                <a16:creationId xmlns:a16="http://schemas.microsoft.com/office/drawing/2014/main" id="{9B0EEDBB-D4AC-8D24-9F6F-871D36BF2AB8}"/>
              </a:ext>
            </a:extLst>
          </p:cNvPr>
          <p:cNvPicPr>
            <a:picLocks noChangeAspect="1"/>
          </p:cNvPicPr>
          <p:nvPr>
            <p:custDataLst>
              <p:tags r:id="rId2"/>
            </p:custDataLst>
          </p:nvPr>
        </p:nvPicPr>
        <p:blipFill>
          <a:blip r:embed="rId6"/>
          <a:stretch>
            <a:fillRect/>
          </a:stretch>
        </p:blipFill>
        <p:spPr>
          <a:xfrm>
            <a:off x="9824574" y="942109"/>
            <a:ext cx="2035387" cy="1683320"/>
          </a:xfrm>
          <a:prstGeom prst="rect">
            <a:avLst/>
          </a:prstGeom>
        </p:spPr>
      </p:pic>
    </p:spTree>
    <p:extLst>
      <p:ext uri="{BB962C8B-B14F-4D97-AF65-F5344CB8AC3E}">
        <p14:creationId xmlns:p14="http://schemas.microsoft.com/office/powerpoint/2010/main" val="30931489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85A6-2171-84AF-87B4-9B06E626B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514DE-CEEC-EE1B-CD15-9184E785C2E7}"/>
              </a:ext>
            </a:extLst>
          </p:cNvPr>
          <p:cNvSpPr>
            <a:spLocks noGrp="1"/>
          </p:cNvSpPr>
          <p:nvPr>
            <p:ph type="title"/>
          </p:nvPr>
        </p:nvSpPr>
        <p:spPr>
          <a:xfrm>
            <a:off x="838200" y="365125"/>
            <a:ext cx="10515600" cy="764231"/>
          </a:xfrm>
        </p:spPr>
        <p:txBody>
          <a:bodyPr/>
          <a:lstStyle/>
          <a:p>
            <a:r>
              <a:rPr lang="en-US" dirty="0"/>
              <a:t>The </a:t>
            </a:r>
            <a:r>
              <a:rPr lang="en-US" dirty="0" err="1"/>
              <a:t>Brusselator</a:t>
            </a:r>
            <a:r>
              <a:rPr lang="en-US" dirty="0"/>
              <a:t>						(iv)</a:t>
            </a:r>
          </a:p>
        </p:txBody>
      </p:sp>
      <p:pic>
        <p:nvPicPr>
          <p:cNvPr id="12" name="Picture 11" descr="\documentclass{article}&#10;\usepackage{amsmath}&#10;\usepackage[version=4]{mhchem}&#10;\pagestyle{empty}&#10;\begin{document}&#10;\begin{sf}&#10;&#10;In the new variables we have:\\&#10;\begin{flalign}&#10;\frac{dx}{dt} &amp;= a  - (1 + b) x + x^2y\\&#10;\frac{dy}{dt} &amp;=            b x - x^2y&#10;\end{flalign}&#10;The equilibrium conditions are when $\frac{dx}{dt} = \frac{dy}{dt} = 0$ \\&#10;%\bigskip\ \\&#10;%\hspace*{3cm}giving:&#10;$$&#10;~~~~~\text{giving: }~~ b = x_{eq}y_{eq},~  x_{eq} = a,~ y_{eq} = \frac{b}{a}&#10;$$&#10;&#10;\end{sf}&#10;\end{document}" title="IguanaTex Picture Display">
            <a:extLst>
              <a:ext uri="{FF2B5EF4-FFF2-40B4-BE49-F238E27FC236}">
                <a16:creationId xmlns:a16="http://schemas.microsoft.com/office/drawing/2014/main" id="{9F4CF9FA-BC14-78DA-8A70-329F0465110B}"/>
              </a:ext>
            </a:extLst>
          </p:cNvPr>
          <p:cNvPicPr>
            <a:picLocks noChangeAspect="1"/>
          </p:cNvPicPr>
          <p:nvPr>
            <p:custDataLst>
              <p:tags r:id="rId1"/>
            </p:custDataLst>
          </p:nvPr>
        </p:nvPicPr>
        <p:blipFill>
          <a:blip r:embed="rId4"/>
          <a:stretch>
            <a:fillRect/>
          </a:stretch>
        </p:blipFill>
        <p:spPr>
          <a:xfrm>
            <a:off x="682138" y="1471164"/>
            <a:ext cx="8694929" cy="3263392"/>
          </a:xfrm>
          <a:prstGeom prst="rect">
            <a:avLst/>
          </a:prstGeom>
        </p:spPr>
      </p:pic>
      <p:sp>
        <p:nvSpPr>
          <p:cNvPr id="37" name="Footer Placeholder 36">
            <a:extLst>
              <a:ext uri="{FF2B5EF4-FFF2-40B4-BE49-F238E27FC236}">
                <a16:creationId xmlns:a16="http://schemas.microsoft.com/office/drawing/2014/main" id="{4117790C-6023-1BFD-4F18-A1DDB3293CE6}"/>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6DD57202-74F1-DC8E-2E1E-1C38EF325297}"/>
              </a:ext>
            </a:extLst>
          </p:cNvPr>
          <p:cNvSpPr>
            <a:spLocks noGrp="1"/>
          </p:cNvSpPr>
          <p:nvPr>
            <p:ph type="sldNum" sz="quarter" idx="12"/>
          </p:nvPr>
        </p:nvSpPr>
        <p:spPr/>
        <p:txBody>
          <a:bodyPr/>
          <a:lstStyle/>
          <a:p>
            <a:fld id="{02E52F69-22B0-9141-B095-D977E71C7FB4}" type="slidenum">
              <a:rPr lang="en-US" smtClean="0"/>
              <a:t>10</a:t>
            </a:fld>
            <a:endParaRPr lang="en-US"/>
          </a:p>
        </p:txBody>
      </p:sp>
      <p:sp>
        <p:nvSpPr>
          <p:cNvPr id="39" name="Date Placeholder 38">
            <a:extLst>
              <a:ext uri="{FF2B5EF4-FFF2-40B4-BE49-F238E27FC236}">
                <a16:creationId xmlns:a16="http://schemas.microsoft.com/office/drawing/2014/main" id="{D94AD5DF-00FC-7142-1914-362D6EA37BE4}"/>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38366762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B2B81-247C-47CC-C649-372803989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A9016-D2D0-2E96-804A-387C5733515E}"/>
              </a:ext>
            </a:extLst>
          </p:cNvPr>
          <p:cNvSpPr>
            <a:spLocks noGrp="1"/>
          </p:cNvSpPr>
          <p:nvPr>
            <p:ph type="title"/>
          </p:nvPr>
        </p:nvSpPr>
        <p:spPr>
          <a:xfrm>
            <a:off x="838200" y="365125"/>
            <a:ext cx="10515600" cy="764231"/>
          </a:xfrm>
        </p:spPr>
        <p:txBody>
          <a:bodyPr/>
          <a:lstStyle/>
          <a:p>
            <a:r>
              <a:rPr lang="en-US" dirty="0"/>
              <a:t>The </a:t>
            </a:r>
            <a:r>
              <a:rPr lang="en-US" dirty="0" err="1"/>
              <a:t>Brusselator</a:t>
            </a:r>
            <a:r>
              <a:rPr lang="en-US" dirty="0"/>
              <a:t>						(v)</a:t>
            </a:r>
          </a:p>
        </p:txBody>
      </p:sp>
      <p:pic>
        <p:nvPicPr>
          <p:cNvPr id="22" name="Picture 21" descr="\documentclass{article}&#10;\usepackage{amsmath}&#10;\usepackage[version=4]{mhchem}&#10;\pagestyle{empty}&#10;\begin{document}&#10;\begin{sf}&#10;&#10;In the new variables we have:\\&#10;\begin{flalign}&#10;\frac{dx}{dt} &amp;= a  - (1 + b) x + x^2y\\&#10;\frac{dy}{dt} &amp;=            b x - x^2y&#10;\end{flalign}&#10;The equilibrium conditions are when $\frac{dx}{dt} = \frac{dy}{dt} = 0$ \\&#10;\hspace*{3cm}giving:&#10;$b = x_{eq}y_{eq}$, $ x_{eq} = a$, $y_{eq} = \frac{b}{a}$&#10;&#10;\ \\&#10;Recall the Jacobian $J$ of the above system&#10;$\begin{pmatrix}&#10;Eqn (1)\\ Eqn (2)&#10;\end{pmatrix}$&#10;is given by:&#10;\begin{flalign*}&#10;J = &#10;\begin{pmatrix}&#10;\frac{\partial F_i}{\partial x_j}&#10;\end{pmatrix}&#10;=&#10;\left .&#10;\begin{pmatrix}&#10;-(1+b)+2xy &amp; x^2 \\&#10;b-2xy &amp; -x^2&#10;\end{pmatrix}&#10;\right |_{eq}&#10;=&#10;\begin{pmatrix}&#10;b-1 &amp; a^2\\&#10;-b &amp; -a^2&#10;\end{pmatrix}&#10;\end{flalign*}&#10;\end{sf}&#10;\end{document}" title="IguanaTex Picture Display">
            <a:extLst>
              <a:ext uri="{FF2B5EF4-FFF2-40B4-BE49-F238E27FC236}">
                <a16:creationId xmlns:a16="http://schemas.microsoft.com/office/drawing/2014/main" id="{482B2D2A-BE5E-6E3B-BD02-6A1F09580A57}"/>
              </a:ext>
            </a:extLst>
          </p:cNvPr>
          <p:cNvPicPr>
            <a:picLocks noChangeAspect="1"/>
          </p:cNvPicPr>
          <p:nvPr>
            <p:custDataLst>
              <p:tags r:id="rId1"/>
            </p:custDataLst>
          </p:nvPr>
        </p:nvPicPr>
        <p:blipFill>
          <a:blip r:embed="rId4"/>
          <a:stretch>
            <a:fillRect/>
          </a:stretch>
        </p:blipFill>
        <p:spPr>
          <a:xfrm>
            <a:off x="682143" y="1471162"/>
            <a:ext cx="8694929" cy="4616704"/>
          </a:xfrm>
          <a:prstGeom prst="rect">
            <a:avLst/>
          </a:prstGeom>
        </p:spPr>
      </p:pic>
      <p:sp>
        <p:nvSpPr>
          <p:cNvPr id="37" name="Footer Placeholder 36">
            <a:extLst>
              <a:ext uri="{FF2B5EF4-FFF2-40B4-BE49-F238E27FC236}">
                <a16:creationId xmlns:a16="http://schemas.microsoft.com/office/drawing/2014/main" id="{D558FF55-EBFA-6721-61AC-0FC481AE809D}"/>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2000DEDC-A3B1-79A1-FE24-2F4438E2CC1B}"/>
              </a:ext>
            </a:extLst>
          </p:cNvPr>
          <p:cNvSpPr>
            <a:spLocks noGrp="1"/>
          </p:cNvSpPr>
          <p:nvPr>
            <p:ph type="sldNum" sz="quarter" idx="12"/>
          </p:nvPr>
        </p:nvSpPr>
        <p:spPr/>
        <p:txBody>
          <a:bodyPr/>
          <a:lstStyle/>
          <a:p>
            <a:fld id="{02E52F69-22B0-9141-B095-D977E71C7FB4}" type="slidenum">
              <a:rPr lang="en-US" smtClean="0"/>
              <a:t>11</a:t>
            </a:fld>
            <a:endParaRPr lang="en-US"/>
          </a:p>
        </p:txBody>
      </p:sp>
      <p:sp>
        <p:nvSpPr>
          <p:cNvPr id="39" name="Date Placeholder 38">
            <a:extLst>
              <a:ext uri="{FF2B5EF4-FFF2-40B4-BE49-F238E27FC236}">
                <a16:creationId xmlns:a16="http://schemas.microsoft.com/office/drawing/2014/main" id="{948EA7B1-37BE-D445-683F-578FED8527DA}"/>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5375971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EDBDA-C2B8-7138-C8EB-9F1FF8576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6161F-B7E1-7080-6352-0FB9A5D9A2F3}"/>
              </a:ext>
            </a:extLst>
          </p:cNvPr>
          <p:cNvSpPr>
            <a:spLocks noGrp="1"/>
          </p:cNvSpPr>
          <p:nvPr>
            <p:ph type="title"/>
          </p:nvPr>
        </p:nvSpPr>
        <p:spPr>
          <a:xfrm>
            <a:off x="838200" y="365125"/>
            <a:ext cx="10515600" cy="764231"/>
          </a:xfrm>
        </p:spPr>
        <p:txBody>
          <a:bodyPr>
            <a:normAutofit fontScale="90000"/>
          </a:bodyPr>
          <a:lstStyle/>
          <a:p>
            <a:r>
              <a:rPr lang="en-US" dirty="0"/>
              <a:t>The </a:t>
            </a:r>
            <a:r>
              <a:rPr lang="en-US" dirty="0" err="1"/>
              <a:t>Brusselator</a:t>
            </a:r>
            <a:r>
              <a:rPr lang="en-US" dirty="0"/>
              <a:t> (perturbation analysis)		(vii)</a:t>
            </a:r>
          </a:p>
        </p:txBody>
      </p:sp>
      <p:pic>
        <p:nvPicPr>
          <p:cNvPr id="8" name="Picture 7" descr="\documentclass{article}&#10;\usepackage{amsmath}&#10;\usepackage[version=4]{mhchem}&#10;\pagestyle{empty}&#10;\begin{document}&#10;\begin{sf}&#10;&#10;We can now perform a linear stability analysis on this system.\\ \ \\&#10;Recall Taylor's theorem (in $2$-D): &#10;\begin{flalign}&#10;{\mathbf F}(x_i + \delta x_i) = {\mathbf F}(x_i) +  J\left ( {\mathbf F}(x_i)\right ) \delta x_i + &#10;\mathcal{O}(\Vert\delta\Vert^2)&#10;\end{flalign}&#10;Choose a similarity transfom $P A P^{-1} = \Lambda$ &#10;is the diagonal matrix of eigen-values.\\&#10;Then we can write:&#10;\begin{flalign}&#10;P{\mathbf F}(x_i + \delta x_i) &#10;&amp;= P{\mathbf F}(x_i) +  &#10;PJ\left ( {\mathbf F}(x_i)\right ) P^{-1} (P \delta x_i) + &#10;\mathcal{O}(\Vert\delta\Vert^2)&#10;\\&#10;&amp;= P{\mathbf F}(x_i) +  &#10;\Lambda (P \delta x_i) + &#10;\mathcal{O}(\Vert\delta\Vert^2)&#10;\end{flalign}&#10;This last system is a set of {\em de-coupled} differential equations so we can say that:&#10;\begin{itemize}&#10;\item $Re(\lambda_i) &gt; 0 \Rightarrow $ Unstable&#10;\item $Re(\lambda_i) &lt; 0 \Rightarrow $ Stable&#10;\item $\lambda_i$ complex $ \Rightarrow $ Oscillation&#10;\end{itemize}&#10;&#10;\end{sf}&#10;\end{document}" title="IguanaTex Picture Display">
            <a:extLst>
              <a:ext uri="{FF2B5EF4-FFF2-40B4-BE49-F238E27FC236}">
                <a16:creationId xmlns:a16="http://schemas.microsoft.com/office/drawing/2014/main" id="{3477A046-9D14-1DBE-2DF2-336555214D6E}"/>
              </a:ext>
            </a:extLst>
          </p:cNvPr>
          <p:cNvPicPr>
            <a:picLocks noChangeAspect="1"/>
          </p:cNvPicPr>
          <p:nvPr>
            <p:custDataLst>
              <p:tags r:id="rId1"/>
            </p:custDataLst>
          </p:nvPr>
        </p:nvPicPr>
        <p:blipFill>
          <a:blip r:embed="rId4"/>
          <a:stretch>
            <a:fillRect/>
          </a:stretch>
        </p:blipFill>
        <p:spPr>
          <a:xfrm>
            <a:off x="682167" y="1471155"/>
            <a:ext cx="7825435" cy="4762195"/>
          </a:xfrm>
          <a:prstGeom prst="rect">
            <a:avLst/>
          </a:prstGeom>
        </p:spPr>
      </p:pic>
      <p:sp>
        <p:nvSpPr>
          <p:cNvPr id="37" name="Footer Placeholder 36">
            <a:extLst>
              <a:ext uri="{FF2B5EF4-FFF2-40B4-BE49-F238E27FC236}">
                <a16:creationId xmlns:a16="http://schemas.microsoft.com/office/drawing/2014/main" id="{47C5497D-CF04-3409-67F9-53E26935E844}"/>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DAE2381A-97BF-2E43-2291-87DD88B9B2E6}"/>
              </a:ext>
            </a:extLst>
          </p:cNvPr>
          <p:cNvSpPr>
            <a:spLocks noGrp="1"/>
          </p:cNvSpPr>
          <p:nvPr>
            <p:ph type="sldNum" sz="quarter" idx="12"/>
          </p:nvPr>
        </p:nvSpPr>
        <p:spPr/>
        <p:txBody>
          <a:bodyPr/>
          <a:lstStyle/>
          <a:p>
            <a:fld id="{02E52F69-22B0-9141-B095-D977E71C7FB4}" type="slidenum">
              <a:rPr lang="en-US" smtClean="0"/>
              <a:t>12</a:t>
            </a:fld>
            <a:endParaRPr lang="en-US"/>
          </a:p>
        </p:txBody>
      </p:sp>
      <p:sp>
        <p:nvSpPr>
          <p:cNvPr id="39" name="Date Placeholder 38">
            <a:extLst>
              <a:ext uri="{FF2B5EF4-FFF2-40B4-BE49-F238E27FC236}">
                <a16:creationId xmlns:a16="http://schemas.microsoft.com/office/drawing/2014/main" id="{A8308D36-0368-4910-CADA-9D09E4FE9366}"/>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7145209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166D-ED0F-B73A-A0C8-0C2E7203B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62B0F-C886-59D1-D6B4-7C0C46EAFF5C}"/>
              </a:ext>
            </a:extLst>
          </p:cNvPr>
          <p:cNvSpPr>
            <a:spLocks noGrp="1"/>
          </p:cNvSpPr>
          <p:nvPr>
            <p:ph type="title"/>
          </p:nvPr>
        </p:nvSpPr>
        <p:spPr>
          <a:xfrm>
            <a:off x="838200" y="365125"/>
            <a:ext cx="10515600" cy="764231"/>
          </a:xfrm>
        </p:spPr>
        <p:txBody>
          <a:bodyPr>
            <a:normAutofit fontScale="90000"/>
          </a:bodyPr>
          <a:lstStyle/>
          <a:p>
            <a:r>
              <a:rPr lang="en-US" dirty="0"/>
              <a:t>The </a:t>
            </a:r>
            <a:r>
              <a:rPr lang="en-US" dirty="0" err="1"/>
              <a:t>Brusselator</a:t>
            </a:r>
            <a:r>
              <a:rPr lang="en-US" dirty="0"/>
              <a:t> (perturbation analysis)		(vi)</a:t>
            </a:r>
          </a:p>
        </p:txBody>
      </p:sp>
      <p:pic>
        <p:nvPicPr>
          <p:cNvPr id="6" name="Picture 5" descr="\documentclass{article}&#10;\usepackage{amsmath}&#10;\usepackage[version=4]{mhchem}&#10;\pagestyle{empty}&#10;\begin{document}&#10;\begin{sf}&#10;&#10;recall that, at the equilibrium point $(x= a, y = b/a)$ we have:&#10;\begin{flalign*}&#10;J &#10;=&#10;\begin{pmatrix}&#10;b-1 &amp; a^2\\&#10;-b &amp; -a^2&#10;\end{pmatrix}&#10;\end{flalign*}&#10;To find the eigen-values we look at the characteristic equation:&#10;\begin{flalign*}&#10;\begin{vmatrix} J - \lambda I \end{vmatrix}&#10;=&#10;\begin{vmatrix}&#10;b-1 - \lambda &amp; a^2\\&#10;-b &amp; -a^2 - \lambda&#10;\end{vmatrix}&#10;= 0&#10;\end{flalign*}&#10;Expanding the determinant we obtain:&#10;$\lambda^2 + \lambda(a^2 + 1 - b) + a^2 = 0&#10;$&#10;which has roots:&#10;\begin{flalign*}&#10;\lambda =  \frac{1}{2}&#10;\left ( (b - a^2 - 1) \pm \sqrt{(b-a^2-1)^2 -4a^2 } \right )&#10;\end{flalign*}&#10;$$&#10;\text{Therefore if: } &#10;\begin{cases}&#10;%b &gt; a^2 + 1 &amp; \text{ the system is unstable} &#10;         %BE CAREFUL, NON-linear terms become important\\ &#10;b \le a^2 + 1 &amp; \text{ the system is oscillatory} \\&#10;b &lt; a^2 + 1 &amp; \text{ oscillatory and decaying.}&#10;\end{cases}&#10;$$&#10;&#10;\end{sf}&#10;\end{document}" title="IguanaTex Picture Display">
            <a:extLst>
              <a:ext uri="{FF2B5EF4-FFF2-40B4-BE49-F238E27FC236}">
                <a16:creationId xmlns:a16="http://schemas.microsoft.com/office/drawing/2014/main" id="{8B427112-0758-291C-DF1F-D4AFDFE7ECD8}"/>
              </a:ext>
            </a:extLst>
          </p:cNvPr>
          <p:cNvPicPr>
            <a:picLocks noChangeAspect="1"/>
          </p:cNvPicPr>
          <p:nvPr>
            <p:custDataLst>
              <p:tags r:id="rId1"/>
            </p:custDataLst>
          </p:nvPr>
        </p:nvPicPr>
        <p:blipFill>
          <a:blip r:embed="rId4"/>
          <a:stretch>
            <a:fillRect/>
          </a:stretch>
        </p:blipFill>
        <p:spPr>
          <a:xfrm>
            <a:off x="682155" y="1471157"/>
            <a:ext cx="7825434" cy="4407410"/>
          </a:xfrm>
          <a:prstGeom prst="rect">
            <a:avLst/>
          </a:prstGeom>
        </p:spPr>
      </p:pic>
      <p:sp>
        <p:nvSpPr>
          <p:cNvPr id="37" name="Footer Placeholder 36">
            <a:extLst>
              <a:ext uri="{FF2B5EF4-FFF2-40B4-BE49-F238E27FC236}">
                <a16:creationId xmlns:a16="http://schemas.microsoft.com/office/drawing/2014/main" id="{755D8014-D02D-652E-0EA1-ED21E8D75A44}"/>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82D79E7A-1871-5C85-EDDA-9252D5C559D9}"/>
              </a:ext>
            </a:extLst>
          </p:cNvPr>
          <p:cNvSpPr>
            <a:spLocks noGrp="1"/>
          </p:cNvSpPr>
          <p:nvPr>
            <p:ph type="sldNum" sz="quarter" idx="12"/>
          </p:nvPr>
        </p:nvSpPr>
        <p:spPr/>
        <p:txBody>
          <a:bodyPr/>
          <a:lstStyle/>
          <a:p>
            <a:fld id="{02E52F69-22B0-9141-B095-D977E71C7FB4}" type="slidenum">
              <a:rPr lang="en-US" smtClean="0"/>
              <a:t>13</a:t>
            </a:fld>
            <a:endParaRPr lang="en-US"/>
          </a:p>
        </p:txBody>
      </p:sp>
      <p:sp>
        <p:nvSpPr>
          <p:cNvPr id="39" name="Date Placeholder 38">
            <a:extLst>
              <a:ext uri="{FF2B5EF4-FFF2-40B4-BE49-F238E27FC236}">
                <a16:creationId xmlns:a16="http://schemas.microsoft.com/office/drawing/2014/main" id="{ADE684C5-0053-9E14-62EC-5BFD3294BC4D}"/>
              </a:ext>
            </a:extLst>
          </p:cNvPr>
          <p:cNvSpPr>
            <a:spLocks noGrp="1"/>
          </p:cNvSpPr>
          <p:nvPr>
            <p:ph type="dt" sz="half" idx="10"/>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236436218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2F433-8168-B812-A18A-B9B54A7AA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E2092-F5FF-6ACD-8116-BEFA60F3E256}"/>
              </a:ext>
            </a:extLst>
          </p:cNvPr>
          <p:cNvSpPr>
            <a:spLocks noGrp="1"/>
          </p:cNvSpPr>
          <p:nvPr>
            <p:ph type="title"/>
          </p:nvPr>
        </p:nvSpPr>
        <p:spPr>
          <a:xfrm>
            <a:off x="838200" y="365125"/>
            <a:ext cx="10515600" cy="764231"/>
          </a:xfrm>
        </p:spPr>
        <p:txBody>
          <a:bodyPr>
            <a:normAutofit/>
          </a:bodyPr>
          <a:lstStyle/>
          <a:p>
            <a:r>
              <a:rPr lang="en-US" dirty="0"/>
              <a:t>The </a:t>
            </a:r>
            <a:r>
              <a:rPr lang="en-US" dirty="0" err="1"/>
              <a:t>Brusselator</a:t>
            </a:r>
            <a:r>
              <a:rPr lang="en-US" dirty="0"/>
              <a:t> -- Results		</a:t>
            </a:r>
          </a:p>
        </p:txBody>
      </p:sp>
      <p:sp>
        <p:nvSpPr>
          <p:cNvPr id="37" name="Footer Placeholder 36">
            <a:extLst>
              <a:ext uri="{FF2B5EF4-FFF2-40B4-BE49-F238E27FC236}">
                <a16:creationId xmlns:a16="http://schemas.microsoft.com/office/drawing/2014/main" id="{4ECFD580-C2A7-A959-AEAD-C50B50DD1E1D}"/>
              </a:ext>
            </a:extLst>
          </p:cNvPr>
          <p:cNvSpPr>
            <a:spLocks noGrp="1"/>
          </p:cNvSpPr>
          <p:nvPr>
            <p:ph type="ftr" sz="quarter" idx="11"/>
          </p:nvPr>
        </p:nvSpPr>
        <p:spPr/>
        <p:txBody>
          <a:bodyPr/>
          <a:lstStyle/>
          <a:p>
            <a:r>
              <a:rPr lang="en-US"/>
              <a:t>U3AC 2026</a:t>
            </a:r>
          </a:p>
        </p:txBody>
      </p:sp>
      <p:sp>
        <p:nvSpPr>
          <p:cNvPr id="38" name="Slide Number Placeholder 37">
            <a:extLst>
              <a:ext uri="{FF2B5EF4-FFF2-40B4-BE49-F238E27FC236}">
                <a16:creationId xmlns:a16="http://schemas.microsoft.com/office/drawing/2014/main" id="{395B91D9-67A2-DF0C-D9A8-58992F55077C}"/>
              </a:ext>
            </a:extLst>
          </p:cNvPr>
          <p:cNvSpPr>
            <a:spLocks noGrp="1"/>
          </p:cNvSpPr>
          <p:nvPr>
            <p:ph type="sldNum" sz="quarter" idx="12"/>
          </p:nvPr>
        </p:nvSpPr>
        <p:spPr/>
        <p:txBody>
          <a:bodyPr/>
          <a:lstStyle/>
          <a:p>
            <a:fld id="{02E52F69-22B0-9141-B095-D977E71C7FB4}" type="slidenum">
              <a:rPr lang="en-US" smtClean="0"/>
              <a:t>14</a:t>
            </a:fld>
            <a:endParaRPr lang="en-US"/>
          </a:p>
        </p:txBody>
      </p:sp>
      <p:sp>
        <p:nvSpPr>
          <p:cNvPr id="39" name="Date Placeholder 38">
            <a:extLst>
              <a:ext uri="{FF2B5EF4-FFF2-40B4-BE49-F238E27FC236}">
                <a16:creationId xmlns:a16="http://schemas.microsoft.com/office/drawing/2014/main" id="{782A19D4-86AC-81E6-085F-42CFF0FC3469}"/>
              </a:ext>
            </a:extLst>
          </p:cNvPr>
          <p:cNvSpPr>
            <a:spLocks noGrp="1"/>
          </p:cNvSpPr>
          <p:nvPr>
            <p:ph type="dt" sz="half" idx="10"/>
          </p:nvPr>
        </p:nvSpPr>
        <p:spPr/>
        <p:txBody>
          <a:bodyPr/>
          <a:lstStyle/>
          <a:p>
            <a:fld id="{878483A1-F101-374A-B4A4-F79795DB47B2}" type="datetime1">
              <a:rPr lang="en-GB" smtClean="0"/>
              <a:t>27/09/2026</a:t>
            </a:fld>
            <a:endParaRPr lang="en-US"/>
          </a:p>
        </p:txBody>
      </p:sp>
      <p:sp>
        <p:nvSpPr>
          <p:cNvPr id="3" name="TextBox 2">
            <a:extLst>
              <a:ext uri="{FF2B5EF4-FFF2-40B4-BE49-F238E27FC236}">
                <a16:creationId xmlns:a16="http://schemas.microsoft.com/office/drawing/2014/main" id="{531159EE-4173-E9AD-37C1-C46A28E3DB1D}"/>
              </a:ext>
            </a:extLst>
          </p:cNvPr>
          <p:cNvSpPr txBox="1"/>
          <p:nvPr/>
        </p:nvSpPr>
        <p:spPr>
          <a:xfrm>
            <a:off x="9746673" y="5754211"/>
            <a:ext cx="2445327" cy="738664"/>
          </a:xfrm>
          <a:prstGeom prst="rect">
            <a:avLst/>
          </a:prstGeom>
          <a:noFill/>
        </p:spPr>
        <p:txBody>
          <a:bodyPr wrap="square" rtlCol="0">
            <a:spAutoFit/>
          </a:bodyPr>
          <a:lstStyle/>
          <a:p>
            <a:r>
              <a:rPr lang="en-US" sz="1400" dirty="0">
                <a:hlinkClick r:id="rId3"/>
              </a:rPr>
              <a:t>https://colab.research.google.com/drive/</a:t>
            </a:r>
            <a:r>
              <a:rPr lang="en-US" sz="1400" dirty="0"/>
              <a:t> </a:t>
            </a:r>
            <a:r>
              <a:rPr lang="en-US" sz="1400" dirty="0" err="1"/>
              <a:t>Brusselator.ipynb</a:t>
            </a:r>
            <a:endParaRPr lang="en-US" sz="1400" dirty="0"/>
          </a:p>
        </p:txBody>
      </p:sp>
      <p:pic>
        <p:nvPicPr>
          <p:cNvPr id="5" name="Picture 4">
            <a:extLst>
              <a:ext uri="{FF2B5EF4-FFF2-40B4-BE49-F238E27FC236}">
                <a16:creationId xmlns:a16="http://schemas.microsoft.com/office/drawing/2014/main" id="{31FC73CF-3341-FA19-932C-6A560BC95F21}"/>
              </a:ext>
            </a:extLst>
          </p:cNvPr>
          <p:cNvPicPr>
            <a:picLocks noChangeAspect="1"/>
          </p:cNvPicPr>
          <p:nvPr/>
        </p:nvPicPr>
        <p:blipFill>
          <a:blip r:embed="rId4"/>
          <a:stretch>
            <a:fillRect/>
          </a:stretch>
        </p:blipFill>
        <p:spPr>
          <a:xfrm>
            <a:off x="609600" y="1129356"/>
            <a:ext cx="7772400" cy="5755222"/>
          </a:xfrm>
          <a:prstGeom prst="rect">
            <a:avLst/>
          </a:prstGeom>
        </p:spPr>
      </p:pic>
    </p:spTree>
    <p:extLst>
      <p:ext uri="{BB962C8B-B14F-4D97-AF65-F5344CB8AC3E}">
        <p14:creationId xmlns:p14="http://schemas.microsoft.com/office/powerpoint/2010/main" val="18605316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E0347-3FE7-4FBC-88E5-86A16DFA632C}"/>
              </a:ext>
            </a:extLst>
          </p:cNvPr>
          <p:cNvSpPr>
            <a:spLocks noGrp="1"/>
          </p:cNvSpPr>
          <p:nvPr>
            <p:ph type="title"/>
          </p:nvPr>
        </p:nvSpPr>
        <p:spPr/>
        <p:txBody>
          <a:bodyPr/>
          <a:lstStyle/>
          <a:p>
            <a:r>
              <a:rPr lang="en-US" dirty="0"/>
              <a:t>The </a:t>
            </a:r>
            <a:r>
              <a:rPr lang="en-US" dirty="0" err="1"/>
              <a:t>Oreganator</a:t>
            </a:r>
            <a:r>
              <a:rPr lang="en-US" dirty="0"/>
              <a:t> (</a:t>
            </a:r>
            <a:r>
              <a:rPr lang="en-US" dirty="0" err="1"/>
              <a:t>i</a:t>
            </a:r>
            <a:r>
              <a:rPr lang="en-US" dirty="0"/>
              <a:t>)</a:t>
            </a:r>
          </a:p>
        </p:txBody>
      </p:sp>
      <p:sp>
        <p:nvSpPr>
          <p:cNvPr id="4" name="Date Placeholder 3">
            <a:extLst>
              <a:ext uri="{FF2B5EF4-FFF2-40B4-BE49-F238E27FC236}">
                <a16:creationId xmlns:a16="http://schemas.microsoft.com/office/drawing/2014/main" id="{B694A5CA-E656-4162-5AD2-7AD639E97733}"/>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6E87CFE9-6BD7-C05E-EBFE-0255A767E21F}"/>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704E22BF-0536-A671-475F-915B737992B3}"/>
              </a:ext>
            </a:extLst>
          </p:cNvPr>
          <p:cNvSpPr>
            <a:spLocks noGrp="1"/>
          </p:cNvSpPr>
          <p:nvPr>
            <p:ph type="sldNum" sz="quarter" idx="12"/>
          </p:nvPr>
        </p:nvSpPr>
        <p:spPr/>
        <p:txBody>
          <a:bodyPr/>
          <a:lstStyle/>
          <a:p>
            <a:fld id="{02E52F69-22B0-9141-B095-D977E71C7FB4}" type="slidenum">
              <a:rPr lang="en-US" smtClean="0"/>
              <a:t>15</a:t>
            </a:fld>
            <a:endParaRPr lang="en-US"/>
          </a:p>
        </p:txBody>
      </p:sp>
      <p:pic>
        <p:nvPicPr>
          <p:cNvPr id="13" name="Picture 12" descr="\documentclass{article}&#10;\usepackage{amsmath}&#10;\usepackage[version=4]{mhchem}\usepackage[margin=0in,paperwidth=5in,verbose,marginparwidth=0pt,marginparsep=0pt]{geometry}&#10;&#10;\pagestyle{empty}&#10;\begin{document}&#10;\begin{sf}&#10;&#10;\hspace*{5cm}&#10;\fbox{{\bf Field,RJ and Noyes, RM} 1973,\\&#10;Dept Chem, U Oregon&#10;}&#10;&#10;\bigskip \ \\&#10;{\bf PROCESS A} \\&#10;\ce{&#10;Br- + BrO3- + 2H+ -&gt; HBrO2 + HOBr \\&#10;Br- + HBrO2 + H+ -&gt; 2HOBr \\&#10;3 \times (Br- + HOBr + H+ -&gt; Br2+ H2O) \\&#10;3 \times (Br2 + CH2(COOH)2 -&gt; BrCH(COOH)2 + Br- + H+)&#10;}&#10;\medskip&#10;\hrule&#10;\ \\&#10;\ce{2Br- + BrO3- + 3H+ + 3CH2(COOH)2 -&gt; 3BrCH(COOH)2 + 3H2O}&#10;&#10;%%%%%%%%%%%%%%%%%%%%%%%%%%%%%%%%%%%&#10;\bigskip&#10;{\bf PROCESS B}\\&#10;\ce{&#10;BrO3- + HBr02 + H+ -&gt; 2Br02 + H20 \\&#10;2 \times (Ce^{(III)} + BrO2+ + H+ -&gt; Ce^{(IV)} + H20 +HBr02)&#10;}&#10;\medskip&#10;\hrule&#10;\ \\&#10;\ce{&#10;2Ce^{(III)} + BrO3- + HBrO2 + 3H+ -&gt; 2Ce^{(IV)} + H2O + 2HBrO2 (G)\\&#10;2HBrO2 -&gt; HOBr + BrO3- + H+&#10;}&#10;&#10;\end{sf}&#10;\end{document}" title="IguanaTex Picture Display">
            <a:extLst>
              <a:ext uri="{FF2B5EF4-FFF2-40B4-BE49-F238E27FC236}">
                <a16:creationId xmlns:a16="http://schemas.microsoft.com/office/drawing/2014/main" id="{2F7E30D1-2B52-9DC9-AE11-99AAD6CE257E}"/>
              </a:ext>
            </a:extLst>
          </p:cNvPr>
          <p:cNvPicPr>
            <a:picLocks noChangeAspect="1"/>
          </p:cNvPicPr>
          <p:nvPr>
            <p:custDataLst>
              <p:tags r:id="rId1"/>
            </p:custDataLst>
          </p:nvPr>
        </p:nvPicPr>
        <p:blipFill>
          <a:blip r:embed="rId3"/>
          <a:stretch>
            <a:fillRect/>
          </a:stretch>
        </p:blipFill>
        <p:spPr>
          <a:xfrm>
            <a:off x="1265383" y="1625801"/>
            <a:ext cx="9467696" cy="4502501"/>
          </a:xfrm>
          <a:prstGeom prst="rect">
            <a:avLst/>
          </a:prstGeom>
        </p:spPr>
      </p:pic>
    </p:spTree>
    <p:extLst>
      <p:ext uri="{BB962C8B-B14F-4D97-AF65-F5344CB8AC3E}">
        <p14:creationId xmlns:p14="http://schemas.microsoft.com/office/powerpoint/2010/main" val="29377331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5652-2F84-762C-37F3-77EFA082C23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0C353DC-32DF-F763-A9FF-A3E7334942A6}"/>
              </a:ext>
            </a:extLst>
          </p:cNvPr>
          <p:cNvPicPr>
            <a:picLocks noChangeAspect="1"/>
          </p:cNvPicPr>
          <p:nvPr/>
        </p:nvPicPr>
        <p:blipFill>
          <a:blip r:embed="rId4"/>
          <a:stretch>
            <a:fillRect/>
          </a:stretch>
        </p:blipFill>
        <p:spPr>
          <a:xfrm>
            <a:off x="8031564" y="365125"/>
            <a:ext cx="4544979" cy="3594395"/>
          </a:xfrm>
          <a:prstGeom prst="rect">
            <a:avLst/>
          </a:prstGeom>
        </p:spPr>
      </p:pic>
      <p:sp>
        <p:nvSpPr>
          <p:cNvPr id="2" name="Title 1">
            <a:extLst>
              <a:ext uri="{FF2B5EF4-FFF2-40B4-BE49-F238E27FC236}">
                <a16:creationId xmlns:a16="http://schemas.microsoft.com/office/drawing/2014/main" id="{D9368569-BD33-790A-7272-0E8A5B225364}"/>
              </a:ext>
            </a:extLst>
          </p:cNvPr>
          <p:cNvSpPr>
            <a:spLocks noGrp="1"/>
          </p:cNvSpPr>
          <p:nvPr>
            <p:ph type="title"/>
          </p:nvPr>
        </p:nvSpPr>
        <p:spPr/>
        <p:txBody>
          <a:bodyPr/>
          <a:lstStyle/>
          <a:p>
            <a:r>
              <a:rPr lang="en-US" dirty="0"/>
              <a:t>The </a:t>
            </a:r>
            <a:r>
              <a:rPr lang="en-US" dirty="0" err="1"/>
              <a:t>Oreganator</a:t>
            </a:r>
            <a:r>
              <a:rPr lang="en-US" dirty="0"/>
              <a:t> (ii)</a:t>
            </a:r>
          </a:p>
        </p:txBody>
      </p:sp>
      <p:sp>
        <p:nvSpPr>
          <p:cNvPr id="4" name="Date Placeholder 3">
            <a:extLst>
              <a:ext uri="{FF2B5EF4-FFF2-40B4-BE49-F238E27FC236}">
                <a16:creationId xmlns:a16="http://schemas.microsoft.com/office/drawing/2014/main" id="{02940BA8-73BD-623A-F347-20FC79E6D214}"/>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629D0CCF-1784-6FD6-A38F-D07EB5D39A22}"/>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1A64DAF4-E6E1-AB6A-88F9-FDB5DE1A6D92}"/>
              </a:ext>
            </a:extLst>
          </p:cNvPr>
          <p:cNvSpPr>
            <a:spLocks noGrp="1"/>
          </p:cNvSpPr>
          <p:nvPr>
            <p:ph type="sldNum" sz="quarter" idx="12"/>
          </p:nvPr>
        </p:nvSpPr>
        <p:spPr/>
        <p:txBody>
          <a:bodyPr/>
          <a:lstStyle/>
          <a:p>
            <a:fld id="{02E52F69-22B0-9141-B095-D977E71C7FB4}" type="slidenum">
              <a:rPr lang="en-US" smtClean="0"/>
              <a:t>16</a:t>
            </a:fld>
            <a:endParaRPr lang="en-US"/>
          </a:p>
        </p:txBody>
      </p:sp>
      <p:pic>
        <p:nvPicPr>
          <p:cNvPr id="7" name="Picture 6" descr="\documentclass{article}&#10;\usepackage{amsmath}&#10;\usepackage[version=4]{mhchem}\usepackage[margin=0in,paperwidth=5in,verbose,marginparwidth=0pt,marginparsep=0pt]{geometry}&#10;&#10;\pagestyle{empty}&#10;\begin{document}&#10;\begin{sf}&#10;&#10;\begin{align}&#10;\text{I} \quad &amp; A+Y \longrightarrow X+P \\[5pt]&#10;\text{II} \quad &amp; X+Y \longrightarrow 2P \\[5pt]&#10;\text{III} \quad &amp; A+X \longrightarrow 2X+2Z \\[5pt]&#10;\text{IV} \quad &amp; 2X \longrightarrow A+P \\[5pt]&#10;\text{V} \quad &amp; B+Z \longrightarrow \frac 1 2 f Y \\[5pt]&#10;&amp; \frac{d [X]}{dt}=  k_I [A] [Y] - k_{II} [X] [Y] + k_{III} [A] [X] - 2k_{IV} [X]^2 \\[5pt]&#10;&amp; \frac{d [Y]}{dt}= -k_I [A] [Y] - k_{II} [X] [Y] + \frac{1}{2}f k_V [B] [Z] \\[5pt]&#10;&amp; \frac{d [Z]}{dt}=  2k_{III} [A] [X] - k_V [B] [Z]&#10;\end{align}&#10;&#10;\end{sf}&#10;\end{document}" title="IguanaTex Picture Display">
            <a:extLst>
              <a:ext uri="{FF2B5EF4-FFF2-40B4-BE49-F238E27FC236}">
                <a16:creationId xmlns:a16="http://schemas.microsoft.com/office/drawing/2014/main" id="{1AF5A308-B9DA-21C4-6B85-A896F49899C9}"/>
              </a:ext>
            </a:extLst>
          </p:cNvPr>
          <p:cNvPicPr>
            <a:picLocks noChangeAspect="1"/>
          </p:cNvPicPr>
          <p:nvPr>
            <p:custDataLst>
              <p:tags r:id="rId1"/>
            </p:custDataLst>
          </p:nvPr>
        </p:nvPicPr>
        <p:blipFill>
          <a:blip r:embed="rId5"/>
          <a:stretch>
            <a:fillRect/>
          </a:stretch>
        </p:blipFill>
        <p:spPr>
          <a:xfrm>
            <a:off x="1279237" y="1667164"/>
            <a:ext cx="6987844" cy="4339742"/>
          </a:xfrm>
          <a:prstGeom prst="rect">
            <a:avLst/>
          </a:prstGeom>
        </p:spPr>
      </p:pic>
    </p:spTree>
    <p:extLst>
      <p:ext uri="{BB962C8B-B14F-4D97-AF65-F5344CB8AC3E}">
        <p14:creationId xmlns:p14="http://schemas.microsoft.com/office/powerpoint/2010/main" val="347844314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Chaos and beauty in a beaker: The early history of the Belousov‐Zhabotinsky reaction</a:t>
            </a:r>
          </a:p>
        </p:txBody>
      </p:sp>
      <p:sp>
        <p:nvSpPr>
          <p:cNvPr id="45" name="TextShape 2"/>
          <p:cNvSpPr txBox="1"/>
          <p:nvPr/>
        </p:nvSpPr>
        <p:spPr>
          <a:xfrm>
            <a:off x="1884000" y="5940000"/>
            <a:ext cx="8640000" cy="451800"/>
          </a:xfrm>
          <a:prstGeom prst="rect">
            <a:avLst/>
          </a:prstGeom>
          <a:noFill/>
          <a:ln>
            <a:noFill/>
          </a:ln>
        </p:spPr>
        <p:txBody>
          <a:bodyPr lIns="90000" tIns="45000" rIns="90000" bIns="45000"/>
          <a:lstStyle/>
          <a:p>
            <a:r>
              <a:rPr lang="en-US" sz="800" b="1" spc="-1">
                <a:solidFill>
                  <a:srgbClr val="0054A6"/>
                </a:solidFill>
                <a:latin typeface="Arial"/>
              </a:rPr>
              <a:t>Annalen der Physik, Volume: 528, Issue: 3-4, Pages: 233-237, First published: 05 April 2016, DOI: (10.1002/andp.201600025) </a:t>
            </a:r>
            <a:endParaRPr lang="en-US" sz="800" spc="-1">
              <a:solidFill>
                <a:srgbClr val="000000"/>
              </a:solidFill>
              <a:latin typeface="Arial"/>
            </a:endParaRPr>
          </a:p>
        </p:txBody>
      </p:sp>
      <p:pic>
        <p:nvPicPr>
          <p:cNvPr id="46" name="Main graphic"/>
          <p:cNvPicPr/>
          <p:nvPr/>
        </p:nvPicPr>
        <p:blipFill>
          <a:blip r:embed="rId3"/>
          <a:stretch/>
        </p:blipFill>
        <p:spPr>
          <a:xfrm>
            <a:off x="4202040" y="762120"/>
            <a:ext cx="3838680" cy="3809880"/>
          </a:xfrm>
          <a:prstGeom prst="rect">
            <a:avLst/>
          </a:prstGeom>
          <a:ln>
            <a:noFill/>
          </a:ln>
        </p:spPr>
      </p:pic>
    </p:spTree>
    <p:extLst>
      <p:ext uri="{BB962C8B-B14F-4D97-AF65-F5344CB8AC3E}">
        <p14:creationId xmlns:p14="http://schemas.microsoft.com/office/powerpoint/2010/main" val="2258644227"/>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25E8-4540-047D-57D5-663E928B46A2}"/>
              </a:ext>
            </a:extLst>
          </p:cNvPr>
          <p:cNvSpPr>
            <a:spLocks noGrp="1"/>
          </p:cNvSpPr>
          <p:nvPr>
            <p:ph type="title"/>
          </p:nvPr>
        </p:nvSpPr>
        <p:spPr/>
        <p:txBody>
          <a:bodyPr/>
          <a:lstStyle/>
          <a:p>
            <a:r>
              <a:rPr lang="en-US" dirty="0"/>
              <a:t>Some Applications related to eigenvalues</a:t>
            </a:r>
          </a:p>
        </p:txBody>
      </p:sp>
      <p:sp>
        <p:nvSpPr>
          <p:cNvPr id="3" name="Content Placeholder 2">
            <a:extLst>
              <a:ext uri="{FF2B5EF4-FFF2-40B4-BE49-F238E27FC236}">
                <a16:creationId xmlns:a16="http://schemas.microsoft.com/office/drawing/2014/main" id="{7F53FC7D-A383-E04D-5490-30BA3D4A0F25}"/>
              </a:ext>
            </a:extLst>
          </p:cNvPr>
          <p:cNvSpPr>
            <a:spLocks noGrp="1"/>
          </p:cNvSpPr>
          <p:nvPr>
            <p:ph idx="1"/>
          </p:nvPr>
        </p:nvSpPr>
        <p:spPr/>
        <p:txBody>
          <a:bodyPr>
            <a:normAutofit fontScale="92500" lnSpcReduction="20000"/>
          </a:bodyPr>
          <a:lstStyle/>
          <a:p>
            <a:r>
              <a:rPr lang="en-US" dirty="0"/>
              <a:t>Principal Component Analysis</a:t>
            </a:r>
          </a:p>
          <a:p>
            <a:pPr lvl="1"/>
            <a:r>
              <a:rPr lang="en-US" dirty="0"/>
              <a:t>What variables are important in a system</a:t>
            </a:r>
          </a:p>
          <a:p>
            <a:r>
              <a:rPr lang="en-US" dirty="0"/>
              <a:t>Engineering modelling</a:t>
            </a:r>
          </a:p>
          <a:p>
            <a:pPr lvl="1"/>
            <a:r>
              <a:rPr lang="en-US" dirty="0"/>
              <a:t>Fluid dynamics</a:t>
            </a:r>
          </a:p>
          <a:p>
            <a:pPr lvl="2"/>
            <a:r>
              <a:rPr lang="en-US" dirty="0"/>
              <a:t>Will this device: melt/freeze/explode</a:t>
            </a:r>
          </a:p>
          <a:p>
            <a:pPr lvl="1"/>
            <a:r>
              <a:rPr lang="en-US" dirty="0"/>
              <a:t>Structural Dynamics</a:t>
            </a:r>
          </a:p>
          <a:p>
            <a:pPr lvl="2"/>
            <a:r>
              <a:rPr lang="en-US" dirty="0"/>
              <a:t>How strong does this need to be</a:t>
            </a:r>
          </a:p>
          <a:p>
            <a:pPr lvl="2"/>
            <a:r>
              <a:rPr lang="en-US" dirty="0"/>
              <a:t>Will it shake itself to bits</a:t>
            </a:r>
          </a:p>
          <a:p>
            <a:pPr lvl="2"/>
            <a:r>
              <a:rPr lang="en-US" dirty="0"/>
              <a:t>Will cracks grow catastrophically? </a:t>
            </a:r>
          </a:p>
          <a:p>
            <a:r>
              <a:rPr lang="en-US" dirty="0"/>
              <a:t>Control theory</a:t>
            </a:r>
          </a:p>
          <a:p>
            <a:pPr lvl="1"/>
            <a:r>
              <a:rPr lang="en-US" dirty="0"/>
              <a:t>Can a system be controlled?</a:t>
            </a:r>
          </a:p>
          <a:p>
            <a:pPr lvl="2"/>
            <a:r>
              <a:rPr lang="en-US" dirty="0"/>
              <a:t>Central heating/Aircraft/Toothpaste manufacture/Infections</a:t>
            </a:r>
          </a:p>
          <a:p>
            <a:pPr lvl="2"/>
            <a:r>
              <a:rPr lang="en-US" dirty="0"/>
              <a:t>What about the UK economy?</a:t>
            </a:r>
          </a:p>
          <a:p>
            <a:pPr lvl="2"/>
            <a:endParaRPr lang="en-US" dirty="0"/>
          </a:p>
        </p:txBody>
      </p:sp>
      <p:sp>
        <p:nvSpPr>
          <p:cNvPr id="4" name="Date Placeholder 3">
            <a:extLst>
              <a:ext uri="{FF2B5EF4-FFF2-40B4-BE49-F238E27FC236}">
                <a16:creationId xmlns:a16="http://schemas.microsoft.com/office/drawing/2014/main" id="{344FED0B-81CC-A295-2521-89D936B5D7D0}"/>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5708FD8E-2CFF-9997-E259-A5CA58AB46CE}"/>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11CD768E-D19B-F491-2986-D0FABEFED2AA}"/>
              </a:ext>
            </a:extLst>
          </p:cNvPr>
          <p:cNvSpPr>
            <a:spLocks noGrp="1"/>
          </p:cNvSpPr>
          <p:nvPr>
            <p:ph type="sldNum" sz="quarter" idx="12"/>
          </p:nvPr>
        </p:nvSpPr>
        <p:spPr/>
        <p:txBody>
          <a:bodyPr/>
          <a:lstStyle/>
          <a:p>
            <a:fld id="{02E52F69-22B0-9141-B095-D977E71C7FB4}" type="slidenum">
              <a:rPr lang="en-US" smtClean="0"/>
              <a:t>18</a:t>
            </a:fld>
            <a:endParaRPr lang="en-US"/>
          </a:p>
        </p:txBody>
      </p:sp>
    </p:spTree>
    <p:extLst>
      <p:ext uri="{BB962C8B-B14F-4D97-AF65-F5344CB8AC3E}">
        <p14:creationId xmlns:p14="http://schemas.microsoft.com/office/powerpoint/2010/main" val="38297259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F0001-06B1-6CD7-5279-366B6C4B7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5BE00-FD78-2D8C-23E7-C07D4B9271E6}"/>
              </a:ext>
            </a:extLst>
          </p:cNvPr>
          <p:cNvSpPr>
            <a:spLocks noGrp="1"/>
          </p:cNvSpPr>
          <p:nvPr>
            <p:ph type="title"/>
          </p:nvPr>
        </p:nvSpPr>
        <p:spPr/>
        <p:txBody>
          <a:bodyPr/>
          <a:lstStyle/>
          <a:p>
            <a:r>
              <a:rPr lang="en-US" dirty="0"/>
              <a:t>“Open Questions”</a:t>
            </a:r>
          </a:p>
        </p:txBody>
      </p:sp>
      <p:sp>
        <p:nvSpPr>
          <p:cNvPr id="4" name="Date Placeholder 3">
            <a:extLst>
              <a:ext uri="{FF2B5EF4-FFF2-40B4-BE49-F238E27FC236}">
                <a16:creationId xmlns:a16="http://schemas.microsoft.com/office/drawing/2014/main" id="{BC9640B9-7BB3-6DAA-1301-0E3BDD88D5D4}"/>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7D69F686-82C0-83C8-7497-156C019C354F}"/>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B106BA49-3FF9-B78C-9AE0-E32CDDF7E305}"/>
              </a:ext>
            </a:extLst>
          </p:cNvPr>
          <p:cNvSpPr>
            <a:spLocks noGrp="1"/>
          </p:cNvSpPr>
          <p:nvPr>
            <p:ph type="sldNum" sz="quarter" idx="12"/>
          </p:nvPr>
        </p:nvSpPr>
        <p:spPr/>
        <p:txBody>
          <a:bodyPr/>
          <a:lstStyle/>
          <a:p>
            <a:fld id="{02E52F69-22B0-9141-B095-D977E71C7FB4}" type="slidenum">
              <a:rPr lang="en-US" smtClean="0"/>
              <a:t>19</a:t>
            </a:fld>
            <a:endParaRPr lang="en-US"/>
          </a:p>
        </p:txBody>
      </p:sp>
      <p:pic>
        <p:nvPicPr>
          <p:cNvPr id="14" name="Picture 13" descr="\documentclass{article}&#10;\usepackage{amsmath}&#10;\pagestyle{empty}&#10;\begin{document}&#10;\begin{sf}&#10;&#10;\begin{itemize}&#10;&#9;\item Do we want to solve $Ax = b$ exactly?&#10;&#9;\begin{itemize}&#10;&#9;&#9;\item Probably not (in an engineering world!).&#10;&#9;&#9;\item Our models ($A$), measurements ($b$), and our arithmetic are &#9;&#9;&#9;approximate.&#10;&#9;\end{itemize}&#10;&#9;\item How does a solution method work on a real computer?&#10;&#9;\begin{itemize}&#10;&#9;&#9;\item How accurate is it?&#10;         \item How much work is involved?&#10;&#9;&#9;\item What happens to numerical (round-off) errors?&#10;&#9;\end{itemize}&#10;&#9;\item Special (and interesting!) matrices with fast solution methods?&#10;&#9;\item Are matrices singular? What happens if &#10;&#9;&#9;$\begin{vmatrix} A \end{vmatrix}$ is very small?&#10;\end{itemize}&#10;&#10;\end{sf}&#10;\end{document}" title="IguanaTex Picture Display">
            <a:extLst>
              <a:ext uri="{FF2B5EF4-FFF2-40B4-BE49-F238E27FC236}">
                <a16:creationId xmlns:a16="http://schemas.microsoft.com/office/drawing/2014/main" id="{54F68698-1A9C-5292-35A1-393808FDE5A0}"/>
              </a:ext>
            </a:extLst>
          </p:cNvPr>
          <p:cNvPicPr>
            <a:picLocks noChangeAspect="1"/>
          </p:cNvPicPr>
          <p:nvPr>
            <p:custDataLst>
              <p:tags r:id="rId1"/>
            </p:custDataLst>
          </p:nvPr>
        </p:nvPicPr>
        <p:blipFill>
          <a:blip r:embed="rId3"/>
          <a:stretch>
            <a:fillRect/>
          </a:stretch>
        </p:blipFill>
        <p:spPr>
          <a:xfrm>
            <a:off x="840233" y="1584036"/>
            <a:ext cx="8310881" cy="4017264"/>
          </a:xfrm>
          <a:prstGeom prst="rect">
            <a:avLst/>
          </a:prstGeom>
        </p:spPr>
      </p:pic>
    </p:spTree>
    <p:extLst>
      <p:ext uri="{BB962C8B-B14F-4D97-AF65-F5344CB8AC3E}">
        <p14:creationId xmlns:p14="http://schemas.microsoft.com/office/powerpoint/2010/main" val="203802444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34B6-9AA4-2E7A-9D32-ED1281D54FF4}"/>
              </a:ext>
            </a:extLst>
          </p:cNvPr>
          <p:cNvSpPr>
            <a:spLocks noGrp="1"/>
          </p:cNvSpPr>
          <p:nvPr>
            <p:ph type="title"/>
          </p:nvPr>
        </p:nvSpPr>
        <p:spPr/>
        <p:txBody>
          <a:bodyPr/>
          <a:lstStyle/>
          <a:p>
            <a:pPr algn="ctr"/>
            <a:r>
              <a:rPr lang="en-US" dirty="0"/>
              <a:t>Thank you for your attention</a:t>
            </a:r>
            <a:br>
              <a:rPr lang="en-US" dirty="0"/>
            </a:br>
            <a:endParaRPr lang="en-US" dirty="0"/>
          </a:p>
        </p:txBody>
      </p:sp>
      <p:sp>
        <p:nvSpPr>
          <p:cNvPr id="3" name="Content Placeholder 2">
            <a:extLst>
              <a:ext uri="{FF2B5EF4-FFF2-40B4-BE49-F238E27FC236}">
                <a16:creationId xmlns:a16="http://schemas.microsoft.com/office/drawing/2014/main" id="{C97582A7-4D53-F284-32B1-336ACAC6DC18}"/>
              </a:ext>
            </a:extLst>
          </p:cNvPr>
          <p:cNvSpPr>
            <a:spLocks noGrp="1"/>
          </p:cNvSpPr>
          <p:nvPr>
            <p:ph sz="half" idx="1"/>
          </p:nvPr>
        </p:nvSpPr>
        <p:spPr/>
        <p:txBody>
          <a:bodyPr>
            <a:normAutofit/>
          </a:bodyPr>
          <a:lstStyle/>
          <a:p>
            <a:pPr marL="514350" indent="-514350">
              <a:buFont typeface="+mj-lt"/>
              <a:buAutoNum type="arabicPeriod"/>
            </a:pPr>
            <a:r>
              <a:rPr lang="en-GB" sz="1600" dirty="0" err="1"/>
              <a:t>Tyutyunov</a:t>
            </a:r>
            <a:r>
              <a:rPr lang="en-GB" sz="1600" dirty="0"/>
              <a:t>, Titova: From Lotka–Volterra to Arditi–Ginzburg: 90 Years of Evolving Trophic Functions, </a:t>
            </a:r>
            <a:r>
              <a:rPr lang="en-GB" sz="1600" dirty="0" err="1"/>
              <a:t>Biol</a:t>
            </a:r>
            <a:r>
              <a:rPr lang="en-GB" sz="1600" dirty="0"/>
              <a:t> Bull rev (2020)</a:t>
            </a:r>
          </a:p>
          <a:p>
            <a:pPr marL="514350" indent="-514350">
              <a:buFont typeface="+mj-lt"/>
              <a:buAutoNum type="arabicPeriod"/>
            </a:pPr>
            <a:r>
              <a:rPr lang="en-GB" sz="1600" dirty="0"/>
              <a:t>Rozenfeld, </a:t>
            </a:r>
            <a:r>
              <a:rPr lang="en-GB" sz="1600" dirty="0" err="1"/>
              <a:t>Albano:Critical</a:t>
            </a:r>
            <a:r>
              <a:rPr lang="en-GB" sz="1600" dirty="0"/>
              <a:t> and oscillatory </a:t>
            </a:r>
            <a:r>
              <a:rPr lang="en-GB" sz="1600" dirty="0" err="1"/>
              <a:t>behavior</a:t>
            </a:r>
            <a:r>
              <a:rPr lang="en-GB" sz="1600" dirty="0"/>
              <a:t> of a system of smart preys and predators Phys Rev E (2001)</a:t>
            </a:r>
          </a:p>
          <a:p>
            <a:pPr marL="514350" indent="-514350">
              <a:buFont typeface="+mj-lt"/>
              <a:buAutoNum type="arabicPeriod"/>
            </a:pPr>
            <a:r>
              <a:rPr lang="en-GB" sz="1600" dirty="0" err="1"/>
              <a:t>WinFree</a:t>
            </a:r>
            <a:r>
              <a:rPr lang="en-GB" sz="1600" dirty="0"/>
              <a:t>, AT: The Prehistory of the Belousov-</a:t>
            </a:r>
            <a:r>
              <a:rPr lang="en-GB" sz="1600" dirty="0" err="1"/>
              <a:t>Zhabotinsky</a:t>
            </a:r>
            <a:r>
              <a:rPr lang="en-GB" sz="1600" dirty="0"/>
              <a:t> Oscillator, J Chem Ed (1984)</a:t>
            </a:r>
          </a:p>
          <a:p>
            <a:pPr marL="514350" indent="-514350">
              <a:buFont typeface="+mj-lt"/>
              <a:buAutoNum type="arabicPeriod"/>
            </a:pPr>
            <a:r>
              <a:rPr lang="en-GB" sz="1600" dirty="0" err="1"/>
              <a:t>Kiprijanov</a:t>
            </a:r>
            <a:r>
              <a:rPr lang="en-GB" sz="1600" dirty="0"/>
              <a:t>, KS: Chaos and beauty in a beaker: The early history of the Belousov-</a:t>
            </a:r>
            <a:r>
              <a:rPr lang="en-GB" sz="1600" dirty="0" err="1"/>
              <a:t>Zhabotinsky</a:t>
            </a:r>
            <a:r>
              <a:rPr lang="en-GB" sz="1600" dirty="0"/>
              <a:t> reaction, Annalen der </a:t>
            </a:r>
            <a:r>
              <a:rPr lang="en-GB" sz="1600" dirty="0" err="1"/>
              <a:t>Physik</a:t>
            </a:r>
            <a:r>
              <a:rPr lang="en-GB" sz="1600" dirty="0"/>
              <a:t> (2016)</a:t>
            </a:r>
          </a:p>
          <a:p>
            <a:pPr marL="514350" indent="-514350">
              <a:buFont typeface="+mj-lt"/>
              <a:buAutoNum type="arabicPeriod"/>
            </a:pPr>
            <a:r>
              <a:rPr lang="en-GB" sz="1600" dirty="0"/>
              <a:t>﻿Prigogine, Lefever: Symmetry Breaking Instabilities in Dissipative Systems. II J Chem Phys (1968)</a:t>
            </a:r>
            <a:endParaRPr lang="en-GB" sz="1100" dirty="0"/>
          </a:p>
          <a:p>
            <a:pPr marL="514350" indent="-514350">
              <a:buFont typeface="+mj-lt"/>
              <a:buAutoNum type="arabicPeriod"/>
            </a:pPr>
            <a:r>
              <a:rPr lang="en-GB" sz="1600" dirty="0" err="1"/>
              <a:t>Yadeta</a:t>
            </a:r>
            <a:r>
              <a:rPr lang="en-GB" sz="1600" dirty="0"/>
              <a:t>, </a:t>
            </a:r>
            <a:r>
              <a:rPr lang="en-GB" sz="1600" dirty="0" err="1"/>
              <a:t>Firdi</a:t>
            </a:r>
            <a:r>
              <a:rPr lang="en-GB" sz="1600" dirty="0"/>
              <a:t>, </a:t>
            </a:r>
            <a:r>
              <a:rPr lang="en-GB" sz="1600" dirty="0" err="1"/>
              <a:t>Dufera</a:t>
            </a:r>
            <a:r>
              <a:rPr lang="en-GB" sz="1600" dirty="0"/>
              <a:t>: Analysis of Stability and Adaptive Control of </a:t>
            </a:r>
            <a:r>
              <a:rPr lang="en-GB" sz="1600" dirty="0" err="1"/>
              <a:t>Brusselator</a:t>
            </a:r>
            <a:r>
              <a:rPr lang="en-GB" sz="1600" dirty="0"/>
              <a:t> System in Maintained Chemical Reaction, J App Math (2026)</a:t>
            </a:r>
          </a:p>
          <a:p>
            <a:pPr marL="514350" indent="-514350">
              <a:buFont typeface="+mj-lt"/>
              <a:buAutoNum type="arabicPeriod"/>
            </a:pPr>
            <a:endParaRPr lang="en-US" dirty="0"/>
          </a:p>
        </p:txBody>
      </p:sp>
      <p:sp>
        <p:nvSpPr>
          <p:cNvPr id="4" name="Content Placeholder 3">
            <a:extLst>
              <a:ext uri="{FF2B5EF4-FFF2-40B4-BE49-F238E27FC236}">
                <a16:creationId xmlns:a16="http://schemas.microsoft.com/office/drawing/2014/main" id="{49F7D1DD-4C67-5987-1CCA-0AF981DECF3C}"/>
              </a:ext>
            </a:extLst>
          </p:cNvPr>
          <p:cNvSpPr>
            <a:spLocks noGrp="1"/>
          </p:cNvSpPr>
          <p:nvPr>
            <p:ph sz="half" idx="2"/>
          </p:nvPr>
        </p:nvSpPr>
        <p:spPr/>
        <p:txBody>
          <a:bodyPr>
            <a:normAutofit/>
          </a:bodyPr>
          <a:lstStyle/>
          <a:p>
            <a:pPr marL="514350" indent="-514350">
              <a:buFont typeface="+mj-lt"/>
              <a:buAutoNum type="arabicPeriod"/>
            </a:pPr>
            <a:r>
              <a:rPr lang="en-GB" sz="1800" dirty="0"/>
              <a:t>Field, Noyes: Oscillations in chemical systems. IV. Limit cycle </a:t>
            </a:r>
            <a:r>
              <a:rPr lang="en-GB" sz="1800" dirty="0" err="1"/>
              <a:t>behavior</a:t>
            </a:r>
            <a:r>
              <a:rPr lang="en-GB" sz="1800" dirty="0"/>
              <a:t> in a model of a real chemical reaction, J Chem Phys (1974)</a:t>
            </a:r>
          </a:p>
          <a:p>
            <a:pPr marL="514350" indent="-514350">
              <a:buFont typeface="+mj-lt"/>
              <a:buAutoNum type="arabicPeriod"/>
            </a:pPr>
            <a:r>
              <a:rPr lang="en-GB" sz="1800" dirty="0"/>
              <a:t>Turing: The Chemical Basis of Morphogenesis, Phil Trans R Soc </a:t>
            </a:r>
            <a:r>
              <a:rPr lang="en-GB" sz="1800" dirty="0" err="1"/>
              <a:t>Biol</a:t>
            </a:r>
            <a:r>
              <a:rPr lang="en-GB" sz="1800" dirty="0"/>
              <a:t> Sci(1952)</a:t>
            </a:r>
          </a:p>
          <a:p>
            <a:pPr marL="514350" indent="-514350">
              <a:buFont typeface="+mj-lt"/>
              <a:buAutoNum type="arabicPeriod"/>
            </a:pPr>
            <a:r>
              <a:rPr lang="en-GB" sz="1800" dirty="0"/>
              <a:t>Short, Pasour et al: A statistical model of criminal </a:t>
            </a:r>
            <a:r>
              <a:rPr lang="en-GB" sz="1800" dirty="0" err="1"/>
              <a:t>behavior</a:t>
            </a:r>
            <a:r>
              <a:rPr lang="en-GB" sz="1800" dirty="0"/>
              <a:t> Math Models &amp; Methods in App Sci(2008)</a:t>
            </a:r>
          </a:p>
          <a:p>
            <a:pPr marL="514350" indent="-514350">
              <a:buFont typeface="+mj-lt"/>
              <a:buAutoNum type="arabicPeriod"/>
            </a:pPr>
            <a:r>
              <a:rPr lang="en-GB" sz="1800" dirty="0"/>
              <a:t>Amin, R: Mathematical Model of Burglary : A Review IJERT(2019)</a:t>
            </a:r>
            <a:endParaRPr lang="en-GB" dirty="0"/>
          </a:p>
          <a:p>
            <a:pPr marL="0" indent="0">
              <a:buNone/>
            </a:pPr>
            <a:endParaRPr lang="en-GB" dirty="0"/>
          </a:p>
          <a:p>
            <a:endParaRPr lang="en-US" dirty="0"/>
          </a:p>
        </p:txBody>
      </p:sp>
      <p:sp>
        <p:nvSpPr>
          <p:cNvPr id="5" name="Date Placeholder 4">
            <a:extLst>
              <a:ext uri="{FF2B5EF4-FFF2-40B4-BE49-F238E27FC236}">
                <a16:creationId xmlns:a16="http://schemas.microsoft.com/office/drawing/2014/main" id="{B488F8B8-13B6-72BE-A1FE-52F15CDE9CF4}"/>
              </a:ext>
            </a:extLst>
          </p:cNvPr>
          <p:cNvSpPr>
            <a:spLocks noGrp="1"/>
          </p:cNvSpPr>
          <p:nvPr>
            <p:ph type="dt" sz="half" idx="10"/>
          </p:nvPr>
        </p:nvSpPr>
        <p:spPr/>
        <p:txBody>
          <a:bodyPr/>
          <a:lstStyle/>
          <a:p>
            <a:fld id="{1A984EE7-A60D-C640-8018-EDBB7F10E32A}" type="datetime1">
              <a:rPr lang="en-GB" smtClean="0"/>
              <a:t>27/09/2026</a:t>
            </a:fld>
            <a:endParaRPr lang="en-US"/>
          </a:p>
        </p:txBody>
      </p:sp>
      <p:sp>
        <p:nvSpPr>
          <p:cNvPr id="6" name="Footer Placeholder 5">
            <a:extLst>
              <a:ext uri="{FF2B5EF4-FFF2-40B4-BE49-F238E27FC236}">
                <a16:creationId xmlns:a16="http://schemas.microsoft.com/office/drawing/2014/main" id="{D0DAE3BA-3C13-0803-972E-79718E4EAC71}"/>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F4516B1F-C26D-E65C-EA64-DBE5DA485FC7}"/>
              </a:ext>
            </a:extLst>
          </p:cNvPr>
          <p:cNvSpPr>
            <a:spLocks noGrp="1"/>
          </p:cNvSpPr>
          <p:nvPr>
            <p:ph type="sldNum" sz="quarter" idx="12"/>
          </p:nvPr>
        </p:nvSpPr>
        <p:spPr/>
        <p:txBody>
          <a:bodyPr/>
          <a:lstStyle/>
          <a:p>
            <a:fld id="{02E52F69-22B0-9141-B095-D977E71C7FB4}" type="slidenum">
              <a:rPr lang="en-US" smtClean="0"/>
              <a:t>20</a:t>
            </a:fld>
            <a:endParaRPr lang="en-US"/>
          </a:p>
        </p:txBody>
      </p:sp>
    </p:spTree>
    <p:extLst>
      <p:ext uri="{BB962C8B-B14F-4D97-AF65-F5344CB8AC3E}">
        <p14:creationId xmlns:p14="http://schemas.microsoft.com/office/powerpoint/2010/main" val="1355727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F643A-0204-CE16-1521-6B06EDEBB884}"/>
              </a:ext>
            </a:extLst>
          </p:cNvPr>
          <p:cNvSpPr>
            <a:spLocks noGrp="1"/>
          </p:cNvSpPr>
          <p:nvPr>
            <p:ph idx="1"/>
          </p:nvPr>
        </p:nvSpPr>
        <p:spPr/>
        <p:txBody>
          <a:bodyPr>
            <a:normAutofit/>
          </a:bodyPr>
          <a:lstStyle/>
          <a:p>
            <a:pPr marL="0" indent="0" algn="ctr">
              <a:buNone/>
            </a:pPr>
            <a:r>
              <a:rPr lang="en-US" sz="4800" dirty="0"/>
              <a:t>Thank you for your attention</a:t>
            </a:r>
          </a:p>
        </p:txBody>
      </p:sp>
      <p:sp>
        <p:nvSpPr>
          <p:cNvPr id="4" name="Footer Placeholder 3">
            <a:extLst>
              <a:ext uri="{FF2B5EF4-FFF2-40B4-BE49-F238E27FC236}">
                <a16:creationId xmlns:a16="http://schemas.microsoft.com/office/drawing/2014/main" id="{FD2FE766-E283-EBA9-FDF8-7C08A841C2D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E791127-9E40-A9D1-AF41-E039EF305A1A}"/>
              </a:ext>
            </a:extLst>
          </p:cNvPr>
          <p:cNvSpPr>
            <a:spLocks noGrp="1"/>
          </p:cNvSpPr>
          <p:nvPr>
            <p:ph type="sldNum" sz="quarter" idx="12"/>
          </p:nvPr>
        </p:nvSpPr>
        <p:spPr/>
        <p:txBody>
          <a:bodyPr/>
          <a:lstStyle/>
          <a:p>
            <a:fld id="{02E52F69-22B0-9141-B095-D977E71C7FB4}" type="slidenum">
              <a:rPr lang="en-US" smtClean="0"/>
              <a:t>21</a:t>
            </a:fld>
            <a:endParaRPr lang="en-US"/>
          </a:p>
        </p:txBody>
      </p:sp>
      <p:sp>
        <p:nvSpPr>
          <p:cNvPr id="6" name="Date Placeholder 5">
            <a:extLst>
              <a:ext uri="{FF2B5EF4-FFF2-40B4-BE49-F238E27FC236}">
                <a16:creationId xmlns:a16="http://schemas.microsoft.com/office/drawing/2014/main" id="{45B0E544-BC56-EC65-7738-D8B625BA14D7}"/>
              </a:ext>
            </a:extLst>
          </p:cNvPr>
          <p:cNvSpPr>
            <a:spLocks noGrp="1"/>
          </p:cNvSpPr>
          <p:nvPr>
            <p:ph type="dt" sz="half" idx="10"/>
          </p:nvPr>
        </p:nvSpPr>
        <p:spPr/>
        <p:txBody>
          <a:bodyPr/>
          <a:lstStyle/>
          <a:p>
            <a:fld id="{959D639A-8B36-DA40-B98E-7E9EB0C55010}" type="datetime1">
              <a:rPr lang="en-GB" smtClean="0"/>
              <a:t>27/09/2026</a:t>
            </a:fld>
            <a:endParaRPr lang="en-US"/>
          </a:p>
        </p:txBody>
      </p:sp>
    </p:spTree>
    <p:extLst>
      <p:ext uri="{BB962C8B-B14F-4D97-AF65-F5344CB8AC3E}">
        <p14:creationId xmlns:p14="http://schemas.microsoft.com/office/powerpoint/2010/main" val="21002771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E54CC-EE97-B938-85BF-2A30F3DF1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CFA43-8260-AF87-5C42-3F73AB0CF913}"/>
              </a:ext>
            </a:extLst>
          </p:cNvPr>
          <p:cNvSpPr>
            <a:spLocks noGrp="1"/>
          </p:cNvSpPr>
          <p:nvPr>
            <p:ph type="title"/>
            <p:custDataLst>
              <p:tags r:id="rId1"/>
            </p:custDataLst>
          </p:nvPr>
        </p:nvSpPr>
        <p:spPr/>
        <p:txBody>
          <a:bodyPr/>
          <a:lstStyle/>
          <a:p>
            <a:r>
              <a:rPr lang="en-US" dirty="0"/>
              <a:t>Briggs-Rauscher reaction</a:t>
            </a:r>
          </a:p>
        </p:txBody>
      </p:sp>
      <p:pic>
        <p:nvPicPr>
          <p:cNvPr id="12" name="Picture 11" descr="\documentclass{article}&#10;\usepackage{amsmath}&#10;\usepackage{chemformula}&#10;\pagestyle{empty}&#10;\begin{document}&#10;\begin{sf}&#10;&#10;A simplified overall scheme is shown below:&#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begin{itemize}&#10;&#9;\item $HIO$: Hypoiodous acid.&#10;&#9;\item $CH_2(CO_2H)_2$: Malonic acid.&#10;&#9;\item $CH_2(CO_2H)_2$: {\em Iodomalonic}(?) acid.&#10;\end{itemize}&#10;\end{sf}&#10;\end{document}" title="IguanaTex Picture Display">
            <a:extLst>
              <a:ext uri="{FF2B5EF4-FFF2-40B4-BE49-F238E27FC236}">
                <a16:creationId xmlns:a16="http://schemas.microsoft.com/office/drawing/2014/main" id="{5652A524-7105-CA3C-96B7-8C743C208FD0}"/>
              </a:ext>
            </a:extLst>
          </p:cNvPr>
          <p:cNvPicPr>
            <a:picLocks noChangeAspect="1"/>
          </p:cNvPicPr>
          <p:nvPr>
            <p:custDataLst>
              <p:tags r:id="rId2"/>
            </p:custDataLst>
          </p:nvPr>
        </p:nvPicPr>
        <p:blipFill>
          <a:blip r:embed="rId8"/>
          <a:stretch>
            <a:fillRect/>
          </a:stretch>
        </p:blipFill>
        <p:spPr>
          <a:xfrm>
            <a:off x="709809" y="1462022"/>
            <a:ext cx="8316976" cy="4728464"/>
          </a:xfrm>
          <a:prstGeom prst="rect">
            <a:avLst/>
          </a:prstGeom>
        </p:spPr>
      </p:pic>
      <p:sp>
        <p:nvSpPr>
          <p:cNvPr id="37" name="Footer Placeholder 36">
            <a:extLst>
              <a:ext uri="{FF2B5EF4-FFF2-40B4-BE49-F238E27FC236}">
                <a16:creationId xmlns:a16="http://schemas.microsoft.com/office/drawing/2014/main" id="{39C9FB91-8B58-16F4-1A99-4232B2E35556}"/>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B468578C-5FFC-A3C3-D368-4D8FB19129F7}"/>
              </a:ext>
            </a:extLst>
          </p:cNvPr>
          <p:cNvSpPr>
            <a:spLocks noGrp="1"/>
          </p:cNvSpPr>
          <p:nvPr>
            <p:ph type="sldNum" sz="quarter" idx="12"/>
            <p:custDataLst>
              <p:tags r:id="rId4"/>
            </p:custDataLst>
          </p:nvPr>
        </p:nvSpPr>
        <p:spPr/>
        <p:txBody>
          <a:bodyPr/>
          <a:lstStyle/>
          <a:p>
            <a:fld id="{02E52F69-22B0-9141-B095-D977E71C7FB4}" type="slidenum">
              <a:rPr lang="en-US" smtClean="0"/>
              <a:t>22</a:t>
            </a:fld>
            <a:endParaRPr lang="en-US"/>
          </a:p>
        </p:txBody>
      </p:sp>
      <p:sp>
        <p:nvSpPr>
          <p:cNvPr id="39" name="Date Placeholder 38">
            <a:extLst>
              <a:ext uri="{FF2B5EF4-FFF2-40B4-BE49-F238E27FC236}">
                <a16:creationId xmlns:a16="http://schemas.microsoft.com/office/drawing/2014/main" id="{94377EF6-1D26-2071-6C73-AAFFA482AD4D}"/>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45068870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258D-EC6F-FE35-70D4-59FDEFB03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70169-9ACD-18AA-1B74-7198711FFA88}"/>
              </a:ext>
            </a:extLst>
          </p:cNvPr>
          <p:cNvSpPr>
            <a:spLocks noGrp="1"/>
          </p:cNvSpPr>
          <p:nvPr>
            <p:ph type="title"/>
            <p:custDataLst>
              <p:tags r:id="rId1"/>
            </p:custDataLst>
          </p:nvPr>
        </p:nvSpPr>
        <p:spPr/>
        <p:txBody>
          <a:bodyPr/>
          <a:lstStyle/>
          <a:p>
            <a:r>
              <a:rPr lang="en-US" dirty="0"/>
              <a:t>Briggs-Rauscher reaction</a:t>
            </a:r>
          </a:p>
        </p:txBody>
      </p:sp>
      <p:pic>
        <p:nvPicPr>
          <p:cNvPr id="7" name="Picture 6" descr="\documentclass{article}&#10;\usepackage{amsmath,chemformula}&#10;\pagestyle{empty}&#10;\begin{document}&#10;\begin{sf}&#10;&#10;A simplified overall scheme is shown below:&#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Equation 1 shows an over simplified mechanism for the reaction. Here we have the reactants coming together producing iodomalonic acid. &#10;&#10;In Equations 2 and 3, we have oversimplified the entire reaction by summarizing it in two equations. In the first equation, we produce hypoiodous acid ($HIO$), which can form via a radical pathway or a non-radical pathway. The hypoiodous acid from both of the pathways reacts in the second equation to produce the iodomalonic acid. There are probably another 10 or more equations behind these two equations. &#10;&#10;\end{sf}&#10;\end{document}" title="IguanaTex Picture Display">
            <a:extLst>
              <a:ext uri="{FF2B5EF4-FFF2-40B4-BE49-F238E27FC236}">
                <a16:creationId xmlns:a16="http://schemas.microsoft.com/office/drawing/2014/main" id="{F138E4C3-4F2B-A5C9-E700-63E9771AF5F9}"/>
              </a:ext>
            </a:extLst>
          </p:cNvPr>
          <p:cNvPicPr>
            <a:picLocks noChangeAspect="1"/>
          </p:cNvPicPr>
          <p:nvPr>
            <p:custDataLst>
              <p:tags r:id="rId2"/>
            </p:custDataLst>
          </p:nvPr>
        </p:nvPicPr>
        <p:blipFill>
          <a:blip r:embed="rId7"/>
          <a:stretch>
            <a:fillRect/>
          </a:stretch>
        </p:blipFill>
        <p:spPr>
          <a:xfrm>
            <a:off x="709817" y="1462021"/>
            <a:ext cx="8717281" cy="5525008"/>
          </a:xfrm>
          <a:prstGeom prst="rect">
            <a:avLst/>
          </a:prstGeom>
        </p:spPr>
      </p:pic>
      <p:sp>
        <p:nvSpPr>
          <p:cNvPr id="37" name="Footer Placeholder 36">
            <a:extLst>
              <a:ext uri="{FF2B5EF4-FFF2-40B4-BE49-F238E27FC236}">
                <a16:creationId xmlns:a16="http://schemas.microsoft.com/office/drawing/2014/main" id="{B31E7622-8D56-B7FA-DEFA-D4EDBB25F3AC}"/>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575861C2-6DD2-6668-F6FF-5255A92DA283}"/>
              </a:ext>
            </a:extLst>
          </p:cNvPr>
          <p:cNvSpPr>
            <a:spLocks noGrp="1"/>
          </p:cNvSpPr>
          <p:nvPr>
            <p:ph type="sldNum" sz="quarter" idx="12"/>
            <p:custDataLst>
              <p:tags r:id="rId4"/>
            </p:custDataLst>
          </p:nvPr>
        </p:nvSpPr>
        <p:spPr/>
        <p:txBody>
          <a:bodyPr/>
          <a:lstStyle/>
          <a:p>
            <a:fld id="{02E52F69-22B0-9141-B095-D977E71C7FB4}" type="slidenum">
              <a:rPr lang="en-US" smtClean="0"/>
              <a:t>23</a:t>
            </a:fld>
            <a:endParaRPr lang="en-US"/>
          </a:p>
        </p:txBody>
      </p:sp>
      <p:sp>
        <p:nvSpPr>
          <p:cNvPr id="39" name="Date Placeholder 38">
            <a:extLst>
              <a:ext uri="{FF2B5EF4-FFF2-40B4-BE49-F238E27FC236}">
                <a16:creationId xmlns:a16="http://schemas.microsoft.com/office/drawing/2014/main" id="{A4D7D7E0-30D5-7A65-8AEA-69BB7485F025}"/>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35248898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B7B60-C180-ADED-0CF8-5D17E1DF0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F33A4-A739-46DA-B2EE-E75FED9E930B}"/>
              </a:ext>
            </a:extLst>
          </p:cNvPr>
          <p:cNvSpPr>
            <a:spLocks noGrp="1"/>
          </p:cNvSpPr>
          <p:nvPr>
            <p:ph type="title"/>
            <p:custDataLst>
              <p:tags r:id="rId1"/>
            </p:custDataLst>
          </p:nvPr>
        </p:nvSpPr>
        <p:spPr/>
        <p:txBody>
          <a:bodyPr/>
          <a:lstStyle/>
          <a:p>
            <a:r>
              <a:rPr lang="en-US" dirty="0"/>
              <a:t>Briggs-Rauscher reaction</a:t>
            </a:r>
          </a:p>
        </p:txBody>
      </p:sp>
      <p:pic>
        <p:nvPicPr>
          <p:cNvPr id="18" name="Picture 17" descr="\documentclass{article}&#10;\usepackage{amsmath}&#10;\pagestyle{empty}&#10;\begin{document}&#10;\begin{sf}&#10;&#10;\begin{itemize}&#10;\item &#10;Equation 1 shows an over simplified mechanism for the reaction. Here we have the reactants coming together producing iodomalonic acid. &#10;\item&#10;In Equations 2 and 3, we have oversimplified the entire reaction by summarizing it in two equations. In the first equation, we produce hypoiodous acid, which can form via a radical pathway or a non-radical pathway. The hypoiodous acid from both of the pathways reacts in the second equation to produce the iodomalonic acid. There are probably another 10 or more equations behind these two equations.&#10;\item&#10;The hypoiodous acid can be produced via either a radical or nonradical pathway. If it is produced via a radical mechanism more hypoiodous acid is&#10;produced than can be used up in Equation 3. The excess hypoiodous acid runs down&#10;and starts reacting as depicted in Equations 4 and 5.  &#10;\end{itemize}&#10;&#10;\end{sf}&#10;\end{document}" title="IguanaTex Picture Display">
            <a:extLst>
              <a:ext uri="{FF2B5EF4-FFF2-40B4-BE49-F238E27FC236}">
                <a16:creationId xmlns:a16="http://schemas.microsoft.com/office/drawing/2014/main" id="{F1030C2E-5D3E-A156-466B-6922DBB37FA5}"/>
              </a:ext>
            </a:extLst>
          </p:cNvPr>
          <p:cNvPicPr>
            <a:picLocks noChangeAspect="1"/>
          </p:cNvPicPr>
          <p:nvPr>
            <p:custDataLst>
              <p:tags r:id="rId2"/>
            </p:custDataLst>
          </p:nvPr>
        </p:nvPicPr>
        <p:blipFill>
          <a:blip r:embed="rId8"/>
          <a:stretch>
            <a:fillRect/>
          </a:stretch>
        </p:blipFill>
        <p:spPr>
          <a:xfrm>
            <a:off x="640544" y="2452438"/>
            <a:ext cx="8329168" cy="3974592"/>
          </a:xfrm>
          <a:prstGeom prst="rect">
            <a:avLst/>
          </a:prstGeom>
        </p:spPr>
      </p:pic>
      <p:sp>
        <p:nvSpPr>
          <p:cNvPr id="37" name="Footer Placeholder 36">
            <a:extLst>
              <a:ext uri="{FF2B5EF4-FFF2-40B4-BE49-F238E27FC236}">
                <a16:creationId xmlns:a16="http://schemas.microsoft.com/office/drawing/2014/main" id="{2B762F27-5938-32DA-CF25-917A2BC7CFD2}"/>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E14530F0-18DE-3177-F9FE-DC08F1F4022E}"/>
              </a:ext>
            </a:extLst>
          </p:cNvPr>
          <p:cNvSpPr>
            <a:spLocks noGrp="1"/>
          </p:cNvSpPr>
          <p:nvPr>
            <p:ph type="sldNum" sz="quarter" idx="12"/>
            <p:custDataLst>
              <p:tags r:id="rId4"/>
            </p:custDataLst>
          </p:nvPr>
        </p:nvSpPr>
        <p:spPr/>
        <p:txBody>
          <a:bodyPr/>
          <a:lstStyle/>
          <a:p>
            <a:fld id="{02E52F69-22B0-9141-B095-D977E71C7FB4}" type="slidenum">
              <a:rPr lang="en-US" smtClean="0"/>
              <a:t>24</a:t>
            </a:fld>
            <a:endParaRPr lang="en-US"/>
          </a:p>
        </p:txBody>
      </p:sp>
      <p:sp>
        <p:nvSpPr>
          <p:cNvPr id="39" name="Date Placeholder 38">
            <a:extLst>
              <a:ext uri="{FF2B5EF4-FFF2-40B4-BE49-F238E27FC236}">
                <a16:creationId xmlns:a16="http://schemas.microsoft.com/office/drawing/2014/main" id="{2932E11C-E01C-43BC-9B63-DDE79C0875E5}"/>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pic>
        <p:nvPicPr>
          <p:cNvPr id="12" name="Picture 11" descr="\documentclass{article}&#10;\usepackage{amsmath}&#10;\pagestyle{empty}&#10;\begin{document}&#10;\begin{sf}&#10;&#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end{sf}&#10;\end{document}" title="IguanaTex Picture Display">
            <a:extLst>
              <a:ext uri="{FF2B5EF4-FFF2-40B4-BE49-F238E27FC236}">
                <a16:creationId xmlns:a16="http://schemas.microsoft.com/office/drawing/2014/main" id="{2DC4DEE5-4E2F-514A-1DAA-5B333FF27832}"/>
              </a:ext>
            </a:extLst>
          </p:cNvPr>
          <p:cNvPicPr>
            <a:picLocks noChangeAspect="1"/>
          </p:cNvPicPr>
          <p:nvPr>
            <p:custDataLst>
              <p:tags r:id="rId6"/>
            </p:custDataLst>
          </p:nvPr>
        </p:nvPicPr>
        <p:blipFill>
          <a:blip r:embed="rId9"/>
          <a:stretch>
            <a:fillRect/>
          </a:stretch>
        </p:blipFill>
        <p:spPr>
          <a:xfrm>
            <a:off x="6096000" y="538172"/>
            <a:ext cx="5804814" cy="1847698"/>
          </a:xfrm>
          <a:prstGeom prst="rect">
            <a:avLst/>
          </a:prstGeom>
        </p:spPr>
      </p:pic>
    </p:spTree>
    <p:extLst>
      <p:ext uri="{BB962C8B-B14F-4D97-AF65-F5344CB8AC3E}">
        <p14:creationId xmlns:p14="http://schemas.microsoft.com/office/powerpoint/2010/main" val="25749021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6EAB-CF26-AC68-B920-7525E2010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EE267-0CB9-4C47-985A-6BD7FE01C673}"/>
              </a:ext>
            </a:extLst>
          </p:cNvPr>
          <p:cNvSpPr>
            <a:spLocks noGrp="1"/>
          </p:cNvSpPr>
          <p:nvPr>
            <p:ph type="title"/>
            <p:custDataLst>
              <p:tags r:id="rId1"/>
            </p:custDataLst>
          </p:nvPr>
        </p:nvSpPr>
        <p:spPr/>
        <p:txBody>
          <a:bodyPr/>
          <a:lstStyle/>
          <a:p>
            <a:r>
              <a:rPr lang="en-US" dirty="0"/>
              <a:t>Briggs-Rauscher reaction</a:t>
            </a:r>
          </a:p>
        </p:txBody>
      </p:sp>
      <p:pic>
        <p:nvPicPr>
          <p:cNvPr id="4" name="Picture 3" descr="\documentclass{article}&#10;\usepackage{amsmath}&#10;\pagestyle{empty}&#10;\begin{document}&#10;\begin{sf}&#10;&#10;\begin{itemize}&#10;\item &#10;The hypoiodous acid can be produced via either a radical or nonradical pathway. If it is produced via a radical mechanism more hypoiodous acid is&#10;produced than can be used up in Equation 3. The excess hypoiodous acid runs down&#10;and starts reacting as depicted in Equations 4 and 5.  &#10;\item&#10;This is where the color comes in.&#10;When the I- is the principle ion present (Equation 5), the solution is clear. Then as&#10;the hypoiodous acid reacts with the iodide ion (Equation 4), the iodine starts to&#10;increase. When both the iodide and iodine are present, they combine to form a&#10;pentaiodide ion complex, which seeks out the starch in the solution and inserts itself&#10;into the helical structure of the amylose portion of the starch molecule. This results&#10;in a blue-black color, as the iodine concentration increases from the reaction of&#10;hypoiodous acid and iodide. Eventually the iodide disappears and there is iodine, which gives the amber color. The reaction continues to oscillate between the colors&#10;until the iodate or malonic acid is used up. &#10;\end{itemize}&#10;&#10;\end{sf}&#10;\end{document}" title="IguanaTex Picture Display">
            <a:extLst>
              <a:ext uri="{FF2B5EF4-FFF2-40B4-BE49-F238E27FC236}">
                <a16:creationId xmlns:a16="http://schemas.microsoft.com/office/drawing/2014/main" id="{53B427DD-A061-B28F-CBD8-378AE2630D01}"/>
              </a:ext>
            </a:extLst>
          </p:cNvPr>
          <p:cNvPicPr>
            <a:picLocks noChangeAspect="1"/>
          </p:cNvPicPr>
          <p:nvPr>
            <p:custDataLst>
              <p:tags r:id="rId2"/>
            </p:custDataLst>
          </p:nvPr>
        </p:nvPicPr>
        <p:blipFill>
          <a:blip r:embed="rId8"/>
          <a:stretch>
            <a:fillRect/>
          </a:stretch>
        </p:blipFill>
        <p:spPr>
          <a:xfrm>
            <a:off x="640545" y="2452438"/>
            <a:ext cx="8329169" cy="4370832"/>
          </a:xfrm>
          <a:prstGeom prst="rect">
            <a:avLst/>
          </a:prstGeom>
        </p:spPr>
      </p:pic>
      <p:sp>
        <p:nvSpPr>
          <p:cNvPr id="37" name="Footer Placeholder 36">
            <a:extLst>
              <a:ext uri="{FF2B5EF4-FFF2-40B4-BE49-F238E27FC236}">
                <a16:creationId xmlns:a16="http://schemas.microsoft.com/office/drawing/2014/main" id="{2B28A065-0EAC-5911-FE12-92CDE0D151E6}"/>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8FF075B6-632F-6886-F95B-F26C5560AD8E}"/>
              </a:ext>
            </a:extLst>
          </p:cNvPr>
          <p:cNvSpPr>
            <a:spLocks noGrp="1"/>
          </p:cNvSpPr>
          <p:nvPr>
            <p:ph type="sldNum" sz="quarter" idx="12"/>
            <p:custDataLst>
              <p:tags r:id="rId4"/>
            </p:custDataLst>
          </p:nvPr>
        </p:nvSpPr>
        <p:spPr/>
        <p:txBody>
          <a:bodyPr/>
          <a:lstStyle/>
          <a:p>
            <a:fld id="{02E52F69-22B0-9141-B095-D977E71C7FB4}" type="slidenum">
              <a:rPr lang="en-US" smtClean="0"/>
              <a:t>25</a:t>
            </a:fld>
            <a:endParaRPr lang="en-US"/>
          </a:p>
        </p:txBody>
      </p:sp>
      <p:sp>
        <p:nvSpPr>
          <p:cNvPr id="39" name="Date Placeholder 38">
            <a:extLst>
              <a:ext uri="{FF2B5EF4-FFF2-40B4-BE49-F238E27FC236}">
                <a16:creationId xmlns:a16="http://schemas.microsoft.com/office/drawing/2014/main" id="{7E0F3914-C5B9-8893-E2C0-1ABD33C58C44}"/>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pic>
        <p:nvPicPr>
          <p:cNvPr id="12" name="Picture 11" descr="\documentclass{article}&#10;\usepackage{amsmath}&#10;\pagestyle{empty}&#10;\begin{document}&#10;\begin{sf}&#10;&#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end{sf}&#10;\end{document}" title="IguanaTex Picture Display">
            <a:extLst>
              <a:ext uri="{FF2B5EF4-FFF2-40B4-BE49-F238E27FC236}">
                <a16:creationId xmlns:a16="http://schemas.microsoft.com/office/drawing/2014/main" id="{28CE95EE-78E7-EEF6-D75E-4BD468BAF20E}"/>
              </a:ext>
            </a:extLst>
          </p:cNvPr>
          <p:cNvPicPr>
            <a:picLocks noChangeAspect="1"/>
          </p:cNvPicPr>
          <p:nvPr>
            <p:custDataLst>
              <p:tags r:id="rId6"/>
            </p:custDataLst>
          </p:nvPr>
        </p:nvPicPr>
        <p:blipFill>
          <a:blip r:embed="rId9"/>
          <a:stretch>
            <a:fillRect/>
          </a:stretch>
        </p:blipFill>
        <p:spPr>
          <a:xfrm>
            <a:off x="6096000" y="538172"/>
            <a:ext cx="5804814" cy="1847698"/>
          </a:xfrm>
          <a:prstGeom prst="rect">
            <a:avLst/>
          </a:prstGeom>
        </p:spPr>
      </p:pic>
    </p:spTree>
    <p:extLst>
      <p:ext uri="{BB962C8B-B14F-4D97-AF65-F5344CB8AC3E}">
        <p14:creationId xmlns:p14="http://schemas.microsoft.com/office/powerpoint/2010/main" val="16898759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D3A2-402C-ED1E-0BC5-F940F09DA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FACE5-DF1C-60D0-7370-6F8D40971779}"/>
              </a:ext>
            </a:extLst>
          </p:cNvPr>
          <p:cNvSpPr>
            <a:spLocks noGrp="1"/>
          </p:cNvSpPr>
          <p:nvPr>
            <p:ph type="title"/>
            <p:custDataLst>
              <p:tags r:id="rId1"/>
            </p:custDataLst>
          </p:nvPr>
        </p:nvSpPr>
        <p:spPr>
          <a:xfrm>
            <a:off x="838200" y="365125"/>
            <a:ext cx="10515600" cy="743239"/>
          </a:xfrm>
        </p:spPr>
        <p:txBody>
          <a:bodyPr/>
          <a:lstStyle/>
          <a:p>
            <a:r>
              <a:rPr lang="en-GB" dirty="0"/>
              <a:t>Belousov-</a:t>
            </a:r>
            <a:r>
              <a:rPr lang="en-GB" dirty="0" err="1"/>
              <a:t>Zhabotinski</a:t>
            </a:r>
            <a:r>
              <a:rPr lang="en-GB" dirty="0"/>
              <a:t> reaction			</a:t>
            </a:r>
            <a:r>
              <a:rPr lang="en-US" dirty="0"/>
              <a:t>(ii)</a:t>
            </a:r>
          </a:p>
        </p:txBody>
      </p:sp>
      <p:pic>
        <p:nvPicPr>
          <p:cNvPr id="40" name="Picture 39" descr="\documentclass{article}&#10;\usepackage{amsmath}&#10;\usepackage[margin=0in,paperwidth=8in,verbose,marginparwidth=0pt,marginparsep=0pt]{geometry}&#10;\usepackage[version=4]{mhchem}&#10;%\usepackage{chemformula}&#10;\pagestyle{empty}&#10;\begin{document}&#10;\begin{sf}&#10;http://www.rsc.org/learn-chemistry/content/filerepository/CMP/00/001/001/%Classicdemos\_full.pdf&#10;&#10;This reaction is an example of a class of reactions called Belousov-Zhabotinsky (BZ) reactions. &#10;&#10;The overall reaction is usually given as:&#10;&#10;\ce{3 CH2(CO2H)2(aq) + 4 BrO3^-(aq) -&gt; 4 Br^-(aq) + 9CO2(g) + 6H2O(l)}&#10;&#10;Oscillation is brought about by two autocatalytic steps. &#10;&#10;Bromine is an intermediate in the reaction scheme – the red colour that is observed.&#10;&#10;An analogy with predator-prey&#10;relationships might be one way to give students some idea of what is going on. &#10;&#10;For&#10;example a population of rabbits (analogous to the bromine) will increase rapidly&#10;(exponentially) if there is plenty of food (reactants). However, the plentiful supply of&#10;rabbits will stimulate a rapid increase in the fox population (another intermediate that&#10;reacts with the bromine) which will then deplete the rabbits. Lacking rabbits, the&#10;foxes will die, bringing us back to square one, ready for a rapid increase in rabbits&#10;and so on.&#10;&#10;The reaction will not work if tap water (Coventry) is used instead of deionised water.&#10;Chloride ions, via the addition of a pinch of potassium chloride or dilute&#10;hydrochloric acid will immediately stop the oscillations. Clean apparatus is therefore&#10;essential.&#10;&#10;The theory of oscillating reactions is complex and not fully understood. Some of&#10;the more accessible articles are listed below.&#10;&#10;\begin{itemize}&#10;\item D. O. Cooke, Educ. Chem.,1975, 12, 144.&#10;\item I. R. Epstein, Chem. Eng. News., 1987, 65, 24.&#10;\item I. R. Epstein et al, Sci. Amer., 1983, 248, 112.&#10;\item M. D. Hawkins et al, Educ. Chem., 1977, 14, 53.&#10;\end{itemize}&#10;\end{sf}&#10;\end{document}" title="IguanaTex Picture Display">
            <a:extLst>
              <a:ext uri="{FF2B5EF4-FFF2-40B4-BE49-F238E27FC236}">
                <a16:creationId xmlns:a16="http://schemas.microsoft.com/office/drawing/2014/main" id="{64F43B9A-C240-EDF5-CF05-95A666609338}"/>
              </a:ext>
            </a:extLst>
          </p:cNvPr>
          <p:cNvPicPr>
            <a:picLocks noChangeAspect="1"/>
          </p:cNvPicPr>
          <p:nvPr>
            <p:custDataLst>
              <p:tags r:id="rId2"/>
            </p:custDataLst>
          </p:nvPr>
        </p:nvPicPr>
        <p:blipFill>
          <a:blip r:embed="rId7"/>
          <a:stretch>
            <a:fillRect/>
          </a:stretch>
        </p:blipFill>
        <p:spPr>
          <a:xfrm>
            <a:off x="709829" y="1526155"/>
            <a:ext cx="10232745" cy="4369614"/>
          </a:xfrm>
          <a:prstGeom prst="rect">
            <a:avLst/>
          </a:prstGeom>
        </p:spPr>
      </p:pic>
      <p:sp>
        <p:nvSpPr>
          <p:cNvPr id="37" name="Footer Placeholder 36">
            <a:extLst>
              <a:ext uri="{FF2B5EF4-FFF2-40B4-BE49-F238E27FC236}">
                <a16:creationId xmlns:a16="http://schemas.microsoft.com/office/drawing/2014/main" id="{6B6CDE9A-24DA-CCF9-EF2B-435BE99401F1}"/>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CED3838B-062A-BBF9-0F3E-47CE081FF698}"/>
              </a:ext>
            </a:extLst>
          </p:cNvPr>
          <p:cNvSpPr>
            <a:spLocks noGrp="1"/>
          </p:cNvSpPr>
          <p:nvPr>
            <p:ph type="sldNum" sz="quarter" idx="12"/>
            <p:custDataLst>
              <p:tags r:id="rId4"/>
            </p:custDataLst>
          </p:nvPr>
        </p:nvSpPr>
        <p:spPr/>
        <p:txBody>
          <a:bodyPr/>
          <a:lstStyle/>
          <a:p>
            <a:fld id="{02E52F69-22B0-9141-B095-D977E71C7FB4}" type="slidenum">
              <a:rPr lang="en-US" smtClean="0"/>
              <a:t>26</a:t>
            </a:fld>
            <a:endParaRPr lang="en-US"/>
          </a:p>
        </p:txBody>
      </p:sp>
      <p:sp>
        <p:nvSpPr>
          <p:cNvPr id="39" name="Date Placeholder 38">
            <a:extLst>
              <a:ext uri="{FF2B5EF4-FFF2-40B4-BE49-F238E27FC236}">
                <a16:creationId xmlns:a16="http://schemas.microsoft.com/office/drawing/2014/main" id="{B9C99DDC-3AFA-34B4-3C3E-5584DEAD4C79}"/>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286826272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5436-1F75-C4D9-9FB1-3B5993325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DFEF2-8BE2-0D02-F671-719C6F26CFA9}"/>
              </a:ext>
            </a:extLst>
          </p:cNvPr>
          <p:cNvSpPr>
            <a:spLocks noGrp="1"/>
          </p:cNvSpPr>
          <p:nvPr>
            <p:ph type="title"/>
          </p:nvPr>
        </p:nvSpPr>
        <p:spPr/>
        <p:txBody>
          <a:bodyPr/>
          <a:lstStyle/>
          <a:p>
            <a:r>
              <a:rPr lang="en-US" dirty="0"/>
              <a:t>For the next lecture 3</a:t>
            </a:r>
          </a:p>
        </p:txBody>
      </p:sp>
      <p:sp>
        <p:nvSpPr>
          <p:cNvPr id="16" name="Footer Placeholder 15">
            <a:extLst>
              <a:ext uri="{FF2B5EF4-FFF2-40B4-BE49-F238E27FC236}">
                <a16:creationId xmlns:a16="http://schemas.microsoft.com/office/drawing/2014/main" id="{CD475155-4CF5-9F43-728B-B80F7D82B6E7}"/>
              </a:ext>
            </a:extLst>
          </p:cNvPr>
          <p:cNvSpPr>
            <a:spLocks noGrp="1"/>
          </p:cNvSpPr>
          <p:nvPr>
            <p:ph type="ftr" sz="quarter" idx="11"/>
          </p:nvPr>
        </p:nvSpPr>
        <p:spPr/>
        <p:txBody>
          <a:bodyPr/>
          <a:lstStyle/>
          <a:p>
            <a:r>
              <a:rPr lang="en-US"/>
              <a:t>U3AC 2026</a:t>
            </a:r>
          </a:p>
        </p:txBody>
      </p:sp>
      <p:sp>
        <p:nvSpPr>
          <p:cNvPr id="17" name="Slide Number Placeholder 16">
            <a:extLst>
              <a:ext uri="{FF2B5EF4-FFF2-40B4-BE49-F238E27FC236}">
                <a16:creationId xmlns:a16="http://schemas.microsoft.com/office/drawing/2014/main" id="{70CE7114-649C-F631-A4CA-BBDFFB0413C9}"/>
              </a:ext>
            </a:extLst>
          </p:cNvPr>
          <p:cNvSpPr>
            <a:spLocks noGrp="1"/>
          </p:cNvSpPr>
          <p:nvPr>
            <p:ph type="sldNum" sz="quarter" idx="12"/>
          </p:nvPr>
        </p:nvSpPr>
        <p:spPr/>
        <p:txBody>
          <a:bodyPr/>
          <a:lstStyle/>
          <a:p>
            <a:fld id="{02E52F69-22B0-9141-B095-D977E71C7FB4}" type="slidenum">
              <a:rPr lang="en-US" smtClean="0"/>
              <a:t>27</a:t>
            </a:fld>
            <a:endParaRPr lang="en-US"/>
          </a:p>
        </p:txBody>
      </p:sp>
      <p:sp>
        <p:nvSpPr>
          <p:cNvPr id="18" name="Date Placeholder 17">
            <a:extLst>
              <a:ext uri="{FF2B5EF4-FFF2-40B4-BE49-F238E27FC236}">
                <a16:creationId xmlns:a16="http://schemas.microsoft.com/office/drawing/2014/main" id="{31DB2E64-7E1B-954A-D219-D4A9A6DCD407}"/>
              </a:ext>
            </a:extLst>
          </p:cNvPr>
          <p:cNvSpPr>
            <a:spLocks noGrp="1"/>
          </p:cNvSpPr>
          <p:nvPr>
            <p:ph type="dt" sz="half" idx="10"/>
          </p:nvPr>
        </p:nvSpPr>
        <p:spPr/>
        <p:txBody>
          <a:bodyPr/>
          <a:lstStyle/>
          <a:p>
            <a:fld id="{5A5F16B2-D5B5-2C44-9C7D-5C658A76FC30}" type="datetime1">
              <a:rPr lang="en-GB" smtClean="0"/>
              <a:t>27/09/2026</a:t>
            </a:fld>
            <a:endParaRPr lang="en-US"/>
          </a:p>
        </p:txBody>
      </p:sp>
      <p:sp>
        <p:nvSpPr>
          <p:cNvPr id="3" name="TextBox 2">
            <a:extLst>
              <a:ext uri="{FF2B5EF4-FFF2-40B4-BE49-F238E27FC236}">
                <a16:creationId xmlns:a16="http://schemas.microsoft.com/office/drawing/2014/main" id="{0ACE176B-BC0A-D094-02DA-80FF17E3780F}"/>
              </a:ext>
            </a:extLst>
          </p:cNvPr>
          <p:cNvSpPr txBox="1"/>
          <p:nvPr/>
        </p:nvSpPr>
        <p:spPr>
          <a:xfrm>
            <a:off x="1316181" y="2313708"/>
            <a:ext cx="9504219" cy="4801314"/>
          </a:xfrm>
          <a:prstGeom prst="rect">
            <a:avLst/>
          </a:prstGeom>
          <a:noFill/>
        </p:spPr>
        <p:txBody>
          <a:bodyPr wrap="square" rtlCol="0">
            <a:spAutoFit/>
          </a:bodyPr>
          <a:lstStyle/>
          <a:p>
            <a:pPr marL="342900" indent="-342900">
              <a:buFont typeface="+mj-lt"/>
              <a:buAutoNum type="arabicPeriod"/>
            </a:pPr>
            <a:r>
              <a:rPr lang="en-US" dirty="0"/>
              <a:t>Taylor’s Theorem</a:t>
            </a:r>
          </a:p>
          <a:p>
            <a:pPr marL="800100" lvl="1" indent="-342900">
              <a:buFont typeface="+mj-lt"/>
              <a:buAutoNum type="arabicPeriod"/>
            </a:pPr>
            <a:r>
              <a:rPr lang="en-US" dirty="0"/>
              <a:t>Physics is simple!!!</a:t>
            </a:r>
          </a:p>
          <a:p>
            <a:pPr marL="800100" lvl="1" indent="-342900">
              <a:buFont typeface="+mj-lt"/>
              <a:buAutoNum type="arabicPeriod"/>
            </a:pPr>
            <a:r>
              <a:rPr lang="en-US" dirty="0"/>
              <a:t>Well at least we can see why we often start with </a:t>
            </a:r>
            <a:r>
              <a:rPr lang="en-US" b="1" dirty="0"/>
              <a:t>linear</a:t>
            </a:r>
            <a:r>
              <a:rPr lang="en-US" dirty="0"/>
              <a:t> models.</a:t>
            </a:r>
          </a:p>
          <a:p>
            <a:pPr marL="342900" indent="-342900">
              <a:buFont typeface="+mj-lt"/>
              <a:buAutoNum type="arabicPeriod"/>
            </a:pPr>
            <a:r>
              <a:rPr lang="en-US" dirty="0"/>
              <a:t>Conditioning</a:t>
            </a:r>
          </a:p>
          <a:p>
            <a:pPr marL="342900" indent="-342900">
              <a:buFont typeface="+mj-lt"/>
              <a:buAutoNum type="arabicPeriod"/>
            </a:pPr>
            <a:r>
              <a:rPr lang="en-US" dirty="0"/>
              <a:t>How to do flick book animation – via the &lt;transitions&gt; tab </a:t>
            </a:r>
          </a:p>
          <a:p>
            <a:pPr marL="800100" lvl="1" indent="-342900">
              <a:buFont typeface="+mj-lt"/>
              <a:buAutoNum type="arabicPeriod"/>
            </a:pPr>
            <a:r>
              <a:rPr lang="en-US" dirty="0"/>
              <a:t>Set &lt;Duration&gt;?</a:t>
            </a:r>
          </a:p>
          <a:p>
            <a:pPr marL="800100" lvl="1" indent="-342900">
              <a:buFont typeface="+mj-lt"/>
              <a:buAutoNum type="arabicPeriod"/>
            </a:pPr>
            <a:r>
              <a:rPr lang="en-US" dirty="0"/>
              <a:t>Then &lt;After&gt;</a:t>
            </a:r>
          </a:p>
          <a:p>
            <a:pPr marL="800100" lvl="1" indent="-342900">
              <a:buFont typeface="+mj-lt"/>
              <a:buAutoNum type="arabicPeriod"/>
            </a:pPr>
            <a:r>
              <a:rPr lang="en-US" dirty="0"/>
              <a:t>THEN: &lt;Apply to all&gt;</a:t>
            </a:r>
          </a:p>
          <a:p>
            <a:pPr marL="342900" indent="-342900">
              <a:buFont typeface="+mj-lt"/>
              <a:buAutoNum type="arabicPeriod"/>
            </a:pPr>
            <a:r>
              <a:rPr lang="en-US" dirty="0"/>
              <a:t> Wave hands/diagram for the geometry slide (3?)</a:t>
            </a:r>
          </a:p>
          <a:p>
            <a:pPr marL="800100" lvl="1" indent="-342900">
              <a:buFont typeface="+mj-lt"/>
              <a:buAutoNum type="arabicPeriod"/>
            </a:pPr>
            <a:endParaRPr lang="en-US" dirty="0"/>
          </a:p>
          <a:p>
            <a:pPr marL="342900" indent="-342900">
              <a:buFont typeface="+mj-lt"/>
              <a:buAutoNum type="arabicPeriod"/>
            </a:pPr>
            <a:r>
              <a:rPr lang="en-US" dirty="0"/>
              <a:t> Murray notes – BZ reaction!!! Dynamics of the </a:t>
            </a:r>
            <a:r>
              <a:rPr lang="en-US" dirty="0" err="1"/>
              <a:t>Brusselator</a:t>
            </a:r>
            <a:r>
              <a:rPr lang="en-US" dirty="0"/>
              <a:t> (Ault + Holmgreen)(+Mendeley)</a:t>
            </a:r>
          </a:p>
          <a:p>
            <a:pPr marL="342900" indent="-342900">
              <a:buFont typeface="+mj-lt"/>
              <a:buAutoNum type="arabicPeriod"/>
            </a:pPr>
            <a:r>
              <a:rPr lang="en-US" dirty="0"/>
              <a:t>Control of </a:t>
            </a:r>
            <a:r>
              <a:rPr lang="en-US" dirty="0" err="1"/>
              <a:t>Brusselator</a:t>
            </a:r>
            <a:r>
              <a:rPr lang="en-US" dirty="0"/>
              <a:t> ﻿-- Analysis of Stability and Adaptive Control of </a:t>
            </a:r>
            <a:r>
              <a:rPr lang="en-US" dirty="0" err="1"/>
              <a:t>Brusselator</a:t>
            </a:r>
            <a:r>
              <a:rPr lang="en-US" dirty="0"/>
              <a:t> System in Maintained Chemical Reaction (</a:t>
            </a:r>
            <a:r>
              <a:rPr lang="en-US" dirty="0" err="1"/>
              <a:t>Yadeta</a:t>
            </a:r>
            <a:r>
              <a:rPr lang="en-US" dirty="0"/>
              <a:t>, </a:t>
            </a:r>
            <a:r>
              <a:rPr lang="en-US" dirty="0" err="1"/>
              <a:t>Firdi</a:t>
            </a:r>
            <a:r>
              <a:rPr lang="en-US" dirty="0"/>
              <a:t>, </a:t>
            </a:r>
            <a:r>
              <a:rPr lang="en-US" dirty="0" err="1"/>
              <a:t>Dufera</a:t>
            </a:r>
            <a:r>
              <a:rPr lang="en-US" dirty="0"/>
              <a:t>)(Mendeley)</a:t>
            </a:r>
          </a:p>
          <a:p>
            <a:pPr marL="342900" indent="-342900">
              <a:buFont typeface="+mj-lt"/>
              <a:buAutoNum type="arabicPeriod"/>
            </a:pPr>
            <a:r>
              <a:rPr lang="en-US" dirty="0"/>
              <a:t> </a:t>
            </a:r>
          </a:p>
          <a:p>
            <a:pPr marL="342900" indent="-342900">
              <a:buFont typeface="+mj-lt"/>
              <a:buAutoNum type="arabicPeriod"/>
            </a:pPr>
            <a:r>
              <a:rPr lang="en-US" dirty="0"/>
              <a:t> </a:t>
            </a:r>
          </a:p>
          <a:p>
            <a:pPr marL="342900" indent="-342900">
              <a:buFont typeface="+mj-lt"/>
              <a:buAutoNum type="arabicPeriod"/>
            </a:pPr>
            <a:r>
              <a:rPr lang="en-US" dirty="0"/>
              <a:t> </a:t>
            </a:r>
          </a:p>
          <a:p>
            <a:pPr marL="342900" indent="-342900">
              <a:buFont typeface="+mj-lt"/>
              <a:buAutoNum type="arabicPeriod"/>
            </a:pPr>
            <a:r>
              <a:rPr lang="en-US" dirty="0"/>
              <a:t> </a:t>
            </a:r>
          </a:p>
        </p:txBody>
      </p:sp>
    </p:spTree>
    <p:extLst>
      <p:ext uri="{BB962C8B-B14F-4D97-AF65-F5344CB8AC3E}">
        <p14:creationId xmlns:p14="http://schemas.microsoft.com/office/powerpoint/2010/main" val="19254450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A9D5E-5CF1-25D2-C89D-8CAF97AB0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D148F-5FBC-0767-A0B5-4C839CAD5DC8}"/>
              </a:ext>
            </a:extLst>
          </p:cNvPr>
          <p:cNvSpPr>
            <a:spLocks noGrp="1"/>
          </p:cNvSpPr>
          <p:nvPr>
            <p:ph type="title"/>
          </p:nvPr>
        </p:nvSpPr>
        <p:spPr/>
        <p:txBody>
          <a:bodyPr/>
          <a:lstStyle/>
          <a:p>
            <a:r>
              <a:rPr lang="en-US" dirty="0"/>
              <a:t>For the lecture 1</a:t>
            </a:r>
          </a:p>
        </p:txBody>
      </p:sp>
      <p:sp>
        <p:nvSpPr>
          <p:cNvPr id="16" name="Footer Placeholder 15">
            <a:extLst>
              <a:ext uri="{FF2B5EF4-FFF2-40B4-BE49-F238E27FC236}">
                <a16:creationId xmlns:a16="http://schemas.microsoft.com/office/drawing/2014/main" id="{F898B99F-B2EC-0DD0-DE0B-10E7967E667A}"/>
              </a:ext>
            </a:extLst>
          </p:cNvPr>
          <p:cNvSpPr>
            <a:spLocks noGrp="1"/>
          </p:cNvSpPr>
          <p:nvPr>
            <p:ph type="ftr" sz="quarter" idx="11"/>
          </p:nvPr>
        </p:nvSpPr>
        <p:spPr/>
        <p:txBody>
          <a:bodyPr/>
          <a:lstStyle/>
          <a:p>
            <a:r>
              <a:rPr lang="en-US"/>
              <a:t>U3AC 2026</a:t>
            </a:r>
          </a:p>
        </p:txBody>
      </p:sp>
      <p:sp>
        <p:nvSpPr>
          <p:cNvPr id="17" name="Slide Number Placeholder 16">
            <a:extLst>
              <a:ext uri="{FF2B5EF4-FFF2-40B4-BE49-F238E27FC236}">
                <a16:creationId xmlns:a16="http://schemas.microsoft.com/office/drawing/2014/main" id="{D49D1474-6B60-3B83-8B31-971D3E285B8C}"/>
              </a:ext>
            </a:extLst>
          </p:cNvPr>
          <p:cNvSpPr>
            <a:spLocks noGrp="1"/>
          </p:cNvSpPr>
          <p:nvPr>
            <p:ph type="sldNum" sz="quarter" idx="12"/>
          </p:nvPr>
        </p:nvSpPr>
        <p:spPr/>
        <p:txBody>
          <a:bodyPr/>
          <a:lstStyle/>
          <a:p>
            <a:fld id="{02E52F69-22B0-9141-B095-D977E71C7FB4}" type="slidenum">
              <a:rPr lang="en-US" smtClean="0"/>
              <a:t>28</a:t>
            </a:fld>
            <a:endParaRPr lang="en-US"/>
          </a:p>
        </p:txBody>
      </p:sp>
      <p:sp>
        <p:nvSpPr>
          <p:cNvPr id="18" name="Date Placeholder 17">
            <a:extLst>
              <a:ext uri="{FF2B5EF4-FFF2-40B4-BE49-F238E27FC236}">
                <a16:creationId xmlns:a16="http://schemas.microsoft.com/office/drawing/2014/main" id="{826ED09B-A6A0-373D-7F96-8F4B69A1F815}"/>
              </a:ext>
            </a:extLst>
          </p:cNvPr>
          <p:cNvSpPr>
            <a:spLocks noGrp="1"/>
          </p:cNvSpPr>
          <p:nvPr>
            <p:ph type="dt" sz="half" idx="10"/>
          </p:nvPr>
        </p:nvSpPr>
        <p:spPr/>
        <p:txBody>
          <a:bodyPr/>
          <a:lstStyle/>
          <a:p>
            <a:fld id="{5A5F16B2-D5B5-2C44-9C7D-5C658A76FC30}" type="datetime1">
              <a:rPr lang="en-GB" smtClean="0"/>
              <a:t>27/09/2026</a:t>
            </a:fld>
            <a:endParaRPr lang="en-US"/>
          </a:p>
        </p:txBody>
      </p:sp>
      <p:sp>
        <p:nvSpPr>
          <p:cNvPr id="3" name="TextBox 2">
            <a:extLst>
              <a:ext uri="{FF2B5EF4-FFF2-40B4-BE49-F238E27FC236}">
                <a16:creationId xmlns:a16="http://schemas.microsoft.com/office/drawing/2014/main" id="{9FACD262-C133-F8AD-8243-961E034695F2}"/>
              </a:ext>
            </a:extLst>
          </p:cNvPr>
          <p:cNvSpPr txBox="1"/>
          <p:nvPr/>
        </p:nvSpPr>
        <p:spPr>
          <a:xfrm>
            <a:off x="1316181" y="2313708"/>
            <a:ext cx="9504219" cy="3693319"/>
          </a:xfrm>
          <a:prstGeom prst="rect">
            <a:avLst/>
          </a:prstGeom>
          <a:noFill/>
        </p:spPr>
        <p:txBody>
          <a:bodyPr wrap="square" rtlCol="0">
            <a:spAutoFit/>
          </a:bodyPr>
          <a:lstStyle/>
          <a:p>
            <a:r>
              <a:rPr lang="en-GB" dirty="0"/>
              <a:t>Bertrand Russell wrote this famous tongue-in-cheek definition, describing the way all terms in mathematics are ultimately defined by reference to undefined terms:</a:t>
            </a:r>
          </a:p>
          <a:p>
            <a:pPr marL="342900" indent="-342900">
              <a:buFont typeface="+mj-lt"/>
              <a:buAutoNum type="arabicPeriod"/>
            </a:pPr>
            <a:r>
              <a:rPr lang="en-GB" dirty="0"/>
              <a:t>The subject in which we never know what we are talking about, nor whether what we are saying is true.</a:t>
            </a:r>
            <a:r>
              <a:rPr lang="en-GB" baseline="30000" dirty="0">
                <a:hlinkClick r:id="rId2"/>
              </a:rPr>
              <a:t>[19]</a:t>
            </a:r>
            <a:r>
              <a:rPr lang="en-GB" dirty="0"/>
              <a:t> </a:t>
            </a:r>
            <a:r>
              <a:rPr lang="en-GB" dirty="0">
                <a:hlinkClick r:id="rId3" tooltip="Bertrand Russell"/>
              </a:rPr>
              <a:t>Bertrand Russell</a:t>
            </a:r>
            <a:r>
              <a:rPr lang="en-GB" dirty="0"/>
              <a:t> 1901</a:t>
            </a:r>
          </a:p>
          <a:p>
            <a:r>
              <a:rPr lang="en-GB" dirty="0"/>
              <a:t>Many other attempts to characterize mathematics have led to </a:t>
            </a:r>
            <a:r>
              <a:rPr lang="en-GB" dirty="0" err="1"/>
              <a:t>humor</a:t>
            </a:r>
            <a:r>
              <a:rPr lang="en-GB" dirty="0"/>
              <a:t> or poetic prose:</a:t>
            </a:r>
          </a:p>
          <a:p>
            <a:pPr marL="342900" indent="-342900">
              <a:buFont typeface="+mj-lt"/>
              <a:buAutoNum type="arabicPeriod"/>
            </a:pPr>
            <a:r>
              <a:rPr lang="en-GB" dirty="0"/>
              <a:t>A mathematician is a blind man in a dark room looking for </a:t>
            </a:r>
            <a:r>
              <a:rPr lang="en-GB" dirty="0">
                <a:hlinkClick r:id="rId4" tooltip="Black cat analogy"/>
              </a:rPr>
              <a:t>a black cat which isn't there.</a:t>
            </a:r>
            <a:r>
              <a:rPr lang="en-GB" baseline="30000" dirty="0">
                <a:hlinkClick r:id="rId5"/>
              </a:rPr>
              <a:t>[20]</a:t>
            </a:r>
            <a:r>
              <a:rPr lang="en-GB" dirty="0"/>
              <a:t> </a:t>
            </a:r>
            <a:r>
              <a:rPr lang="en-GB" dirty="0">
                <a:hlinkClick r:id="rId6" tooltip="Charles Darwin"/>
              </a:rPr>
              <a:t>Charles Darwin</a:t>
            </a:r>
            <a:r>
              <a:rPr lang="en-GB" baseline="30000" dirty="0">
                <a:hlinkClick r:id="rId7"/>
              </a:rPr>
              <a:t>[21]</a:t>
            </a:r>
            <a:endParaRPr lang="en-GB" dirty="0"/>
          </a:p>
          <a:p>
            <a:pPr marL="342900" indent="-342900">
              <a:buFont typeface="+mj-lt"/>
              <a:buAutoNum type="arabicPeriod"/>
            </a:pPr>
            <a:r>
              <a:rPr lang="en-GB" dirty="0"/>
              <a:t>A mathematician, like a painter or poet, is a maker of patterns. If his patterns are more permanent than theirs, it is because they are made with ideas.</a:t>
            </a:r>
            <a:r>
              <a:rPr lang="en-GB" baseline="30000" dirty="0">
                <a:hlinkClick r:id="rId8"/>
              </a:rPr>
              <a:t>[22]</a:t>
            </a:r>
            <a:r>
              <a:rPr lang="en-GB" dirty="0"/>
              <a:t> </a:t>
            </a:r>
            <a:r>
              <a:rPr lang="en-GB" dirty="0">
                <a:hlinkClick r:id="rId9" tooltip="G. H. Hardy"/>
              </a:rPr>
              <a:t>G. H. Hardy</a:t>
            </a:r>
            <a:r>
              <a:rPr lang="en-GB" dirty="0"/>
              <a:t>, 1940</a:t>
            </a:r>
          </a:p>
          <a:p>
            <a:pPr marL="342900" indent="-342900">
              <a:buFont typeface="+mj-lt"/>
              <a:buAutoNum type="arabicPeriod"/>
            </a:pPr>
            <a:r>
              <a:rPr lang="en-GB" dirty="0"/>
              <a:t>Mathematics is the art of giving the same name to different things.</a:t>
            </a:r>
            <a:r>
              <a:rPr lang="en-GB" baseline="30000" dirty="0">
                <a:hlinkClick r:id="rId10"/>
              </a:rPr>
              <a:t>[10]</a:t>
            </a:r>
            <a:r>
              <a:rPr lang="en-GB" dirty="0"/>
              <a:t> </a:t>
            </a:r>
            <a:r>
              <a:rPr lang="en-GB" dirty="0">
                <a:hlinkClick r:id="rId11" tooltip="Henri Poincaré"/>
              </a:rPr>
              <a:t>Henri Poincaré</a:t>
            </a:r>
            <a:endParaRPr lang="en-GB" dirty="0"/>
          </a:p>
          <a:p>
            <a:pPr marL="342900" indent="-342900">
              <a:buFont typeface="+mj-lt"/>
              <a:buAutoNum type="arabicPeriod"/>
            </a:pPr>
            <a:r>
              <a:rPr lang="en-GB" dirty="0"/>
              <a:t>Mathematics is the science of skilful operations with concepts and rules invented just for this purpose. [this purpose being the skilful operation ....]</a:t>
            </a:r>
            <a:r>
              <a:rPr lang="en-GB" baseline="30000" dirty="0">
                <a:hlinkClick r:id="rId12"/>
              </a:rPr>
              <a:t>[23]</a:t>
            </a:r>
            <a:r>
              <a:rPr lang="en-GB" dirty="0"/>
              <a:t> </a:t>
            </a:r>
            <a:r>
              <a:rPr lang="en-GB" dirty="0">
                <a:hlinkClick r:id="rId13" tooltip="Eugene Wigner"/>
              </a:rPr>
              <a:t>Eugene Wigner</a:t>
            </a:r>
            <a:endParaRPr lang="en-GB" dirty="0"/>
          </a:p>
          <a:p>
            <a:pPr lvl="1"/>
            <a:endParaRPr lang="en-US" dirty="0"/>
          </a:p>
        </p:txBody>
      </p:sp>
    </p:spTree>
    <p:extLst>
      <p:ext uri="{BB962C8B-B14F-4D97-AF65-F5344CB8AC3E}">
        <p14:creationId xmlns:p14="http://schemas.microsoft.com/office/powerpoint/2010/main" val="41070282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5F4E-2311-B914-5AE0-039C73C51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77BD6-B008-1488-0C56-765C1109C7B6}"/>
              </a:ext>
            </a:extLst>
          </p:cNvPr>
          <p:cNvSpPr>
            <a:spLocks noGrp="1"/>
          </p:cNvSpPr>
          <p:nvPr>
            <p:ph type="title"/>
          </p:nvPr>
        </p:nvSpPr>
        <p:spPr/>
        <p:txBody>
          <a:bodyPr/>
          <a:lstStyle/>
          <a:p>
            <a:r>
              <a:rPr lang="en-US" dirty="0"/>
              <a:t>Back to the geometry</a:t>
            </a:r>
          </a:p>
        </p:txBody>
      </p:sp>
      <p:sp>
        <p:nvSpPr>
          <p:cNvPr id="3" name="Content Placeholder 2">
            <a:extLst>
              <a:ext uri="{FF2B5EF4-FFF2-40B4-BE49-F238E27FC236}">
                <a16:creationId xmlns:a16="http://schemas.microsoft.com/office/drawing/2014/main" id="{C8FA771D-955C-400E-5CF6-FE2283AB3C16}"/>
              </a:ext>
            </a:extLst>
          </p:cNvPr>
          <p:cNvSpPr>
            <a:spLocks noGrp="1"/>
          </p:cNvSpPr>
          <p:nvPr>
            <p:ph idx="1"/>
          </p:nvPr>
        </p:nvSpPr>
        <p:spPr>
          <a:xfrm>
            <a:off x="838200" y="2341418"/>
            <a:ext cx="10515600" cy="3616037"/>
          </a:xfrm>
        </p:spPr>
        <p:txBody>
          <a:bodyPr/>
          <a:lstStyle/>
          <a:p>
            <a:pPr lvl="1"/>
            <a:r>
              <a:rPr lang="en-US" dirty="0"/>
              <a:t>Two planes intersect along a line</a:t>
            </a:r>
          </a:p>
          <a:p>
            <a:pPr lvl="1"/>
            <a:r>
              <a:rPr lang="en-US" dirty="0"/>
              <a:t>Three planes intersect at a point.</a:t>
            </a:r>
          </a:p>
          <a:p>
            <a:pPr lvl="1"/>
            <a:endParaRPr lang="en-US" dirty="0"/>
          </a:p>
          <a:p>
            <a:pPr lvl="1"/>
            <a:r>
              <a:rPr lang="en-US" dirty="0"/>
              <a:t>Unless…</a:t>
            </a:r>
          </a:p>
          <a:p>
            <a:pPr lvl="1"/>
            <a:r>
              <a:rPr lang="en-US" dirty="0"/>
              <a:t>the planes are parallel</a:t>
            </a:r>
          </a:p>
          <a:p>
            <a:pPr lvl="1"/>
            <a:endParaRPr lang="en-US" dirty="0"/>
          </a:p>
          <a:p>
            <a:pPr lvl="1"/>
            <a:r>
              <a:rPr lang="en-US" dirty="0"/>
              <a:t>Maybe a nice diagram….</a:t>
            </a:r>
          </a:p>
          <a:p>
            <a:pPr lvl="1"/>
            <a:endParaRPr lang="en-US" dirty="0"/>
          </a:p>
        </p:txBody>
      </p:sp>
      <p:sp>
        <p:nvSpPr>
          <p:cNvPr id="4" name="Date Placeholder 3">
            <a:extLst>
              <a:ext uri="{FF2B5EF4-FFF2-40B4-BE49-F238E27FC236}">
                <a16:creationId xmlns:a16="http://schemas.microsoft.com/office/drawing/2014/main" id="{8D9E8AEF-299C-B7E2-0747-9234D2769D5C}"/>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6087E31F-7FD6-747A-FB68-2177AF09086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F165DB0F-35CA-80A1-1C17-48E1875936C9}"/>
              </a:ext>
            </a:extLst>
          </p:cNvPr>
          <p:cNvSpPr>
            <a:spLocks noGrp="1"/>
          </p:cNvSpPr>
          <p:nvPr>
            <p:ph type="sldNum" sz="quarter" idx="12"/>
          </p:nvPr>
        </p:nvSpPr>
        <p:spPr/>
        <p:txBody>
          <a:bodyPr/>
          <a:lstStyle/>
          <a:p>
            <a:fld id="{02E52F69-22B0-9141-B095-D977E71C7FB4}" type="slidenum">
              <a:rPr lang="en-US" smtClean="0"/>
              <a:t>29</a:t>
            </a:fld>
            <a:endParaRPr lang="en-US"/>
          </a:p>
        </p:txBody>
      </p:sp>
      <p:pic>
        <p:nvPicPr>
          <p:cNvPr id="16" name="Picture 15" descr="\documentclass{article}&#10;\usepackage{amsmath}&#10;\pagestyle{empty}&#10;\begin{document}&#10;\begin{sf}&#10;Our three equations represent three plane:&#10;\begin{flalign*}&#10;    x  + y + z &amp;= 3 \\&#10;   2x  + y - z &amp;= 2 \\&#10;    x  - y - 2z &amp;= -2&#10;\end{flalign*}&#10;\end{sf}&#10;\end{document}" title="IguanaTex Picture Display">
            <a:extLst>
              <a:ext uri="{FF2B5EF4-FFF2-40B4-BE49-F238E27FC236}">
                <a16:creationId xmlns:a16="http://schemas.microsoft.com/office/drawing/2014/main" id="{7E955F08-5653-EA8A-617D-041E51C3BFB9}"/>
              </a:ext>
            </a:extLst>
          </p:cNvPr>
          <p:cNvPicPr>
            <a:picLocks noChangeAspect="1"/>
          </p:cNvPicPr>
          <p:nvPr>
            <p:custDataLst>
              <p:tags r:id="rId1"/>
            </p:custDataLst>
          </p:nvPr>
        </p:nvPicPr>
        <p:blipFill>
          <a:blip r:embed="rId4"/>
          <a:stretch>
            <a:fillRect/>
          </a:stretch>
        </p:blipFill>
        <p:spPr>
          <a:xfrm>
            <a:off x="7042557" y="717333"/>
            <a:ext cx="4311243" cy="1372250"/>
          </a:xfrm>
          <a:prstGeom prst="rect">
            <a:avLst/>
          </a:prstGeom>
        </p:spPr>
      </p:pic>
    </p:spTree>
    <p:extLst>
      <p:ext uri="{BB962C8B-B14F-4D97-AF65-F5344CB8AC3E}">
        <p14:creationId xmlns:p14="http://schemas.microsoft.com/office/powerpoint/2010/main" val="12377018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3E3E-80DC-5A08-B819-84444221A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2671B-B8B7-5583-1C03-32C8ED7D55B0}"/>
              </a:ext>
            </a:extLst>
          </p:cNvPr>
          <p:cNvSpPr>
            <a:spLocks noGrp="1"/>
          </p:cNvSpPr>
          <p:nvPr>
            <p:ph type="title"/>
          </p:nvPr>
        </p:nvSpPr>
        <p:spPr>
          <a:xfrm>
            <a:off x="838200" y="136525"/>
            <a:ext cx="10515600" cy="1325563"/>
          </a:xfrm>
        </p:spPr>
        <p:txBody>
          <a:bodyPr/>
          <a:lstStyle/>
          <a:p>
            <a:r>
              <a:rPr lang="en-US" dirty="0"/>
              <a:t>We need to talk about matrices</a:t>
            </a:r>
          </a:p>
        </p:txBody>
      </p:sp>
      <p:sp>
        <p:nvSpPr>
          <p:cNvPr id="4" name="Date Placeholder 3">
            <a:extLst>
              <a:ext uri="{FF2B5EF4-FFF2-40B4-BE49-F238E27FC236}">
                <a16:creationId xmlns:a16="http://schemas.microsoft.com/office/drawing/2014/main" id="{66D2DCCD-E623-8C32-B2F3-02EBEE1477AE}"/>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0FCEC52C-D70F-308F-E786-96733BF61DCB}"/>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4E2342FC-8040-FD6F-5463-67328B6FD203}"/>
              </a:ext>
            </a:extLst>
          </p:cNvPr>
          <p:cNvSpPr>
            <a:spLocks noGrp="1"/>
          </p:cNvSpPr>
          <p:nvPr>
            <p:ph type="sldNum" sz="quarter" idx="12"/>
          </p:nvPr>
        </p:nvSpPr>
        <p:spPr/>
        <p:txBody>
          <a:bodyPr/>
          <a:lstStyle/>
          <a:p>
            <a:fld id="{02E52F69-22B0-9141-B095-D977E71C7FB4}" type="slidenum">
              <a:rPr lang="en-US" smtClean="0"/>
              <a:t>30</a:t>
            </a:fld>
            <a:endParaRPr lang="en-US"/>
          </a:p>
        </p:txBody>
      </p:sp>
      <p:pic>
        <p:nvPicPr>
          <p:cNvPr id="10" name="Picture 9" descr="\documentclass[10pt]{article}&#10;\usepackage{amsmath}&#10;\pagestyle{empty}&#10;\begin{document}&#10;\begin{sf}&#10;\begin{itemize}&#10;\item We can write the equations as:&#10;  \begin{align*}&#10;     \begin{pmatrix}&#10;         1 &amp; 1 &amp; 1 \\&#10;         2 &amp; 1 &amp; -1 \\&#10;         1 &amp; 1 &amp; -2&#10;     \end{pmatrix}&#10;     \begin{pmatrix}&#10;         x\\&#10;         y\\&#10;         z&#10;     \end{pmatrix}&#10;= \begin{pmatrix}&#10;         3\\&#10;         2\\&#10;         -2&#10;     \end{pmatrix}&#10;  \end{align*}&#10;%&#10;%&#10;\vspace{-0.5cm}&#10;%&#10;\item The process that we went through is known as Gaussian Elimination.&#10;\item It is equivalent to factorizing the matrix ($A$)into two matrices:&#10;$A = LU$ where $L$ is lower triangular and $U$ is upper triangular.&#10;\item The questions we need to ask are:&#10;  \begin{itemize}&#10;    \item When will Gaussian Elimination work?&#10;    \item How long does it take?&#10;    \item Is it stable? (What happens in the presence of perturbations?)&#10;  \end{itemize}&#10;\end{itemize}&#10;\end{sf}&#10;\end{document}" title="IguanaTex Picture Display">
            <a:extLst>
              <a:ext uri="{FF2B5EF4-FFF2-40B4-BE49-F238E27FC236}">
                <a16:creationId xmlns:a16="http://schemas.microsoft.com/office/drawing/2014/main" id="{29808300-473C-FEEB-C110-8B332AF6A757}"/>
              </a:ext>
            </a:extLst>
          </p:cNvPr>
          <p:cNvPicPr>
            <a:picLocks noChangeAspect="1"/>
          </p:cNvPicPr>
          <p:nvPr>
            <p:custDataLst>
              <p:tags r:id="rId1"/>
            </p:custDataLst>
          </p:nvPr>
        </p:nvPicPr>
        <p:blipFill>
          <a:blip r:embed="rId3"/>
          <a:stretch>
            <a:fillRect/>
          </a:stretch>
        </p:blipFill>
        <p:spPr>
          <a:xfrm>
            <a:off x="838201" y="1057839"/>
            <a:ext cx="9992563" cy="5437632"/>
          </a:xfrm>
          <a:prstGeom prst="rect">
            <a:avLst/>
          </a:prstGeom>
        </p:spPr>
      </p:pic>
    </p:spTree>
    <p:extLst>
      <p:ext uri="{BB962C8B-B14F-4D97-AF65-F5344CB8AC3E}">
        <p14:creationId xmlns:p14="http://schemas.microsoft.com/office/powerpoint/2010/main" val="310330186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057F-FE94-18F8-6660-1E29BA772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5F8B8-F7B4-5896-0C29-A85410C8DD57}"/>
              </a:ext>
            </a:extLst>
          </p:cNvPr>
          <p:cNvSpPr>
            <a:spLocks noGrp="1"/>
          </p:cNvSpPr>
          <p:nvPr>
            <p:ph type="title"/>
          </p:nvPr>
        </p:nvSpPr>
        <p:spPr/>
        <p:txBody>
          <a:bodyPr/>
          <a:lstStyle/>
          <a:p>
            <a:r>
              <a:rPr lang="en-US" dirty="0"/>
              <a:t>Determinants</a:t>
            </a:r>
          </a:p>
        </p:txBody>
      </p:sp>
      <p:sp>
        <p:nvSpPr>
          <p:cNvPr id="3" name="Content Placeholder 2">
            <a:extLst>
              <a:ext uri="{FF2B5EF4-FFF2-40B4-BE49-F238E27FC236}">
                <a16:creationId xmlns:a16="http://schemas.microsoft.com/office/drawing/2014/main" id="{6F6F8777-6860-A298-5A8F-A3B7B28B6A11}"/>
              </a:ext>
            </a:extLst>
          </p:cNvPr>
          <p:cNvSpPr>
            <a:spLocks noGrp="1"/>
          </p:cNvSpPr>
          <p:nvPr>
            <p:ph idx="1"/>
          </p:nvPr>
        </p:nvSpPr>
        <p:spPr/>
        <p:txBody>
          <a:bodyPr/>
          <a:lstStyle/>
          <a:p>
            <a:r>
              <a:rPr lang="en-US" dirty="0"/>
              <a:t>The determinant is the signed volume </a:t>
            </a:r>
          </a:p>
          <a:p>
            <a:r>
              <a:rPr lang="en-US" dirty="0"/>
              <a:t>Diagram??</a:t>
            </a:r>
          </a:p>
          <a:p>
            <a:r>
              <a:rPr lang="en-US" dirty="0"/>
              <a:t>2 D formula</a:t>
            </a:r>
          </a:p>
          <a:p>
            <a:r>
              <a:rPr lang="en-US" dirty="0"/>
              <a:t>3D formula</a:t>
            </a:r>
          </a:p>
          <a:p>
            <a:r>
              <a:rPr lang="en-US" dirty="0"/>
              <a:t>N-D formula</a:t>
            </a:r>
          </a:p>
          <a:p>
            <a:pPr lvl="1"/>
            <a:r>
              <a:rPr lang="en-US" dirty="0"/>
              <a:t>In terms of sub-matrices,</a:t>
            </a:r>
          </a:p>
          <a:p>
            <a:pPr lvl="1"/>
            <a:r>
              <a:rPr lang="en-US" dirty="0"/>
              <a:t>Algebraic Laplace? Or Leibniz + Levi-Civita?</a:t>
            </a:r>
          </a:p>
          <a:p>
            <a:r>
              <a:rPr lang="en-US" dirty="0"/>
              <a:t>In fact we can write A^-1 = 1/det(A) x ….</a:t>
            </a:r>
          </a:p>
          <a:p>
            <a:pPr lvl="1"/>
            <a:endParaRPr lang="en-US" dirty="0"/>
          </a:p>
        </p:txBody>
      </p:sp>
      <p:sp>
        <p:nvSpPr>
          <p:cNvPr id="4" name="Date Placeholder 3">
            <a:extLst>
              <a:ext uri="{FF2B5EF4-FFF2-40B4-BE49-F238E27FC236}">
                <a16:creationId xmlns:a16="http://schemas.microsoft.com/office/drawing/2014/main" id="{F5FC8C98-DC74-E868-4F32-D1DD653CFC00}"/>
              </a:ext>
            </a:extLst>
          </p:cNvPr>
          <p:cNvSpPr>
            <a:spLocks noGrp="1"/>
          </p:cNvSpPr>
          <p:nvPr>
            <p:ph type="dt" sz="half" idx="10"/>
          </p:nvPr>
        </p:nvSpPr>
        <p:spPr/>
        <p:txBody>
          <a:bodyPr/>
          <a:lstStyle/>
          <a:p>
            <a:fld id="{EE09BE72-5ACB-044D-B20B-39EBEB805477}" type="datetime1">
              <a:rPr lang="en-GB" smtClean="0"/>
              <a:t>27/09/2026</a:t>
            </a:fld>
            <a:endParaRPr lang="en-US"/>
          </a:p>
        </p:txBody>
      </p:sp>
      <p:sp>
        <p:nvSpPr>
          <p:cNvPr id="5" name="Footer Placeholder 4">
            <a:extLst>
              <a:ext uri="{FF2B5EF4-FFF2-40B4-BE49-F238E27FC236}">
                <a16:creationId xmlns:a16="http://schemas.microsoft.com/office/drawing/2014/main" id="{252B2FD3-1987-B163-0F3E-9676130E9231}"/>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EE29986C-4A00-03B1-0BB8-F95753E5D1E1}"/>
              </a:ext>
            </a:extLst>
          </p:cNvPr>
          <p:cNvSpPr>
            <a:spLocks noGrp="1"/>
          </p:cNvSpPr>
          <p:nvPr>
            <p:ph type="sldNum" sz="quarter" idx="12"/>
          </p:nvPr>
        </p:nvSpPr>
        <p:spPr/>
        <p:txBody>
          <a:bodyPr/>
          <a:lstStyle/>
          <a:p>
            <a:fld id="{02E52F69-22B0-9141-B095-D977E71C7FB4}" type="slidenum">
              <a:rPr lang="en-US" smtClean="0"/>
              <a:t>31</a:t>
            </a:fld>
            <a:endParaRPr lang="en-US"/>
          </a:p>
        </p:txBody>
      </p:sp>
    </p:spTree>
    <p:extLst>
      <p:ext uri="{BB962C8B-B14F-4D97-AF65-F5344CB8AC3E}">
        <p14:creationId xmlns:p14="http://schemas.microsoft.com/office/powerpoint/2010/main" val="205326522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A2FB0-BE68-CC5A-21B5-A2600FA9B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1D46E-1431-345A-CCB9-2EF0CB9878DC}"/>
              </a:ext>
            </a:extLst>
          </p:cNvPr>
          <p:cNvSpPr>
            <a:spLocks noGrp="1"/>
          </p:cNvSpPr>
          <p:nvPr>
            <p:ph type="title"/>
          </p:nvPr>
        </p:nvSpPr>
        <p:spPr/>
        <p:txBody>
          <a:bodyPr/>
          <a:lstStyle/>
          <a:p>
            <a:r>
              <a:rPr lang="en-US" dirty="0"/>
              <a:t>A bit of revision</a:t>
            </a:r>
          </a:p>
        </p:txBody>
      </p:sp>
      <p:pic>
        <p:nvPicPr>
          <p:cNvPr id="6" name="Picture 5" descr="\documentclass{article}&#10;\usepackage{amsmath}&#10;\pagestyle{empty}&#10;\begin{document}&#10;\begin{align*}&#10;\begin{matrix}&#10;a_{11} &amp; a_{12} &amp; a_{13}\\&#10;a_{21} &amp; a_{22} &amp; a_{23}\\&#10;a_{31} &amp; a_{32} &amp; a_{33}&#10;\end{matrix}&#10;&amp;=&#10;\begin{pmatrix}&#10;A_{11} &amp; a_{12} &amp; a_{13}\\&#10;a_{21} &amp; a_{22} &amp; a_{23}\\&#10;a_{31} &amp; a_{32} &amp; a_{33}&#10;\end{pmatrix}&#10;=&#10;\begin{bmatrix}&#10;a_{11} &amp; a_{12} &amp; a_{13}\\&#10;a_{21} &amp; a_{22} &amp; a_{23}\\&#10;a_{31} &amp; a_{32} &amp; a_{33}&#10;\end{bmatrix}&#10;\nonumber\\&#10;\begin{Bmatrix}&#10;a_{11} &amp; a_{12} &amp; a_{13}\\&#10;a_{21} &amp; a_{22} &amp; a_{23}\\&#10;a_{31} &amp; a_{32} &amp; a_{33}&#10;\end{Bmatrix}&#10;&amp;=&#10;\begin{vmatrix}&#10;a_{11} &amp; A_{12} &amp; a_{13}\\&#10;a_{21} &amp; a_{22} &amp; a_{23}\\&#10;a_{31} &amp; a_{32} &amp; a_{33}&#10;\end{vmatrix}&#10;=&#10;\begin{Vmatrix}&#10;a_{11} &amp; a_{12} &amp; a_{13}\\&#10;a_{21} &amp; a_{22} &amp; a_{23}\\&#10;a_{31} &amp; a_{32} &amp; a_{33}&#10;\end{Vmatrix}&#10;\begin{pmatrix}&#10;a_{ij}&#10;\end{pmatrix}&#10;= 0&#10;\end{align*}&#10;%&#10;%&#10;\begin{equation*}&#10;A B = C \\&#10;\begin{pmatrix}&#10;a_{ik}&#10;\end{pmatrix}&#10;\begin{pmatrix}&#10;b_{kj}&#10;\end{pmatrix}&#10;= &#10;\left (\sum_{1\le k \le n} A_{ik} B_{kj} \right )&#10;=&#10;\begin{pmatrix}&#10;\sum_{1\le k \le n} a_{ik} b_{kj}&#10;%\sum\limits{1\le k \le n} a_{ik} b_{kj}&#10;\end{pmatrix}&#10;=&#10;\begin{pmatrix}&#10;c_{ij}&#10;\end{pmatrix}&#10;\end{equation*}&#10;\begin{equation*}&#10;\sum_{1 \le k \ le n} a_{ik}b_{kj}&#10;\end{equation*}&#10;\end{document}" title="IguanaTex Picture Display">
            <a:extLst>
              <a:ext uri="{FF2B5EF4-FFF2-40B4-BE49-F238E27FC236}">
                <a16:creationId xmlns:a16="http://schemas.microsoft.com/office/drawing/2014/main" id="{A071EEBD-8B31-6AD2-EF0C-8585BF9AD27C}"/>
              </a:ext>
            </a:extLst>
          </p:cNvPr>
          <p:cNvPicPr>
            <a:picLocks noChangeAspect="1"/>
          </p:cNvPicPr>
          <p:nvPr>
            <p:custDataLst>
              <p:tags r:id="rId1"/>
            </p:custDataLst>
          </p:nvPr>
        </p:nvPicPr>
        <p:blipFill>
          <a:blip r:embed="rId3"/>
          <a:stretch>
            <a:fillRect/>
          </a:stretch>
        </p:blipFill>
        <p:spPr>
          <a:xfrm>
            <a:off x="838200" y="1091117"/>
            <a:ext cx="10386366" cy="5447794"/>
          </a:xfrm>
          <a:prstGeom prst="rect">
            <a:avLst/>
          </a:prstGeom>
        </p:spPr>
      </p:pic>
      <p:sp>
        <p:nvSpPr>
          <p:cNvPr id="16" name="Footer Placeholder 15">
            <a:extLst>
              <a:ext uri="{FF2B5EF4-FFF2-40B4-BE49-F238E27FC236}">
                <a16:creationId xmlns:a16="http://schemas.microsoft.com/office/drawing/2014/main" id="{7E31F3E4-BA40-B091-1546-A5B07567A168}"/>
              </a:ext>
            </a:extLst>
          </p:cNvPr>
          <p:cNvSpPr>
            <a:spLocks noGrp="1"/>
          </p:cNvSpPr>
          <p:nvPr>
            <p:ph type="ftr" sz="quarter" idx="11"/>
          </p:nvPr>
        </p:nvSpPr>
        <p:spPr/>
        <p:txBody>
          <a:bodyPr/>
          <a:lstStyle/>
          <a:p>
            <a:r>
              <a:rPr lang="en-US"/>
              <a:t>U3AC 2026</a:t>
            </a:r>
          </a:p>
        </p:txBody>
      </p:sp>
      <p:sp>
        <p:nvSpPr>
          <p:cNvPr id="17" name="Slide Number Placeholder 16">
            <a:extLst>
              <a:ext uri="{FF2B5EF4-FFF2-40B4-BE49-F238E27FC236}">
                <a16:creationId xmlns:a16="http://schemas.microsoft.com/office/drawing/2014/main" id="{161B64FA-966B-2B9C-D4C5-5444CB576E82}"/>
              </a:ext>
            </a:extLst>
          </p:cNvPr>
          <p:cNvSpPr>
            <a:spLocks noGrp="1"/>
          </p:cNvSpPr>
          <p:nvPr>
            <p:ph type="sldNum" sz="quarter" idx="12"/>
          </p:nvPr>
        </p:nvSpPr>
        <p:spPr/>
        <p:txBody>
          <a:bodyPr/>
          <a:lstStyle/>
          <a:p>
            <a:fld id="{02E52F69-22B0-9141-B095-D977E71C7FB4}" type="slidenum">
              <a:rPr lang="en-US" smtClean="0"/>
              <a:t>32</a:t>
            </a:fld>
            <a:endParaRPr lang="en-US"/>
          </a:p>
        </p:txBody>
      </p:sp>
      <p:sp>
        <p:nvSpPr>
          <p:cNvPr id="18" name="Date Placeholder 17">
            <a:extLst>
              <a:ext uri="{FF2B5EF4-FFF2-40B4-BE49-F238E27FC236}">
                <a16:creationId xmlns:a16="http://schemas.microsoft.com/office/drawing/2014/main" id="{C4FE84BB-386F-186F-4D18-30F0056AAB6E}"/>
              </a:ext>
            </a:extLst>
          </p:cNvPr>
          <p:cNvSpPr>
            <a:spLocks noGrp="1"/>
          </p:cNvSpPr>
          <p:nvPr>
            <p:ph type="dt" sz="half" idx="10"/>
          </p:nvPr>
        </p:nvSpPr>
        <p:spPr/>
        <p:txBody>
          <a:bodyPr/>
          <a:lstStyle/>
          <a:p>
            <a:fld id="{5A5F16B2-D5B5-2C44-9C7D-5C658A76FC30}" type="datetime1">
              <a:rPr lang="en-GB" smtClean="0"/>
              <a:t>27/09/2026</a:t>
            </a:fld>
            <a:endParaRPr lang="en-US"/>
          </a:p>
        </p:txBody>
      </p:sp>
    </p:spTree>
    <p:extLst>
      <p:ext uri="{BB962C8B-B14F-4D97-AF65-F5344CB8AC3E}">
        <p14:creationId xmlns:p14="http://schemas.microsoft.com/office/powerpoint/2010/main" val="208689791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78E07-A520-36A1-1B41-2EF2C489F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8FA64-F05D-B1B8-4027-ABE931B011EE}"/>
              </a:ext>
            </a:extLst>
          </p:cNvPr>
          <p:cNvSpPr>
            <a:spLocks noGrp="1"/>
          </p:cNvSpPr>
          <p:nvPr>
            <p:ph type="title"/>
            <p:custDataLst>
              <p:tags r:id="rId1"/>
            </p:custDataLst>
          </p:nvPr>
        </p:nvSpPr>
        <p:spPr>
          <a:xfrm>
            <a:off x="838200" y="365125"/>
            <a:ext cx="10515600" cy="743239"/>
          </a:xfrm>
        </p:spPr>
        <p:txBody>
          <a:bodyPr/>
          <a:lstStyle/>
          <a:p>
            <a:r>
              <a:rPr lang="en-GB" dirty="0"/>
              <a:t>Default </a:t>
            </a:r>
            <a:r>
              <a:rPr lang="en-GB" dirty="0" err="1"/>
              <a:t>Iguanatex</a:t>
            </a:r>
            <a:r>
              <a:rPr lang="en-GB" dirty="0"/>
              <a:t> Header</a:t>
            </a:r>
            <a:endParaRPr lang="en-US" dirty="0"/>
          </a:p>
        </p:txBody>
      </p:sp>
      <p:pic>
        <p:nvPicPr>
          <p:cNvPr id="4" name="Picture 3" descr="\documentclass{article}&#10;\usepackage{amsmath}&#10;\usepackage[version=4]{mhchem}\usepackage[margin=0in,paperwidth=8in,verbose,marginparwidth=0pt,marginparsep=0pt]{geometry}&#10;\usepackage{sectsty}&#10;\allsectionsfont{\bfseries\sffamily}&#10;\pagestyle{empty}&#10;\begin{document}&#10;\begin{sf}&#10;&#10;Includes Headers, Section Heads, Wide pages, Chemistry&#10;&#10;\end{sf}&#10;\end{document}" title="IguanaTex Picture Display">
            <a:extLst>
              <a:ext uri="{FF2B5EF4-FFF2-40B4-BE49-F238E27FC236}">
                <a16:creationId xmlns:a16="http://schemas.microsoft.com/office/drawing/2014/main" id="{FE6207E9-F34F-9546-42AD-D85622829289}"/>
              </a:ext>
            </a:extLst>
          </p:cNvPr>
          <p:cNvPicPr>
            <a:picLocks noChangeAspect="1"/>
          </p:cNvPicPr>
          <p:nvPr>
            <p:custDataLst>
              <p:tags r:id="rId2"/>
            </p:custDataLst>
          </p:nvPr>
        </p:nvPicPr>
        <p:blipFill>
          <a:blip r:embed="rId7"/>
          <a:stretch>
            <a:fillRect/>
          </a:stretch>
        </p:blipFill>
        <p:spPr>
          <a:xfrm>
            <a:off x="682117" y="1484561"/>
            <a:ext cx="4186122" cy="162153"/>
          </a:xfrm>
          <a:prstGeom prst="rect">
            <a:avLst/>
          </a:prstGeom>
        </p:spPr>
      </p:pic>
      <p:sp>
        <p:nvSpPr>
          <p:cNvPr id="37" name="Footer Placeholder 36">
            <a:extLst>
              <a:ext uri="{FF2B5EF4-FFF2-40B4-BE49-F238E27FC236}">
                <a16:creationId xmlns:a16="http://schemas.microsoft.com/office/drawing/2014/main" id="{DEB78B75-9187-AADE-982E-AFDDAFA0BB11}"/>
              </a:ext>
            </a:extLst>
          </p:cNvPr>
          <p:cNvSpPr>
            <a:spLocks noGrp="1"/>
          </p:cNvSpPr>
          <p:nvPr>
            <p:ph type="ftr" sz="quarter" idx="11"/>
            <p:custDataLst>
              <p:tags r:id="rId3"/>
            </p:custDataLst>
          </p:nvPr>
        </p:nvSpPr>
        <p:spPr/>
        <p:txBody>
          <a:bodyPr/>
          <a:lstStyle/>
          <a:p>
            <a:r>
              <a:rPr lang="en-US"/>
              <a:t>U3AC 2026</a:t>
            </a:r>
          </a:p>
        </p:txBody>
      </p:sp>
      <p:sp>
        <p:nvSpPr>
          <p:cNvPr id="38" name="Slide Number Placeholder 37">
            <a:extLst>
              <a:ext uri="{FF2B5EF4-FFF2-40B4-BE49-F238E27FC236}">
                <a16:creationId xmlns:a16="http://schemas.microsoft.com/office/drawing/2014/main" id="{832C08FA-0737-B8CD-C7F6-B3FE13E222D6}"/>
              </a:ext>
            </a:extLst>
          </p:cNvPr>
          <p:cNvSpPr>
            <a:spLocks noGrp="1"/>
          </p:cNvSpPr>
          <p:nvPr>
            <p:ph type="sldNum" sz="quarter" idx="12"/>
            <p:custDataLst>
              <p:tags r:id="rId4"/>
            </p:custDataLst>
          </p:nvPr>
        </p:nvSpPr>
        <p:spPr/>
        <p:txBody>
          <a:bodyPr/>
          <a:lstStyle/>
          <a:p>
            <a:fld id="{02E52F69-22B0-9141-B095-D977E71C7FB4}" type="slidenum">
              <a:rPr lang="en-US" smtClean="0"/>
              <a:t>33</a:t>
            </a:fld>
            <a:endParaRPr lang="en-US"/>
          </a:p>
        </p:txBody>
      </p:sp>
      <p:sp>
        <p:nvSpPr>
          <p:cNvPr id="39" name="Date Placeholder 38">
            <a:extLst>
              <a:ext uri="{FF2B5EF4-FFF2-40B4-BE49-F238E27FC236}">
                <a16:creationId xmlns:a16="http://schemas.microsoft.com/office/drawing/2014/main" id="{30E1FE6E-0592-C548-C447-815CA17DFC99}"/>
              </a:ext>
            </a:extLst>
          </p:cNvPr>
          <p:cNvSpPr>
            <a:spLocks noGrp="1"/>
          </p:cNvSpPr>
          <p:nvPr>
            <p:ph type="dt" sz="half" idx="10"/>
            <p:custDataLst>
              <p:tags r:id="rId5"/>
            </p:custDataLst>
          </p:nvPr>
        </p:nvSpPr>
        <p:spPr/>
        <p:txBody>
          <a:bodyPr/>
          <a:lstStyle/>
          <a:p>
            <a:fld id="{878483A1-F101-374A-B4A4-F79795DB47B2}" type="datetime1">
              <a:rPr lang="en-GB" smtClean="0"/>
              <a:t>27/09/2026</a:t>
            </a:fld>
            <a:endParaRPr lang="en-US"/>
          </a:p>
        </p:txBody>
      </p:sp>
    </p:spTree>
    <p:extLst>
      <p:ext uri="{BB962C8B-B14F-4D97-AF65-F5344CB8AC3E}">
        <p14:creationId xmlns:p14="http://schemas.microsoft.com/office/powerpoint/2010/main" val="7149909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2949"/>
  <p:tag name="ORIGINALWIDTH" val=" 6881"/>
  <p:tag name="OUTPUTTYPE" val="PNG"/>
  <p:tag name="IGUANATEXVERSION" val="162"/>
  <p:tag name="LATEXADDIN" val="\documentclass{article}&#10;\usepackage{amsmath}&#10;\usepackage[version=4]{mhchem}\usepackage[margin=0in,paperwidth=8in,verbose,marginparwidth=0pt,marginparsep=0pt]{geometry}&#10;\usepackage{sectsty}&#10;\allsectionsfont{\bfseries\sffamily}&#10;\pagestyle{empty}&#10;\begin{document}&#10;\begin{sf}&#10;\section*{Core Reagents}&#10;\begin{itemize}&#10;\item Malonic Acid (\ce{CH2(COOH)2}):&#10;\\ \hspace*{3cm}&#10;Acts as the organic substrate that undergoes bromination and oxidation.&#10;\item Sodium Bromate (\ce{NaBrO_3}) or Potassium Bromate (\ce{KBrO_3}): &#10;\\ \hspace*{3cm}&#10;Serves as the primary inorganic oxidizing agent.&#10;\item Sulfuric Acid (\ce{H_2 SO_4}): &#10;\\ \hspace*{3cm}&#10;Provides the highly acidic medium required for the reaction kinetics to proceed.&#10;\end{itemize}&#10;&#10;\section*{Redox Catalyst / Indicator}&#10;\begin{itemize}&#10;\item Ferroin (\(\text{[Fe(o-phen)}_{3}\text{]}^{2+}\)): A coordination complex of iron and phenanthroline.&#10;\\ \hspace*{3cm}&#10;Changes color based on its oxidation state, shifting between red (reduced state) and blue (oxidized state)&#10;\\ \hspace*{3cm}&#10;Visible traveling wave patterns.&#10;\item Alternative: Cerium or manganese ions &#10;\\ \hspace*{3cm}&#10;Also be used as catalysts, &#10;\\ \hspace*{3cm}&#10;Different color changes (e.g., yellow to colorless).&#10;\end{itemize}&#10;&#10;\end{sf}&#10;\end{document}"/>
  <p:tag name="IGUANATEXSIZE" val="14"/>
  <p:tag name="IGUANATEXCURSOR" val="117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5.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2005"/>
  <p:tag name="ORIGINALWIDTH" val=" 3972"/>
  <p:tag name="OUTPUTTYPE" val="PNG"/>
  <p:tag name="IGUANATEXVERSION" val="162"/>
  <p:tag name="LATEXADDIN" val="\documentclass{article}&#10;\usepackage{amsmath}&#10;\usepackage[version=4]{mhchem}&#10;\pagestyle{empty}&#10;\begin{document}&#10;\begin{sf}&#10;&#10;\begin{itemize}&#10;\item [] A common theoretical model for oscillating reactions is the Brusselator.&#10;\item[] Introduced by: Prigogine and Lefever , Univ Brussels&#10;\begin{itemize}&#10;\item [] Prigogine, I.; Lefever, R. (1968). \\&#10;&#9;&quot;Symmetry Breaking Instabilities in Dissipative Systems. II&quot;. J Chem Phys&#10;\end{itemize}&#10;\item[]It is reasonably simple but generates a rich set of stability breaking phenomena.&#10;\item[] In brief we have:&#10;\ce{A + B -&gt; D + E}\\&#10;\ \bigskip \\&#10;\hspace*{2cm}with intermediate reactions involving \\&#10;\hspace*{4cm}two autocatalytic species \ce{X and Y}&#10;\end{itemize}&#10;&#10;&#10;\end{sf}&#10;\end{document}"/>
  <p:tag name="IGUANATEXSIZE" val="20"/>
  <p:tag name="IGUANATEXCURSOR" val="65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1854"/>
  <p:tag name="ORIGINALWIDTH" val=" 3531"/>
  <p:tag name="OUTPUTTYPE" val="PNG"/>
  <p:tag name="IGUANATEXVERSION" val="162"/>
  <p:tag name="LATEXADDIN" val="\documentclass{article}&#10;\usepackage{amsmath}&#10;\usepackage[version=4]{mhchem}&#10;\pagestyle{empty}&#10;\begin{document}&#10;\begin{sf}&#10;&#10;We can write the following differential equations for [X] and [Y]:\\&#10;\begin{enumerate}&#10;\item \ce{A -&gt;[k1] X }&#10;\item \ce{2X + Y -&gt;[k2] 3X}&#10;\item \ce{B + X -&gt;[k3] Y + D}&#10;\item \ce{X -&gt;[k4] E}&#10;\end{enumerate}&#10;As usual we denote $[\bullet]$ as the molar concentration of a substance.\\&#10;\ \\&#10;Assume that $[A], [B], [D]$ and $[E]$ are constants.&#10;\end{sf}&#10;\end{document}"/>
  <p:tag name="IGUANATEXSIZE" val="20"/>
  <p:tag name="IGUANATEXCURSOR" val="28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 1200"/>
  <p:tag name="ORIGINALHEIGHT" val=" 1943"/>
  <p:tag name="ORIGINALWIDTH" val=" 4281"/>
  <p:tag name="OUTPUTTYPE" val="PNG"/>
  <p:tag name="IGUANATEXVERSION" val="162"/>
  <p:tag name="LATEXADDIN" val="\documentclass{article}&#10;\usepackage{amsmath}&#10;\usepackage[version=4]{mhchem}&#10;\pagestyle{empty}&#10;\begin{document}&#10;\begin{sf}&#10;&#10;The autocatalytic reactions have the form:\\&#10;\begin{flalign}&#10;\frac{d[X]}{dt} &amp;= k_1[A] + k_2[X]^2[Y] - k_3[B][X] -k_4[X]\\&#10;\frac{d[Y]}{dt} &amp;= -k_2[X]^2[Y] + k_3[B][X] &#10;\end{flalign}&#10;We can simplify the arithmetic by {\em changing variables}.\\&#10;Write:&#10;\begin{flalign*}&#10;x &amp;= [X]\sqrt{\frac{k_2}{k_4}} ~~~~~ y = [Y]\sqrt{\frac{k_2}{k_4}}&#10;~~~~~ a = [A]\frac{k_2}{k_4}\sqrt{\frac{k_2}{k_4}}&#10;~~~~~ b = [B]\frac{k_3}{k_4}\\ &#10;~~~~~&amp;\text{and re-scale } t \text{ by: }k_4&#10;\end{flalign*}&#10;&#10;\end{sf}&#10;\end{document}"/>
  <p:tag name="IGUANATEXSIZE" val="20"/>
  <p:tag name="IGUANATEXCURSOR" val="34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 1200"/>
  <p:tag name="ORIGINALHEIGHT" val=" 918"/>
  <p:tag name="ORIGINALWIDTH" val=" 1110"/>
  <p:tag name="OUTPUTTYPE" val="PNG"/>
  <p:tag name="IGUANATEXVERSION" val="162"/>
  <p:tag name="LATEXADDIN" val="\documentclass{article}&#10;\usepackage{amsmath}&#10;\usepackage[version=4]{mhchem}&#10;\pagestyle{empty}&#10;\begin{document}&#10;\begin{sf}&#10;&#10;\begin{enumerate}&#10;\item \ce{A -&gt;[k1] X }&#10;\item \ce{2X + Y -&gt;[k2] 3X}&#10;\item \ce{B + X -&gt;[k3] Y + D}&#10;\item \ce{X -&gt;[k4] E}&#10;\end{enumerate}&#10;\end{sf}&#10;\end{document}"/>
  <p:tag name="IGUANATEXSIZE" val="20"/>
  <p:tag name="IGUANATEXCURSOR" val="21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 1200"/>
  <p:tag name="ORIGINALHEIGHT" val=" 1606"/>
  <p:tag name="ORIGINALWIDTH" val=" 4279"/>
  <p:tag name="OUTPUTTYPE" val="PNG"/>
  <p:tag name="IGUANATEXVERSION" val="162"/>
  <p:tag name="LATEXADDIN" val="\documentclass{article}&#10;\usepackage{amsmath}&#10;\usepackage[version=4]{mhchem}&#10;\pagestyle{empty}&#10;\begin{document}&#10;\begin{sf}&#10;&#10;In the new variables we have:\\&#10;\begin{flalign}&#10;\frac{dx}{dt} &amp;= a  - (1 + b) x + x^2y\\&#10;\frac{dy}{dt} &amp;=            b x - x^2y&#10;\end{flalign}&#10;The equilibrium conditions are when $\frac{dx}{dt} = \frac{dy}{dt} = 0$ \\&#10;%\bigskip\ \\&#10;%\hspace*{3cm}giving:&#10;$$&#10;~~~~~\text{giving: }~~ b = x_{eq}y_{eq},~  x_{eq} = a,~ y_{eq} = \frac{b}{a}&#10;$$&#10;&#10;\end{sf}&#10;\end{document}"/>
  <p:tag name="IGUANATEXSIZE" val="20"/>
  <p:tag name="IGUANATEXCURSOR" val="43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2272"/>
  <p:tag name="ORIGINALWIDTH" val=" 4279"/>
  <p:tag name="OUTPUTTYPE" val="PNG"/>
  <p:tag name="IGUANATEXVERSION" val="162"/>
  <p:tag name="LATEXADDIN" val="\documentclass{article}&#10;\usepackage{amsmath}&#10;\usepackage[version=4]{mhchem}&#10;\pagestyle{empty}&#10;\begin{document}&#10;\begin{sf}&#10;&#10;In the new variables we have:\\&#10;\begin{flalign}&#10;\frac{dx}{dt} &amp;= a  - (1 + b) x + x^2y\\&#10;\frac{dy}{dt} &amp;=            b x - x^2y&#10;\end{flalign}&#10;The equilibrium conditions are when $\frac{dx}{dt} = \frac{dy}{dt} = 0$ \\&#10;\hspace*{3cm}giving:&#10;$b = x_{eq}y_{eq}$, $ x_{eq} = a$, $y_{eq} = \frac{b}{a}$&#10;&#10;\ \\&#10;Recall the Jacobian $J$ of the above system&#10;$\begin{pmatrix}&#10;Eqn (1)\\ Eqn (2)&#10;\end{pmatrix}$&#10;is given by:&#10;\begin{flalign*}&#10;J = &#10;\begin{pmatrix}&#10;\frac{\partial F_i}{\partial x_j}&#10;\end{pmatrix}&#10;=&#10;\left .&#10;\begin{pmatrix}&#10;-(1+b)+2xy &amp; x^2 \\&#10;b-2xy &amp; -x^2&#10;\end{pmatrix}&#10;\right |_{eq}&#10;=&#10;\begin{pmatrix}&#10;b-1 &amp; a^2\\&#10;-b &amp; -a^2&#10;\end{pmatrix}&#10;\end{flalign*}&#10;\end{sf}&#10;\end{document}"/>
  <p:tag name="IGUANATEXSIZE" val="20"/>
  <p:tag name="IGUANATEXCURSOR" val="73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 1200"/>
  <p:tag name="ORIGINALHEIGHT" val=" 2604"/>
  <p:tag name="ORIGINALWIDTH" val=" 4279"/>
  <p:tag name="OUTPUTTYPE" val="PNG"/>
  <p:tag name="IGUANATEXVERSION" val="162"/>
  <p:tag name="LATEXADDIN" val="\documentclass{article}&#10;\usepackage{amsmath}&#10;\usepackage[version=4]{mhchem}&#10;\pagestyle{empty}&#10;\begin{document}&#10;\begin{sf}&#10;&#10;We can now perform a linear stability analysis on this system.\\ \ \\&#10;Recall Taylor's theorem (in $2$-D): &#10;\begin{flalign}&#10;{\mathbf F}(x_i + \delta x_i) = {\mathbf F}(x_i) +  J\left ( {\mathbf F}(x_i)\right ) \delta x_i + &#10;\mathcal{O}(\Vert\delta\Vert^2)&#10;\end{flalign}&#10;Choose a similarity transfom $P A P^{-1} = \Lambda$ &#10;is the diagonal matrix of eigen-values.\\&#10;Then we can write:&#10;\begin{flalign}&#10;P{\mathbf F}(x_i + \delta x_i) &#10;&amp;= P{\mathbf F}(x_i) +  &#10;PJ\left ( {\mathbf F}(x_i)\right ) P^{-1} (P \delta x_i) + &#10;\mathcal{O}(\Vert\delta\Vert^2)&#10;\\&#10;&amp;= P{\mathbf F}(x_i) +  &#10;\Lambda (P \delta x_i) + &#10;\mathcal{O}(\Vert\delta\Vert^2)&#10;\end{flalign}&#10;This last system is a set of {\em de-coupled} differential equations so we can say that:&#10;\begin{itemize}&#10;\item $Re(\lambda_i) &gt; 0 \Rightarrow $ Unstable&#10;\item $Re(\lambda_i) &lt; 0 \Rightarrow $ Stable&#10;\item $\lambda_i$ complex $ \Rightarrow $ Oscillation&#10;\end{itemize}&#10;&#10;\end{sf}&#10;\end{document}"/>
  <p:tag name="IGUANATEXSIZE" val="18"/>
  <p:tag name="IGUANATEXCURSOR" val="75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 1200"/>
  <p:tag name="ORIGINALHEIGHT" val=" 2410"/>
  <p:tag name="ORIGINALWIDTH" val=" 4279"/>
  <p:tag name="OUTPUTTYPE" val="PNG"/>
  <p:tag name="IGUANATEXVERSION" val="162"/>
  <p:tag name="LATEXADDIN" val="\documentclass{article}&#10;\usepackage{amsmath}&#10;\usepackage[version=4]{mhchem}&#10;\pagestyle{empty}&#10;\begin{document}&#10;\begin{sf}&#10;&#10;recall that, at the equilibrium point $(x= a, y = b/a)$ we have:&#10;\begin{flalign*}&#10;J &#10;=&#10;\begin{pmatrix}&#10;b-1 &amp; a^2\\&#10;-b &amp; -a^2&#10;\end{pmatrix}&#10;\end{flalign*}&#10;To find the eigen-values we look at the characteristic equation:&#10;\begin{flalign*}&#10;\begin{vmatrix} J - \lambda I \end{vmatrix}&#10;=&#10;\begin{vmatrix}&#10;b-1 - \lambda &amp; a^2\\&#10;-b &amp; -a^2 - \lambda&#10;\end{vmatrix}&#10;= 0&#10;\end{flalign*}&#10;Expanding the determinant we obtain:&#10;$\lambda^2 + \lambda(a^2 + 1 - b) + a^2 = 0&#10;$&#10;which has roots:&#10;\begin{flalign*}&#10;\lambda =  \frac{1}{2}&#10;\left ( (b - a^2 - 1) \pm \sqrt{(b-a^2-1)^2 -4a^2 } \right )&#10;\end{flalign*}&#10;$$&#10;\text{Therefore if: } &#10;\begin{cases}&#10;%b &gt; a^2 + 1 &amp; \text{ the system is unstable} &#10;         %BE CAREFUL, NON-linear terms become important\\ &#10;b \le a^2 + 1 &amp; \text{ the system is oscillatory} \\&#10;b &lt; a^2 + 1 &amp; \text{ oscillatory and decaying.}&#10;\end{cases}&#10;$$&#10;&#10;\end{sf}&#10;\end{document}"/>
  <p:tag name="IGUANATEXSIZE" val="18"/>
  <p:tag name="IGUANATEXCURSOR" val="86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 1200"/>
  <p:tag name="ORIGINALHEIGHT" val=" 2462"/>
  <p:tag name="ORIGINALWIDTH" val=" 5177"/>
  <p:tag name="OUTPUTTYPE" val="PNG"/>
  <p:tag name="IGUANATEXVERSION" val="162"/>
  <p:tag name="LATEXADDIN" val="\documentclass{article}&#10;\usepackage{amsmath}&#10;\usepackage[version=4]{mhchem}\usepackage[margin=0in,paperwidth=5in,verbose,marginparwidth=0pt,marginparsep=0pt]{geometry}&#10;&#10;\pagestyle{empty}&#10;\begin{document}&#10;\begin{sf}&#10;&#10;\hspace*{5cm}&#10;\fbox{{\bf Field,RJ and Noyes, RM} 1973,\\&#10;Dept Chem, U Oregon&#10;}&#10;&#10;\bigskip \ \\&#10;{\bf PROCESS A} \\&#10;\ce{&#10;Br- + BrO3- + 2H+ -&gt; HBrO2 + HOBr \\&#10;Br- + HBrO2 + H+ -&gt; 2HOBr \\&#10;3 \times (Br- + HOBr + H+ -&gt; Br2+ H2O) \\&#10;3 \times (Br2 + CH2(COOH)2 -&gt; BrCH(COOH)2 + Br- + H+)&#10;}&#10;\medskip&#10;\hrule&#10;\ \\&#10;\ce{2Br- + BrO3- + 3H+ + 3CH2(COOH)2 -&gt; 3BrCH(COOH)2 + 3H2O}&#10;&#10;%%%%%%%%%%%%%%%%%%%%%%%%%%%%%%%%%%%&#10;\bigskip&#10;{\bf PROCESS B}\\&#10;\ce{&#10;BrO3- + HBr02 + H+ -&gt; 2Br02 + H20 \\&#10;2 \times (Ce^{(III)} + BrO2+ + H+ -&gt; Ce^{(IV)} + H20 +HBr02)&#10;}&#10;\medskip&#10;\hrule&#10;\ \\&#10;\ce{&#10;2Ce^{(III)} + BrO3- + HBrO2 + 3H+ -&gt; 2Ce^{(IV)} + H2O + 2HBrO2 (G)\\&#10;2HBrO2 -&gt; HOBr + BrO3- + H+&#10;}&#10;&#10;\end{sf}&#10;\end{document}"/>
  <p:tag name="IGUANATEXSIZE" val="18"/>
  <p:tag name="IGUANATEXCURSOR" val="2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 1200"/>
  <p:tag name="ORIGINALHEIGHT" val=" 2373"/>
  <p:tag name="ORIGINALWIDTH" val=" 3821"/>
  <p:tag name="OUTPUTTYPE" val="PNG"/>
  <p:tag name="IGUANATEXVERSION" val="162"/>
  <p:tag name="LATEXADDIN" val="\documentclass{article}&#10;\usepackage{amsmath}&#10;\usepackage[version=4]{mhchem}\usepackage[margin=0in,paperwidth=5in,verbose,marginparwidth=0pt,marginparsep=0pt]{geometry}&#10;&#10;\pagestyle{empty}&#10;\begin{document}&#10;\begin{sf}&#10;&#10;\begin{align}&#10;\text{I} \quad &amp; A+Y \longrightarrow X+P \\[5pt]&#10;\text{II} \quad &amp; X+Y \longrightarrow 2P \\[5pt]&#10;\text{III} \quad &amp; A+X \longrightarrow 2X+2Z \\[5pt]&#10;\text{IV} \quad &amp; 2X \longrightarrow A+P \\[5pt]&#10;\text{V} \quad &amp; B+Z \longrightarrow \frac 1 2 f Y \\[5pt]&#10;&amp; \frac{d [X]}{dt}=  k_I [A] [Y] - k_{II} [X] [Y] + k_{III} [A] [X] - 2k_{IV} [X]^2 \\[5pt]&#10;&amp; \frac{d [Y]}{dt}= -k_I [A] [Y] - k_{II} [X] [Y] + \frac{1}{2}f k_V [B] [Z] \\[5pt]&#10;&amp; \frac{d [Z]}{dt}=  2k_{III} [A] [X] - k_V [B] [Z]&#10;\end{align}&#10;&#10;\end{sf}&#10;\end{document}"/>
  <p:tag name="IGUANATEXSIZE" val="18"/>
  <p:tag name="IGUANATEXCURSOR" val="729"/>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 1200"/>
  <p:tag name="ORIGINALHEIGHT" val=" 1977"/>
  <p:tag name="ORIGINALWIDTH" val=" 4090"/>
  <p:tag name="OUTPUTTYPE" val="PNG"/>
  <p:tag name="IGUANATEXVERSION" val="162"/>
  <p:tag name="LATEXADDIN" val="\documentclass{article}&#10;\usepackage{amsmath}&#10;\pagestyle{empty}&#10;\begin{document}&#10;\begin{sf}&#10;&#10;\begin{itemize}&#10;&#9;\item Do we want to solve $Ax = b$ exactly?&#10;&#9;\begin{itemize}&#10;&#9;&#9;\item Probably not (in an engineering world!).&#10;&#9;&#9;\item Our models ($A$), measurements ($b$), and our arithmetic are &#9;&#9;&#9;approximate.&#10;&#9;\end{itemize}&#10;&#9;\item How does a solution method work on a real computer?&#10;&#9;\begin{itemize}&#10;&#9;&#9;\item How accurate is it?&#10;         \item How much work is involved?&#10;&#9;&#9;\item What happens to numerical (round-off) errors?&#10;&#9;\end{itemize}&#10;&#9;\item Special (and interesting!) matrices with fast solution methods?&#10;&#9;\item Are matrices singular? What happens if &#10;&#9;&#9;$\begin{vmatrix} A \end{vmatrix}$ is very small?&#10;\end{itemize}&#10;&#10;\end{sf}&#10;\end{document}"/>
  <p:tag name="IGUANATEXSIZE" val="20"/>
  <p:tag name="IGUANATEXCURSOR" val="518"/>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8.xml><?xml version="1.0" encoding="utf-8"?>
<p:tagLst xmlns:a="http://schemas.openxmlformats.org/drawingml/2006/main" xmlns:r="http://schemas.openxmlformats.org/officeDocument/2006/relationships" xmlns:p="http://schemas.openxmlformats.org/presentationml/2006/main">
  <p:tag name="OUTPUTDPI" val=" 1200"/>
  <p:tag name="ORIGINALHEIGHT" val=" 2327"/>
  <p:tag name="ORIGINALWIDTH" val=" 4093"/>
  <p:tag name="OUTPUTTYPE" val="PNG"/>
  <p:tag name="IGUANATEXVERSION" val="162"/>
  <p:tag name="LATEXADDIN" val="\documentclass{article}&#10;\usepackage{amsmath}&#10;\usepackage{chemformula}&#10;\pagestyle{empty}&#10;\begin{document}&#10;\begin{sf}&#10;&#10;A simplified overall scheme is shown below:&#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begin{itemize}&#10;&#9;\item $HIO$: Hypoiodous acid.&#10;&#9;\item $CH_2(CO_2H)_2$: Malonic acid.&#10;&#9;\item $CH_2(CO_2H)_2$: {\em Iodomalonic}(?) acid.&#10;\end{itemize}&#10;\end{sf}&#10;\end{document}"/>
  <p:tag name="IGUANATEXSIZE" val="20"/>
  <p:tag name="IGUANATEXCURSOR" val="4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0.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1.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2.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3.xml><?xml version="1.0" encoding="utf-8"?>
<p:tagLst xmlns:a="http://schemas.openxmlformats.org/drawingml/2006/main" xmlns:r="http://schemas.openxmlformats.org/officeDocument/2006/relationships" xmlns:p="http://schemas.openxmlformats.org/presentationml/2006/main">
  <p:tag name="OUTPUTDPI" val=" 1200"/>
  <p:tag name="ORIGINALHEIGHT" val=" 2719"/>
  <p:tag name="ORIGINALWIDTH" val=" 4290"/>
  <p:tag name="OUTPUTTYPE" val="PNG"/>
  <p:tag name="IGUANATEXVERSION" val="162"/>
  <p:tag name="LATEXADDIN" val="\documentclass{article}&#10;\usepackage{amsmath,chemformula}&#10;\pagestyle{empty}&#10;\begin{document}&#10;\begin{sf}&#10;&#10;A simplified overall scheme is shown below:&#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Equation 1 shows an over simplified mechanism for the reaction. Here we have the reactants coming together producing iodomalonic acid. &#10;&#10;In Equations 2 and 3, we have oversimplified the entire reaction by summarizing it in two equations. In the first equation, we produce hypoiodous acid ($HIO$), which can form via a radical pathway or a non-radical pathway. The hypoiodous acid from both of the pathways reacts in the second equation to produce the iodomalonic acid. There are probably another 10 or more equations behind these two equations. &#10;&#10;\end{sf}&#10;\end{document}"/>
  <p:tag name="IGUANATEXSIZE" val="20"/>
  <p:tag name="IGUANATEXCURSOR" val="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5.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6.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7.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28.xml><?xml version="1.0" encoding="utf-8"?>
<p:tagLst xmlns:a="http://schemas.openxmlformats.org/drawingml/2006/main" xmlns:r="http://schemas.openxmlformats.org/officeDocument/2006/relationships" xmlns:p="http://schemas.openxmlformats.org/presentationml/2006/main">
  <p:tag name="OUTPUTDPI" val=" 1200"/>
  <p:tag name="ORIGINALHEIGHT" val=" 1956"/>
  <p:tag name="ORIGINALWIDTH" val=" 4099"/>
  <p:tag name="OUTPUTTYPE" val="PNG"/>
  <p:tag name="IGUANATEXVERSION" val="162"/>
  <p:tag name="LATEXADDIN" val="\documentclass{article}&#10;\usepackage{amsmath}&#10;\pagestyle{empty}&#10;\begin{document}&#10;\begin{sf}&#10;&#10;\begin{itemize}&#10;\item &#10;Equation 1 shows an over simplified mechanism for the reaction. Here we have the reactants coming together producing iodomalonic acid. &#10;\item&#10;In Equations 2 and 3, we have oversimplified the entire reaction by summarizing it in two equations. In the first equation, we produce hypoiodous acid, which can form via a radical pathway or a non-radical pathway. The hypoiodous acid from both of the pathways reacts in the second equation to produce the iodomalonic acid. There are probably another 10 or more equations behind these two equations.&#10;\item&#10;The hypoiodous acid can be produced via either a radical or nonradical pathway. If it is produced via a radical mechanism more hypoiodous acid is&#10;produced than can be used up in Equation 3. The excess hypoiodous acid runs down&#10;and starts reacting as depicted in Equations 4 and 5.  &#10;\end{itemize}&#10;&#10;\end{sf}&#10;\end{document}"/>
  <p:tag name="IGUANATEXSIZE" val="20"/>
  <p:tag name="IGUANATEXCURSOR" val="95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0.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1.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2.xml><?xml version="1.0" encoding="utf-8"?>
<p:tagLst xmlns:a="http://schemas.openxmlformats.org/drawingml/2006/main" xmlns:r="http://schemas.openxmlformats.org/officeDocument/2006/relationships" xmlns:p="http://schemas.openxmlformats.org/presentationml/2006/main">
  <p:tag name="OUTPUTDPI" val=" 1200"/>
  <p:tag name="ORIGINALHEIGHT" val=" 1299"/>
  <p:tag name="ORIGINALWIDTH" val=" 4081"/>
  <p:tag name="OUTPUTTYPE" val="PNG"/>
  <p:tag name="IGUANATEXVERSION" val="162"/>
  <p:tag name="LATEXADDIN" val="\documentclass{article}&#10;\usepackage{amsmath}&#10;\pagestyle{empty}&#10;\begin{document}&#10;\begin{sf}&#10;&#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end{sf}&#10;\end{document}"/>
  <p:tag name="IGUANATEXSIZE" val="14"/>
  <p:tag name="IGUANATEXCURSOR" val="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4.xml><?xml version="1.0" encoding="utf-8"?>
<p:tagLst xmlns:a="http://schemas.openxmlformats.org/drawingml/2006/main" xmlns:r="http://schemas.openxmlformats.org/officeDocument/2006/relationships" xmlns:p="http://schemas.openxmlformats.org/presentationml/2006/main">
  <p:tag name="OUTPUTDPI" val=" 1200"/>
  <p:tag name="ORIGINALHEIGHT" val=" 2151"/>
  <p:tag name="ORIGINALWIDTH" val=" 4099"/>
  <p:tag name="OUTPUTTYPE" val="PNG"/>
  <p:tag name="IGUANATEXVERSION" val="162"/>
  <p:tag name="LATEXADDIN" val="\documentclass{article}&#10;\usepackage{amsmath}&#10;\pagestyle{empty}&#10;\begin{document}&#10;\begin{sf}&#10;&#10;\begin{itemize}&#10;\item &#10;The hypoiodous acid can be produced via either a radical or nonradical pathway. If it is produced via a radical mechanism more hypoiodous acid is&#10;produced than can be used up in Equation 3. The excess hypoiodous acid runs down&#10;and starts reacting as depicted in Equations 4 and 5.  &#10;\item&#10;This is where the color comes in.&#10;When the I- is the principle ion present (Equation 5), the solution is clear. Then as&#10;the hypoiodous acid reacts with the iodide ion (Equation 4), the iodine starts to&#10;increase. When both the iodide and iodine are present, they combine to form a&#10;pentaiodide ion complex, which seeks out the starch in the solution and inserts itself&#10;into the helical structure of the amylose portion of the starch molecule. This results&#10;in a blue-black color, as the iodine concentration increases from the reaction of&#10;hypoiodous acid and iodide. Eventually the iodide disappears and there is iodine, which gives the amber color. The reaction continues to oscillate between the colors&#10;until the iodate or malonic acid is used up. &#10;\end{itemize}&#10;&#10;\end{sf}&#10;\end{document}"/>
  <p:tag name="IGUANATEXSIZE" val="20"/>
  <p:tag name="IGUANATEXCURSOR" val="115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6.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7.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8.xml><?xml version="1.0" encoding="utf-8"?>
<p:tagLst xmlns:a="http://schemas.openxmlformats.org/drawingml/2006/main" xmlns:r="http://schemas.openxmlformats.org/officeDocument/2006/relationships" xmlns:p="http://schemas.openxmlformats.org/presentationml/2006/main">
  <p:tag name="OUTPUTDPI" val=" 1200"/>
  <p:tag name="ORIGINALHEIGHT" val=" 1299"/>
  <p:tag name="ORIGINALWIDTH" val=" 4081"/>
  <p:tag name="OUTPUTTYPE" val="PNG"/>
  <p:tag name="IGUANATEXVERSION" val="162"/>
  <p:tag name="LATEXADDIN" val="\documentclass{article}&#10;\usepackage{amsmath}&#10;\pagestyle{empty}&#10;\begin{document}&#10;\begin{sf}&#10;&#10;\begin{flalign}&#10;&#9;IO_3^- + 2 H_2O_2 + CH_2(CO_2H)_2 + H^+ &amp;\rightarrow &#10;&#9;&#9;ICH(CO_2H)_ + 2 O_2 + 3 H_2O \\&#10;&#9;\nonumber \\&#10; &#9;IO_3^- + 2H_2O_2 + H^+ &amp;\rightarrow HIO + 2O_2 + 2H_2O \\&#10;&#9;HIO + CH_2(CO_2H)_2 &amp;\rightarrow ICH(CO_2H)_2 + H_2O \\&#10;&#9;\nonumber \\&#10;&#9;I^- + HIO + H^+ &amp;\rightarrow I_2 + H_2O \\&#10;&#9;I_2 + CH_2(CO_2H)_2 &amp;\rightarrow ICH(CO_2H)_2 + H^+ + I^-&#10;\end{flalign} &#10;&#10;\end{sf}&#10;\end{document}"/>
  <p:tag name="IGUANATEXSIZE" val="14"/>
  <p:tag name="IGUANATEXCURSOR" val="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0.xml><?xml version="1.0" encoding="utf-8"?>
<p:tagLst xmlns:a="http://schemas.openxmlformats.org/drawingml/2006/main" xmlns:r="http://schemas.openxmlformats.org/officeDocument/2006/relationships" xmlns:p="http://schemas.openxmlformats.org/presentationml/2006/main">
  <p:tag name="OUTPUTDPI" val=" 1200"/>
  <p:tag name="ORIGINALHEIGHT" val=" 3072"/>
  <p:tag name="ORIGINALWIDTH" val=" 7194"/>
  <p:tag name="OUTPUTTYPE" val="PNG"/>
  <p:tag name="IGUANATEXVERSION" val="162"/>
  <p:tag name="LATEXADDIN" val="\documentclass{article}&#10;\usepackage{amsmath}&#10;\usepackage[margin=0in,paperwidth=8in,verbose,marginparwidth=0pt,marginparsep=0pt]{geometry}&#10;\usepackage[version=4]{mhchem}&#10;%\usepackage{chemformula}&#10;\pagestyle{empty}&#10;\begin{document}&#10;\begin{sf}&#10;http://www.rsc.org/learn-chemistry/content/filerepository/CMP/00/001/001/%Classicdemos\_full.pdf&#10;&#10;This reaction is an example of a class of reactions called Belousov-Zhabotinsky (BZ) reactions. &#10;&#10;The overall reaction is usually given as:&#10;&#10;\ce{3 CH2(CO2H)2(aq) + 4 BrO3^-(aq) -&gt; 4 Br^-(aq) + 9CO2(g) + 6H2O(l)}&#10;&#10;Oscillation is brought about by two autocatalytic steps. &#10;&#10;Bromine is an intermediate in the reaction scheme – the red colour that is observed.&#10;&#10;An analogy with predator-prey&#10;relationships might be one way to give students some idea of what is going on. &#10;&#10;For&#10;example a population of rabbits (analogous to the bromine) will increase rapidly&#10;(exponentially) if there is plenty of food (reactants). However, the plentiful supply of&#10;rabbits will stimulate a rapid increase in the fox population (another intermediate that&#10;reacts with the bromine) which will then deplete the rabbits. Lacking rabbits, the&#10;foxes will die, bringing us back to square one, ready for a rapid increase in rabbits&#10;and so on.&#10;&#10;The reaction will not work if tap water (Coventry) is used instead of deionised water.&#10;Chloride ions, via the addition of a pinch of potassium chloride or dilute&#10;hydrochloric acid will immediately stop the oscillations. Clean apparatus is therefore&#10;essential.&#10;&#10;The theory of oscillating reactions is complex and not fully understood. Some of&#10;the more accessible articles are listed below.&#10;&#10;\begin{itemize}&#10;\item D. O. Cooke, Educ. Chem.,1975, 12, 144.&#10;\item I. R. Epstein, Chem. Eng. News., 1987, 65, 24.&#10;\item I. R. Epstein et al, Sci. Amer., 1983, 248, 112.&#10;\item M. D. Hawkins et al, Educ. Chem., 1977, 14, 53.&#10;\end{itemize}&#10;\end{sf}&#10;\end{document}"/>
  <p:tag name="IGUANATEXSIZE" val="14"/>
  <p:tag name="IGUANATEXCURSOR" val="188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2.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3.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4.xml><?xml version="1.0" encoding="utf-8"?>
<p:tagLst xmlns:a="http://schemas.openxmlformats.org/drawingml/2006/main" xmlns:r="http://schemas.openxmlformats.org/officeDocument/2006/relationships" xmlns:p="http://schemas.openxmlformats.org/presentationml/2006/main">
  <p:tag name="OUTPUTDPI" val=" 1200"/>
  <p:tag name="ORIGINALHEIGHT" val=" 762"/>
  <p:tag name="ORIGINALWIDTH" val=" 2394"/>
  <p:tag name="OUTPUTTYPE" val="PNG"/>
  <p:tag name="IGUANATEXVERSION" val="162"/>
  <p:tag name="LATEXADDIN" val="\documentclass{article}&#10;\usepackage{amsmath}&#10;\pagestyle{empty}&#10;\begin{document}&#10;\begin{sf}&#10;Our three equations represent three plane:&#10;\begin{flalign*}&#10;    x  + y + z &amp;= 3 \\&#10;   2x  + y - z &amp;= 2 \\&#10;    x  - y - 2z &amp;= -2&#10;\end{flalign*}&#10;\end{sf}&#10;\end{document}"/>
  <p:tag name="IGUANATEXSIZE" val="24"/>
  <p:tag name="IGUANATEXCURSOR" val="23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 1200"/>
  <p:tag name="ORIGINALHEIGHT" val=" 2230"/>
  <p:tag name="ORIGINALWIDTH" val=" 4098"/>
  <p:tag name="OUTPUTTYPE" val="PNG"/>
  <p:tag name="IGUANATEXVERSION" val="162"/>
  <p:tag name="LATEXADDIN" val="\documentclass[10pt]{article}&#10;\usepackage{amsmath}&#10;\pagestyle{empty}&#10;\begin{document}&#10;\begin{sf}&#10;\begin{itemize}&#10;\item We can write the equations as:&#10;  \begin{align*}&#10;     \begin{pmatrix}&#10;         1 &amp; 1 &amp; 1 \\&#10;         2 &amp; 1 &amp; -1 \\&#10;         1 &amp; 1 &amp; -2&#10;     \end{pmatrix}&#10;     \begin{pmatrix}&#10;         x\\&#10;         y\\&#10;         z&#10;     \end{pmatrix}&#10;= \begin{pmatrix}&#10;         3\\&#10;         2\\&#10;         -2&#10;     \end{pmatrix}&#10;  \end{align*}&#10;%&#10;%&#10;\vspace{-0.5cm}&#10;%&#10;\item The process that we went through is known as Gaussian Elimination.&#10;\item It is equivalent to factorizing the matrix ($A$)into two matrices:&#10;$A = LU$ where $L$ is lower triangular and $U$ is upper triangular.&#10;\item The questions we need to ask are:&#10;  \begin{itemize}&#10;    \item When will Gaussian Elimination work?&#10;    \item How long does it take?&#10;    \item Is it stable? (What happens in the presence of perturbations?)&#10;  \end{itemize}&#10;\end{itemize}&#10;\end{sf}&#10;\end{document}"/>
  <p:tag name="IGUANATEXSIZE" val="24"/>
  <p:tag name="IGUANATEXCURSOR" val="61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 1200"/>
  <p:tag name="ORIGINALHEIGHT" val=" 1915"/>
  <p:tag name="ORIGINALWIDTH" val=" 3651"/>
  <p:tag name="OUTPUTTYPE" val="PNG"/>
  <p:tag name="IGUANATEXVERSION" val="162"/>
  <p:tag name="LATEXADDIN" val="\documentclass{article}&#10;\usepackage{amsmath}&#10;\pagestyle{empty}&#10;\begin{document}&#10;\begin{align*}&#10;\begin{matrix}&#10;a_{11} &amp; a_{12} &amp; a_{13}\\&#10;a_{21} &amp; a_{22} &amp; a_{23}\\&#10;a_{31} &amp; a_{32} &amp; a_{33}&#10;\end{matrix}&#10;&amp;=&#10;\begin{pmatrix}&#10;A_{11} &amp; a_{12} &amp; a_{13}\\&#10;a_{21} &amp; a_{22} &amp; a_{23}\\&#10;a_{31} &amp; a_{32} &amp; a_{33}&#10;\end{pmatrix}&#10;=&#10;\begin{bmatrix}&#10;a_{11} &amp; a_{12} &amp; a_{13}\\&#10;a_{21} &amp; a_{22} &amp; a_{23}\\&#10;a_{31} &amp; a_{32} &amp; a_{33}&#10;\end{bmatrix}&#10;\nonumber\\&#10;\begin{Bmatrix}&#10;a_{11} &amp; a_{12} &amp; a_{13}\\&#10;a_{21} &amp; a_{22} &amp; a_{23}\\&#10;a_{31} &amp; a_{32} &amp; a_{33}&#10;\end{Bmatrix}&#10;&amp;=&#10;\begin{vmatrix}&#10;a_{11} &amp; A_{12} &amp; a_{13}\\&#10;a_{21} &amp; a_{22} &amp; a_{23}\\&#10;a_{31} &amp; a_{32} &amp; a_{33}&#10;\end{vmatrix}&#10;=&#10;\begin{Vmatrix}&#10;a_{11} &amp; a_{12} &amp; a_{13}\\&#10;a_{21} &amp; a_{22} &amp; a_{23}\\&#10;a_{31} &amp; a_{32} &amp; a_{33}&#10;\end{Vmatrix}&#10;\begin{pmatrix}&#10;a_{ij}&#10;\end{pmatrix}&#10;= 0&#10;\end{align*}&#10;%&#10;%&#10;\begin{equation*}&#10;A B = C \\&#10;\begin{pmatrix}&#10;a_{ik}&#10;\end{pmatrix}&#10;\begin{pmatrix}&#10;b_{kj}&#10;\end{pmatrix}&#10;= &#10;\left (\sum_{1\le k \le n} A_{ik} B_{kj} \right )&#10;=&#10;\begin{pmatrix}&#10;\sum_{1\le k \le n} a_{ik} b_{kj}&#10;%\sum\limits{1\le k \le n} a_{ik} b_{kj}&#10;\end{pmatrix}&#10;=&#10;\begin{pmatrix}&#10;c_{ij}&#10;\end{pmatrix}&#10;\end{equation*}&#10;\begin{equation*}&#10;\sum_{1 \le k \ le n} a_{ik}b_{kj}&#10;\end{equation*}&#10;\end{document}"/>
  <p:tag name="IGUANATEXSIZE" val="28"/>
  <p:tag name="IGUANATEXCURSOR" val="57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8.xml><?xml version="1.0" encoding="utf-8"?>
<p:tagLst xmlns:a="http://schemas.openxmlformats.org/drawingml/2006/main" xmlns:r="http://schemas.openxmlformats.org/officeDocument/2006/relationships" xmlns:p="http://schemas.openxmlformats.org/presentationml/2006/main">
  <p:tag name="OUTPUTDPI" val=" 1200"/>
  <p:tag name="ORIGINALHEIGHT" val=" 114"/>
  <p:tag name="ORIGINALWIDTH" val=" 2943"/>
  <p:tag name="OUTPUTTYPE" val="PNG"/>
  <p:tag name="IGUANATEXVERSION" val="162"/>
  <p:tag name="LATEXADDIN" val="\documentclass{article}&#10;\usepackage{amsmath}&#10;\usepackage[version=4]{mhchem}\usepackage[margin=0in,paperwidth=8in,verbose,marginparwidth=0pt,marginparsep=0pt]{geometry}&#10;\usepackage{sectsty}&#10;\allsectionsfont{\bfseries\sffamily}&#10;\pagestyle{empty}&#10;\begin{document}&#10;\begin{sf}&#10;&#10;Includes Headers, Section Heads, Wide pages, Chemistry&#10;&#10;\end{sf}&#10;\end{document}"/>
  <p:tag name="IGUANATEXSIZE" val="14"/>
  <p:tag name="IGUANATEXCURSOR" val="32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50.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51.xml><?xml version="1.0" encoding="utf-8"?>
<p:tagLst xmlns:a="http://schemas.openxmlformats.org/drawingml/2006/main" xmlns:r="http://schemas.openxmlformats.org/officeDocument/2006/relationships" xmlns:p="http://schemas.openxmlformats.org/presentationml/2006/main">
  <p:tag name="ISLATEXITDISPLAY" val="Fals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54616</TotalTime>
  <Words>1661</Words>
  <Application>Microsoft Macintosh PowerPoint</Application>
  <PresentationFormat>Widescreen</PresentationFormat>
  <Paragraphs>260</Paragraphs>
  <Slides>33</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Mathematical Thinking  Chemical Oscillations    Chemical clocks                           Predator-prey systems Why zebras have stripes           Control</vt:lpstr>
      <vt:lpstr>Systems of ODEs (and some PDEs)</vt:lpstr>
      <vt:lpstr>Belousov-Zhabotinski reaction   (i)</vt:lpstr>
      <vt:lpstr>Belousov-Zhabotinski reaction   (ii)</vt:lpstr>
      <vt:lpstr>Belousov-Zhabotinski reaction   (iii)</vt:lpstr>
      <vt:lpstr>Belousov-Zhabotinski reaction   (iv)</vt:lpstr>
      <vt:lpstr>The Brusselator      (i)</vt:lpstr>
      <vt:lpstr>The Brusselator      (iii)</vt:lpstr>
      <vt:lpstr>The Brusselator      (iii)</vt:lpstr>
      <vt:lpstr>The Brusselator      (iv)</vt:lpstr>
      <vt:lpstr>The Brusselator      (v)</vt:lpstr>
      <vt:lpstr>The Brusselator (perturbation analysis)  (vii)</vt:lpstr>
      <vt:lpstr>The Brusselator (perturbation analysis)  (vi)</vt:lpstr>
      <vt:lpstr>The Brusselator -- Results  </vt:lpstr>
      <vt:lpstr>The Oreganator (i)</vt:lpstr>
      <vt:lpstr>The Oreganator (ii)</vt:lpstr>
      <vt:lpstr>PowerPoint Presentation</vt:lpstr>
      <vt:lpstr>Some Applications related to eigenvalues</vt:lpstr>
      <vt:lpstr>“Open Questions”</vt:lpstr>
      <vt:lpstr>Thank you for your attention </vt:lpstr>
      <vt:lpstr>PowerPoint Presentation</vt:lpstr>
      <vt:lpstr>Briggs-Rauscher reaction</vt:lpstr>
      <vt:lpstr>Briggs-Rauscher reaction</vt:lpstr>
      <vt:lpstr>Briggs-Rauscher reaction</vt:lpstr>
      <vt:lpstr>Briggs-Rauscher reaction</vt:lpstr>
      <vt:lpstr>Belousov-Zhabotinski reaction   (ii)</vt:lpstr>
      <vt:lpstr>For the next lecture 3</vt:lpstr>
      <vt:lpstr>For the lecture 1</vt:lpstr>
      <vt:lpstr>Back to the geometry</vt:lpstr>
      <vt:lpstr>We need to talk about matrices</vt:lpstr>
      <vt:lpstr>Determinants</vt:lpstr>
      <vt:lpstr>A bit of revision</vt:lpstr>
      <vt:lpstr>Default Iguanatex Header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Thompson</dc:creator>
  <cp:lastModifiedBy>Christopher Thompson</cp:lastModifiedBy>
  <cp:revision>32</cp:revision>
  <cp:lastPrinted>2026-09-09T16:29:21Z</cp:lastPrinted>
  <dcterms:created xsi:type="dcterms:W3CDTF">2026-07-07T11:20:13Z</dcterms:created>
  <dcterms:modified xsi:type="dcterms:W3CDTF">2026-09-28T10:15:35Z</dcterms:modified>
</cp:coreProperties>
</file>