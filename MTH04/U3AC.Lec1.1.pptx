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26.xml" ContentType="application/vnd.openxmlformats-officedocument.presentationml.notesSlide+xml"/>
  <Override PartName="/ppt/tags/tag29.xml" ContentType="application/vnd.openxmlformats-officedocument.presentationml.tags+xml"/>
  <Override PartName="/ppt/notesSlides/notesSlide27.xml" ContentType="application/vnd.openxmlformats-officedocument.presentationml.notesSlide+xml"/>
  <Override PartName="/ppt/tags/tag30.xml" ContentType="application/vnd.openxmlformats-officedocument.presentationml.tags+xml"/>
  <Override PartName="/ppt/notesSlides/notesSlide28.xml" ContentType="application/vnd.openxmlformats-officedocument.presentationml.notesSlide+xml"/>
  <Override PartName="/ppt/tags/tag31.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notesSlides/notesSlide33.xml" ContentType="application/vnd.openxmlformats-officedocument.presentationml.notesSlide+xml"/>
  <Override PartName="/ppt/tags/tag34.xml" ContentType="application/vnd.openxmlformats-officedocument.presentationml.tags+xml"/>
  <Override PartName="/ppt/notesSlides/notesSlide34.xml" ContentType="application/vnd.openxmlformats-officedocument.presentationml.notesSlide+xml"/>
  <Override PartName="/ppt/tags/tag35.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36.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37.xml" ContentType="application/vnd.openxmlformats-officedocument.presentationml.tags+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3"/>
  </p:notesMasterIdLst>
  <p:sldIdLst>
    <p:sldId id="358" r:id="rId2"/>
    <p:sldId id="259" r:id="rId3"/>
    <p:sldId id="347" r:id="rId4"/>
    <p:sldId id="350" r:id="rId5"/>
    <p:sldId id="351" r:id="rId6"/>
    <p:sldId id="352" r:id="rId7"/>
    <p:sldId id="322" r:id="rId8"/>
    <p:sldId id="334" r:id="rId9"/>
    <p:sldId id="326" r:id="rId10"/>
    <p:sldId id="325" r:id="rId11"/>
    <p:sldId id="323" r:id="rId12"/>
    <p:sldId id="331" r:id="rId13"/>
    <p:sldId id="329" r:id="rId14"/>
    <p:sldId id="345" r:id="rId15"/>
    <p:sldId id="344" r:id="rId16"/>
    <p:sldId id="335" r:id="rId17"/>
    <p:sldId id="328" r:id="rId18"/>
    <p:sldId id="327" r:id="rId19"/>
    <p:sldId id="332" r:id="rId20"/>
    <p:sldId id="333" r:id="rId21"/>
    <p:sldId id="336" r:id="rId22"/>
    <p:sldId id="337" r:id="rId23"/>
    <p:sldId id="338" r:id="rId24"/>
    <p:sldId id="339" r:id="rId25"/>
    <p:sldId id="340" r:id="rId26"/>
    <p:sldId id="341" r:id="rId27"/>
    <p:sldId id="342" r:id="rId28"/>
    <p:sldId id="343" r:id="rId29"/>
    <p:sldId id="363" r:id="rId30"/>
    <p:sldId id="321" r:id="rId31"/>
    <p:sldId id="355" r:id="rId32"/>
    <p:sldId id="361" r:id="rId33"/>
    <p:sldId id="359" r:id="rId34"/>
    <p:sldId id="362" r:id="rId35"/>
    <p:sldId id="360" r:id="rId36"/>
    <p:sldId id="280" r:id="rId37"/>
    <p:sldId id="349" r:id="rId38"/>
    <p:sldId id="354" r:id="rId39"/>
    <p:sldId id="266" r:id="rId40"/>
    <p:sldId id="356" r:id="rId41"/>
    <p:sldId id="35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DE0B81-8606-1748-8BC2-96E94617D749}">
          <p14:sldIdLst>
            <p14:sldId id="358"/>
            <p14:sldId id="259"/>
          </p14:sldIdLst>
        </p14:section>
        <p14:section name="Intro" id="{1CD7A9C2-0808-3E42-8FF1-C16C3CCEFA5A}">
          <p14:sldIdLst>
            <p14:sldId id="347"/>
            <p14:sldId id="350"/>
            <p14:sldId id="351"/>
            <p14:sldId id="352"/>
            <p14:sldId id="322"/>
            <p14:sldId id="334"/>
            <p14:sldId id="326"/>
            <p14:sldId id="325"/>
            <p14:sldId id="323"/>
            <p14:sldId id="331"/>
            <p14:sldId id="329"/>
            <p14:sldId id="345"/>
            <p14:sldId id="344"/>
            <p14:sldId id="335"/>
            <p14:sldId id="328"/>
            <p14:sldId id="327"/>
            <p14:sldId id="332"/>
            <p14:sldId id="333"/>
            <p14:sldId id="336"/>
            <p14:sldId id="337"/>
            <p14:sldId id="338"/>
            <p14:sldId id="339"/>
            <p14:sldId id="340"/>
            <p14:sldId id="341"/>
            <p14:sldId id="342"/>
            <p14:sldId id="343"/>
            <p14:sldId id="363"/>
            <p14:sldId id="321"/>
            <p14:sldId id="355"/>
            <p14:sldId id="361"/>
            <p14:sldId id="359"/>
            <p14:sldId id="362"/>
            <p14:sldId id="360"/>
            <p14:sldId id="280"/>
          </p14:sldIdLst>
        </p14:section>
        <p14:section name="Conclusions" id="{FDB1D7FE-D5EA-0749-8922-A15A96A748B0}">
          <p14:sldIdLst>
            <p14:sldId id="349"/>
            <p14:sldId id="354"/>
            <p14:sldId id="266"/>
            <p14:sldId id="356"/>
            <p14:sldId id="353"/>
          </p14:sldIdLst>
        </p14:section>
        <p14:section name="Backmatter" id="{7A65D3E2-2B85-714B-A681-94C42EC7BB8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2391"/>
  </p:normalViewPr>
  <p:slideViewPr>
    <p:cSldViewPr snapToGrid="0">
      <p:cViewPr varScale="1">
        <p:scale>
          <a:sx n="93" d="100"/>
          <a:sy n="93" d="100"/>
        </p:scale>
        <p:origin x="216" y="400"/>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CA4E6-C37F-FF4C-A48F-F977E2581AA4}" type="datetimeFigureOut">
              <a:rPr lang="en-US" smtClean="0"/>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DE134E-CF3A-1047-99F8-330D8E9F5A64}" type="slidenum">
              <a:rPr lang="en-US" smtClean="0"/>
              <a:t>‹#›</a:t>
            </a:fld>
            <a:endParaRPr lang="en-US"/>
          </a:p>
        </p:txBody>
      </p:sp>
    </p:spTree>
    <p:extLst>
      <p:ext uri="{BB962C8B-B14F-4D97-AF65-F5344CB8AC3E}">
        <p14:creationId xmlns:p14="http://schemas.microsoft.com/office/powerpoint/2010/main" val="3373835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en.wikipedia.org/wiki/Henri_Poincar%C3%A9" TargetMode="External"/><Relationship Id="rId3" Type="http://schemas.openxmlformats.org/officeDocument/2006/relationships/hyperlink" Target="https://en.wikipedia.org/wiki/Black_cat_analogy" TargetMode="External"/><Relationship Id="rId7" Type="http://schemas.openxmlformats.org/officeDocument/2006/relationships/hyperlink" Target="https://en.wikipedia.org/wiki/Definitions_of_mathematics#cite_note-eves-10"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en.wikipedia.org/wiki/Definitions_of_mathematics#cite_note-21" TargetMode="External"/><Relationship Id="rId5" Type="http://schemas.openxmlformats.org/officeDocument/2006/relationships/hyperlink" Target="https://en.wikipedia.org/wiki/Charles_Darwin" TargetMode="External"/><Relationship Id="rId4" Type="http://schemas.openxmlformats.org/officeDocument/2006/relationships/hyperlink" Target="https://en.wikipedia.org/wiki/Definitions_of_mathematics#cite_note-20"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qedcat.com/misc/String_theory_book.jpg"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qedcat.com/misc/String_theory_book.jpg"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DE134E-CF3A-1047-99F8-330D8E9F5A64}" type="slidenum">
              <a:rPr lang="en-US" smtClean="0"/>
              <a:t>1</a:t>
            </a:fld>
            <a:endParaRPr lang="en-US"/>
          </a:p>
        </p:txBody>
      </p:sp>
    </p:spTree>
    <p:extLst>
      <p:ext uri="{BB962C8B-B14F-4D97-AF65-F5344CB8AC3E}">
        <p14:creationId xmlns:p14="http://schemas.microsoft.com/office/powerpoint/2010/main" val="3281231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 mathematician is a blind man in a dark room looking for </a:t>
            </a:r>
            <a:r>
              <a:rPr lang="en-GB" sz="1200" b="0" i="0" u="none" strike="noStrike" kern="1200" dirty="0">
                <a:solidFill>
                  <a:schemeClr val="tx1"/>
                </a:solidFill>
                <a:effectLst/>
                <a:latin typeface="+mn-lt"/>
                <a:ea typeface="+mn-ea"/>
                <a:cs typeface="+mn-cs"/>
                <a:hlinkClick r:id="rId3" tooltip="Black cat analogy"/>
              </a:rPr>
              <a:t>a black cat which isn't there.</a:t>
            </a:r>
            <a:r>
              <a:rPr lang="en-GB" sz="1200" b="0" i="0" u="none" strike="noStrike" kern="1200" baseline="30000" dirty="0">
                <a:solidFill>
                  <a:schemeClr val="tx1"/>
                </a:solidFill>
                <a:effectLst/>
                <a:latin typeface="+mn-lt"/>
                <a:ea typeface="+mn-ea"/>
                <a:cs typeface="+mn-cs"/>
                <a:hlinkClick r:id="rId4"/>
              </a:rPr>
              <a:t>[20]</a:t>
            </a:r>
            <a:r>
              <a:rPr lang="en-GB" sz="1200" b="0" i="0" kern="1200" dirty="0">
                <a:solidFill>
                  <a:schemeClr val="tx1"/>
                </a:solidFill>
                <a:effectLst/>
                <a:latin typeface="+mn-lt"/>
                <a:ea typeface="+mn-ea"/>
                <a:cs typeface="+mn-cs"/>
              </a:rPr>
              <a:t> </a:t>
            </a:r>
            <a:r>
              <a:rPr lang="en-GB" sz="1200" u="none" strike="noStrike" kern="1200" dirty="0">
                <a:solidFill>
                  <a:schemeClr val="tx1"/>
                </a:solidFill>
                <a:effectLst/>
                <a:latin typeface="+mn-lt"/>
                <a:ea typeface="+mn-ea"/>
                <a:cs typeface="+mn-cs"/>
                <a:hlinkClick r:id="rId5" tooltip="Charles Darwin"/>
              </a:rPr>
              <a:t>Charles Darwin</a:t>
            </a:r>
            <a:r>
              <a:rPr lang="en-GB" sz="1200" b="0" i="0" u="none" strike="noStrike" kern="1200" baseline="30000" dirty="0">
                <a:solidFill>
                  <a:schemeClr val="tx1"/>
                </a:solidFill>
                <a:effectLst/>
                <a:latin typeface="+mn-lt"/>
                <a:ea typeface="+mn-ea"/>
                <a:cs typeface="+mn-cs"/>
                <a:hlinkClick r:id="rId6"/>
              </a:rPr>
              <a:t>[21]</a:t>
            </a:r>
            <a:endParaRPr lang="en-GB" sz="1200" b="0" i="0" u="none" strike="noStrike" kern="1200" baseline="300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Mathematics is the art of giving the same name to different things.</a:t>
            </a:r>
            <a:r>
              <a:rPr lang="en-GB" sz="1200" b="0" i="0" u="none" strike="noStrike" kern="1200" baseline="30000" dirty="0">
                <a:solidFill>
                  <a:schemeClr val="tx1"/>
                </a:solidFill>
                <a:effectLst/>
                <a:latin typeface="+mn-lt"/>
                <a:ea typeface="+mn-ea"/>
                <a:cs typeface="+mn-cs"/>
                <a:hlinkClick r:id="rId7"/>
              </a:rPr>
              <a:t>[10]</a:t>
            </a:r>
            <a:r>
              <a:rPr lang="en-GB" sz="1200" b="0" i="0" kern="1200" dirty="0">
                <a:solidFill>
                  <a:schemeClr val="tx1"/>
                </a:solidFill>
                <a:effectLst/>
                <a:latin typeface="+mn-lt"/>
                <a:ea typeface="+mn-ea"/>
                <a:cs typeface="+mn-cs"/>
              </a:rPr>
              <a:t> </a:t>
            </a:r>
            <a:r>
              <a:rPr lang="en-GB" sz="1200" u="none" strike="noStrike" kern="1200" dirty="0">
                <a:solidFill>
                  <a:schemeClr val="tx1"/>
                </a:solidFill>
                <a:effectLst/>
                <a:latin typeface="+mn-lt"/>
                <a:ea typeface="+mn-ea"/>
                <a:cs typeface="+mn-cs"/>
                <a:hlinkClick r:id="rId8" tooltip="Henri Poincaré"/>
              </a:rPr>
              <a:t>Henri Poincaré</a:t>
            </a:r>
            <a:endParaRPr lang="en-US" dirty="0"/>
          </a:p>
        </p:txBody>
      </p:sp>
      <p:sp>
        <p:nvSpPr>
          <p:cNvPr id="4" name="Slide Number Placeholder 3"/>
          <p:cNvSpPr>
            <a:spLocks noGrp="1"/>
          </p:cNvSpPr>
          <p:nvPr>
            <p:ph type="sldNum" sz="quarter" idx="5"/>
          </p:nvPr>
        </p:nvSpPr>
        <p:spPr/>
        <p:txBody>
          <a:bodyPr/>
          <a:lstStyle/>
          <a:p>
            <a:fld id="{BDDE134E-CF3A-1047-99F8-330D8E9F5A64}" type="slidenum">
              <a:rPr lang="en-US" smtClean="0"/>
              <a:t>2</a:t>
            </a:fld>
            <a:endParaRPr lang="en-US"/>
          </a:p>
        </p:txBody>
      </p:sp>
    </p:spTree>
    <p:extLst>
      <p:ext uri="{BB962C8B-B14F-4D97-AF65-F5344CB8AC3E}">
        <p14:creationId xmlns:p14="http://schemas.microsoft.com/office/powerpoint/2010/main" val="586809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5177A-4A5D-F6D8-AFA9-682FFF5E6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B160E-170A-F33D-1668-43C2C6413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E8C30-5DB5-E264-1DEC-A912CC222E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There exists an x satisfying</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x is a person  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 FOR ALL 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If y is a  person then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x shaves y AND y does NOT shave themselves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AND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If y does not shave themselves then they are shaved by x. </a:t>
            </a:r>
          </a:p>
          <a:p>
            <a:endParaRPr lang="en-US" dirty="0"/>
          </a:p>
        </p:txBody>
      </p:sp>
      <p:sp>
        <p:nvSpPr>
          <p:cNvPr id="4" name="Slide Number Placeholder 3">
            <a:extLst>
              <a:ext uri="{FF2B5EF4-FFF2-40B4-BE49-F238E27FC236}">
                <a16:creationId xmlns:a16="http://schemas.microsoft.com/office/drawing/2014/main" id="{CC061274-E471-AE41-7700-5B6DE720F43E}"/>
              </a:ext>
            </a:extLst>
          </p:cNvPr>
          <p:cNvSpPr>
            <a:spLocks noGrp="1"/>
          </p:cNvSpPr>
          <p:nvPr>
            <p:ph type="sldNum" sz="quarter" idx="5"/>
          </p:nvPr>
        </p:nvSpPr>
        <p:spPr/>
        <p:txBody>
          <a:bodyPr/>
          <a:lstStyle/>
          <a:p>
            <a:fld id="{BDDE134E-CF3A-1047-99F8-330D8E9F5A64}" type="slidenum">
              <a:rPr lang="en-US" smtClean="0"/>
              <a:t>3</a:t>
            </a:fld>
            <a:endParaRPr lang="en-US"/>
          </a:p>
        </p:txBody>
      </p:sp>
    </p:spTree>
    <p:extLst>
      <p:ext uri="{BB962C8B-B14F-4D97-AF65-F5344CB8AC3E}">
        <p14:creationId xmlns:p14="http://schemas.microsoft.com/office/powerpoint/2010/main" val="1752075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C55E-66AA-123B-402B-76E98ECB5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EC030-6E04-E8E7-A4AB-67A081763D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D548F-6382-7832-CEDD-FDC86E12EC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https://</a:t>
            </a:r>
            <a:r>
              <a:rPr lang="en-GB" dirty="0" err="1">
                <a:effectLst/>
              </a:rPr>
              <a:t>covers.openlibrary.org</a:t>
            </a:r>
            <a:r>
              <a:rPr lang="en-GB" dirty="0">
                <a:effectLst/>
              </a:rPr>
              <a:t>/b/id/7213097-L.jpg, Fair use, https://</a:t>
            </a:r>
            <a:r>
              <a:rPr lang="en-GB" dirty="0" err="1">
                <a:effectLst/>
              </a:rPr>
              <a:t>en.wikipedia.org</a:t>
            </a:r>
            <a:r>
              <a:rPr lang="en-GB" dirty="0">
                <a:effectLst/>
              </a:rPr>
              <a:t>/w/</a:t>
            </a:r>
            <a:r>
              <a:rPr lang="en-GB" dirty="0" err="1">
                <a:effectLst/>
              </a:rPr>
              <a:t>index.php?curid</a:t>
            </a:r>
            <a:r>
              <a:rPr lang="en-GB" dirty="0">
                <a:effectLst/>
              </a:rPr>
              <a:t>=52094181</a:t>
            </a:r>
            <a:endParaRPr lang="en-US" dirty="0"/>
          </a:p>
        </p:txBody>
      </p:sp>
      <p:sp>
        <p:nvSpPr>
          <p:cNvPr id="4" name="Slide Number Placeholder 3">
            <a:extLst>
              <a:ext uri="{FF2B5EF4-FFF2-40B4-BE49-F238E27FC236}">
                <a16:creationId xmlns:a16="http://schemas.microsoft.com/office/drawing/2014/main" id="{C3AD9FC2-2AD6-9CBE-8D4D-0D9279890920}"/>
              </a:ext>
            </a:extLst>
          </p:cNvPr>
          <p:cNvSpPr>
            <a:spLocks noGrp="1"/>
          </p:cNvSpPr>
          <p:nvPr>
            <p:ph type="sldNum" sz="quarter" idx="5"/>
          </p:nvPr>
        </p:nvSpPr>
        <p:spPr/>
        <p:txBody>
          <a:bodyPr/>
          <a:lstStyle/>
          <a:p>
            <a:fld id="{BDDE134E-CF3A-1047-99F8-330D8E9F5A64}" type="slidenum">
              <a:rPr lang="en-US" smtClean="0"/>
              <a:t>4</a:t>
            </a:fld>
            <a:endParaRPr lang="en-US"/>
          </a:p>
        </p:txBody>
      </p:sp>
    </p:spTree>
    <p:extLst>
      <p:ext uri="{BB962C8B-B14F-4D97-AF65-F5344CB8AC3E}">
        <p14:creationId xmlns:p14="http://schemas.microsoft.com/office/powerpoint/2010/main" val="4112834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8106F-427F-37E1-3201-6E189D6E9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E03EE-4519-4B20-CF36-4FD00F89F3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05183-2478-D3FC-90AC-DC23B6997D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https://</a:t>
            </a:r>
            <a:r>
              <a:rPr lang="en-GB" dirty="0" err="1">
                <a:effectLst/>
              </a:rPr>
              <a:t>covers.openlibrary.org</a:t>
            </a:r>
            <a:r>
              <a:rPr lang="en-GB" dirty="0">
                <a:effectLst/>
              </a:rPr>
              <a:t>/b/id/7213097-L.jpg, Fair use, https://</a:t>
            </a:r>
            <a:r>
              <a:rPr lang="en-GB" dirty="0" err="1">
                <a:effectLst/>
              </a:rPr>
              <a:t>en.wikipedia.org</a:t>
            </a:r>
            <a:r>
              <a:rPr lang="en-GB" dirty="0">
                <a:effectLst/>
              </a:rPr>
              <a:t>/w/</a:t>
            </a:r>
            <a:r>
              <a:rPr lang="en-GB" dirty="0" err="1">
                <a:effectLst/>
              </a:rPr>
              <a:t>index.php?curid</a:t>
            </a:r>
            <a:r>
              <a:rPr lang="en-GB" dirty="0">
                <a:effectLst/>
              </a:rPr>
              <a:t>=52094181</a:t>
            </a:r>
            <a:endParaRPr lang="en-US" dirty="0"/>
          </a:p>
        </p:txBody>
      </p:sp>
      <p:sp>
        <p:nvSpPr>
          <p:cNvPr id="4" name="Slide Number Placeholder 3">
            <a:extLst>
              <a:ext uri="{FF2B5EF4-FFF2-40B4-BE49-F238E27FC236}">
                <a16:creationId xmlns:a16="http://schemas.microsoft.com/office/drawing/2014/main" id="{1886801E-4FF1-DEF9-C56F-8F41729CCCC6}"/>
              </a:ext>
            </a:extLst>
          </p:cNvPr>
          <p:cNvSpPr>
            <a:spLocks noGrp="1"/>
          </p:cNvSpPr>
          <p:nvPr>
            <p:ph type="sldNum" sz="quarter" idx="5"/>
          </p:nvPr>
        </p:nvSpPr>
        <p:spPr/>
        <p:txBody>
          <a:bodyPr/>
          <a:lstStyle/>
          <a:p>
            <a:fld id="{BDDE134E-CF3A-1047-99F8-330D8E9F5A64}" type="slidenum">
              <a:rPr lang="en-US" smtClean="0"/>
              <a:t>5</a:t>
            </a:fld>
            <a:endParaRPr lang="en-US"/>
          </a:p>
        </p:txBody>
      </p:sp>
    </p:spTree>
    <p:extLst>
      <p:ext uri="{BB962C8B-B14F-4D97-AF65-F5344CB8AC3E}">
        <p14:creationId xmlns:p14="http://schemas.microsoft.com/office/powerpoint/2010/main" val="67246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2B86-745C-CA72-60F8-1DD72E00D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4F4B7-92B3-3216-2EE6-0C655ED4A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16599-2150-CA5E-856E-B512542131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https://</a:t>
            </a:r>
            <a:r>
              <a:rPr lang="en-GB" dirty="0" err="1">
                <a:effectLst/>
              </a:rPr>
              <a:t>covers.openlibrary.org</a:t>
            </a:r>
            <a:r>
              <a:rPr lang="en-GB" dirty="0">
                <a:effectLst/>
              </a:rPr>
              <a:t>/b/id/7213097-L.jpg, Fair use, https://</a:t>
            </a:r>
            <a:r>
              <a:rPr lang="en-GB" dirty="0" err="1">
                <a:effectLst/>
              </a:rPr>
              <a:t>en.wikipedia.org</a:t>
            </a:r>
            <a:r>
              <a:rPr lang="en-GB" dirty="0">
                <a:effectLst/>
              </a:rPr>
              <a:t>/w/</a:t>
            </a:r>
            <a:r>
              <a:rPr lang="en-GB" dirty="0" err="1">
                <a:effectLst/>
              </a:rPr>
              <a:t>index.php?curid</a:t>
            </a:r>
            <a:r>
              <a:rPr lang="en-GB" dirty="0">
                <a:effectLst/>
              </a:rPr>
              <a:t>=52094181</a:t>
            </a:r>
          </a:p>
          <a:p>
            <a:pPr lvl="0"/>
            <a:r>
              <a:rPr lang="en-GB" sz="1200" b="1" i="0" u="none" strike="noStrike" kern="1200" dirty="0">
                <a:solidFill>
                  <a:schemeClr val="tx1"/>
                </a:solidFill>
                <a:effectLst/>
                <a:latin typeface="+mn-lt"/>
                <a:ea typeface="+mn-ea"/>
                <a:cs typeface="+mn-cs"/>
              </a:rPr>
              <a:t>What it means:</a:t>
            </a:r>
            <a:r>
              <a:rPr lang="en-GB" sz="1200" b="0" i="0" u="none" strike="noStrike" kern="1200" dirty="0">
                <a:solidFill>
                  <a:schemeClr val="tx1"/>
                </a:solidFill>
                <a:effectLst/>
                <a:latin typeface="+mn-lt"/>
                <a:ea typeface="+mn-ea"/>
                <a:cs typeface="+mn-cs"/>
              </a:rPr>
              <a:t> The extract from </a:t>
            </a:r>
            <a:r>
              <a:rPr lang="en-GB" sz="1200" b="0" i="1" u="none" strike="noStrike" kern="1200" dirty="0">
                <a:solidFill>
                  <a:schemeClr val="tx1"/>
                </a:solidFill>
                <a:effectLst/>
                <a:latin typeface="+mn-lt"/>
                <a:ea typeface="+mn-ea"/>
                <a:cs typeface="+mn-cs"/>
              </a:rPr>
              <a:t>Principia Mathematica</a:t>
            </a:r>
            <a:r>
              <a:rPr lang="en-GB" sz="1200" b="0" i="0" u="none" strike="noStrike" kern="1200" dirty="0">
                <a:solidFill>
                  <a:schemeClr val="tx1"/>
                </a:solidFill>
                <a:effectLst/>
                <a:latin typeface="+mn-lt"/>
                <a:ea typeface="+mn-ea"/>
                <a:cs typeface="+mn-cs"/>
              </a:rPr>
              <a:t> on slide 5 establishes that two sets, each containing one item, together contain two items if they share nothing. Its final sentence says this will support </a:t>
            </a:r>
            <a:r>
              <a:rPr lang="en-GB" sz="1200" b="1" i="0" u="none" strike="noStrike" kern="1200" dirty="0">
                <a:solidFill>
                  <a:schemeClr val="tx1"/>
                </a:solidFill>
                <a:effectLst/>
                <a:latin typeface="+mn-lt"/>
                <a:ea typeface="+mn-ea"/>
                <a:cs typeface="+mn-cs"/>
              </a:rPr>
              <a:t>1 + 1 = 2</a:t>
            </a:r>
            <a:r>
              <a:rPr lang="en-GB" sz="1200" b="0" i="0" u="none" strike="noStrike" kern="1200" dirty="0">
                <a:solidFill>
                  <a:schemeClr val="tx1"/>
                </a:solidFill>
                <a:effectLst/>
                <a:latin typeface="+mn-lt"/>
                <a:ea typeface="+mn-ea"/>
                <a:cs typeface="+mn-cs"/>
              </a:rPr>
              <a:t> once addition has been defined.</a:t>
            </a:r>
          </a:p>
          <a:p>
            <a:pPr lvl="0"/>
            <a:r>
              <a:rPr lang="en-GB" sz="1200" b="1" i="0" u="none" strike="noStrike" kern="1200" dirty="0">
                <a:solidFill>
                  <a:schemeClr val="tx1"/>
                </a:solidFill>
                <a:effectLst/>
                <a:latin typeface="+mn-lt"/>
                <a:ea typeface="+mn-ea"/>
                <a:cs typeface="+mn-cs"/>
              </a:rPr>
              <a:t>Why it’s included:</a:t>
            </a:r>
            <a:r>
              <a:rPr lang="en-GB" sz="1200" b="0" i="0" u="none" strike="noStrike" kern="1200" dirty="0">
                <a:solidFill>
                  <a:schemeClr val="tx1"/>
                </a:solidFill>
                <a:effectLst/>
                <a:latin typeface="+mn-lt"/>
                <a:ea typeface="+mn-ea"/>
                <a:cs typeface="+mn-cs"/>
              </a:rPr>
              <a:t> The dense proof beside such a simple result shows how much logical groundwork even basic arithmetic requires. Alongside </a:t>
            </a:r>
            <a:r>
              <a:rPr lang="en-GB" sz="1200" b="1" i="0" u="none" strike="noStrike" kern="1200" dirty="0">
                <a:solidFill>
                  <a:schemeClr val="tx1"/>
                </a:solidFill>
                <a:effectLst/>
                <a:latin typeface="+mn-lt"/>
                <a:ea typeface="+mn-ea"/>
                <a:cs typeface="+mn-cs"/>
              </a:rPr>
              <a:t>Russell’s paradox</a:t>
            </a:r>
            <a:r>
              <a:rPr lang="en-GB" sz="1200" b="0" i="0" u="none" strike="noStrike" kern="1200" dirty="0">
                <a:solidFill>
                  <a:schemeClr val="tx1"/>
                </a:solidFill>
                <a:effectLst/>
                <a:latin typeface="+mn-lt"/>
                <a:ea typeface="+mn-ea"/>
                <a:cs typeface="+mn-cs"/>
              </a:rPr>
              <a:t>, it illustrates the need for careful foundations rather than trusting what seems obvious.</a:t>
            </a:r>
          </a:p>
          <a:p>
            <a:pPr lvl="0"/>
            <a:r>
              <a:rPr lang="en-GB" sz="1200" b="0" i="0" u="none" strike="noStrike" kern="1200" dirty="0">
                <a:solidFill>
                  <a:schemeClr val="tx1"/>
                </a:solidFill>
                <a:effectLst/>
                <a:latin typeface="+mn-lt"/>
                <a:ea typeface="+mn-ea"/>
                <a:cs typeface="+mn-cs"/>
              </a:rPr>
              <a:t>Godel uses an adaptation of the axiomatic system from Principia Mathematica</a:t>
            </a:r>
          </a:p>
          <a:p>
            <a:pPr lvl="0"/>
            <a:r>
              <a:rPr lang="en-GB" sz="1200" b="1" i="0" u="none" strike="noStrike" kern="1200" dirty="0">
                <a:solidFill>
                  <a:schemeClr val="tx1"/>
                </a:solidFill>
                <a:effectLst/>
                <a:latin typeface="+mn-lt"/>
                <a:ea typeface="+mn-ea"/>
                <a:cs typeface="+mn-cs"/>
              </a:rPr>
              <a:t>How it fits:</a:t>
            </a:r>
            <a:r>
              <a:rPr lang="en-GB" sz="1200" b="0" i="0" u="none" strike="noStrike" kern="1200" dirty="0">
                <a:solidFill>
                  <a:schemeClr val="tx1"/>
                </a:solidFill>
                <a:effectLst/>
                <a:latin typeface="+mn-lt"/>
                <a:ea typeface="+mn-ea"/>
                <a:cs typeface="+mn-cs"/>
              </a:rPr>
              <a:t> It connects the opening set-theory paradoxes with the later </a:t>
            </a:r>
            <a:r>
              <a:rPr lang="en-GB" sz="1200" b="1" i="0" u="none" strike="noStrike" kern="1200" dirty="0">
                <a:solidFill>
                  <a:schemeClr val="tx1"/>
                </a:solidFill>
                <a:effectLst/>
                <a:latin typeface="+mn-lt"/>
                <a:ea typeface="+mn-ea"/>
                <a:cs typeface="+mn-cs"/>
              </a:rPr>
              <a:t>Hilbert and Gödel</a:t>
            </a:r>
            <a:r>
              <a:rPr lang="en-GB" sz="1200" b="0" i="0" u="none" strike="noStrike" kern="1200" dirty="0">
                <a:solidFill>
                  <a:schemeClr val="tx1"/>
                </a:solidFill>
                <a:effectLst/>
                <a:latin typeface="+mn-lt"/>
                <a:ea typeface="+mn-ea"/>
                <a:cs typeface="+mn-cs"/>
              </a:rPr>
              <a:t> section (slides 29–32): can mathematics rest on rules that avoid contradictions and settle every question? This supports the deck’s closing message that paradoxes push mathematical understanding forward.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F56A0AE-490A-A59A-A8A8-87BC8F750759}"/>
              </a:ext>
            </a:extLst>
          </p:cNvPr>
          <p:cNvSpPr>
            <a:spLocks noGrp="1"/>
          </p:cNvSpPr>
          <p:nvPr>
            <p:ph type="sldNum" sz="quarter" idx="5"/>
          </p:nvPr>
        </p:nvSpPr>
        <p:spPr/>
        <p:txBody>
          <a:bodyPr/>
          <a:lstStyle/>
          <a:p>
            <a:fld id="{BDDE134E-CF3A-1047-99F8-330D8E9F5A64}" type="slidenum">
              <a:rPr lang="en-US" smtClean="0"/>
              <a:t>6</a:t>
            </a:fld>
            <a:endParaRPr lang="en-US"/>
          </a:p>
        </p:txBody>
      </p:sp>
    </p:spTree>
    <p:extLst>
      <p:ext uri="{BB962C8B-B14F-4D97-AF65-F5344CB8AC3E}">
        <p14:creationId xmlns:p14="http://schemas.microsoft.com/office/powerpoint/2010/main" val="2407569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EAAC9-82C9-CD71-E181-D4E7A26C4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B62CE-23DC-1AFB-59C4-ECD76C90D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6B311-4554-E853-04F8-265B89E330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1 rod = 16.5ft a good arrow shot!</a:t>
            </a:r>
          </a:p>
          <a:p>
            <a:endParaRPr lang="en-US" dirty="0"/>
          </a:p>
        </p:txBody>
      </p:sp>
      <p:sp>
        <p:nvSpPr>
          <p:cNvPr id="4" name="Slide Number Placeholder 3">
            <a:extLst>
              <a:ext uri="{FF2B5EF4-FFF2-40B4-BE49-F238E27FC236}">
                <a16:creationId xmlns:a16="http://schemas.microsoft.com/office/drawing/2014/main" id="{A4012D22-C394-0D3C-4F1C-64065BE03CEA}"/>
              </a:ext>
            </a:extLst>
          </p:cNvPr>
          <p:cNvSpPr>
            <a:spLocks noGrp="1"/>
          </p:cNvSpPr>
          <p:nvPr>
            <p:ph type="sldNum" sz="quarter" idx="5"/>
          </p:nvPr>
        </p:nvSpPr>
        <p:spPr/>
        <p:txBody>
          <a:bodyPr/>
          <a:lstStyle/>
          <a:p>
            <a:fld id="{BDDE134E-CF3A-1047-99F8-330D8E9F5A64}" type="slidenum">
              <a:rPr lang="en-US" smtClean="0"/>
              <a:t>7</a:t>
            </a:fld>
            <a:endParaRPr lang="en-US"/>
          </a:p>
        </p:txBody>
      </p:sp>
    </p:spTree>
    <p:extLst>
      <p:ext uri="{BB962C8B-B14F-4D97-AF65-F5344CB8AC3E}">
        <p14:creationId xmlns:p14="http://schemas.microsoft.com/office/powerpoint/2010/main" val="3538543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E1070-D87C-60B8-3A97-33323009B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B7FA3-8C9E-C4EA-7587-EE316F8C1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AA218A-C5E5-BFB2-6CC0-1D29969CFD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There was some argument about this.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Aristotle, in particular, argued that the sum of positive values did not have to be infinite.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It took a while for us really to construct the rigorous argument.</a:t>
            </a:r>
          </a:p>
          <a:p>
            <a:endParaRPr lang="en-US" dirty="0"/>
          </a:p>
        </p:txBody>
      </p:sp>
      <p:sp>
        <p:nvSpPr>
          <p:cNvPr id="4" name="Slide Number Placeholder 3">
            <a:extLst>
              <a:ext uri="{FF2B5EF4-FFF2-40B4-BE49-F238E27FC236}">
                <a16:creationId xmlns:a16="http://schemas.microsoft.com/office/drawing/2014/main" id="{FE4DB16E-B97A-F87D-6A17-A959A68784CB}"/>
              </a:ext>
            </a:extLst>
          </p:cNvPr>
          <p:cNvSpPr>
            <a:spLocks noGrp="1"/>
          </p:cNvSpPr>
          <p:nvPr>
            <p:ph type="sldNum" sz="quarter" idx="5"/>
          </p:nvPr>
        </p:nvSpPr>
        <p:spPr/>
        <p:txBody>
          <a:bodyPr/>
          <a:lstStyle/>
          <a:p>
            <a:fld id="{BDDE134E-CF3A-1047-99F8-330D8E9F5A64}" type="slidenum">
              <a:rPr lang="en-US" smtClean="0"/>
              <a:t>8</a:t>
            </a:fld>
            <a:endParaRPr lang="en-US"/>
          </a:p>
        </p:txBody>
      </p:sp>
    </p:spTree>
    <p:extLst>
      <p:ext uri="{BB962C8B-B14F-4D97-AF65-F5344CB8AC3E}">
        <p14:creationId xmlns:p14="http://schemas.microsoft.com/office/powerpoint/2010/main" val="4025811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72145-1FA3-C9A9-35C3-810EC6ED2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2005F-4D63-8CDB-5EA5-A92E823BE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7D369-CE9C-CB4E-980A-F47C722E65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We probably remember that from school.</a:t>
            </a:r>
          </a:p>
          <a:p>
            <a:endParaRPr lang="en-US" dirty="0"/>
          </a:p>
        </p:txBody>
      </p:sp>
      <p:sp>
        <p:nvSpPr>
          <p:cNvPr id="4" name="Slide Number Placeholder 3">
            <a:extLst>
              <a:ext uri="{FF2B5EF4-FFF2-40B4-BE49-F238E27FC236}">
                <a16:creationId xmlns:a16="http://schemas.microsoft.com/office/drawing/2014/main" id="{A868AC6A-050A-0B70-8082-D9D98AE7F7F3}"/>
              </a:ext>
            </a:extLst>
          </p:cNvPr>
          <p:cNvSpPr>
            <a:spLocks noGrp="1"/>
          </p:cNvSpPr>
          <p:nvPr>
            <p:ph type="sldNum" sz="quarter" idx="5"/>
          </p:nvPr>
        </p:nvSpPr>
        <p:spPr/>
        <p:txBody>
          <a:bodyPr/>
          <a:lstStyle/>
          <a:p>
            <a:fld id="{BDDE134E-CF3A-1047-99F8-330D8E9F5A64}" type="slidenum">
              <a:rPr lang="en-US" smtClean="0"/>
              <a:t>9</a:t>
            </a:fld>
            <a:endParaRPr lang="en-US"/>
          </a:p>
        </p:txBody>
      </p:sp>
    </p:spTree>
    <p:extLst>
      <p:ext uri="{BB962C8B-B14F-4D97-AF65-F5344CB8AC3E}">
        <p14:creationId xmlns:p14="http://schemas.microsoft.com/office/powerpoint/2010/main" val="622013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0CAF4-A2E2-F3AB-4728-B6D1C850D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8CA8A-B43D-25C5-6521-766CE4DBC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490F4-B979-98D2-9CCC-D24215040E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Infinities remain tricky…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Ray gave us the mnemonic: Nine Zulu Queens Rule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There is no largest natural number – the axion of Archimedes.</a:t>
            </a:r>
          </a:p>
          <a:p>
            <a:endParaRPr lang="en-US" dirty="0"/>
          </a:p>
        </p:txBody>
      </p:sp>
      <p:sp>
        <p:nvSpPr>
          <p:cNvPr id="4" name="Slide Number Placeholder 3">
            <a:extLst>
              <a:ext uri="{FF2B5EF4-FFF2-40B4-BE49-F238E27FC236}">
                <a16:creationId xmlns:a16="http://schemas.microsoft.com/office/drawing/2014/main" id="{B3C48683-03ED-7B44-4F05-B26A8776558B}"/>
              </a:ext>
            </a:extLst>
          </p:cNvPr>
          <p:cNvSpPr>
            <a:spLocks noGrp="1"/>
          </p:cNvSpPr>
          <p:nvPr>
            <p:ph type="sldNum" sz="quarter" idx="5"/>
          </p:nvPr>
        </p:nvSpPr>
        <p:spPr/>
        <p:txBody>
          <a:bodyPr/>
          <a:lstStyle/>
          <a:p>
            <a:fld id="{BDDE134E-CF3A-1047-99F8-330D8E9F5A64}" type="slidenum">
              <a:rPr lang="en-US" smtClean="0"/>
              <a:t>10</a:t>
            </a:fld>
            <a:endParaRPr lang="en-US"/>
          </a:p>
        </p:txBody>
      </p:sp>
    </p:spTree>
    <p:extLst>
      <p:ext uri="{BB962C8B-B14F-4D97-AF65-F5344CB8AC3E}">
        <p14:creationId xmlns:p14="http://schemas.microsoft.com/office/powerpoint/2010/main" val="661644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70E1-6151-AD11-2328-5D7355A1ED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5E9A3-368E-D857-27F2-315B12D94D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B45869-2F28-EB62-C5BB-2150AF377C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Countability – a set is countable if it can be put in a 1-1 correspondence with the natural numbers.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(Are there enough chairs in the hall? Everyone please sit down: people match the chairs – or not!)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Can we count the </a:t>
            </a:r>
            <a:r>
              <a:rPr lang="en-GB" dirty="0" err="1">
                <a:effectLst/>
              </a:rPr>
              <a:t>rationals</a:t>
            </a:r>
            <a:r>
              <a:rPr lang="en-GB" dirty="0">
                <a:effectLst/>
              </a:rPr>
              <a:t>? Diagonal line proof – Cantor (1845-1918)</a:t>
            </a:r>
          </a:p>
          <a:p>
            <a:endParaRPr lang="en-US" dirty="0"/>
          </a:p>
        </p:txBody>
      </p:sp>
      <p:sp>
        <p:nvSpPr>
          <p:cNvPr id="4" name="Slide Number Placeholder 3">
            <a:extLst>
              <a:ext uri="{FF2B5EF4-FFF2-40B4-BE49-F238E27FC236}">
                <a16:creationId xmlns:a16="http://schemas.microsoft.com/office/drawing/2014/main" id="{7A9CA181-7B0E-2387-8D40-36985B13EE4A}"/>
              </a:ext>
            </a:extLst>
          </p:cNvPr>
          <p:cNvSpPr>
            <a:spLocks noGrp="1"/>
          </p:cNvSpPr>
          <p:nvPr>
            <p:ph type="sldNum" sz="quarter" idx="5"/>
          </p:nvPr>
        </p:nvSpPr>
        <p:spPr/>
        <p:txBody>
          <a:bodyPr/>
          <a:lstStyle/>
          <a:p>
            <a:fld id="{BDDE134E-CF3A-1047-99F8-330D8E9F5A64}" type="slidenum">
              <a:rPr lang="en-US" smtClean="0"/>
              <a:t>11</a:t>
            </a:fld>
            <a:endParaRPr lang="en-US"/>
          </a:p>
        </p:txBody>
      </p:sp>
    </p:spTree>
    <p:extLst>
      <p:ext uri="{BB962C8B-B14F-4D97-AF65-F5344CB8AC3E}">
        <p14:creationId xmlns:p14="http://schemas.microsoft.com/office/powerpoint/2010/main" val="3841615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30802-09BB-DE7C-D93D-ACD282C4C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26AA4-9AFB-AB37-8F74-27CD3D961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854FBB-3FE2-BBEE-8617-540D648FAD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Choose n=2 S(2) = \pi^2/6</a:t>
            </a:r>
          </a:p>
          <a:p>
            <a:endParaRPr lang="en-US" dirty="0"/>
          </a:p>
        </p:txBody>
      </p:sp>
      <p:sp>
        <p:nvSpPr>
          <p:cNvPr id="4" name="Slide Number Placeholder 3">
            <a:extLst>
              <a:ext uri="{FF2B5EF4-FFF2-40B4-BE49-F238E27FC236}">
                <a16:creationId xmlns:a16="http://schemas.microsoft.com/office/drawing/2014/main" id="{240E4ABC-1587-9D3D-C7F2-CD4E5502E9BC}"/>
              </a:ext>
            </a:extLst>
          </p:cNvPr>
          <p:cNvSpPr>
            <a:spLocks noGrp="1"/>
          </p:cNvSpPr>
          <p:nvPr>
            <p:ph type="sldNum" sz="quarter" idx="5"/>
          </p:nvPr>
        </p:nvSpPr>
        <p:spPr/>
        <p:txBody>
          <a:bodyPr/>
          <a:lstStyle/>
          <a:p>
            <a:fld id="{BDDE134E-CF3A-1047-99F8-330D8E9F5A64}" type="slidenum">
              <a:rPr lang="en-US" smtClean="0"/>
              <a:t>12</a:t>
            </a:fld>
            <a:endParaRPr lang="en-US"/>
          </a:p>
        </p:txBody>
      </p:sp>
    </p:spTree>
    <p:extLst>
      <p:ext uri="{BB962C8B-B14F-4D97-AF65-F5344CB8AC3E}">
        <p14:creationId xmlns:p14="http://schemas.microsoft.com/office/powerpoint/2010/main" val="3943934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1559D-2376-C32F-E548-8282BE6DE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CD01F-FB52-072E-D3B9-517A015C3E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FC1323-46F9-C0B8-60DE-68CBBF51B0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a:t>
            </a:r>
            <a:r>
              <a:rPr lang="en-GB" dirty="0" err="1">
                <a:effectLst/>
              </a:rPr>
              <a:t>Cmglee</a:t>
            </a:r>
            <a:r>
              <a:rPr lang="en-GB" dirty="0">
                <a:effectLst/>
              </a:rPr>
              <a:t> - Own work, CC BY-SA 4.0, https://</a:t>
            </a:r>
            <a:r>
              <a:rPr lang="en-GB" dirty="0" err="1">
                <a:effectLst/>
              </a:rPr>
              <a:t>commons.wikimedia.org</a:t>
            </a:r>
            <a:r>
              <a:rPr lang="en-GB" dirty="0">
                <a:effectLst/>
              </a:rPr>
              <a:t>/w/</a:t>
            </a:r>
            <a:r>
              <a:rPr lang="en-GB" dirty="0" err="1">
                <a:effectLst/>
              </a:rPr>
              <a:t>index.php?curid</a:t>
            </a:r>
            <a:r>
              <a:rPr lang="en-GB" dirty="0">
                <a:effectLst/>
              </a:rPr>
              <a:t>=168287114</a:t>
            </a:r>
            <a:endParaRPr lang="en-US" dirty="0"/>
          </a:p>
        </p:txBody>
      </p:sp>
      <p:sp>
        <p:nvSpPr>
          <p:cNvPr id="4" name="Slide Number Placeholder 3">
            <a:extLst>
              <a:ext uri="{FF2B5EF4-FFF2-40B4-BE49-F238E27FC236}">
                <a16:creationId xmlns:a16="http://schemas.microsoft.com/office/drawing/2014/main" id="{CDFC11C3-EEEA-B58F-9C74-AA89B2D38365}"/>
              </a:ext>
            </a:extLst>
          </p:cNvPr>
          <p:cNvSpPr>
            <a:spLocks noGrp="1"/>
          </p:cNvSpPr>
          <p:nvPr>
            <p:ph type="sldNum" sz="quarter" idx="5"/>
          </p:nvPr>
        </p:nvSpPr>
        <p:spPr/>
        <p:txBody>
          <a:bodyPr/>
          <a:lstStyle/>
          <a:p>
            <a:fld id="{BDDE134E-CF3A-1047-99F8-330D8E9F5A64}" type="slidenum">
              <a:rPr lang="en-US" smtClean="0"/>
              <a:t>13</a:t>
            </a:fld>
            <a:endParaRPr lang="en-US"/>
          </a:p>
        </p:txBody>
      </p:sp>
    </p:spTree>
    <p:extLst>
      <p:ext uri="{BB962C8B-B14F-4D97-AF65-F5344CB8AC3E}">
        <p14:creationId xmlns:p14="http://schemas.microsoft.com/office/powerpoint/2010/main" val="3077302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5638E-A88E-FCFC-5A07-6AC8A52DC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A6E55-412E-87ED-8A5C-F21E3E79E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51BEFF-12DA-20AC-4EEB-C3F0B10358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en.wikipedia.org</a:t>
            </a:r>
            <a:r>
              <a:rPr lang="en-GB" dirty="0">
                <a:effectLst/>
              </a:rPr>
              <a:t>/wiki/</a:t>
            </a:r>
            <a:r>
              <a:rPr lang="en-GB" dirty="0" err="1">
                <a:effectLst/>
              </a:rPr>
              <a:t>Basel_problem</a:t>
            </a:r>
            <a:endParaRPr lang="en-GB"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a:t>
            </a:r>
            <a:r>
              <a:rPr lang="en-GB" dirty="0" err="1">
                <a:effectLst/>
              </a:rPr>
              <a:t>Cmglee</a:t>
            </a:r>
            <a:r>
              <a:rPr lang="en-GB" dirty="0">
                <a:effectLst/>
              </a:rPr>
              <a:t> - Own work, CC BY-SA 4.0, https://</a:t>
            </a:r>
            <a:r>
              <a:rPr lang="en-GB" dirty="0" err="1">
                <a:effectLst/>
              </a:rPr>
              <a:t>commons.wikimedia.org</a:t>
            </a:r>
            <a:r>
              <a:rPr lang="en-GB" dirty="0">
                <a:effectLst/>
              </a:rPr>
              <a:t>/w/</a:t>
            </a:r>
            <a:r>
              <a:rPr lang="en-GB" dirty="0" err="1">
                <a:effectLst/>
              </a:rPr>
              <a:t>index.php?curid</a:t>
            </a:r>
            <a:r>
              <a:rPr lang="en-GB" dirty="0">
                <a:effectLst/>
              </a:rPr>
              <a:t>=168287114</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Finite Elements were widely </a:t>
            </a:r>
            <a:r>
              <a:rPr lang="en-GB" dirty="0" err="1">
                <a:effectLst/>
              </a:rPr>
              <a:t>ued</a:t>
            </a:r>
            <a:r>
              <a:rPr lang="en-GB" dirty="0">
                <a:effectLst/>
              </a:rPr>
              <a:t> by engineers before the mathematics was proven.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Engineers – we all use it and we get the right answer.</a:t>
            </a:r>
            <a:endParaRPr lang="en-US" dirty="0"/>
          </a:p>
        </p:txBody>
      </p:sp>
      <p:sp>
        <p:nvSpPr>
          <p:cNvPr id="4" name="Slide Number Placeholder 3">
            <a:extLst>
              <a:ext uri="{FF2B5EF4-FFF2-40B4-BE49-F238E27FC236}">
                <a16:creationId xmlns:a16="http://schemas.microsoft.com/office/drawing/2014/main" id="{CCB68126-8821-37AA-7B7C-282B5DECEA3A}"/>
              </a:ext>
            </a:extLst>
          </p:cNvPr>
          <p:cNvSpPr>
            <a:spLocks noGrp="1"/>
          </p:cNvSpPr>
          <p:nvPr>
            <p:ph type="sldNum" sz="quarter" idx="5"/>
          </p:nvPr>
        </p:nvSpPr>
        <p:spPr/>
        <p:txBody>
          <a:bodyPr/>
          <a:lstStyle/>
          <a:p>
            <a:fld id="{BDDE134E-CF3A-1047-99F8-330D8E9F5A64}" type="slidenum">
              <a:rPr lang="en-US" smtClean="0"/>
              <a:t>14</a:t>
            </a:fld>
            <a:endParaRPr lang="en-US"/>
          </a:p>
        </p:txBody>
      </p:sp>
    </p:spTree>
    <p:extLst>
      <p:ext uri="{BB962C8B-B14F-4D97-AF65-F5344CB8AC3E}">
        <p14:creationId xmlns:p14="http://schemas.microsoft.com/office/powerpoint/2010/main" val="623100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1BC06-1743-F38E-DAD0-6311E65C48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2B2FC-81DA-950A-2963-98F75BD09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8B069-095C-4881-2AC5-D78DD03BC9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1E10CF-3A0A-FB18-115E-5956E28FAE30}"/>
              </a:ext>
            </a:extLst>
          </p:cNvPr>
          <p:cNvSpPr>
            <a:spLocks noGrp="1"/>
          </p:cNvSpPr>
          <p:nvPr>
            <p:ph type="sldNum" sz="quarter" idx="5"/>
          </p:nvPr>
        </p:nvSpPr>
        <p:spPr/>
        <p:txBody>
          <a:bodyPr/>
          <a:lstStyle/>
          <a:p>
            <a:fld id="{BDDE134E-CF3A-1047-99F8-330D8E9F5A64}" type="slidenum">
              <a:rPr lang="en-US" smtClean="0"/>
              <a:t>15</a:t>
            </a:fld>
            <a:endParaRPr lang="en-US"/>
          </a:p>
        </p:txBody>
      </p:sp>
    </p:spTree>
    <p:extLst>
      <p:ext uri="{BB962C8B-B14F-4D97-AF65-F5344CB8AC3E}">
        <p14:creationId xmlns:p14="http://schemas.microsoft.com/office/powerpoint/2010/main" val="1874465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B3376-705C-0751-E37B-2F5D7DC9A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DD8B9-FF99-2303-7B6A-49D1868FE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60014-CBDA-E850-2C66-5D96DD00D3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Interactive Linear Algebra - Mendeley</a:t>
            </a:r>
          </a:p>
          <a:p>
            <a:endParaRPr lang="en-US" dirty="0"/>
          </a:p>
        </p:txBody>
      </p:sp>
      <p:sp>
        <p:nvSpPr>
          <p:cNvPr id="4" name="Slide Number Placeholder 3">
            <a:extLst>
              <a:ext uri="{FF2B5EF4-FFF2-40B4-BE49-F238E27FC236}">
                <a16:creationId xmlns:a16="http://schemas.microsoft.com/office/drawing/2014/main" id="{6244B346-99E1-DD2D-F20F-7D67D3B2B1F4}"/>
              </a:ext>
            </a:extLst>
          </p:cNvPr>
          <p:cNvSpPr>
            <a:spLocks noGrp="1"/>
          </p:cNvSpPr>
          <p:nvPr>
            <p:ph type="sldNum" sz="quarter" idx="5"/>
          </p:nvPr>
        </p:nvSpPr>
        <p:spPr/>
        <p:txBody>
          <a:bodyPr/>
          <a:lstStyle/>
          <a:p>
            <a:fld id="{BDDE134E-CF3A-1047-99F8-330D8E9F5A64}" type="slidenum">
              <a:rPr lang="en-US" smtClean="0"/>
              <a:t>16</a:t>
            </a:fld>
            <a:endParaRPr lang="en-US"/>
          </a:p>
        </p:txBody>
      </p:sp>
    </p:spTree>
    <p:extLst>
      <p:ext uri="{BB962C8B-B14F-4D97-AF65-F5344CB8AC3E}">
        <p14:creationId xmlns:p14="http://schemas.microsoft.com/office/powerpoint/2010/main" val="1512521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8D06-928B-9948-472E-4489910E0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42D41-C6C0-564C-DBD0-9471A927D4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E8D09-99DB-6FA0-A8EB-199D316495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S_1 is known as Grandi’s series.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It is Cesaro summable.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This manipulation is questionable (at best).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Before we were dealing with finite sums, then bounding them, then taking limits.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formal manipulation of these series is much harder to justify.</a:t>
            </a:r>
          </a:p>
          <a:p>
            <a:endParaRPr lang="en-US" dirty="0"/>
          </a:p>
        </p:txBody>
      </p:sp>
      <p:sp>
        <p:nvSpPr>
          <p:cNvPr id="4" name="Slide Number Placeholder 3">
            <a:extLst>
              <a:ext uri="{FF2B5EF4-FFF2-40B4-BE49-F238E27FC236}">
                <a16:creationId xmlns:a16="http://schemas.microsoft.com/office/drawing/2014/main" id="{B5B21380-B2BC-79A9-12DF-4DE3C2B64736}"/>
              </a:ext>
            </a:extLst>
          </p:cNvPr>
          <p:cNvSpPr>
            <a:spLocks noGrp="1"/>
          </p:cNvSpPr>
          <p:nvPr>
            <p:ph type="sldNum" sz="quarter" idx="5"/>
          </p:nvPr>
        </p:nvSpPr>
        <p:spPr/>
        <p:txBody>
          <a:bodyPr/>
          <a:lstStyle/>
          <a:p>
            <a:fld id="{BDDE134E-CF3A-1047-99F8-330D8E9F5A64}" type="slidenum">
              <a:rPr lang="en-US" smtClean="0"/>
              <a:t>17</a:t>
            </a:fld>
            <a:endParaRPr lang="en-US"/>
          </a:p>
        </p:txBody>
      </p:sp>
    </p:spTree>
    <p:extLst>
      <p:ext uri="{BB962C8B-B14F-4D97-AF65-F5344CB8AC3E}">
        <p14:creationId xmlns:p14="http://schemas.microsoft.com/office/powerpoint/2010/main" val="3339807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E6080-635A-D26D-8AD9-51629DBD6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53C93-607A-F78E-483D-279E997EE9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A71D2-61FB-B614-5521-DD7B4620BE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Interactive Linear Algebra - Mendeley</a:t>
            </a:r>
          </a:p>
          <a:p>
            <a:endParaRPr lang="en-US" dirty="0"/>
          </a:p>
        </p:txBody>
      </p:sp>
      <p:sp>
        <p:nvSpPr>
          <p:cNvPr id="4" name="Slide Number Placeholder 3">
            <a:extLst>
              <a:ext uri="{FF2B5EF4-FFF2-40B4-BE49-F238E27FC236}">
                <a16:creationId xmlns:a16="http://schemas.microsoft.com/office/drawing/2014/main" id="{45451C42-CC4B-4892-2037-F841BB51923B}"/>
              </a:ext>
            </a:extLst>
          </p:cNvPr>
          <p:cNvSpPr>
            <a:spLocks noGrp="1"/>
          </p:cNvSpPr>
          <p:nvPr>
            <p:ph type="sldNum" sz="quarter" idx="5"/>
          </p:nvPr>
        </p:nvSpPr>
        <p:spPr/>
        <p:txBody>
          <a:bodyPr/>
          <a:lstStyle/>
          <a:p>
            <a:fld id="{BDDE134E-CF3A-1047-99F8-330D8E9F5A64}" type="slidenum">
              <a:rPr lang="en-US" smtClean="0"/>
              <a:t>18</a:t>
            </a:fld>
            <a:endParaRPr lang="en-US"/>
          </a:p>
        </p:txBody>
      </p:sp>
    </p:spTree>
    <p:extLst>
      <p:ext uri="{BB962C8B-B14F-4D97-AF65-F5344CB8AC3E}">
        <p14:creationId xmlns:p14="http://schemas.microsoft.com/office/powerpoint/2010/main" val="2050604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D6956-F764-5F47-47D9-6B1871F64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1EE72-D85F-846F-5595-256E77B5E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F8DA6-511E-C089-F9F8-F9982E598B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-1/12: </a:t>
            </a:r>
            <a:r>
              <a:rPr lang="en-GB" sz="1200" kern="1200" dirty="0">
                <a:solidFill>
                  <a:schemeClr val="tx1"/>
                </a:solidFill>
                <a:effectLst/>
                <a:latin typeface="+mn-lt"/>
                <a:ea typeface="+mn-ea"/>
                <a:cs typeface="+mn-cs"/>
                <a:hlinkClick r:id="rId3"/>
              </a:rPr>
              <a:t>https://www.qedcat.com/misc/String_theory_book.jpg</a:t>
            </a:r>
            <a:r>
              <a:rPr lang="en-GB" sz="1200" kern="1200" dirty="0">
                <a:solidFill>
                  <a:schemeClr val="tx1"/>
                </a:solidFill>
                <a:effectLst/>
                <a:latin typeface="+mn-lt"/>
                <a:ea typeface="+mn-ea"/>
                <a:cs typeface="+mn-cs"/>
              </a:rPr>
              <a:t> </a:t>
            </a:r>
          </a:p>
          <a:p>
            <a:r>
              <a:rPr lang="en-US" dirty="0"/>
              <a:t>String Theory, J S Polchinski (2005)</a:t>
            </a:r>
          </a:p>
          <a:p>
            <a:r>
              <a:rPr lang="en-US" dirty="0"/>
              <a:t>Page 22 “This leads to the odd result:” </a:t>
            </a:r>
          </a:p>
          <a:p>
            <a:r>
              <a:rPr lang="en-US" dirty="0"/>
              <a:t>An example of Casimir energy, coming from the fact that the string has finite length.</a:t>
            </a:r>
          </a:p>
        </p:txBody>
      </p:sp>
      <p:sp>
        <p:nvSpPr>
          <p:cNvPr id="4" name="Slide Number Placeholder 3">
            <a:extLst>
              <a:ext uri="{FF2B5EF4-FFF2-40B4-BE49-F238E27FC236}">
                <a16:creationId xmlns:a16="http://schemas.microsoft.com/office/drawing/2014/main" id="{C1E9A6DD-6499-6E29-1B0A-F4F8A090E3AF}"/>
              </a:ext>
            </a:extLst>
          </p:cNvPr>
          <p:cNvSpPr>
            <a:spLocks noGrp="1"/>
          </p:cNvSpPr>
          <p:nvPr>
            <p:ph type="sldNum" sz="quarter" idx="5"/>
          </p:nvPr>
        </p:nvSpPr>
        <p:spPr/>
        <p:txBody>
          <a:bodyPr/>
          <a:lstStyle/>
          <a:p>
            <a:fld id="{BDDE134E-CF3A-1047-99F8-330D8E9F5A64}" type="slidenum">
              <a:rPr lang="en-US" smtClean="0"/>
              <a:t>19</a:t>
            </a:fld>
            <a:endParaRPr lang="en-US"/>
          </a:p>
        </p:txBody>
      </p:sp>
    </p:spTree>
    <p:extLst>
      <p:ext uri="{BB962C8B-B14F-4D97-AF65-F5344CB8AC3E}">
        <p14:creationId xmlns:p14="http://schemas.microsoft.com/office/powerpoint/2010/main" val="18635712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99AFC-0684-4F4A-F682-E021770DB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63F6B-698D-769C-279D-E772F731B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82E6C-AE80-A4D2-BB00-FCB92018C3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Ray (might) be going to talk about this further.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Georg Friedrich Bernhard Riemann, 1826-1866.</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-1/12: </a:t>
            </a:r>
            <a:r>
              <a:rPr lang="en-GB" sz="1200" kern="1200" dirty="0">
                <a:solidFill>
                  <a:schemeClr val="tx1"/>
                </a:solidFill>
                <a:effectLst/>
                <a:latin typeface="+mn-lt"/>
                <a:ea typeface="+mn-ea"/>
                <a:cs typeface="+mn-cs"/>
                <a:hlinkClick r:id="rId3"/>
              </a:rPr>
              <a:t>https://www.qedcat.com/misc/String_theory_book.jpg</a:t>
            </a:r>
            <a:r>
              <a:rPr lang="en-GB" sz="1200" kern="1200" dirty="0">
                <a:solidFill>
                  <a:schemeClr val="tx1"/>
                </a:solidFill>
                <a:effectLst/>
                <a:latin typeface="+mn-lt"/>
                <a:ea typeface="+mn-ea"/>
                <a:cs typeface="+mn-cs"/>
              </a:rPr>
              <a:t> </a:t>
            </a:r>
          </a:p>
          <a:p>
            <a:r>
              <a:rPr lang="en-US" dirty="0"/>
              <a:t>String Theory, J S Polchinski (2005)</a:t>
            </a:r>
          </a:p>
          <a:p>
            <a:r>
              <a:rPr lang="en-US" dirty="0"/>
              <a:t>Page 22 “This leads to the odd result:” </a:t>
            </a:r>
          </a:p>
          <a:p>
            <a:r>
              <a:rPr lang="en-US" dirty="0"/>
              <a:t>An example of Casimir energy, coming from the fact that the string has finite length.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err="1">
                <a:solidFill>
                  <a:schemeClr val="tx1"/>
                </a:solidFill>
                <a:effectLst/>
                <a:latin typeface="+mn-lt"/>
                <a:ea typeface="+mn-ea"/>
                <a:cs typeface="+mn-cs"/>
              </a:rPr>
              <a:t>Monatsberichte</a:t>
            </a:r>
            <a:r>
              <a:rPr lang="en-GB" sz="1200" b="0" i="0" kern="1200" dirty="0">
                <a:solidFill>
                  <a:schemeClr val="tx1"/>
                </a:solidFill>
                <a:effectLst/>
                <a:latin typeface="+mn-lt"/>
                <a:ea typeface="+mn-ea"/>
                <a:cs typeface="+mn-cs"/>
              </a:rPr>
              <a:t> der Berliner Akademie, November 1859</a:t>
            </a:r>
            <a:endParaRPr lang="en-US" dirty="0"/>
          </a:p>
        </p:txBody>
      </p:sp>
      <p:sp>
        <p:nvSpPr>
          <p:cNvPr id="4" name="Slide Number Placeholder 3">
            <a:extLst>
              <a:ext uri="{FF2B5EF4-FFF2-40B4-BE49-F238E27FC236}">
                <a16:creationId xmlns:a16="http://schemas.microsoft.com/office/drawing/2014/main" id="{3A8DD43B-FEED-A0FD-574E-46AA3C34978D}"/>
              </a:ext>
            </a:extLst>
          </p:cNvPr>
          <p:cNvSpPr>
            <a:spLocks noGrp="1"/>
          </p:cNvSpPr>
          <p:nvPr>
            <p:ph type="sldNum" sz="quarter" idx="5"/>
          </p:nvPr>
        </p:nvSpPr>
        <p:spPr/>
        <p:txBody>
          <a:bodyPr/>
          <a:lstStyle/>
          <a:p>
            <a:fld id="{BDDE134E-CF3A-1047-99F8-330D8E9F5A64}" type="slidenum">
              <a:rPr lang="en-US" smtClean="0"/>
              <a:t>20</a:t>
            </a:fld>
            <a:endParaRPr lang="en-US"/>
          </a:p>
        </p:txBody>
      </p:sp>
    </p:spTree>
    <p:extLst>
      <p:ext uri="{BB962C8B-B14F-4D97-AF65-F5344CB8AC3E}">
        <p14:creationId xmlns:p14="http://schemas.microsoft.com/office/powerpoint/2010/main" val="2203436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09A55-F8A9-812F-F5F2-0E9BB5942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08D36-C55C-A8AC-556B-8BBFB983B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CB925-18F9-4ABA-0C89-C66C9059F1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show: Let’s make a deal.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Hall was host, co-creator and co-producer.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It was first broadcast in 1963</a:t>
            </a:r>
          </a:p>
          <a:p>
            <a:endParaRPr lang="en-US" dirty="0"/>
          </a:p>
        </p:txBody>
      </p:sp>
      <p:sp>
        <p:nvSpPr>
          <p:cNvPr id="4" name="Slide Number Placeholder 3">
            <a:extLst>
              <a:ext uri="{FF2B5EF4-FFF2-40B4-BE49-F238E27FC236}">
                <a16:creationId xmlns:a16="http://schemas.microsoft.com/office/drawing/2014/main" id="{84163918-2DF6-1680-F154-B75748DDF152}"/>
              </a:ext>
            </a:extLst>
          </p:cNvPr>
          <p:cNvSpPr>
            <a:spLocks noGrp="1"/>
          </p:cNvSpPr>
          <p:nvPr>
            <p:ph type="sldNum" sz="quarter" idx="5"/>
          </p:nvPr>
        </p:nvSpPr>
        <p:spPr/>
        <p:txBody>
          <a:bodyPr/>
          <a:lstStyle/>
          <a:p>
            <a:fld id="{BDDE134E-CF3A-1047-99F8-330D8E9F5A64}" type="slidenum">
              <a:rPr lang="en-US" smtClean="0"/>
              <a:t>21</a:t>
            </a:fld>
            <a:endParaRPr lang="en-US"/>
          </a:p>
        </p:txBody>
      </p:sp>
    </p:spTree>
    <p:extLst>
      <p:ext uri="{BB962C8B-B14F-4D97-AF65-F5344CB8AC3E}">
        <p14:creationId xmlns:p14="http://schemas.microsoft.com/office/powerpoint/2010/main" val="22432367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88025-B370-DFE7-C31A-E2278FB4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5A7EC-8F67-BF44-D22A-4124DFB90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46446-09E3-820A-4FC8-63E1A028FC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a:t>
            </a:r>
            <a:r>
              <a:rPr lang="en-GB" dirty="0" err="1">
                <a:effectLst/>
              </a:rPr>
              <a:t>marilynvossavant.com</a:t>
            </a:r>
            <a:r>
              <a:rPr lang="en-GB" dirty="0">
                <a:effectLst/>
              </a:rPr>
              <a:t>/game-show-problem/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PARADE magazine 1990 &amp; 1991</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 much vitriol!!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[Nothing compared to what we have today… </a:t>
            </a:r>
            <a:r>
              <a:rPr lang="en-GB" dirty="0" err="1">
                <a:effectLst/>
              </a:rPr>
              <a:t>vos</a:t>
            </a:r>
            <a:r>
              <a:rPr lang="en-GB" dirty="0">
                <a:effectLst/>
              </a:rPr>
              <a:t> Savant thought it was pretty terrible.]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Hall would deviate from the idealized rules. He sometimes did not offer the choice of switching but opened the door immediately.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Sometimes he offered money to not switch.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game got through more goats than it should have done.</a:t>
            </a:r>
          </a:p>
          <a:p>
            <a:endParaRPr lang="en-US" dirty="0"/>
          </a:p>
        </p:txBody>
      </p:sp>
      <p:sp>
        <p:nvSpPr>
          <p:cNvPr id="4" name="Slide Number Placeholder 3">
            <a:extLst>
              <a:ext uri="{FF2B5EF4-FFF2-40B4-BE49-F238E27FC236}">
                <a16:creationId xmlns:a16="http://schemas.microsoft.com/office/drawing/2014/main" id="{6C207D80-1624-055E-D8A8-41AE3E454D9F}"/>
              </a:ext>
            </a:extLst>
          </p:cNvPr>
          <p:cNvSpPr>
            <a:spLocks noGrp="1"/>
          </p:cNvSpPr>
          <p:nvPr>
            <p:ph type="sldNum" sz="quarter" idx="5"/>
          </p:nvPr>
        </p:nvSpPr>
        <p:spPr/>
        <p:txBody>
          <a:bodyPr/>
          <a:lstStyle/>
          <a:p>
            <a:fld id="{BDDE134E-CF3A-1047-99F8-330D8E9F5A64}" type="slidenum">
              <a:rPr lang="en-US" smtClean="0"/>
              <a:t>22</a:t>
            </a:fld>
            <a:endParaRPr lang="en-US"/>
          </a:p>
        </p:txBody>
      </p:sp>
    </p:spTree>
    <p:extLst>
      <p:ext uri="{BB962C8B-B14F-4D97-AF65-F5344CB8AC3E}">
        <p14:creationId xmlns:p14="http://schemas.microsoft.com/office/powerpoint/2010/main" val="31432745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CB10A-A425-E8A3-1D87-BDC871895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9A067-0EE1-BD5F-2901-F4FBA8518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7631E-A858-6814-AA65-6B4EAABE1F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a:t>
            </a:r>
            <a:r>
              <a:rPr lang="en-GB" dirty="0" err="1">
                <a:effectLst/>
              </a:rPr>
              <a:t>marilynvossavant.com</a:t>
            </a:r>
            <a:r>
              <a:rPr lang="en-GB" dirty="0">
                <a:effectLst/>
              </a:rPr>
              <a:t>/game-show-problem/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PARADE magazine 1990 &amp; 1991</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 much vitriol!!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Hall would deviate from the idealized rules. He sometimes did not offer the choice of switching but opened the door immediately.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Sometimes he offered money to not switch.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game got through more goats than it should have done.</a:t>
            </a:r>
          </a:p>
          <a:p>
            <a:endParaRPr lang="en-US" dirty="0"/>
          </a:p>
        </p:txBody>
      </p:sp>
      <p:sp>
        <p:nvSpPr>
          <p:cNvPr id="4" name="Slide Number Placeholder 3">
            <a:extLst>
              <a:ext uri="{FF2B5EF4-FFF2-40B4-BE49-F238E27FC236}">
                <a16:creationId xmlns:a16="http://schemas.microsoft.com/office/drawing/2014/main" id="{36429C92-8424-C2C0-0DB0-27843ECF0EF4}"/>
              </a:ext>
            </a:extLst>
          </p:cNvPr>
          <p:cNvSpPr>
            <a:spLocks noGrp="1"/>
          </p:cNvSpPr>
          <p:nvPr>
            <p:ph type="sldNum" sz="quarter" idx="5"/>
          </p:nvPr>
        </p:nvSpPr>
        <p:spPr/>
        <p:txBody>
          <a:bodyPr/>
          <a:lstStyle/>
          <a:p>
            <a:fld id="{BDDE134E-CF3A-1047-99F8-330D8E9F5A64}" type="slidenum">
              <a:rPr lang="en-US" smtClean="0"/>
              <a:t>23</a:t>
            </a:fld>
            <a:endParaRPr lang="en-US"/>
          </a:p>
        </p:txBody>
      </p:sp>
    </p:spTree>
    <p:extLst>
      <p:ext uri="{BB962C8B-B14F-4D97-AF65-F5344CB8AC3E}">
        <p14:creationId xmlns:p14="http://schemas.microsoft.com/office/powerpoint/2010/main" val="61520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2DD90-3DB5-1946-D1A3-EA261C3A1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0010FA-F80B-A3FF-FB58-0A088E6DB0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2AA6B1-B133-407F-DB6B-2B0739B34E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a:t>
            </a:r>
            <a:r>
              <a:rPr lang="en-GB" dirty="0" err="1">
                <a:effectLst/>
              </a:rPr>
              <a:t>marilynvossavant.com</a:t>
            </a:r>
            <a:r>
              <a:rPr lang="en-GB" dirty="0">
                <a:effectLst/>
              </a:rPr>
              <a:t>/game-show-problem/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PARADE magazine 1990 &amp; 1991</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 much vitriol!!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Hall would deviate from the idealized rules. He sometimes did not offer the choice of switching but opened the door immediately.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Sometimes he offered money to not switch.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game got through more goats than it should have done.</a:t>
            </a:r>
          </a:p>
          <a:p>
            <a:endParaRPr lang="en-US" dirty="0"/>
          </a:p>
        </p:txBody>
      </p:sp>
      <p:sp>
        <p:nvSpPr>
          <p:cNvPr id="4" name="Slide Number Placeholder 3">
            <a:extLst>
              <a:ext uri="{FF2B5EF4-FFF2-40B4-BE49-F238E27FC236}">
                <a16:creationId xmlns:a16="http://schemas.microsoft.com/office/drawing/2014/main" id="{BB1B540E-F469-0A0D-E211-B6B6FA17179B}"/>
              </a:ext>
            </a:extLst>
          </p:cNvPr>
          <p:cNvSpPr>
            <a:spLocks noGrp="1"/>
          </p:cNvSpPr>
          <p:nvPr>
            <p:ph type="sldNum" sz="quarter" idx="5"/>
          </p:nvPr>
        </p:nvSpPr>
        <p:spPr/>
        <p:txBody>
          <a:bodyPr/>
          <a:lstStyle/>
          <a:p>
            <a:fld id="{BDDE134E-CF3A-1047-99F8-330D8E9F5A64}" type="slidenum">
              <a:rPr lang="en-US" smtClean="0"/>
              <a:t>24</a:t>
            </a:fld>
            <a:endParaRPr lang="en-US"/>
          </a:p>
        </p:txBody>
      </p:sp>
    </p:spTree>
    <p:extLst>
      <p:ext uri="{BB962C8B-B14F-4D97-AF65-F5344CB8AC3E}">
        <p14:creationId xmlns:p14="http://schemas.microsoft.com/office/powerpoint/2010/main" val="28130712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29209-C70F-EEEC-F54A-C4A878009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8EB2FC-5FCA-C26E-BCBB-48A4A5AA11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28818-10C4-7978-9464-BFE8EA3CD4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8DBF0F-190D-A6DF-AB06-550E3F71A52F}"/>
              </a:ext>
            </a:extLst>
          </p:cNvPr>
          <p:cNvSpPr>
            <a:spLocks noGrp="1"/>
          </p:cNvSpPr>
          <p:nvPr>
            <p:ph type="sldNum" sz="quarter" idx="5"/>
          </p:nvPr>
        </p:nvSpPr>
        <p:spPr/>
        <p:txBody>
          <a:bodyPr/>
          <a:lstStyle/>
          <a:p>
            <a:fld id="{BDDE134E-CF3A-1047-99F8-330D8E9F5A64}" type="slidenum">
              <a:rPr lang="en-US" smtClean="0"/>
              <a:t>25</a:t>
            </a:fld>
            <a:endParaRPr lang="en-US"/>
          </a:p>
        </p:txBody>
      </p:sp>
    </p:spTree>
    <p:extLst>
      <p:ext uri="{BB962C8B-B14F-4D97-AF65-F5344CB8AC3E}">
        <p14:creationId xmlns:p14="http://schemas.microsoft.com/office/powerpoint/2010/main" val="19759120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D5B0B-D4D2-50FC-7024-9A1F5418A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58EF5-ABD6-F81F-33E9-BAFDAAC18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8A3F95-A8BF-3A10-ED5B-DFF9DD4AEF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7CD8F5-63AE-FB14-4011-6BE9AE58AC2A}"/>
              </a:ext>
            </a:extLst>
          </p:cNvPr>
          <p:cNvSpPr>
            <a:spLocks noGrp="1"/>
          </p:cNvSpPr>
          <p:nvPr>
            <p:ph type="sldNum" sz="quarter" idx="5"/>
          </p:nvPr>
        </p:nvSpPr>
        <p:spPr/>
        <p:txBody>
          <a:bodyPr/>
          <a:lstStyle/>
          <a:p>
            <a:fld id="{BDDE134E-CF3A-1047-99F8-330D8E9F5A64}" type="slidenum">
              <a:rPr lang="en-US" smtClean="0"/>
              <a:t>26</a:t>
            </a:fld>
            <a:endParaRPr lang="en-US"/>
          </a:p>
        </p:txBody>
      </p:sp>
    </p:spTree>
    <p:extLst>
      <p:ext uri="{BB962C8B-B14F-4D97-AF65-F5344CB8AC3E}">
        <p14:creationId xmlns:p14="http://schemas.microsoft.com/office/powerpoint/2010/main" val="19362316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EBAE7-D42C-A06B-1882-7CE8142BB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4D629-3654-5C71-86BB-796E04C23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D3911-4321-B1EE-3B8A-50521C3C32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a:t>
            </a:r>
            <a:r>
              <a:rPr lang="en-GB" dirty="0" err="1">
                <a:effectLst/>
              </a:rPr>
              <a:t>marilynvossavant.com</a:t>
            </a:r>
            <a:r>
              <a:rPr lang="en-GB" dirty="0">
                <a:effectLst/>
              </a:rPr>
              <a:t>/game-show-problem/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PARADE magazine 1990 &amp; 1991</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 much vitriol!!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Hall would deviate from the idealized rules. He sometimes did not offer the choice of switching but opened the door immediately.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Sometimes he offered money to not switch.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game got through more goats than it should have done.</a:t>
            </a:r>
          </a:p>
          <a:p>
            <a:endParaRPr lang="en-US" dirty="0"/>
          </a:p>
        </p:txBody>
      </p:sp>
      <p:sp>
        <p:nvSpPr>
          <p:cNvPr id="4" name="Slide Number Placeholder 3">
            <a:extLst>
              <a:ext uri="{FF2B5EF4-FFF2-40B4-BE49-F238E27FC236}">
                <a16:creationId xmlns:a16="http://schemas.microsoft.com/office/drawing/2014/main" id="{0DADA4A8-F79C-F0A6-E01D-64DBDF0086A7}"/>
              </a:ext>
            </a:extLst>
          </p:cNvPr>
          <p:cNvSpPr>
            <a:spLocks noGrp="1"/>
          </p:cNvSpPr>
          <p:nvPr>
            <p:ph type="sldNum" sz="quarter" idx="5"/>
          </p:nvPr>
        </p:nvSpPr>
        <p:spPr/>
        <p:txBody>
          <a:bodyPr/>
          <a:lstStyle/>
          <a:p>
            <a:fld id="{BDDE134E-CF3A-1047-99F8-330D8E9F5A64}" type="slidenum">
              <a:rPr lang="en-US" smtClean="0"/>
              <a:t>27</a:t>
            </a:fld>
            <a:endParaRPr lang="en-US"/>
          </a:p>
        </p:txBody>
      </p:sp>
    </p:spTree>
    <p:extLst>
      <p:ext uri="{BB962C8B-B14F-4D97-AF65-F5344CB8AC3E}">
        <p14:creationId xmlns:p14="http://schemas.microsoft.com/office/powerpoint/2010/main" val="4565012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042CE-37A7-2D04-5429-BCC680C29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C247E-3770-417E-74BC-27718BFC6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5DDC50-5ECB-E21B-9F8C-5EC0018333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ED0B61-6DCF-15FC-427E-8388D47901A6}"/>
              </a:ext>
            </a:extLst>
          </p:cNvPr>
          <p:cNvSpPr>
            <a:spLocks noGrp="1"/>
          </p:cNvSpPr>
          <p:nvPr>
            <p:ph type="sldNum" sz="quarter" idx="5"/>
          </p:nvPr>
        </p:nvSpPr>
        <p:spPr/>
        <p:txBody>
          <a:bodyPr/>
          <a:lstStyle/>
          <a:p>
            <a:fld id="{BDDE134E-CF3A-1047-99F8-330D8E9F5A64}" type="slidenum">
              <a:rPr lang="en-US" smtClean="0"/>
              <a:t>28</a:t>
            </a:fld>
            <a:endParaRPr lang="en-US"/>
          </a:p>
        </p:txBody>
      </p:sp>
    </p:spTree>
    <p:extLst>
      <p:ext uri="{BB962C8B-B14F-4D97-AF65-F5344CB8AC3E}">
        <p14:creationId xmlns:p14="http://schemas.microsoft.com/office/powerpoint/2010/main" val="8082499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30A74-B6D4-C0C6-AF24-5351257EE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B0BF5-096C-6E95-7CD4-8F08B830E0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70CF1-B269-EF45-BB51-C732067456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8DFECC-5473-C4C5-48EB-3CED79592EF3}"/>
              </a:ext>
            </a:extLst>
          </p:cNvPr>
          <p:cNvSpPr>
            <a:spLocks noGrp="1"/>
          </p:cNvSpPr>
          <p:nvPr>
            <p:ph type="sldNum" sz="quarter" idx="5"/>
          </p:nvPr>
        </p:nvSpPr>
        <p:spPr/>
        <p:txBody>
          <a:bodyPr/>
          <a:lstStyle/>
          <a:p>
            <a:fld id="{BDDE134E-CF3A-1047-99F8-330D8E9F5A64}" type="slidenum">
              <a:rPr lang="en-US" smtClean="0"/>
              <a:t>29</a:t>
            </a:fld>
            <a:endParaRPr lang="en-US"/>
          </a:p>
        </p:txBody>
      </p:sp>
    </p:spTree>
    <p:extLst>
      <p:ext uri="{BB962C8B-B14F-4D97-AF65-F5344CB8AC3E}">
        <p14:creationId xmlns:p14="http://schemas.microsoft.com/office/powerpoint/2010/main" val="10876621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B8AFA-B5C5-BFCC-9577-0721FAAE3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3ADFC-B246-24BB-1557-6AF80823E3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FDB5A-521D-64A4-132B-8CC0BE12E3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Between 1900 and 1930 there was opposition to Hilbert’s campaign but Hilbert’s office politics is better.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F4E6705-3A90-DDC7-AB33-334C38222E17}"/>
              </a:ext>
            </a:extLst>
          </p:cNvPr>
          <p:cNvSpPr>
            <a:spLocks noGrp="1"/>
          </p:cNvSpPr>
          <p:nvPr>
            <p:ph type="sldNum" sz="quarter" idx="5"/>
          </p:nvPr>
        </p:nvSpPr>
        <p:spPr/>
        <p:txBody>
          <a:bodyPr/>
          <a:lstStyle/>
          <a:p>
            <a:fld id="{BDDE134E-CF3A-1047-99F8-330D8E9F5A64}" type="slidenum">
              <a:rPr lang="en-US" smtClean="0"/>
              <a:t>30</a:t>
            </a:fld>
            <a:endParaRPr lang="en-US"/>
          </a:p>
        </p:txBody>
      </p:sp>
    </p:spTree>
    <p:extLst>
      <p:ext uri="{BB962C8B-B14F-4D97-AF65-F5344CB8AC3E}">
        <p14:creationId xmlns:p14="http://schemas.microsoft.com/office/powerpoint/2010/main" val="39448620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1BEE-6284-6093-7304-832B9E0F5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E4730-F927-355A-9484-1D3AF8DDF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DDFFC-6F52-EC17-33F4-9DCC6B1B46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Between 1900 and 1930 there was opposition to Hilbert’s campaign but Hilbert’s office politics is better.</a:t>
            </a:r>
            <a:endParaRPr lang="en-US" dirty="0"/>
          </a:p>
        </p:txBody>
      </p:sp>
      <p:sp>
        <p:nvSpPr>
          <p:cNvPr id="4" name="Slide Number Placeholder 3">
            <a:extLst>
              <a:ext uri="{FF2B5EF4-FFF2-40B4-BE49-F238E27FC236}">
                <a16:creationId xmlns:a16="http://schemas.microsoft.com/office/drawing/2014/main" id="{A3C19AC6-943E-2D72-6506-5E13B12DC0D2}"/>
              </a:ext>
            </a:extLst>
          </p:cNvPr>
          <p:cNvSpPr>
            <a:spLocks noGrp="1"/>
          </p:cNvSpPr>
          <p:nvPr>
            <p:ph type="sldNum" sz="quarter" idx="5"/>
          </p:nvPr>
        </p:nvSpPr>
        <p:spPr/>
        <p:txBody>
          <a:bodyPr/>
          <a:lstStyle/>
          <a:p>
            <a:fld id="{BDDE134E-CF3A-1047-99F8-330D8E9F5A64}" type="slidenum">
              <a:rPr lang="en-US" smtClean="0"/>
              <a:t>31</a:t>
            </a:fld>
            <a:endParaRPr lang="en-US"/>
          </a:p>
        </p:txBody>
      </p:sp>
    </p:spTree>
    <p:extLst>
      <p:ext uri="{BB962C8B-B14F-4D97-AF65-F5344CB8AC3E}">
        <p14:creationId xmlns:p14="http://schemas.microsoft.com/office/powerpoint/2010/main" val="26046603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10911-BD62-D280-3E0C-984AE436A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5F4C5-162A-C2AF-81F3-61BB2C6A0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98A3C-A4B6-6665-DCDB-9441E9CF23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Not to be confused with the </a:t>
            </a:r>
            <a:r>
              <a:rPr lang="en-GB">
                <a:effectLst/>
              </a:rPr>
              <a:t>lustrous grey metal.</a:t>
            </a:r>
            <a:endParaRPr lang="en-US" dirty="0"/>
          </a:p>
        </p:txBody>
      </p:sp>
      <p:sp>
        <p:nvSpPr>
          <p:cNvPr id="4" name="Slide Number Placeholder 3">
            <a:extLst>
              <a:ext uri="{FF2B5EF4-FFF2-40B4-BE49-F238E27FC236}">
                <a16:creationId xmlns:a16="http://schemas.microsoft.com/office/drawing/2014/main" id="{ED13EC79-0AFE-AE90-FE1C-9731AC94FAFE}"/>
              </a:ext>
            </a:extLst>
          </p:cNvPr>
          <p:cNvSpPr>
            <a:spLocks noGrp="1"/>
          </p:cNvSpPr>
          <p:nvPr>
            <p:ph type="sldNum" sz="quarter" idx="5"/>
          </p:nvPr>
        </p:nvSpPr>
        <p:spPr/>
        <p:txBody>
          <a:bodyPr/>
          <a:lstStyle/>
          <a:p>
            <a:fld id="{BDDE134E-CF3A-1047-99F8-330D8E9F5A64}" type="slidenum">
              <a:rPr lang="en-US" smtClean="0"/>
              <a:t>32</a:t>
            </a:fld>
            <a:endParaRPr lang="en-US"/>
          </a:p>
        </p:txBody>
      </p:sp>
    </p:spTree>
    <p:extLst>
      <p:ext uri="{BB962C8B-B14F-4D97-AF65-F5344CB8AC3E}">
        <p14:creationId xmlns:p14="http://schemas.microsoft.com/office/powerpoint/2010/main" val="39309828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3E914-E3E3-F248-C413-F5B7CED9E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63BB4-9E18-0A0F-C1AA-F30BBB49E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FB768-C0C2-B3F2-567B-E5E8481A50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endParaRPr lang="en-US" dirty="0"/>
          </a:p>
        </p:txBody>
      </p:sp>
      <p:sp>
        <p:nvSpPr>
          <p:cNvPr id="4" name="Slide Number Placeholder 3">
            <a:extLst>
              <a:ext uri="{FF2B5EF4-FFF2-40B4-BE49-F238E27FC236}">
                <a16:creationId xmlns:a16="http://schemas.microsoft.com/office/drawing/2014/main" id="{F7EB3904-7F88-2A59-C90F-BEF7E0C1D1FB}"/>
              </a:ext>
            </a:extLst>
          </p:cNvPr>
          <p:cNvSpPr>
            <a:spLocks noGrp="1"/>
          </p:cNvSpPr>
          <p:nvPr>
            <p:ph type="sldNum" sz="quarter" idx="5"/>
          </p:nvPr>
        </p:nvSpPr>
        <p:spPr/>
        <p:txBody>
          <a:bodyPr/>
          <a:lstStyle/>
          <a:p>
            <a:fld id="{BDDE134E-CF3A-1047-99F8-330D8E9F5A64}" type="slidenum">
              <a:rPr lang="en-US" smtClean="0"/>
              <a:t>33</a:t>
            </a:fld>
            <a:endParaRPr lang="en-US"/>
          </a:p>
        </p:txBody>
      </p:sp>
    </p:spTree>
    <p:extLst>
      <p:ext uri="{BB962C8B-B14F-4D97-AF65-F5344CB8AC3E}">
        <p14:creationId xmlns:p14="http://schemas.microsoft.com/office/powerpoint/2010/main" val="17301302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A883A-4864-51D7-138E-E1B0AC367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305F2-4849-C4F2-4220-5BAE8E472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8BAC8-3610-C33A-7128-28869D72B7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Under this mapping if a proof uses an axiom then the Godel number for the axiom has the Godel number of the axiom as a factor.</a:t>
            </a:r>
            <a:endParaRPr lang="en-US" dirty="0"/>
          </a:p>
        </p:txBody>
      </p:sp>
      <p:sp>
        <p:nvSpPr>
          <p:cNvPr id="4" name="Slide Number Placeholder 3">
            <a:extLst>
              <a:ext uri="{FF2B5EF4-FFF2-40B4-BE49-F238E27FC236}">
                <a16:creationId xmlns:a16="http://schemas.microsoft.com/office/drawing/2014/main" id="{17521081-7AFF-C5AE-592A-5579805CE071}"/>
              </a:ext>
            </a:extLst>
          </p:cNvPr>
          <p:cNvSpPr>
            <a:spLocks noGrp="1"/>
          </p:cNvSpPr>
          <p:nvPr>
            <p:ph type="sldNum" sz="quarter" idx="5"/>
          </p:nvPr>
        </p:nvSpPr>
        <p:spPr/>
        <p:txBody>
          <a:bodyPr/>
          <a:lstStyle/>
          <a:p>
            <a:fld id="{BDDE134E-CF3A-1047-99F8-330D8E9F5A64}" type="slidenum">
              <a:rPr lang="en-US" smtClean="0"/>
              <a:t>34</a:t>
            </a:fld>
            <a:endParaRPr lang="en-US"/>
          </a:p>
        </p:txBody>
      </p:sp>
    </p:spTree>
    <p:extLst>
      <p:ext uri="{BB962C8B-B14F-4D97-AF65-F5344CB8AC3E}">
        <p14:creationId xmlns:p14="http://schemas.microsoft.com/office/powerpoint/2010/main" val="19598965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73C1F-9788-B215-F5E9-C1E993BDB6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B2C7-60EA-7A1D-1392-03EFD0AAED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32A88-31DA-B708-B37F-D3FD99FA04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endParaRPr lang="en-US" dirty="0"/>
          </a:p>
        </p:txBody>
      </p:sp>
      <p:sp>
        <p:nvSpPr>
          <p:cNvPr id="4" name="Slide Number Placeholder 3">
            <a:extLst>
              <a:ext uri="{FF2B5EF4-FFF2-40B4-BE49-F238E27FC236}">
                <a16:creationId xmlns:a16="http://schemas.microsoft.com/office/drawing/2014/main" id="{3FCED5D6-6BBC-3A4E-720C-3DAE4696C929}"/>
              </a:ext>
            </a:extLst>
          </p:cNvPr>
          <p:cNvSpPr>
            <a:spLocks noGrp="1"/>
          </p:cNvSpPr>
          <p:nvPr>
            <p:ph type="sldNum" sz="quarter" idx="5"/>
          </p:nvPr>
        </p:nvSpPr>
        <p:spPr/>
        <p:txBody>
          <a:bodyPr/>
          <a:lstStyle/>
          <a:p>
            <a:fld id="{BDDE134E-CF3A-1047-99F8-330D8E9F5A64}" type="slidenum">
              <a:rPr lang="en-US" smtClean="0"/>
              <a:t>35</a:t>
            </a:fld>
            <a:endParaRPr lang="en-US"/>
          </a:p>
        </p:txBody>
      </p:sp>
    </p:spTree>
    <p:extLst>
      <p:ext uri="{BB962C8B-B14F-4D97-AF65-F5344CB8AC3E}">
        <p14:creationId xmlns:p14="http://schemas.microsoft.com/office/powerpoint/2010/main" val="18319337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DE134E-CF3A-1047-99F8-330D8E9F5A64}" type="slidenum">
              <a:rPr lang="en-US" smtClean="0"/>
              <a:t>36</a:t>
            </a:fld>
            <a:endParaRPr lang="en-US"/>
          </a:p>
        </p:txBody>
      </p:sp>
    </p:spTree>
    <p:extLst>
      <p:ext uri="{BB962C8B-B14F-4D97-AF65-F5344CB8AC3E}">
        <p14:creationId xmlns:p14="http://schemas.microsoft.com/office/powerpoint/2010/main" val="135414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30D9D-34C0-A1D3-3FE7-5D46424B1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4C9BBF-23C0-5071-62EE-F78D06BD8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7F15E-ABF1-FC2A-67A3-22EAAFAB1B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https://</a:t>
            </a:r>
            <a:r>
              <a:rPr lang="en-GB" dirty="0" err="1">
                <a:effectLst/>
              </a:rPr>
              <a:t>covers.openlibrary.org</a:t>
            </a:r>
            <a:r>
              <a:rPr lang="en-GB" dirty="0">
                <a:effectLst/>
              </a:rPr>
              <a:t>/b/id/7213097-L.jpg, Fair use, https://</a:t>
            </a:r>
            <a:r>
              <a:rPr lang="en-GB" dirty="0" err="1">
                <a:effectLst/>
              </a:rPr>
              <a:t>en.wikipedia.org</a:t>
            </a:r>
            <a:r>
              <a:rPr lang="en-GB" dirty="0">
                <a:effectLst/>
              </a:rPr>
              <a:t>/w/</a:t>
            </a:r>
            <a:r>
              <a:rPr lang="en-GB" dirty="0" err="1">
                <a:effectLst/>
              </a:rPr>
              <a:t>index.php?curid</a:t>
            </a:r>
            <a:r>
              <a:rPr lang="en-GB" dirty="0">
                <a:effectLst/>
              </a:rPr>
              <a:t>=52094181</a:t>
            </a:r>
            <a:endParaRPr lang="en-US" dirty="0"/>
          </a:p>
        </p:txBody>
      </p:sp>
      <p:sp>
        <p:nvSpPr>
          <p:cNvPr id="4" name="Slide Number Placeholder 3">
            <a:extLst>
              <a:ext uri="{FF2B5EF4-FFF2-40B4-BE49-F238E27FC236}">
                <a16:creationId xmlns:a16="http://schemas.microsoft.com/office/drawing/2014/main" id="{5103918B-4C7D-F74F-3192-90656621DA19}"/>
              </a:ext>
            </a:extLst>
          </p:cNvPr>
          <p:cNvSpPr>
            <a:spLocks noGrp="1"/>
          </p:cNvSpPr>
          <p:nvPr>
            <p:ph type="sldNum" sz="quarter" idx="5"/>
          </p:nvPr>
        </p:nvSpPr>
        <p:spPr/>
        <p:txBody>
          <a:bodyPr/>
          <a:lstStyle/>
          <a:p>
            <a:fld id="{BDDE134E-CF3A-1047-99F8-330D8E9F5A64}" type="slidenum">
              <a:rPr lang="en-US" smtClean="0"/>
              <a:t>37</a:t>
            </a:fld>
            <a:endParaRPr lang="en-US"/>
          </a:p>
        </p:txBody>
      </p:sp>
    </p:spTree>
    <p:extLst>
      <p:ext uri="{BB962C8B-B14F-4D97-AF65-F5344CB8AC3E}">
        <p14:creationId xmlns:p14="http://schemas.microsoft.com/office/powerpoint/2010/main" val="42661387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BFECE-0022-CF12-4304-8FDCC6BAA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C098E-A8CB-6FAB-61A9-9B2355D152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E84DA-792D-1912-C7CE-E86D2840E1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Choose n=2 S(2) = \pi^2/6</a:t>
            </a:r>
          </a:p>
          <a:p>
            <a:r>
              <a:rPr lang="en-US" dirty="0"/>
              <a:t>Another bit of mathematical thinking:</a:t>
            </a:r>
          </a:p>
          <a:p>
            <a:r>
              <a:rPr lang="en-US" dirty="0"/>
              <a:t>Is the result the best it can be?</a:t>
            </a:r>
          </a:p>
          <a:p>
            <a:r>
              <a:rPr lang="en-US" dirty="0"/>
              <a:t>We showed that S(p) converges for p&lt;1</a:t>
            </a:r>
          </a:p>
          <a:p>
            <a:r>
              <a:rPr lang="en-US" dirty="0"/>
              <a:t>What happens for p = 1?</a:t>
            </a:r>
          </a:p>
          <a:p>
            <a:r>
              <a:rPr lang="en-US" dirty="0"/>
              <a:t>So we have the earlier, counter-intuitive result S(1) = -1/12 and here we have S(1) = \</a:t>
            </a:r>
            <a:r>
              <a:rPr lang="en-US" dirty="0" err="1"/>
              <a:t>infty</a:t>
            </a:r>
            <a:endParaRPr lang="en-US" dirty="0"/>
          </a:p>
          <a:p>
            <a:r>
              <a:rPr lang="en-US" dirty="0"/>
              <a:t>And we have emphasized the importance of understanding absolute convergence.</a:t>
            </a:r>
          </a:p>
        </p:txBody>
      </p:sp>
      <p:sp>
        <p:nvSpPr>
          <p:cNvPr id="4" name="Slide Number Placeholder 3">
            <a:extLst>
              <a:ext uri="{FF2B5EF4-FFF2-40B4-BE49-F238E27FC236}">
                <a16:creationId xmlns:a16="http://schemas.microsoft.com/office/drawing/2014/main" id="{82FA19F1-1393-E1FA-DE81-DC9040216D37}"/>
              </a:ext>
            </a:extLst>
          </p:cNvPr>
          <p:cNvSpPr>
            <a:spLocks noGrp="1"/>
          </p:cNvSpPr>
          <p:nvPr>
            <p:ph type="sldNum" sz="quarter" idx="5"/>
          </p:nvPr>
        </p:nvSpPr>
        <p:spPr/>
        <p:txBody>
          <a:bodyPr/>
          <a:lstStyle/>
          <a:p>
            <a:fld id="{BDDE134E-CF3A-1047-99F8-330D8E9F5A64}" type="slidenum">
              <a:rPr lang="en-US" smtClean="0"/>
              <a:t>38</a:t>
            </a:fld>
            <a:endParaRPr lang="en-US"/>
          </a:p>
        </p:txBody>
      </p:sp>
    </p:spTree>
    <p:extLst>
      <p:ext uri="{BB962C8B-B14F-4D97-AF65-F5344CB8AC3E}">
        <p14:creationId xmlns:p14="http://schemas.microsoft.com/office/powerpoint/2010/main" val="30842941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https://cs357.cs.illinois.edu/textbook/notes/</a:t>
            </a:r>
            <a:r>
              <a:rPr lang="en-US" dirty="0" err="1"/>
              <a:t>condition.html</a:t>
            </a:r>
            <a:endParaRPr lang="en-US" dirty="0"/>
          </a:p>
          <a:p>
            <a:r>
              <a:rPr lang="en-US" dirty="0"/>
              <a:t>Hilbert matrix (Wikipedia) - \kappa BIG</a:t>
            </a:r>
          </a:p>
        </p:txBody>
      </p:sp>
      <p:sp>
        <p:nvSpPr>
          <p:cNvPr id="4" name="Slide Number Placeholder 3"/>
          <p:cNvSpPr>
            <a:spLocks noGrp="1"/>
          </p:cNvSpPr>
          <p:nvPr>
            <p:ph type="sldNum" sz="quarter" idx="5"/>
          </p:nvPr>
        </p:nvSpPr>
        <p:spPr/>
        <p:txBody>
          <a:bodyPr/>
          <a:lstStyle/>
          <a:p>
            <a:fld id="{BDDE134E-CF3A-1047-99F8-330D8E9F5A64}" type="slidenum">
              <a:rPr lang="en-US" smtClean="0"/>
              <a:t>39</a:t>
            </a:fld>
            <a:endParaRPr lang="en-US"/>
          </a:p>
        </p:txBody>
      </p:sp>
    </p:spTree>
    <p:extLst>
      <p:ext uri="{BB962C8B-B14F-4D97-AF65-F5344CB8AC3E}">
        <p14:creationId xmlns:p14="http://schemas.microsoft.com/office/powerpoint/2010/main" val="42807909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DE134E-CF3A-1047-99F8-330D8E9F5A64}" type="slidenum">
              <a:rPr lang="en-US" smtClean="0"/>
              <a:t>40</a:t>
            </a:fld>
            <a:endParaRPr lang="en-US"/>
          </a:p>
        </p:txBody>
      </p:sp>
    </p:spTree>
    <p:extLst>
      <p:ext uri="{BB962C8B-B14F-4D97-AF65-F5344CB8AC3E}">
        <p14:creationId xmlns:p14="http://schemas.microsoft.com/office/powerpoint/2010/main" val="38797803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81CEA-7795-B26C-0229-61377EB03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2E634-7FA9-D911-67FA-CE9427838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509F7-4E3F-1614-9365-B62EBEA102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endParaRPr lang="en-US" dirty="0"/>
          </a:p>
        </p:txBody>
      </p:sp>
      <p:sp>
        <p:nvSpPr>
          <p:cNvPr id="4" name="Slide Number Placeholder 3">
            <a:extLst>
              <a:ext uri="{FF2B5EF4-FFF2-40B4-BE49-F238E27FC236}">
                <a16:creationId xmlns:a16="http://schemas.microsoft.com/office/drawing/2014/main" id="{390EC241-02B2-A3E0-DE51-0D107B5EC3F8}"/>
              </a:ext>
            </a:extLst>
          </p:cNvPr>
          <p:cNvSpPr>
            <a:spLocks noGrp="1"/>
          </p:cNvSpPr>
          <p:nvPr>
            <p:ph type="sldNum" sz="quarter" idx="5"/>
          </p:nvPr>
        </p:nvSpPr>
        <p:spPr/>
        <p:txBody>
          <a:bodyPr/>
          <a:lstStyle/>
          <a:p>
            <a:fld id="{BDDE134E-CF3A-1047-99F8-330D8E9F5A64}" type="slidenum">
              <a:rPr lang="en-US" smtClean="0"/>
              <a:t>41</a:t>
            </a:fld>
            <a:endParaRPr lang="en-US"/>
          </a:p>
        </p:txBody>
      </p:sp>
    </p:spTree>
    <p:extLst>
      <p:ext uri="{BB962C8B-B14F-4D97-AF65-F5344CB8AC3E}">
        <p14:creationId xmlns:p14="http://schemas.microsoft.com/office/powerpoint/2010/main" val="3666298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512AB-BC9F-9398-AF76-120CFED66C4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50C292C-9B1E-B4EB-E513-732DA4ADFB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A3BC6DE-AE10-0B02-D21D-3AC0F9337FF3}"/>
              </a:ext>
            </a:extLst>
          </p:cNvPr>
          <p:cNvSpPr>
            <a:spLocks noGrp="1"/>
          </p:cNvSpPr>
          <p:nvPr>
            <p:ph type="dt" sz="half" idx="10"/>
          </p:nvPr>
        </p:nvSpPr>
        <p:spPr/>
        <p:txBody>
          <a:bodyPr/>
          <a:lstStyle/>
          <a:p>
            <a:fld id="{27F99EB5-2AF6-F54C-8368-591B57101106}" type="datetime1">
              <a:rPr lang="en-GB" smtClean="0"/>
              <a:t>19/10/2026</a:t>
            </a:fld>
            <a:endParaRPr lang="en-US"/>
          </a:p>
        </p:txBody>
      </p:sp>
      <p:sp>
        <p:nvSpPr>
          <p:cNvPr id="5" name="Footer Placeholder 4">
            <a:extLst>
              <a:ext uri="{FF2B5EF4-FFF2-40B4-BE49-F238E27FC236}">
                <a16:creationId xmlns:a16="http://schemas.microsoft.com/office/drawing/2014/main" id="{92C254C9-1827-E53D-8880-FC4FF0805025}"/>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8AAE49C7-C967-56B1-05F5-64DA758EFC52}"/>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831712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DB157-B40F-9CC7-B378-684C1153C6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FF10336-DAB6-3BD5-35B6-90A8CC97C79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1C1B43-1A8C-8B49-67F1-BF04FCCDCC67}"/>
              </a:ext>
            </a:extLst>
          </p:cNvPr>
          <p:cNvSpPr>
            <a:spLocks noGrp="1"/>
          </p:cNvSpPr>
          <p:nvPr>
            <p:ph type="dt" sz="half" idx="10"/>
          </p:nvPr>
        </p:nvSpPr>
        <p:spPr/>
        <p:txBody>
          <a:bodyPr/>
          <a:lstStyle/>
          <a:p>
            <a:fld id="{EE09BE72-5ACB-044D-B20B-39EBEB805477}" type="datetime1">
              <a:rPr lang="en-GB" smtClean="0"/>
              <a:t>19/10/2026</a:t>
            </a:fld>
            <a:endParaRPr lang="en-US"/>
          </a:p>
        </p:txBody>
      </p:sp>
      <p:sp>
        <p:nvSpPr>
          <p:cNvPr id="5" name="Footer Placeholder 4">
            <a:extLst>
              <a:ext uri="{FF2B5EF4-FFF2-40B4-BE49-F238E27FC236}">
                <a16:creationId xmlns:a16="http://schemas.microsoft.com/office/drawing/2014/main" id="{1F224D07-05CD-C681-EFC7-D39E20D0D866}"/>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270FB753-D778-22F5-CC48-1DEE4E116390}"/>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108414225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E0BAA-A2EC-6829-303E-A952A357686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3D0D5D2-F1A3-0BFF-4D53-1628301D4E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89402B3-D0C9-7AEC-D222-8EEC0BC02F4B}"/>
              </a:ext>
            </a:extLst>
          </p:cNvPr>
          <p:cNvSpPr>
            <a:spLocks noGrp="1"/>
          </p:cNvSpPr>
          <p:nvPr>
            <p:ph type="dt" sz="half" idx="10"/>
          </p:nvPr>
        </p:nvSpPr>
        <p:spPr/>
        <p:txBody>
          <a:bodyPr/>
          <a:lstStyle/>
          <a:p>
            <a:fld id="{B4111129-5D85-E14F-9689-E716CEEF5439}" type="datetime1">
              <a:rPr lang="en-GB" smtClean="0"/>
              <a:t>19/10/2026</a:t>
            </a:fld>
            <a:endParaRPr lang="en-US"/>
          </a:p>
        </p:txBody>
      </p:sp>
      <p:sp>
        <p:nvSpPr>
          <p:cNvPr id="5" name="Footer Placeholder 4">
            <a:extLst>
              <a:ext uri="{FF2B5EF4-FFF2-40B4-BE49-F238E27FC236}">
                <a16:creationId xmlns:a16="http://schemas.microsoft.com/office/drawing/2014/main" id="{1AF20266-D85F-68C6-8C3A-B0E0CB60FE39}"/>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44E52B30-A729-5E40-13E1-86C780F43CC6}"/>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390987791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17239-9316-F88D-93D0-244F3386E1C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BF8ED30-93B6-907F-5F83-07BC2B10684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F5CF7A6-7E5C-54AA-532A-55A41C6845E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ED43F53-2924-D8A8-8372-4F7A36113918}"/>
              </a:ext>
            </a:extLst>
          </p:cNvPr>
          <p:cNvSpPr>
            <a:spLocks noGrp="1"/>
          </p:cNvSpPr>
          <p:nvPr>
            <p:ph type="dt" sz="half" idx="10"/>
          </p:nvPr>
        </p:nvSpPr>
        <p:spPr/>
        <p:txBody>
          <a:bodyPr/>
          <a:lstStyle/>
          <a:p>
            <a:fld id="{1A984EE7-A60D-C640-8018-EDBB7F10E32A}" type="datetime1">
              <a:rPr lang="en-GB" smtClean="0"/>
              <a:t>19/10/2026</a:t>
            </a:fld>
            <a:endParaRPr lang="en-US"/>
          </a:p>
        </p:txBody>
      </p:sp>
      <p:sp>
        <p:nvSpPr>
          <p:cNvPr id="6" name="Footer Placeholder 5">
            <a:extLst>
              <a:ext uri="{FF2B5EF4-FFF2-40B4-BE49-F238E27FC236}">
                <a16:creationId xmlns:a16="http://schemas.microsoft.com/office/drawing/2014/main" id="{869B69BB-8867-FAEB-507C-8311FB14D5DD}"/>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FD10249A-E7EA-64DE-77A4-4F5D69FA2720}"/>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39366958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D3E9-A29E-F5A4-99F9-06CFC0A7E82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52387C8-98CC-220B-8075-FFC43E3AB0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0E7FA50-F2A1-9335-6FC7-AB6AF43A674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AAF627E-8EC0-F096-EE4A-EB19D05ECC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9146B03-36D5-49D5-1BAF-2D576139EE2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88BABE1-417A-AEF4-9F8F-AACA3F8B7B57}"/>
              </a:ext>
            </a:extLst>
          </p:cNvPr>
          <p:cNvSpPr>
            <a:spLocks noGrp="1"/>
          </p:cNvSpPr>
          <p:nvPr>
            <p:ph type="dt" sz="half" idx="10"/>
          </p:nvPr>
        </p:nvSpPr>
        <p:spPr/>
        <p:txBody>
          <a:bodyPr/>
          <a:lstStyle/>
          <a:p>
            <a:fld id="{6A13EC4E-B6E8-0848-89DF-B66E3D0BFD1B}" type="datetime1">
              <a:rPr lang="en-GB" smtClean="0"/>
              <a:t>19/10/2026</a:t>
            </a:fld>
            <a:endParaRPr lang="en-US"/>
          </a:p>
        </p:txBody>
      </p:sp>
      <p:sp>
        <p:nvSpPr>
          <p:cNvPr id="8" name="Footer Placeholder 7">
            <a:extLst>
              <a:ext uri="{FF2B5EF4-FFF2-40B4-BE49-F238E27FC236}">
                <a16:creationId xmlns:a16="http://schemas.microsoft.com/office/drawing/2014/main" id="{BF6A5D20-B19C-77C3-4B13-6E13EA5AFF5F}"/>
              </a:ext>
            </a:extLst>
          </p:cNvPr>
          <p:cNvSpPr>
            <a:spLocks noGrp="1"/>
          </p:cNvSpPr>
          <p:nvPr>
            <p:ph type="ftr" sz="quarter" idx="11"/>
          </p:nvPr>
        </p:nvSpPr>
        <p:spPr/>
        <p:txBody>
          <a:bodyPr/>
          <a:lstStyle/>
          <a:p>
            <a:r>
              <a:rPr lang="en-US"/>
              <a:t>U3AC 2026</a:t>
            </a:r>
          </a:p>
        </p:txBody>
      </p:sp>
      <p:sp>
        <p:nvSpPr>
          <p:cNvPr id="9" name="Slide Number Placeholder 8">
            <a:extLst>
              <a:ext uri="{FF2B5EF4-FFF2-40B4-BE49-F238E27FC236}">
                <a16:creationId xmlns:a16="http://schemas.microsoft.com/office/drawing/2014/main" id="{1278BEBD-725B-52E9-2FCC-D04C668FC00E}"/>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4380661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26EF1-6663-8C60-9A57-65C5ADD0916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DB79796-9EFA-B97B-FF1C-33364B8DE604}"/>
              </a:ext>
            </a:extLst>
          </p:cNvPr>
          <p:cNvSpPr>
            <a:spLocks noGrp="1"/>
          </p:cNvSpPr>
          <p:nvPr>
            <p:ph type="dt" sz="half" idx="10"/>
          </p:nvPr>
        </p:nvSpPr>
        <p:spPr/>
        <p:txBody>
          <a:bodyPr/>
          <a:lstStyle/>
          <a:p>
            <a:fld id="{D9B123D1-D7AC-C445-A8AD-E8643C8957D1}" type="datetime1">
              <a:rPr lang="en-GB" smtClean="0"/>
              <a:t>19/10/2026</a:t>
            </a:fld>
            <a:endParaRPr lang="en-US"/>
          </a:p>
        </p:txBody>
      </p:sp>
      <p:sp>
        <p:nvSpPr>
          <p:cNvPr id="4" name="Footer Placeholder 3">
            <a:extLst>
              <a:ext uri="{FF2B5EF4-FFF2-40B4-BE49-F238E27FC236}">
                <a16:creationId xmlns:a16="http://schemas.microsoft.com/office/drawing/2014/main" id="{9038377A-A7FF-670D-B9B3-008B23EA5C09}"/>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A9B9757-5179-B105-D297-2AD646E6E728}"/>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159645999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38E377-35C4-F5EA-EBA0-EB04EAF4E55E}"/>
              </a:ext>
            </a:extLst>
          </p:cNvPr>
          <p:cNvSpPr>
            <a:spLocks noGrp="1"/>
          </p:cNvSpPr>
          <p:nvPr>
            <p:ph type="dt" sz="half" idx="10"/>
          </p:nvPr>
        </p:nvSpPr>
        <p:spPr/>
        <p:txBody>
          <a:bodyPr/>
          <a:lstStyle/>
          <a:p>
            <a:fld id="{69C99383-B18B-D549-BD11-048332AC4DF0}" type="datetime1">
              <a:rPr lang="en-GB" smtClean="0"/>
              <a:t>19/10/2026</a:t>
            </a:fld>
            <a:endParaRPr lang="en-US"/>
          </a:p>
        </p:txBody>
      </p:sp>
      <p:sp>
        <p:nvSpPr>
          <p:cNvPr id="3" name="Footer Placeholder 2">
            <a:extLst>
              <a:ext uri="{FF2B5EF4-FFF2-40B4-BE49-F238E27FC236}">
                <a16:creationId xmlns:a16="http://schemas.microsoft.com/office/drawing/2014/main" id="{B279F97C-F50E-182F-56A1-8C96916375D9}"/>
              </a:ext>
            </a:extLst>
          </p:cNvPr>
          <p:cNvSpPr>
            <a:spLocks noGrp="1"/>
          </p:cNvSpPr>
          <p:nvPr>
            <p:ph type="ftr" sz="quarter" idx="11"/>
          </p:nvPr>
        </p:nvSpPr>
        <p:spPr/>
        <p:txBody>
          <a:bodyPr/>
          <a:lstStyle/>
          <a:p>
            <a:r>
              <a:rPr lang="en-US"/>
              <a:t>U3AC 2026</a:t>
            </a:r>
          </a:p>
        </p:txBody>
      </p:sp>
      <p:sp>
        <p:nvSpPr>
          <p:cNvPr id="4" name="Slide Number Placeholder 3">
            <a:extLst>
              <a:ext uri="{FF2B5EF4-FFF2-40B4-BE49-F238E27FC236}">
                <a16:creationId xmlns:a16="http://schemas.microsoft.com/office/drawing/2014/main" id="{92A07113-4AFA-858E-7972-65CEF2D14147}"/>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234249095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EBEDF-0D3A-D8A3-EE5E-660A31588A7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8D4E4D9-8265-D979-CDA8-01E86A65B7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A872E1-C844-40BE-9942-47C70E00C3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A825B73-C368-2268-2F6C-C45F11DE0C64}"/>
              </a:ext>
            </a:extLst>
          </p:cNvPr>
          <p:cNvSpPr>
            <a:spLocks noGrp="1"/>
          </p:cNvSpPr>
          <p:nvPr>
            <p:ph type="dt" sz="half" idx="10"/>
          </p:nvPr>
        </p:nvSpPr>
        <p:spPr/>
        <p:txBody>
          <a:bodyPr/>
          <a:lstStyle/>
          <a:p>
            <a:fld id="{86A9DDF2-FE22-A74C-AAB1-09CB68559F36}" type="datetime1">
              <a:rPr lang="en-GB" smtClean="0"/>
              <a:t>19/10/2026</a:t>
            </a:fld>
            <a:endParaRPr lang="en-US"/>
          </a:p>
        </p:txBody>
      </p:sp>
      <p:sp>
        <p:nvSpPr>
          <p:cNvPr id="6" name="Footer Placeholder 5">
            <a:extLst>
              <a:ext uri="{FF2B5EF4-FFF2-40B4-BE49-F238E27FC236}">
                <a16:creationId xmlns:a16="http://schemas.microsoft.com/office/drawing/2014/main" id="{BE6DBE39-2EF4-D0BC-4E52-09AC437CCAE5}"/>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2FE73C51-5BD8-03E3-0DDC-07607C2E405D}"/>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964838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AB32-B146-2081-BD55-B5EF92E6783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89AE6A7-114A-E534-1165-9A87B0567E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E5535A-5BAF-DA36-C891-13F897F2D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2D44AE6-8462-B99E-A7EC-1AB3EAFFCACC}"/>
              </a:ext>
            </a:extLst>
          </p:cNvPr>
          <p:cNvSpPr>
            <a:spLocks noGrp="1"/>
          </p:cNvSpPr>
          <p:nvPr>
            <p:ph type="dt" sz="half" idx="10"/>
          </p:nvPr>
        </p:nvSpPr>
        <p:spPr/>
        <p:txBody>
          <a:bodyPr/>
          <a:lstStyle/>
          <a:p>
            <a:fld id="{7F3F4899-A69D-4741-ABDF-EA54E301A028}" type="datetime1">
              <a:rPr lang="en-GB" smtClean="0"/>
              <a:t>19/10/2026</a:t>
            </a:fld>
            <a:endParaRPr lang="en-US"/>
          </a:p>
        </p:txBody>
      </p:sp>
      <p:sp>
        <p:nvSpPr>
          <p:cNvPr id="6" name="Footer Placeholder 5">
            <a:extLst>
              <a:ext uri="{FF2B5EF4-FFF2-40B4-BE49-F238E27FC236}">
                <a16:creationId xmlns:a16="http://schemas.microsoft.com/office/drawing/2014/main" id="{0E8AF901-E29C-DD1E-2187-DA0CFCB82D7D}"/>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CD2EE70F-2D17-C3BA-D24C-2B1E7FA1E23A}"/>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28737262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3ADF9-3AF4-5FDF-750D-85AD1B31C2A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B0DBBC8-4A59-63F7-6D3F-79D065A0B6C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39BB33-612E-8417-F4A2-E71DA3089A66}"/>
              </a:ext>
            </a:extLst>
          </p:cNvPr>
          <p:cNvSpPr>
            <a:spLocks noGrp="1"/>
          </p:cNvSpPr>
          <p:nvPr>
            <p:ph type="dt" sz="half" idx="10"/>
          </p:nvPr>
        </p:nvSpPr>
        <p:spPr/>
        <p:txBody>
          <a:bodyPr/>
          <a:lstStyle/>
          <a:p>
            <a:fld id="{2983E0C3-1EFA-9240-9C94-D03AA9EEB08C}" type="datetime1">
              <a:rPr lang="en-GB" smtClean="0"/>
              <a:t>19/10/2026</a:t>
            </a:fld>
            <a:endParaRPr lang="en-US"/>
          </a:p>
        </p:txBody>
      </p:sp>
      <p:sp>
        <p:nvSpPr>
          <p:cNvPr id="5" name="Footer Placeholder 4">
            <a:extLst>
              <a:ext uri="{FF2B5EF4-FFF2-40B4-BE49-F238E27FC236}">
                <a16:creationId xmlns:a16="http://schemas.microsoft.com/office/drawing/2014/main" id="{7FF77469-EF65-CC04-80CE-4C75E132FCE9}"/>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FE6D76F1-9256-877B-7B03-EA5646BA2C5F}"/>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10680571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5FD65D-4AE7-3D18-5158-C3F5769D99C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D06A926-775E-2728-6F3B-36137141338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5D18A4F-4A91-69A7-6FCB-62CEFA9EAEAB}"/>
              </a:ext>
            </a:extLst>
          </p:cNvPr>
          <p:cNvSpPr>
            <a:spLocks noGrp="1"/>
          </p:cNvSpPr>
          <p:nvPr>
            <p:ph type="dt" sz="half" idx="10"/>
          </p:nvPr>
        </p:nvSpPr>
        <p:spPr/>
        <p:txBody>
          <a:bodyPr/>
          <a:lstStyle/>
          <a:p>
            <a:fld id="{ABF76E83-343A-F549-927F-CD342D6A998E}" type="datetime1">
              <a:rPr lang="en-GB" smtClean="0"/>
              <a:t>19/10/2026</a:t>
            </a:fld>
            <a:endParaRPr lang="en-US"/>
          </a:p>
        </p:txBody>
      </p:sp>
      <p:sp>
        <p:nvSpPr>
          <p:cNvPr id="5" name="Footer Placeholder 4">
            <a:extLst>
              <a:ext uri="{FF2B5EF4-FFF2-40B4-BE49-F238E27FC236}">
                <a16:creationId xmlns:a16="http://schemas.microsoft.com/office/drawing/2014/main" id="{26FB0006-4837-575D-7F04-8DF745F16257}"/>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6BCE4C8F-8EEC-EF83-5DE8-584617954666}"/>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80373042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13284-5FCA-A210-1F54-91FCED86DA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CFF4153-C33E-DD08-AA70-2B1E240172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BB62933-494B-796B-FAF7-3449489975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96B3B4-79AF-B948-B552-D1A1F8FD6A2C}" type="datetime1">
              <a:rPr lang="en-GB" smtClean="0"/>
              <a:t>19/10/2026</a:t>
            </a:fld>
            <a:endParaRPr lang="en-US"/>
          </a:p>
        </p:txBody>
      </p:sp>
      <p:sp>
        <p:nvSpPr>
          <p:cNvPr id="5" name="Footer Placeholder 4">
            <a:extLst>
              <a:ext uri="{FF2B5EF4-FFF2-40B4-BE49-F238E27FC236}">
                <a16:creationId xmlns:a16="http://schemas.microsoft.com/office/drawing/2014/main" id="{2784072C-4579-59A8-A392-03CFD4E53E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U3AC 2026</a:t>
            </a:r>
          </a:p>
        </p:txBody>
      </p:sp>
      <p:sp>
        <p:nvSpPr>
          <p:cNvPr id="6" name="Slide Number Placeholder 5">
            <a:extLst>
              <a:ext uri="{FF2B5EF4-FFF2-40B4-BE49-F238E27FC236}">
                <a16:creationId xmlns:a16="http://schemas.microsoft.com/office/drawing/2014/main" id="{E3C16D66-364A-23C8-D775-A313E5ADD1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E52F69-22B0-9141-B095-D977E71C7FB4}" type="slidenum">
              <a:rPr lang="en-US" smtClean="0"/>
              <a:t>‹#›</a:t>
            </a:fld>
            <a:endParaRPr lang="en-US"/>
          </a:p>
        </p:txBody>
      </p:sp>
    </p:spTree>
    <p:extLst>
      <p:ext uri="{BB962C8B-B14F-4D97-AF65-F5344CB8AC3E}">
        <p14:creationId xmlns:p14="http://schemas.microsoft.com/office/powerpoint/2010/main" val="23865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4.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6.jpg"/><Relationship Id="rId5" Type="http://schemas.openxmlformats.org/officeDocument/2006/relationships/image" Target="../media/image4.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6.jpg"/><Relationship Id="rId5" Type="http://schemas.openxmlformats.org/officeDocument/2006/relationships/image" Target="../media/image4.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9.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19.sv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image" Target="../media/image26.jp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30.jpe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4.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5.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6.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5.xml"/><Relationship Id="rId5" Type="http://schemas.openxmlformats.org/officeDocument/2006/relationships/image" Target="../media/image44.png"/><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hyperlink" Target="https://en.wikipedia.org/wiki/A_Mathematician's_Apology" TargetMode="External"/><Relationship Id="rId5" Type="http://schemas.openxmlformats.org/officeDocument/2006/relationships/hyperlink" Target="https://en.wikipedia.org/wiki/G._H._Hardy" TargetMode="External"/><Relationship Id="rId4" Type="http://schemas.openxmlformats.org/officeDocument/2006/relationships/image" Target="../media/image6.jp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37.xml"/><Relationship Id="rId5" Type="http://schemas.openxmlformats.org/officeDocument/2006/relationships/image" Target="../media/image46.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85AE0-1AFD-A868-3D02-8CCDF7E461E0}"/>
              </a:ext>
            </a:extLst>
          </p:cNvPr>
          <p:cNvSpPr>
            <a:spLocks noGrp="1"/>
          </p:cNvSpPr>
          <p:nvPr>
            <p:ph type="title"/>
          </p:nvPr>
        </p:nvSpPr>
        <p:spPr/>
        <p:txBody>
          <a:bodyPr/>
          <a:lstStyle/>
          <a:p>
            <a:r>
              <a:rPr lang="en-US" dirty="0"/>
              <a:t>Before we start:</a:t>
            </a:r>
          </a:p>
        </p:txBody>
      </p:sp>
      <p:sp>
        <p:nvSpPr>
          <p:cNvPr id="3" name="Content Placeholder 2">
            <a:extLst>
              <a:ext uri="{FF2B5EF4-FFF2-40B4-BE49-F238E27FC236}">
                <a16:creationId xmlns:a16="http://schemas.microsoft.com/office/drawing/2014/main" id="{DB1B81D5-187E-F0E6-50B4-3665354A9E83}"/>
              </a:ext>
            </a:extLst>
          </p:cNvPr>
          <p:cNvSpPr>
            <a:spLocks noGrp="1"/>
          </p:cNvSpPr>
          <p:nvPr>
            <p:ph sz="half"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dirty="0"/>
              <a:t>The sentence in the other panel is false</a:t>
            </a:r>
          </a:p>
        </p:txBody>
      </p:sp>
      <p:sp>
        <p:nvSpPr>
          <p:cNvPr id="4" name="Content Placeholder 3">
            <a:extLst>
              <a:ext uri="{FF2B5EF4-FFF2-40B4-BE49-F238E27FC236}">
                <a16:creationId xmlns:a16="http://schemas.microsoft.com/office/drawing/2014/main" id="{F2472D91-B51A-A2ED-1EC8-A7FB72C7967A}"/>
              </a:ext>
            </a:extLst>
          </p:cNvPr>
          <p:cNvSpPr>
            <a:spLocks noGrp="1"/>
          </p:cNvSpPr>
          <p:nvPr>
            <p:ph sz="half" idx="2"/>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dirty="0"/>
              <a:t>The sentence in the other panel is true.</a:t>
            </a:r>
          </a:p>
        </p:txBody>
      </p:sp>
      <p:sp>
        <p:nvSpPr>
          <p:cNvPr id="5" name="Date Placeholder 4">
            <a:extLst>
              <a:ext uri="{FF2B5EF4-FFF2-40B4-BE49-F238E27FC236}">
                <a16:creationId xmlns:a16="http://schemas.microsoft.com/office/drawing/2014/main" id="{C1C62E05-A708-BF36-8605-1624F323FDC5}"/>
              </a:ext>
            </a:extLst>
          </p:cNvPr>
          <p:cNvSpPr>
            <a:spLocks noGrp="1"/>
          </p:cNvSpPr>
          <p:nvPr>
            <p:ph type="dt" sz="half" idx="10"/>
          </p:nvPr>
        </p:nvSpPr>
        <p:spPr/>
        <p:txBody>
          <a:bodyPr/>
          <a:lstStyle/>
          <a:p>
            <a:fld id="{1A984EE7-A60D-C640-8018-EDBB7F10E32A}" type="datetime1">
              <a:rPr lang="en-GB" smtClean="0"/>
              <a:t>19/10/2026</a:t>
            </a:fld>
            <a:endParaRPr lang="en-US"/>
          </a:p>
        </p:txBody>
      </p:sp>
      <p:sp>
        <p:nvSpPr>
          <p:cNvPr id="6" name="Footer Placeholder 5">
            <a:extLst>
              <a:ext uri="{FF2B5EF4-FFF2-40B4-BE49-F238E27FC236}">
                <a16:creationId xmlns:a16="http://schemas.microsoft.com/office/drawing/2014/main" id="{2C4E8A3B-37EB-91B5-7564-E094263AF5E7}"/>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4916CC8F-3619-0AC1-360C-2E0267A6E4F7}"/>
              </a:ext>
            </a:extLst>
          </p:cNvPr>
          <p:cNvSpPr>
            <a:spLocks noGrp="1"/>
          </p:cNvSpPr>
          <p:nvPr>
            <p:ph type="sldNum" sz="quarter" idx="12"/>
          </p:nvPr>
        </p:nvSpPr>
        <p:spPr/>
        <p:txBody>
          <a:bodyPr/>
          <a:lstStyle/>
          <a:p>
            <a:fld id="{02E52F69-22B0-9141-B095-D977E71C7FB4}" type="slidenum">
              <a:rPr lang="en-US" smtClean="0"/>
              <a:t>1</a:t>
            </a:fld>
            <a:endParaRPr lang="en-US"/>
          </a:p>
        </p:txBody>
      </p:sp>
      <p:pic>
        <p:nvPicPr>
          <p:cNvPr id="14" name="Graphic 13" descr="Confused face with solid fill with solid fill">
            <a:extLst>
              <a:ext uri="{FF2B5EF4-FFF2-40B4-BE49-F238E27FC236}">
                <a16:creationId xmlns:a16="http://schemas.microsoft.com/office/drawing/2014/main" id="{374D1878-E6D3-59AE-23FE-89EC2DE36A01}"/>
              </a:ext>
            </a:extLst>
          </p:cNvPr>
          <p:cNvPicPr>
            <a:picLocks noChangeAspect="1"/>
          </p:cNvPicPr>
          <p:nvPr/>
        </p:nvPicPr>
        <p:blipFill>
          <a:blip>
            <a:alphaModFix amt="24000"/>
            <a:extLst>
              <a:ext uri="{96DAC541-7B7A-43D3-8B79-37D633B846F1}">
                <asvg:svgBlip xmlns:asvg="http://schemas.microsoft.com/office/drawing/2016/SVG/main" r:embed="rId4"/>
              </a:ext>
            </a:extLst>
          </a:blip>
          <a:stretch>
            <a:fillRect/>
          </a:stretch>
        </p:blipFill>
        <p:spPr>
          <a:xfrm>
            <a:off x="3901423" y="1690688"/>
            <a:ext cx="4693955" cy="4693955"/>
          </a:xfrm>
          <a:prstGeom prst="rect">
            <a:avLst/>
          </a:prstGeom>
        </p:spPr>
      </p:pic>
    </p:spTree>
    <p:extLst>
      <p:ext uri="{BB962C8B-B14F-4D97-AF65-F5344CB8AC3E}">
        <p14:creationId xmlns:p14="http://schemas.microsoft.com/office/powerpoint/2010/main" val="5264363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repeatCount="0" fill="hold" grpId="0" nodeType="clickEffect">
                                  <p:stCondLst>
                                    <p:cond delay="100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checkerboard(across)">
                                      <p:cBhvr>
                                        <p:cTn id="7" dur="20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2000"/>
                                  </p:stCondLst>
                                  <p:childTnLst>
                                    <p:set>
                                      <p:cBhvr>
                                        <p:cTn id="11" dur="1" fill="hold">
                                          <p:stCondLst>
                                            <p:cond delay="0"/>
                                          </p:stCondLst>
                                        </p:cTn>
                                        <p:tgtEl>
                                          <p:spTgt spid="4">
                                            <p:txEl>
                                              <p:pRg st="3" end="3"/>
                                            </p:txEl>
                                          </p:spTgt>
                                        </p:tgtEl>
                                        <p:attrNameLst>
                                          <p:attrName>style.visibility</p:attrName>
                                        </p:attrNameLst>
                                      </p:cBhvr>
                                      <p:to>
                                        <p:strVal val="visible"/>
                                      </p:to>
                                    </p:set>
                                  </p:childTnLst>
                                </p:cTn>
                              </p:par>
                            </p:childTnLst>
                          </p:cTn>
                        </p:par>
                        <p:par>
                          <p:cTn id="12" fill="hold">
                            <p:stCondLst>
                              <p:cond delay="2000"/>
                            </p:stCondLst>
                            <p:childTnLst>
                              <p:par>
                                <p:cTn id="13" presetID="9" presetClass="entr" presetSubtype="0" fill="hold" nodeType="afterEffect">
                                  <p:stCondLst>
                                    <p:cond delay="3000"/>
                                  </p:stCondLst>
                                  <p:childTnLst>
                                    <p:set>
                                      <p:cBhvr>
                                        <p:cTn id="14" dur="1" fill="hold">
                                          <p:stCondLst>
                                            <p:cond delay="0"/>
                                          </p:stCondLst>
                                        </p:cTn>
                                        <p:tgtEl>
                                          <p:spTgt spid="14"/>
                                        </p:tgtEl>
                                        <p:attrNameLst>
                                          <p:attrName>style.visibility</p:attrName>
                                        </p:attrNameLst>
                                      </p:cBhvr>
                                      <p:to>
                                        <p:strVal val="visible"/>
                                      </p:to>
                                    </p:set>
                                    <p:animEffect transition="in" filter="dissolve">
                                      <p:cBhvr>
                                        <p:cTn id="15" dur="2000"/>
                                        <p:tgtEl>
                                          <p:spTgt spid="14"/>
                                        </p:tgtEl>
                                      </p:cBhvr>
                                    </p:animEffect>
                                  </p:childTnLst>
                                  <p:subTnLst>
                                    <p:audio>
                                      <p:cMediaNode>
                                        <p:cTn display="0" masterRel="sameClick">
                                          <p:stCondLst>
                                            <p:cond evt="begin" delay="0">
                                              <p:tn val="13"/>
                                            </p:cond>
                                          </p:stCondLst>
                                          <p:endCondLst>
                                            <p:cond evt="onStopAudio" delay="0">
                                              <p:tgtEl>
                                                <p:sldTgt/>
                                              </p:tgtEl>
                                            </p:cond>
                                          </p:endCondLst>
                                        </p:cTn>
                                        <p:tgtEl>
                                          <p:sndTgt r:embed="rId3" name="coin.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C18BE-6058-ADD0-2B56-A9E000FCE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3E0F7-5EC9-676A-CB73-208B048D2002}"/>
              </a:ext>
            </a:extLst>
          </p:cNvPr>
          <p:cNvSpPr>
            <a:spLocks noGrp="1"/>
          </p:cNvSpPr>
          <p:nvPr>
            <p:ph type="ctrTitle"/>
          </p:nvPr>
        </p:nvSpPr>
        <p:spPr>
          <a:xfrm>
            <a:off x="1219199" y="527504"/>
            <a:ext cx="9753601" cy="4293878"/>
          </a:xfrm>
        </p:spPr>
        <p:txBody>
          <a:bodyPr>
            <a:normAutofit fontScale="90000"/>
          </a:bodyPr>
          <a:lstStyle/>
          <a:p>
            <a:pPr algn="l"/>
            <a:r>
              <a:rPr lang="en-US" sz="4400" dirty="0"/>
              <a:t>Mathematical Thinking</a:t>
            </a:r>
            <a:br>
              <a:rPr lang="en-US" sz="5300" dirty="0"/>
            </a:br>
            <a:br>
              <a:rPr lang="en-US" sz="5300" dirty="0"/>
            </a:br>
            <a:r>
              <a:rPr lang="en-US" sz="5300" dirty="0"/>
              <a:t>Paradoxes, probability, logic</a:t>
            </a:r>
            <a:br>
              <a:rPr lang="en-US" sz="4800" dirty="0"/>
            </a:br>
            <a:r>
              <a:rPr lang="en-US" sz="4800" dirty="0"/>
              <a:t>	</a:t>
            </a:r>
            <a:br>
              <a:rPr lang="en-US" sz="4800" dirty="0"/>
            </a:br>
            <a:br>
              <a:rPr lang="en-US" sz="4800" dirty="0"/>
            </a:br>
            <a:r>
              <a:rPr lang="en-US" sz="3600" dirty="0"/>
              <a:t>Some definitions		Infinity </a:t>
            </a:r>
            <a:r>
              <a:rPr lang="en-US" sz="3600"/>
              <a:t>– Zeno et al</a:t>
            </a:r>
            <a:br>
              <a:rPr lang="en-US" sz="3600" dirty="0"/>
            </a:br>
            <a:r>
              <a:rPr lang="en-US" sz="3600" dirty="0"/>
              <a:t>Probability	– Monty Hall, Medicine</a:t>
            </a:r>
            <a:br>
              <a:rPr lang="en-US" sz="3600" dirty="0"/>
            </a:br>
            <a:r>
              <a:rPr lang="en-US" sz="3600" dirty="0"/>
              <a:t>Logic and incompleteness</a:t>
            </a:r>
            <a:endParaRPr lang="en-US" dirty="0"/>
          </a:p>
        </p:txBody>
      </p:sp>
      <p:sp>
        <p:nvSpPr>
          <p:cNvPr id="3" name="Subtitle 2">
            <a:extLst>
              <a:ext uri="{FF2B5EF4-FFF2-40B4-BE49-F238E27FC236}">
                <a16:creationId xmlns:a16="http://schemas.microsoft.com/office/drawing/2014/main" id="{3BA217DA-5F34-79B5-737C-5B59B5C430C5}"/>
              </a:ext>
            </a:extLst>
          </p:cNvPr>
          <p:cNvSpPr>
            <a:spLocks noGrp="1"/>
          </p:cNvSpPr>
          <p:nvPr>
            <p:ph type="subTitle" idx="1"/>
          </p:nvPr>
        </p:nvSpPr>
        <p:spPr>
          <a:xfrm>
            <a:off x="1523998" y="5444835"/>
            <a:ext cx="10155383" cy="1219201"/>
          </a:xfrm>
        </p:spPr>
        <p:txBody>
          <a:bodyPr>
            <a:normAutofit fontScale="62500" lnSpcReduction="20000"/>
          </a:bodyPr>
          <a:lstStyle/>
          <a:p>
            <a:pPr algn="l"/>
            <a:r>
              <a:rPr lang="en-US" sz="4500" dirty="0"/>
              <a:t>Chris Thompson</a:t>
            </a:r>
            <a:r>
              <a:rPr lang="en-US" sz="4800" dirty="0"/>
              <a:t> 								</a:t>
            </a:r>
            <a:r>
              <a:rPr lang="en-US" sz="2500" dirty="0"/>
              <a:t>V1.5</a:t>
            </a:r>
            <a:endParaRPr lang="en-US" sz="4500" dirty="0"/>
          </a:p>
          <a:p>
            <a:pPr algn="just"/>
            <a:r>
              <a:rPr lang="en-US" sz="4500" dirty="0"/>
              <a:t>Ray Adams, Alan Richardson		</a:t>
            </a:r>
            <a:endParaRPr lang="en-US" dirty="0"/>
          </a:p>
        </p:txBody>
      </p:sp>
    </p:spTree>
    <p:extLst>
      <p:ext uri="{BB962C8B-B14F-4D97-AF65-F5344CB8AC3E}">
        <p14:creationId xmlns:p14="http://schemas.microsoft.com/office/powerpoint/2010/main" val="194598774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CBBEA-119B-EB16-DEEC-3565F17B6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5628A-BF5E-F30C-4B28-182518640305}"/>
              </a:ext>
            </a:extLst>
          </p:cNvPr>
          <p:cNvSpPr>
            <a:spLocks noGrp="1"/>
          </p:cNvSpPr>
          <p:nvPr>
            <p:ph type="title"/>
          </p:nvPr>
        </p:nvSpPr>
        <p:spPr>
          <a:xfrm>
            <a:off x="364839" y="215301"/>
            <a:ext cx="10515600" cy="812511"/>
          </a:xfrm>
        </p:spPr>
        <p:txBody>
          <a:bodyPr>
            <a:normAutofit/>
          </a:bodyPr>
          <a:lstStyle/>
          <a:p>
            <a:pPr fontAlgn="ctr"/>
            <a:r>
              <a:rPr lang="en-GB" dirty="0"/>
              <a:t>Fundamentals – set theory</a:t>
            </a:r>
            <a:endParaRPr lang="en-US" dirty="0"/>
          </a:p>
        </p:txBody>
      </p:sp>
      <p:sp>
        <p:nvSpPr>
          <p:cNvPr id="4" name="Footer Placeholder 3">
            <a:extLst>
              <a:ext uri="{FF2B5EF4-FFF2-40B4-BE49-F238E27FC236}">
                <a16:creationId xmlns:a16="http://schemas.microsoft.com/office/drawing/2014/main" id="{87FE33D3-9690-24D2-F314-19933163920F}"/>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ABA09968-EA4A-842E-E5DB-E372151B9D99}"/>
              </a:ext>
            </a:extLst>
          </p:cNvPr>
          <p:cNvSpPr>
            <a:spLocks noGrp="1"/>
          </p:cNvSpPr>
          <p:nvPr>
            <p:ph type="sldNum" sz="quarter" idx="12"/>
          </p:nvPr>
        </p:nvSpPr>
        <p:spPr/>
        <p:txBody>
          <a:bodyPr/>
          <a:lstStyle/>
          <a:p>
            <a:fld id="{02E52F69-22B0-9141-B095-D977E71C7FB4}" type="slidenum">
              <a:rPr lang="en-US" smtClean="0"/>
              <a:t>3</a:t>
            </a:fld>
            <a:endParaRPr lang="en-US"/>
          </a:p>
        </p:txBody>
      </p:sp>
      <p:sp>
        <p:nvSpPr>
          <p:cNvPr id="6" name="Date Placeholder 5">
            <a:extLst>
              <a:ext uri="{FF2B5EF4-FFF2-40B4-BE49-F238E27FC236}">
                <a16:creationId xmlns:a16="http://schemas.microsoft.com/office/drawing/2014/main" id="{AC54CA09-F59C-A059-A084-CB5EE0CF3A2E}"/>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32" name="Picture 31" descr="\documentclass[fleqn]{article}&#10;\usepackage{amsmath,amsfonts}&#10;\usepackage[version=4]{mhchem}\usepackage[margin=0in,paperwidth=12cm,verbose,marginparwidth=0pt,marginparsep=0pt]{geometry}&#10;\usepackage{sectsty}&#10;\allsectionsfont{\bfseries\sffamily}&#10;\pagestyle{empty}&#10;\begin{document}&#10;\begin{sf}&#10;\noindent&#10;What is a set? --- \hspace{2cm} The (Sicilian) barber paradox:\\&#10;\ \medskip \\&#10;The barber is the &quot;one who shaves all those, and those only, who do not shave themselves&quot;.&#10;\begin{center}&#10;Who shaves the barber?&#10;\end{center}&#10;\begin{itemize}&#10;\item The barber cannot shave himself, as he only shaves those who do not shave themselves.&#10;\item Conversely, if the barber does not shave himself, then he fits into the group of people whom the specified barber would shave, and thus, as that barber, he must shave himself.&#10;\end{itemize}&#10;Formally:&#10;\begin{flalign*}&#10;(\exists x ) (\text{person}(x) \wedge (\forall y) (\text{person}(y) \implies (\text{shaves}(x, y)  \iff \neg \text{shaves}(y, y))))&#10;\end{flalign*}&#10;&#10;\end{sf}&#10;\end{document}" title="IguanaTex Picture Display">
            <a:extLst>
              <a:ext uri="{FF2B5EF4-FFF2-40B4-BE49-F238E27FC236}">
                <a16:creationId xmlns:a16="http://schemas.microsoft.com/office/drawing/2014/main" id="{23E12068-9E83-4FC5-03CE-FFF7461E4716}"/>
              </a:ext>
            </a:extLst>
          </p:cNvPr>
          <p:cNvPicPr>
            <a:picLocks noChangeAspect="1"/>
          </p:cNvPicPr>
          <p:nvPr>
            <p:custDataLst>
              <p:tags r:id="rId1"/>
            </p:custDataLst>
          </p:nvPr>
        </p:nvPicPr>
        <p:blipFill>
          <a:blip r:embed="rId4"/>
          <a:stretch>
            <a:fillRect/>
          </a:stretch>
        </p:blipFill>
        <p:spPr>
          <a:xfrm>
            <a:off x="364839" y="1417777"/>
            <a:ext cx="8627872" cy="4909312"/>
          </a:xfrm>
          <a:prstGeom prst="rect">
            <a:avLst/>
          </a:prstGeom>
        </p:spPr>
      </p:pic>
    </p:spTree>
    <p:extLst>
      <p:ext uri="{BB962C8B-B14F-4D97-AF65-F5344CB8AC3E}">
        <p14:creationId xmlns:p14="http://schemas.microsoft.com/office/powerpoint/2010/main" val="177608546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C0430-1088-0605-36CB-2F87E2B7A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08C9C-E0BC-1B96-A80E-B51A5FCD3ACC}"/>
              </a:ext>
            </a:extLst>
          </p:cNvPr>
          <p:cNvSpPr>
            <a:spLocks noGrp="1"/>
          </p:cNvSpPr>
          <p:nvPr>
            <p:ph type="title"/>
          </p:nvPr>
        </p:nvSpPr>
        <p:spPr>
          <a:xfrm>
            <a:off x="364839" y="215301"/>
            <a:ext cx="10515600" cy="812511"/>
          </a:xfrm>
        </p:spPr>
        <p:txBody>
          <a:bodyPr>
            <a:normAutofit/>
          </a:bodyPr>
          <a:lstStyle/>
          <a:p>
            <a:pPr fontAlgn="ctr"/>
            <a:r>
              <a:rPr lang="en-GB" dirty="0"/>
              <a:t>Fundamentals – set theory</a:t>
            </a:r>
            <a:endParaRPr lang="en-US" dirty="0"/>
          </a:p>
        </p:txBody>
      </p:sp>
      <p:sp>
        <p:nvSpPr>
          <p:cNvPr id="4" name="Footer Placeholder 3">
            <a:extLst>
              <a:ext uri="{FF2B5EF4-FFF2-40B4-BE49-F238E27FC236}">
                <a16:creationId xmlns:a16="http://schemas.microsoft.com/office/drawing/2014/main" id="{C19764B7-F246-170D-2FB7-2CF134098638}"/>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D3C9F1A5-C895-0787-CFC6-D63852BF4BF2}"/>
              </a:ext>
            </a:extLst>
          </p:cNvPr>
          <p:cNvSpPr>
            <a:spLocks noGrp="1"/>
          </p:cNvSpPr>
          <p:nvPr>
            <p:ph type="sldNum" sz="quarter" idx="12"/>
          </p:nvPr>
        </p:nvSpPr>
        <p:spPr/>
        <p:txBody>
          <a:bodyPr/>
          <a:lstStyle/>
          <a:p>
            <a:fld id="{02E52F69-22B0-9141-B095-D977E71C7FB4}" type="slidenum">
              <a:rPr lang="en-US" smtClean="0"/>
              <a:t>4</a:t>
            </a:fld>
            <a:endParaRPr lang="en-US"/>
          </a:p>
        </p:txBody>
      </p:sp>
      <p:sp>
        <p:nvSpPr>
          <p:cNvPr id="6" name="Date Placeholder 5">
            <a:extLst>
              <a:ext uri="{FF2B5EF4-FFF2-40B4-BE49-F238E27FC236}">
                <a16:creationId xmlns:a16="http://schemas.microsoft.com/office/drawing/2014/main" id="{F141DC34-EDE5-2CDA-D84C-CE2446BB3241}"/>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6" name="Picture 15" descr="\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title="IguanaTex Picture Display">
            <a:extLst>
              <a:ext uri="{FF2B5EF4-FFF2-40B4-BE49-F238E27FC236}">
                <a16:creationId xmlns:a16="http://schemas.microsoft.com/office/drawing/2014/main" id="{480919A7-385B-A43E-BBD5-30663E7D7CB8}"/>
              </a:ext>
            </a:extLst>
          </p:cNvPr>
          <p:cNvPicPr>
            <a:picLocks noChangeAspect="1"/>
          </p:cNvPicPr>
          <p:nvPr>
            <p:custDataLst>
              <p:tags r:id="rId1"/>
            </p:custDataLst>
          </p:nvPr>
        </p:nvPicPr>
        <p:blipFill>
          <a:blip r:embed="rId4"/>
          <a:stretch>
            <a:fillRect/>
          </a:stretch>
        </p:blipFill>
        <p:spPr>
          <a:xfrm>
            <a:off x="364839" y="1417774"/>
            <a:ext cx="6965696" cy="3497072"/>
          </a:xfrm>
          <a:prstGeom prst="rect">
            <a:avLst/>
          </a:prstGeom>
        </p:spPr>
      </p:pic>
      <p:pic>
        <p:nvPicPr>
          <p:cNvPr id="12" name="Picture 11">
            <a:extLst>
              <a:ext uri="{FF2B5EF4-FFF2-40B4-BE49-F238E27FC236}">
                <a16:creationId xmlns:a16="http://schemas.microsoft.com/office/drawing/2014/main" id="{1C33EA58-7493-1CFA-300A-684FC53F7924}"/>
              </a:ext>
            </a:extLst>
          </p:cNvPr>
          <p:cNvPicPr>
            <a:picLocks noChangeAspect="1"/>
          </p:cNvPicPr>
          <p:nvPr/>
        </p:nvPicPr>
        <p:blipFill>
          <a:blip r:embed="rId5"/>
          <a:stretch>
            <a:fillRect/>
          </a:stretch>
        </p:blipFill>
        <p:spPr>
          <a:xfrm>
            <a:off x="8753761" y="621556"/>
            <a:ext cx="3073400" cy="5232400"/>
          </a:xfrm>
          <a:prstGeom prst="rect">
            <a:avLst/>
          </a:prstGeom>
        </p:spPr>
      </p:pic>
    </p:spTree>
    <p:extLst>
      <p:ext uri="{BB962C8B-B14F-4D97-AF65-F5344CB8AC3E}">
        <p14:creationId xmlns:p14="http://schemas.microsoft.com/office/powerpoint/2010/main" val="39752902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C0CEB-2121-A1FA-5AD9-D32FC1BBA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193DC9-A78B-AB96-97DF-A055821AECE2}"/>
              </a:ext>
            </a:extLst>
          </p:cNvPr>
          <p:cNvSpPr>
            <a:spLocks noGrp="1"/>
          </p:cNvSpPr>
          <p:nvPr>
            <p:ph type="title"/>
          </p:nvPr>
        </p:nvSpPr>
        <p:spPr>
          <a:xfrm>
            <a:off x="364839" y="215301"/>
            <a:ext cx="10515600" cy="812511"/>
          </a:xfrm>
        </p:spPr>
        <p:txBody>
          <a:bodyPr>
            <a:normAutofit/>
          </a:bodyPr>
          <a:lstStyle/>
          <a:p>
            <a:pPr fontAlgn="ctr"/>
            <a:r>
              <a:rPr lang="en-GB" dirty="0"/>
              <a:t>Fundamentals – set theory</a:t>
            </a:r>
            <a:endParaRPr lang="en-US" dirty="0"/>
          </a:p>
        </p:txBody>
      </p:sp>
      <p:sp>
        <p:nvSpPr>
          <p:cNvPr id="4" name="Footer Placeholder 3">
            <a:extLst>
              <a:ext uri="{FF2B5EF4-FFF2-40B4-BE49-F238E27FC236}">
                <a16:creationId xmlns:a16="http://schemas.microsoft.com/office/drawing/2014/main" id="{3C483AF4-50F3-3CFA-7EA5-D1A8A8DD429B}"/>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46024839-6C76-681D-356F-3B7A57C2EACE}"/>
              </a:ext>
            </a:extLst>
          </p:cNvPr>
          <p:cNvSpPr>
            <a:spLocks noGrp="1"/>
          </p:cNvSpPr>
          <p:nvPr>
            <p:ph type="sldNum" sz="quarter" idx="12"/>
          </p:nvPr>
        </p:nvSpPr>
        <p:spPr/>
        <p:txBody>
          <a:bodyPr/>
          <a:lstStyle/>
          <a:p>
            <a:fld id="{02E52F69-22B0-9141-B095-D977E71C7FB4}" type="slidenum">
              <a:rPr lang="en-US" smtClean="0"/>
              <a:t>5</a:t>
            </a:fld>
            <a:endParaRPr lang="en-US"/>
          </a:p>
        </p:txBody>
      </p:sp>
      <p:sp>
        <p:nvSpPr>
          <p:cNvPr id="6" name="Date Placeholder 5">
            <a:extLst>
              <a:ext uri="{FF2B5EF4-FFF2-40B4-BE49-F238E27FC236}">
                <a16:creationId xmlns:a16="http://schemas.microsoft.com/office/drawing/2014/main" id="{06EBC440-6E83-0051-5A02-B0C46CC4181E}"/>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3" name="Picture 12" descr="\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title="IguanaTex Picture Display">
            <a:extLst>
              <a:ext uri="{FF2B5EF4-FFF2-40B4-BE49-F238E27FC236}">
                <a16:creationId xmlns:a16="http://schemas.microsoft.com/office/drawing/2014/main" id="{2C521353-95C1-88DF-10C5-55A7ACB4E7A9}"/>
              </a:ext>
            </a:extLst>
          </p:cNvPr>
          <p:cNvPicPr>
            <a:picLocks noChangeAspect="1"/>
          </p:cNvPicPr>
          <p:nvPr>
            <p:custDataLst>
              <p:tags r:id="rId1"/>
            </p:custDataLst>
          </p:nvPr>
        </p:nvPicPr>
        <p:blipFill>
          <a:blip r:embed="rId4"/>
          <a:stretch>
            <a:fillRect/>
          </a:stretch>
        </p:blipFill>
        <p:spPr>
          <a:xfrm>
            <a:off x="364839" y="1417774"/>
            <a:ext cx="6965696" cy="3497072"/>
          </a:xfrm>
          <a:prstGeom prst="rect">
            <a:avLst/>
          </a:prstGeom>
        </p:spPr>
      </p:pic>
      <p:pic>
        <p:nvPicPr>
          <p:cNvPr id="12" name="Picture 11">
            <a:extLst>
              <a:ext uri="{FF2B5EF4-FFF2-40B4-BE49-F238E27FC236}">
                <a16:creationId xmlns:a16="http://schemas.microsoft.com/office/drawing/2014/main" id="{0177D096-E4BC-B0A1-7E7C-25875391955B}"/>
              </a:ext>
            </a:extLst>
          </p:cNvPr>
          <p:cNvPicPr>
            <a:picLocks noChangeAspect="1"/>
          </p:cNvPicPr>
          <p:nvPr/>
        </p:nvPicPr>
        <p:blipFill>
          <a:blip r:embed="rId5"/>
          <a:stretch>
            <a:fillRect/>
          </a:stretch>
        </p:blipFill>
        <p:spPr>
          <a:xfrm>
            <a:off x="8753761" y="621556"/>
            <a:ext cx="3073400" cy="5232400"/>
          </a:xfrm>
          <a:prstGeom prst="rect">
            <a:avLst/>
          </a:prstGeom>
        </p:spPr>
      </p:pic>
      <p:pic>
        <p:nvPicPr>
          <p:cNvPr id="3" name="Picture 2">
            <a:extLst>
              <a:ext uri="{FF2B5EF4-FFF2-40B4-BE49-F238E27FC236}">
                <a16:creationId xmlns:a16="http://schemas.microsoft.com/office/drawing/2014/main" id="{9092098E-C0C3-B446-6D1B-75825B364539}"/>
              </a:ext>
            </a:extLst>
          </p:cNvPr>
          <p:cNvPicPr>
            <a:picLocks noChangeAspect="1"/>
          </p:cNvPicPr>
          <p:nvPr/>
        </p:nvPicPr>
        <p:blipFill>
          <a:blip r:embed="rId6"/>
          <a:stretch>
            <a:fillRect/>
          </a:stretch>
        </p:blipFill>
        <p:spPr>
          <a:xfrm>
            <a:off x="7239285" y="966620"/>
            <a:ext cx="3374159" cy="5293591"/>
          </a:xfrm>
          <a:prstGeom prst="rect">
            <a:avLst/>
          </a:prstGeom>
        </p:spPr>
      </p:pic>
    </p:spTree>
    <p:extLst>
      <p:ext uri="{BB962C8B-B14F-4D97-AF65-F5344CB8AC3E}">
        <p14:creationId xmlns:p14="http://schemas.microsoft.com/office/powerpoint/2010/main" val="225690581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5D40B-D3DE-6524-1A14-E6CA7BE6C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D4B47-A9AC-4BEC-2B7F-D12BDF3F6473}"/>
              </a:ext>
            </a:extLst>
          </p:cNvPr>
          <p:cNvSpPr>
            <a:spLocks noGrp="1"/>
          </p:cNvSpPr>
          <p:nvPr>
            <p:ph type="title"/>
          </p:nvPr>
        </p:nvSpPr>
        <p:spPr>
          <a:xfrm>
            <a:off x="364839" y="215301"/>
            <a:ext cx="10515600" cy="812511"/>
          </a:xfrm>
        </p:spPr>
        <p:txBody>
          <a:bodyPr>
            <a:normAutofit/>
          </a:bodyPr>
          <a:lstStyle/>
          <a:p>
            <a:pPr fontAlgn="ctr"/>
            <a:r>
              <a:rPr lang="en-GB" dirty="0"/>
              <a:t>Fundamentals – set theory</a:t>
            </a:r>
            <a:endParaRPr lang="en-US" dirty="0"/>
          </a:p>
        </p:txBody>
      </p:sp>
      <p:sp>
        <p:nvSpPr>
          <p:cNvPr id="4" name="Footer Placeholder 3">
            <a:extLst>
              <a:ext uri="{FF2B5EF4-FFF2-40B4-BE49-F238E27FC236}">
                <a16:creationId xmlns:a16="http://schemas.microsoft.com/office/drawing/2014/main" id="{2C4ECE0F-5444-EB46-2A4A-570B5833B0CE}"/>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93E4350A-3D11-735A-A35E-2A0B0D5338C9}"/>
              </a:ext>
            </a:extLst>
          </p:cNvPr>
          <p:cNvSpPr>
            <a:spLocks noGrp="1"/>
          </p:cNvSpPr>
          <p:nvPr>
            <p:ph type="sldNum" sz="quarter" idx="12"/>
          </p:nvPr>
        </p:nvSpPr>
        <p:spPr/>
        <p:txBody>
          <a:bodyPr/>
          <a:lstStyle/>
          <a:p>
            <a:fld id="{02E52F69-22B0-9141-B095-D977E71C7FB4}" type="slidenum">
              <a:rPr lang="en-US" smtClean="0"/>
              <a:t>6</a:t>
            </a:fld>
            <a:endParaRPr lang="en-US"/>
          </a:p>
        </p:txBody>
      </p:sp>
      <p:sp>
        <p:nvSpPr>
          <p:cNvPr id="6" name="Date Placeholder 5">
            <a:extLst>
              <a:ext uri="{FF2B5EF4-FFF2-40B4-BE49-F238E27FC236}">
                <a16:creationId xmlns:a16="http://schemas.microsoft.com/office/drawing/2014/main" id="{39CD1E26-ADB1-120D-8CE4-DE390D946C44}"/>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3" name="Picture 12" descr="\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title="IguanaTex Picture Display">
            <a:extLst>
              <a:ext uri="{FF2B5EF4-FFF2-40B4-BE49-F238E27FC236}">
                <a16:creationId xmlns:a16="http://schemas.microsoft.com/office/drawing/2014/main" id="{53C1937D-2205-03C1-0E8D-90C78CD5E5BC}"/>
              </a:ext>
            </a:extLst>
          </p:cNvPr>
          <p:cNvPicPr>
            <a:picLocks noChangeAspect="1"/>
          </p:cNvPicPr>
          <p:nvPr>
            <p:custDataLst>
              <p:tags r:id="rId1"/>
            </p:custDataLst>
          </p:nvPr>
        </p:nvPicPr>
        <p:blipFill>
          <a:blip r:embed="rId4"/>
          <a:stretch>
            <a:fillRect/>
          </a:stretch>
        </p:blipFill>
        <p:spPr>
          <a:xfrm>
            <a:off x="364839" y="1417774"/>
            <a:ext cx="6965696" cy="3497072"/>
          </a:xfrm>
          <a:prstGeom prst="rect">
            <a:avLst/>
          </a:prstGeom>
        </p:spPr>
      </p:pic>
      <p:pic>
        <p:nvPicPr>
          <p:cNvPr id="12" name="Picture 11">
            <a:extLst>
              <a:ext uri="{FF2B5EF4-FFF2-40B4-BE49-F238E27FC236}">
                <a16:creationId xmlns:a16="http://schemas.microsoft.com/office/drawing/2014/main" id="{99D64BB9-8D6F-BA89-896F-5294DBD642A9}"/>
              </a:ext>
            </a:extLst>
          </p:cNvPr>
          <p:cNvPicPr>
            <a:picLocks noChangeAspect="1"/>
          </p:cNvPicPr>
          <p:nvPr/>
        </p:nvPicPr>
        <p:blipFill>
          <a:blip r:embed="rId5"/>
          <a:stretch>
            <a:fillRect/>
          </a:stretch>
        </p:blipFill>
        <p:spPr>
          <a:xfrm>
            <a:off x="8753761" y="621556"/>
            <a:ext cx="3073400" cy="5232400"/>
          </a:xfrm>
          <a:prstGeom prst="rect">
            <a:avLst/>
          </a:prstGeom>
        </p:spPr>
      </p:pic>
      <p:pic>
        <p:nvPicPr>
          <p:cNvPr id="3" name="Picture 2">
            <a:extLst>
              <a:ext uri="{FF2B5EF4-FFF2-40B4-BE49-F238E27FC236}">
                <a16:creationId xmlns:a16="http://schemas.microsoft.com/office/drawing/2014/main" id="{1924553A-3B1F-3FA0-215C-6F1E288CE921}"/>
              </a:ext>
            </a:extLst>
          </p:cNvPr>
          <p:cNvPicPr>
            <a:picLocks noChangeAspect="1"/>
          </p:cNvPicPr>
          <p:nvPr/>
        </p:nvPicPr>
        <p:blipFill>
          <a:blip r:embed="rId6"/>
          <a:stretch>
            <a:fillRect/>
          </a:stretch>
        </p:blipFill>
        <p:spPr>
          <a:xfrm>
            <a:off x="7239285" y="966620"/>
            <a:ext cx="3374159" cy="5293591"/>
          </a:xfrm>
          <a:prstGeom prst="rect">
            <a:avLst/>
          </a:prstGeom>
        </p:spPr>
      </p:pic>
      <p:pic>
        <p:nvPicPr>
          <p:cNvPr id="7" name="Picture 6">
            <a:extLst>
              <a:ext uri="{FF2B5EF4-FFF2-40B4-BE49-F238E27FC236}">
                <a16:creationId xmlns:a16="http://schemas.microsoft.com/office/drawing/2014/main" id="{7041260E-CB98-8F88-49BE-C58D9AAA3BF0}"/>
              </a:ext>
            </a:extLst>
          </p:cNvPr>
          <p:cNvPicPr>
            <a:picLocks noChangeAspect="1"/>
          </p:cNvPicPr>
          <p:nvPr/>
        </p:nvPicPr>
        <p:blipFill>
          <a:blip r:embed="rId7"/>
          <a:stretch>
            <a:fillRect/>
          </a:stretch>
        </p:blipFill>
        <p:spPr>
          <a:xfrm>
            <a:off x="211280" y="2978172"/>
            <a:ext cx="7295628" cy="3020846"/>
          </a:xfrm>
          <a:prstGeom prst="rect">
            <a:avLst/>
          </a:prstGeom>
          <a:ln w="146050">
            <a:solidFill>
              <a:schemeClr val="accent1"/>
            </a:solidFill>
          </a:ln>
        </p:spPr>
      </p:pic>
    </p:spTree>
    <p:extLst>
      <p:ext uri="{BB962C8B-B14F-4D97-AF65-F5344CB8AC3E}">
        <p14:creationId xmlns:p14="http://schemas.microsoft.com/office/powerpoint/2010/main" val="103557832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040B-604D-EFE9-E0FD-AF1079FFB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3658F-1FAC-609D-B0B0-AD759B167FE9}"/>
              </a:ext>
            </a:extLst>
          </p:cNvPr>
          <p:cNvSpPr>
            <a:spLocks noGrp="1"/>
          </p:cNvSpPr>
          <p:nvPr>
            <p:ph type="title"/>
          </p:nvPr>
        </p:nvSpPr>
        <p:spPr>
          <a:xfrm>
            <a:off x="838200" y="365126"/>
            <a:ext cx="10515600" cy="784406"/>
          </a:xfrm>
        </p:spPr>
        <p:txBody>
          <a:bodyPr>
            <a:normAutofit/>
          </a:bodyPr>
          <a:lstStyle/>
          <a:p>
            <a:pPr fontAlgn="ctr"/>
            <a:r>
              <a:rPr lang="en-GB" dirty="0"/>
              <a:t>Achilles and the tortoise					(</a:t>
            </a:r>
            <a:r>
              <a:rPr lang="en-GB" dirty="0" err="1"/>
              <a:t>i</a:t>
            </a:r>
            <a:r>
              <a:rPr lang="en-GB" dirty="0"/>
              <a:t>)</a:t>
            </a:r>
            <a:endParaRPr lang="en-US" dirty="0"/>
          </a:p>
        </p:txBody>
      </p:sp>
      <p:sp>
        <p:nvSpPr>
          <p:cNvPr id="4" name="Footer Placeholder 3">
            <a:extLst>
              <a:ext uri="{FF2B5EF4-FFF2-40B4-BE49-F238E27FC236}">
                <a16:creationId xmlns:a16="http://schemas.microsoft.com/office/drawing/2014/main" id="{C6A8C434-E598-BC84-24FA-E9EA5EDA2DEF}"/>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7EA5A9D7-9FFA-1D36-574F-A4761AF3D247}"/>
              </a:ext>
            </a:extLst>
          </p:cNvPr>
          <p:cNvSpPr>
            <a:spLocks noGrp="1"/>
          </p:cNvSpPr>
          <p:nvPr>
            <p:ph type="sldNum" sz="quarter" idx="12"/>
          </p:nvPr>
        </p:nvSpPr>
        <p:spPr/>
        <p:txBody>
          <a:bodyPr/>
          <a:lstStyle/>
          <a:p>
            <a:fld id="{02E52F69-22B0-9141-B095-D977E71C7FB4}" type="slidenum">
              <a:rPr lang="en-US" smtClean="0"/>
              <a:t>7</a:t>
            </a:fld>
            <a:endParaRPr lang="en-US"/>
          </a:p>
        </p:txBody>
      </p:sp>
      <p:sp>
        <p:nvSpPr>
          <p:cNvPr id="6" name="Date Placeholder 5">
            <a:extLst>
              <a:ext uri="{FF2B5EF4-FFF2-40B4-BE49-F238E27FC236}">
                <a16:creationId xmlns:a16="http://schemas.microsoft.com/office/drawing/2014/main" id="{4D6C94C5-86EF-A139-8A89-31BA7B2DC32A}"/>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1" name="Picture 10" descr="\documentclass{article}&#10;\usepackage{amsmath,amsfonts}&#10;\usepackage[version=4]{mhchem}\usepackage[margin=0in,paperwidth=14cm,verbose,marginparwidth=0pt,marginparsep=0pt]{geometry}&#10;\usepackage{sectsty}&#10;\allsectionsfont{\bfseries\sffamily}&#10;\pagestyle{empty}&#10;\begin{document}&#10;\begin{sf}&#10;\noindent&#10;\begin{itemize}&#10;\item Zeno of Elea circa 490 -- 430 BC&#10;\item Student of Parmenides \\&#10;\hspace{2cm}(monism -- reality is one and change is impossible)&#10;\item Comes to us through Plato, Aristotle and others.&#10;%Zήνων ὁ Ἐλεάτης&#10;\item Several paradoxes \lq proving\rq \ space, time and motion are impossible.&#10;&#9;\begin{itemize}&#10;&#9;\item The dichotomy paradox&#10;&#9;\item Achilles and the tortoise&#10;&#9;\item The arrow paradox&#10;&#9;\item $\cdots$&#10;&#9;\end{itemize}&#10;\end{itemize}&#10;\end{sf}&#10;\end{document}" title="IguanaTex Picture Display">
            <a:extLst>
              <a:ext uri="{FF2B5EF4-FFF2-40B4-BE49-F238E27FC236}">
                <a16:creationId xmlns:a16="http://schemas.microsoft.com/office/drawing/2014/main" id="{37F3ED01-D561-9F58-ABE3-B01B61E7C698}"/>
              </a:ext>
            </a:extLst>
          </p:cNvPr>
          <p:cNvPicPr>
            <a:picLocks noChangeAspect="1"/>
          </p:cNvPicPr>
          <p:nvPr>
            <p:custDataLst>
              <p:tags r:id="rId1"/>
            </p:custDataLst>
          </p:nvPr>
        </p:nvPicPr>
        <p:blipFill>
          <a:blip r:embed="rId4"/>
          <a:stretch>
            <a:fillRect/>
          </a:stretch>
        </p:blipFill>
        <p:spPr>
          <a:xfrm>
            <a:off x="838224" y="1521104"/>
            <a:ext cx="7278625" cy="3669792"/>
          </a:xfrm>
          <a:prstGeom prst="rect">
            <a:avLst/>
          </a:prstGeom>
        </p:spPr>
      </p:pic>
      <p:pic>
        <p:nvPicPr>
          <p:cNvPr id="27" name="Picture 26">
            <a:extLst>
              <a:ext uri="{FF2B5EF4-FFF2-40B4-BE49-F238E27FC236}">
                <a16:creationId xmlns:a16="http://schemas.microsoft.com/office/drawing/2014/main" id="{B93DA13A-C665-D79C-60F3-A2F0D42B69FB}"/>
              </a:ext>
            </a:extLst>
          </p:cNvPr>
          <p:cNvPicPr>
            <a:picLocks noChangeAspect="1"/>
          </p:cNvPicPr>
          <p:nvPr/>
        </p:nvPicPr>
        <p:blipFill>
          <a:blip r:embed="rId5"/>
          <a:stretch>
            <a:fillRect/>
          </a:stretch>
        </p:blipFill>
        <p:spPr>
          <a:xfrm>
            <a:off x="8059800" y="1521105"/>
            <a:ext cx="3283684" cy="4728754"/>
          </a:xfrm>
          <a:prstGeom prst="rect">
            <a:avLst/>
          </a:prstGeom>
        </p:spPr>
      </p:pic>
    </p:spTree>
    <p:extLst>
      <p:ext uri="{BB962C8B-B14F-4D97-AF65-F5344CB8AC3E}">
        <p14:creationId xmlns:p14="http://schemas.microsoft.com/office/powerpoint/2010/main" val="163998301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147F3-D81A-1B0C-D1D1-132CC0C88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9246F-25FE-02B1-59A9-52A080CB7C7E}"/>
              </a:ext>
            </a:extLst>
          </p:cNvPr>
          <p:cNvSpPr>
            <a:spLocks noGrp="1"/>
          </p:cNvSpPr>
          <p:nvPr>
            <p:ph type="title"/>
          </p:nvPr>
        </p:nvSpPr>
        <p:spPr>
          <a:xfrm>
            <a:off x="838200" y="365126"/>
            <a:ext cx="10515600" cy="784406"/>
          </a:xfrm>
        </p:spPr>
        <p:txBody>
          <a:bodyPr>
            <a:normAutofit/>
          </a:bodyPr>
          <a:lstStyle/>
          <a:p>
            <a:pPr fontAlgn="ctr"/>
            <a:r>
              <a:rPr lang="en-GB" dirty="0"/>
              <a:t>Achilles and the tortoise					(ii)</a:t>
            </a:r>
            <a:endParaRPr lang="en-US" dirty="0"/>
          </a:p>
        </p:txBody>
      </p:sp>
      <p:sp>
        <p:nvSpPr>
          <p:cNvPr id="4" name="Footer Placeholder 3">
            <a:extLst>
              <a:ext uri="{FF2B5EF4-FFF2-40B4-BE49-F238E27FC236}">
                <a16:creationId xmlns:a16="http://schemas.microsoft.com/office/drawing/2014/main" id="{68A8920E-A5BC-E085-44C1-A9DA98D06B33}"/>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D22797C3-8A42-0298-924F-D5291E8471B9}"/>
              </a:ext>
            </a:extLst>
          </p:cNvPr>
          <p:cNvSpPr>
            <a:spLocks noGrp="1"/>
          </p:cNvSpPr>
          <p:nvPr>
            <p:ph type="sldNum" sz="quarter" idx="12"/>
          </p:nvPr>
        </p:nvSpPr>
        <p:spPr/>
        <p:txBody>
          <a:bodyPr/>
          <a:lstStyle/>
          <a:p>
            <a:fld id="{02E52F69-22B0-9141-B095-D977E71C7FB4}" type="slidenum">
              <a:rPr lang="en-US" smtClean="0"/>
              <a:t>8</a:t>
            </a:fld>
            <a:endParaRPr lang="en-US"/>
          </a:p>
        </p:txBody>
      </p:sp>
      <p:sp>
        <p:nvSpPr>
          <p:cNvPr id="6" name="Date Placeholder 5">
            <a:extLst>
              <a:ext uri="{FF2B5EF4-FFF2-40B4-BE49-F238E27FC236}">
                <a16:creationId xmlns:a16="http://schemas.microsoft.com/office/drawing/2014/main" id="{8B79F5C1-BCD4-6890-48EF-D2B86931EA73}"/>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7" name="Picture 6" descr="\documentclass{article}&#10;\usepackage{amsmath,amsfonts}&#10;\usepackage[version=4]{mhchem}\usepackage[margin=0in,paperwidth=14cm,verbose,marginparwidth=0pt,marginparsep=0pt]{geometry}&#10;\usepackage{sectsty}&#10;\allsectionsfont{\bfseries\sffamily}&#10;\pagestyle{empty}&#10;\begin{document}&#10;\begin{sf}&#10;\noindent&#10;\begin{itemize}&#10;\item Achilles races a tortoise.&#10;\item Achilles runs at $10$ ms$^{-1}$, the tortoise at 1 ms$^{-1}$&#10;\item The tortoise has a 10m start.&#10;\item[] So...&#10;&#9;\begin{itemize}&#10;&#9;\item At $t=1$ Achilles gets to the tortoise's starting position.&#10;&#9;\item \hspace*{2cm} and the tortoise has advanced 0.1m.&#10;&#9;\item At $t= 0.01$ Achilles has travelled the next 0.1m&#10;&#9;\item and so on....&#10;&#9;\end{itemize}&#10;\item Can an infinite sum of positive terms have a finite total?&#10;\item[]&#10;\item Limits, convergence and the Bolzano-Weierstass theorem (1817).&#10;\end{itemize}&#10;\end{sf}&#10;\end{document}" title="IguanaTex Picture Display">
            <a:extLst>
              <a:ext uri="{FF2B5EF4-FFF2-40B4-BE49-F238E27FC236}">
                <a16:creationId xmlns:a16="http://schemas.microsoft.com/office/drawing/2014/main" id="{C2404A0E-C13F-B028-A36D-457C6F6714D8}"/>
              </a:ext>
            </a:extLst>
          </p:cNvPr>
          <p:cNvPicPr>
            <a:picLocks noChangeAspect="1"/>
          </p:cNvPicPr>
          <p:nvPr>
            <p:custDataLst>
              <p:tags r:id="rId1"/>
            </p:custDataLst>
          </p:nvPr>
        </p:nvPicPr>
        <p:blipFill>
          <a:blip r:embed="rId4"/>
          <a:stretch>
            <a:fillRect/>
          </a:stretch>
        </p:blipFill>
        <p:spPr>
          <a:xfrm>
            <a:off x="838219" y="1521104"/>
            <a:ext cx="7099811" cy="4994656"/>
          </a:xfrm>
          <a:prstGeom prst="rect">
            <a:avLst/>
          </a:prstGeom>
        </p:spPr>
      </p:pic>
      <p:pic>
        <p:nvPicPr>
          <p:cNvPr id="9" name="Picture 8">
            <a:extLst>
              <a:ext uri="{FF2B5EF4-FFF2-40B4-BE49-F238E27FC236}">
                <a16:creationId xmlns:a16="http://schemas.microsoft.com/office/drawing/2014/main" id="{F45A8805-3238-8998-1395-3541F5A37730}"/>
              </a:ext>
            </a:extLst>
          </p:cNvPr>
          <p:cNvPicPr>
            <a:picLocks noChangeAspect="1"/>
          </p:cNvPicPr>
          <p:nvPr/>
        </p:nvPicPr>
        <p:blipFill>
          <a:blip r:embed="rId5"/>
          <a:stretch>
            <a:fillRect/>
          </a:stretch>
        </p:blipFill>
        <p:spPr>
          <a:xfrm>
            <a:off x="7581899" y="1094577"/>
            <a:ext cx="4310951" cy="4310951"/>
          </a:xfrm>
          <a:prstGeom prst="rect">
            <a:avLst/>
          </a:prstGeom>
        </p:spPr>
      </p:pic>
      <p:sp>
        <p:nvSpPr>
          <p:cNvPr id="10" name="TextBox 9">
            <a:extLst>
              <a:ext uri="{FF2B5EF4-FFF2-40B4-BE49-F238E27FC236}">
                <a16:creationId xmlns:a16="http://schemas.microsoft.com/office/drawing/2014/main" id="{F3D23BDF-B1FA-7686-5E9D-DD6728858918}"/>
              </a:ext>
            </a:extLst>
          </p:cNvPr>
          <p:cNvSpPr txBox="1"/>
          <p:nvPr/>
        </p:nvSpPr>
        <p:spPr>
          <a:xfrm>
            <a:off x="9982200" y="5916005"/>
            <a:ext cx="1910651" cy="369332"/>
          </a:xfrm>
          <a:prstGeom prst="rect">
            <a:avLst/>
          </a:prstGeom>
          <a:noFill/>
        </p:spPr>
        <p:txBody>
          <a:bodyPr wrap="none" rtlCol="0">
            <a:spAutoFit/>
          </a:bodyPr>
          <a:lstStyle/>
          <a:p>
            <a:r>
              <a:rPr lang="en-US" dirty="0"/>
              <a:t>Martin Grandjean</a:t>
            </a:r>
          </a:p>
        </p:txBody>
      </p:sp>
    </p:spTree>
    <p:extLst>
      <p:ext uri="{BB962C8B-B14F-4D97-AF65-F5344CB8AC3E}">
        <p14:creationId xmlns:p14="http://schemas.microsoft.com/office/powerpoint/2010/main" val="3006982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CD1A9-5430-51F9-CF64-4B228176C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CC9B1-01B4-8D59-028A-F9F2365A40F9}"/>
              </a:ext>
            </a:extLst>
          </p:cNvPr>
          <p:cNvSpPr>
            <a:spLocks noGrp="1"/>
          </p:cNvSpPr>
          <p:nvPr>
            <p:ph type="title"/>
          </p:nvPr>
        </p:nvSpPr>
        <p:spPr>
          <a:xfrm>
            <a:off x="838200" y="365126"/>
            <a:ext cx="10515600" cy="784406"/>
          </a:xfrm>
        </p:spPr>
        <p:txBody>
          <a:bodyPr>
            <a:normAutofit/>
          </a:bodyPr>
          <a:lstStyle/>
          <a:p>
            <a:pPr fontAlgn="ctr"/>
            <a:r>
              <a:rPr lang="en-GB" dirty="0"/>
              <a:t>Achilles and the tortoise					(iii)</a:t>
            </a:r>
            <a:endParaRPr lang="en-US" dirty="0"/>
          </a:p>
        </p:txBody>
      </p:sp>
      <p:sp>
        <p:nvSpPr>
          <p:cNvPr id="4" name="Footer Placeholder 3">
            <a:extLst>
              <a:ext uri="{FF2B5EF4-FFF2-40B4-BE49-F238E27FC236}">
                <a16:creationId xmlns:a16="http://schemas.microsoft.com/office/drawing/2014/main" id="{8FCA39B8-4D58-8C6D-AD93-7D95F91871F1}"/>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C0BD674-7027-F4FA-F04F-F32F1793513E}"/>
              </a:ext>
            </a:extLst>
          </p:cNvPr>
          <p:cNvSpPr>
            <a:spLocks noGrp="1"/>
          </p:cNvSpPr>
          <p:nvPr>
            <p:ph type="sldNum" sz="quarter" idx="12"/>
          </p:nvPr>
        </p:nvSpPr>
        <p:spPr/>
        <p:txBody>
          <a:bodyPr/>
          <a:lstStyle/>
          <a:p>
            <a:fld id="{02E52F69-22B0-9141-B095-D977E71C7FB4}" type="slidenum">
              <a:rPr lang="en-US" smtClean="0"/>
              <a:t>9</a:t>
            </a:fld>
            <a:endParaRPr lang="en-US"/>
          </a:p>
        </p:txBody>
      </p:sp>
      <p:sp>
        <p:nvSpPr>
          <p:cNvPr id="6" name="Date Placeholder 5">
            <a:extLst>
              <a:ext uri="{FF2B5EF4-FFF2-40B4-BE49-F238E27FC236}">
                <a16:creationId xmlns:a16="http://schemas.microsoft.com/office/drawing/2014/main" id="{31B54587-5520-6C65-F390-9F5C17A3368A}"/>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7" name="Picture 6" descr="\documentclass{article}&#10;\usepackage{amsmath,amsfonts}&#10;\usepackage[version=4]{mhchem}\usepackage[margin=0in,paperwidth=4in,verbose,marginparwidth=0pt,marginparsep=0pt]{geometry}&#10;\usepackage{sectsty}&#10;\allsectionsfont{\bfseries\sffamily}&#10;\pagestyle{empty}&#10;\begin{document}&#10;\begin{sf}&#10;\noindent&#10;The (modern) mathematical resolution. &#10;Write: $ r =\frac{\text{Speed tortoise}}{\text{Speed Achilles}}$\\&#10;\begin{align*}&#10;\text{Define the partial sum: }~~~~~~~~~~~~~~~~~~&#10;S_n =&amp; 1 + r + r^2 + \cdots + r^n \nonumber \\&#10;rS_n =&amp; \quad \quad r + r^2 + r^3 + \cdots + r^{n+1} \nonumber\\&#10;\text{Subtracting: }~~~~~&#10;(1-r) S_n =&amp; 1 - r^{n+1} \nonumber \\&#10;\text{Finally: } ~~~~S_n =&amp; \frac{1-r^{n+1}}{1-r} \nonumber \\&#10;\text{If } |r| &lt; 1, \text{ then } r^{n+1} \rightarrow 0 &#10;\end{align*}&#10;In this case we have:&#10;\begin{align}&#10;S_\infty = \frac{1}{1-r}&#10;\end{align}&#10;\end{sf}&#10;\end{document}" title="IguanaTex Picture Display">
            <a:extLst>
              <a:ext uri="{FF2B5EF4-FFF2-40B4-BE49-F238E27FC236}">
                <a16:creationId xmlns:a16="http://schemas.microsoft.com/office/drawing/2014/main" id="{F1A9125C-E44D-C3C2-965D-57B79367C767}"/>
              </a:ext>
            </a:extLst>
          </p:cNvPr>
          <p:cNvPicPr>
            <a:picLocks noChangeAspect="1"/>
          </p:cNvPicPr>
          <p:nvPr>
            <p:custDataLst>
              <p:tags r:id="rId1"/>
            </p:custDataLst>
          </p:nvPr>
        </p:nvPicPr>
        <p:blipFill>
          <a:blip r:embed="rId4"/>
          <a:stretch>
            <a:fillRect/>
          </a:stretch>
        </p:blipFill>
        <p:spPr>
          <a:xfrm>
            <a:off x="282249" y="1296922"/>
            <a:ext cx="9265919" cy="5220615"/>
          </a:xfrm>
          <a:prstGeom prst="rect">
            <a:avLst/>
          </a:prstGeom>
        </p:spPr>
      </p:pic>
    </p:spTree>
    <p:extLst>
      <p:ext uri="{BB962C8B-B14F-4D97-AF65-F5344CB8AC3E}">
        <p14:creationId xmlns:p14="http://schemas.microsoft.com/office/powerpoint/2010/main" val="75565897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4B594-B765-0C70-4F0C-4B652E1D7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072EC-D21B-F70F-413E-FE8088E8D76B}"/>
              </a:ext>
            </a:extLst>
          </p:cNvPr>
          <p:cNvSpPr>
            <a:spLocks noGrp="1"/>
          </p:cNvSpPr>
          <p:nvPr>
            <p:ph type="title"/>
          </p:nvPr>
        </p:nvSpPr>
        <p:spPr>
          <a:xfrm>
            <a:off x="838200" y="365126"/>
            <a:ext cx="10515600" cy="784406"/>
          </a:xfrm>
        </p:spPr>
        <p:txBody>
          <a:bodyPr>
            <a:normAutofit fontScale="90000"/>
          </a:bodyPr>
          <a:lstStyle/>
          <a:p>
            <a:pPr fontAlgn="ctr"/>
            <a:r>
              <a:rPr lang="en-GB" dirty="0"/>
              <a:t>Rational numbers: dense &amp; sparse on the line (</a:t>
            </a:r>
            <a:r>
              <a:rPr lang="en-GB" dirty="0" err="1"/>
              <a:t>i</a:t>
            </a:r>
            <a:r>
              <a:rPr lang="en-GB" dirty="0"/>
              <a:t>)</a:t>
            </a:r>
            <a:endParaRPr lang="en-US" dirty="0"/>
          </a:p>
        </p:txBody>
      </p:sp>
      <p:sp>
        <p:nvSpPr>
          <p:cNvPr id="4" name="Footer Placeholder 3">
            <a:extLst>
              <a:ext uri="{FF2B5EF4-FFF2-40B4-BE49-F238E27FC236}">
                <a16:creationId xmlns:a16="http://schemas.microsoft.com/office/drawing/2014/main" id="{7A455488-00EE-FBCE-4630-8162BAB6D77D}"/>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3877CCA0-A48C-A2C8-038D-2C479CBE0CCB}"/>
              </a:ext>
            </a:extLst>
          </p:cNvPr>
          <p:cNvSpPr>
            <a:spLocks noGrp="1"/>
          </p:cNvSpPr>
          <p:nvPr>
            <p:ph type="sldNum" sz="quarter" idx="12"/>
          </p:nvPr>
        </p:nvSpPr>
        <p:spPr/>
        <p:txBody>
          <a:bodyPr/>
          <a:lstStyle/>
          <a:p>
            <a:fld id="{02E52F69-22B0-9141-B095-D977E71C7FB4}" type="slidenum">
              <a:rPr lang="en-US" smtClean="0"/>
              <a:t>10</a:t>
            </a:fld>
            <a:endParaRPr lang="en-US"/>
          </a:p>
        </p:txBody>
      </p:sp>
      <p:sp>
        <p:nvSpPr>
          <p:cNvPr id="6" name="Date Placeholder 5">
            <a:extLst>
              <a:ext uri="{FF2B5EF4-FFF2-40B4-BE49-F238E27FC236}">
                <a16:creationId xmlns:a16="http://schemas.microsoft.com/office/drawing/2014/main" id="{4F4CF481-7526-BFB0-A6D5-CA53FD205637}"/>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7" name="Picture 6" descr="\documentclass{article}&#10;\usepackage{amsmath,amsfonts}&#10;\usepackage[version=4]{mhchem}\usepackage[margin=0in,paperwidth=8in,verbose,marginparwidth=0pt,marginparsep=0pt]{geometry}&#10;\usepackage{sectsty}&#10;\allsectionsfont{\bfseries\sffamily}&#10;\pagestyle{empty}&#10;\begin{document}&#10;\begin{sf}&#10;\noindent&#10;A rational number: a ratio $\frac{m}{n}, m\in \mathbb{Z}, n \in \mathbb{N}^+$\\&#10;%\medskip &#10;\ \\&#10;The rationals ($\mathbb{Q}$) are {\em dense} in the reals if:\\&#10;\hspace*{2cm}$\forall a,b \in \mathbb{R} \text{ with } a &lt; b ~~&#10;\exists q \left ( =\frac{m}{n} \right ) \in \mathbb{Q} &#10;\text{ such that } a\leq q \leq b$\\&#10;\end{sf}&#10;\end{document}" title="IguanaTex Picture Display">
            <a:extLst>
              <a:ext uri="{FF2B5EF4-FFF2-40B4-BE49-F238E27FC236}">
                <a16:creationId xmlns:a16="http://schemas.microsoft.com/office/drawing/2014/main" id="{CA053181-263A-E13A-A29A-C95E3476077B}"/>
              </a:ext>
            </a:extLst>
          </p:cNvPr>
          <p:cNvPicPr>
            <a:picLocks noChangeAspect="1"/>
          </p:cNvPicPr>
          <p:nvPr>
            <p:custDataLst>
              <p:tags r:id="rId1"/>
            </p:custDataLst>
          </p:nvPr>
        </p:nvPicPr>
        <p:blipFill>
          <a:blip r:embed="rId5"/>
          <a:stretch>
            <a:fillRect/>
          </a:stretch>
        </p:blipFill>
        <p:spPr>
          <a:xfrm>
            <a:off x="838208" y="1521100"/>
            <a:ext cx="9044026" cy="1441094"/>
          </a:xfrm>
          <a:prstGeom prst="rect">
            <a:avLst/>
          </a:prstGeom>
        </p:spPr>
      </p:pic>
      <p:pic>
        <p:nvPicPr>
          <p:cNvPr id="38" name="Picture 37" descr="\documentclass{article}&#10;\usepackage{amsmath,amsfonts}&#10;\usepackage[version=4]{mhchem}\usepackage[margin=0in,paperwidth=8in,verbose,marginparwidth=0pt,marginparsep=0pt]{geometry}&#10;\usepackage{sectsty}&#10;\allsectionsfont{\bfseries\sffamily}&#10;\pagestyle{empty}&#10;\begin{document}&#10;\begin{sf}&#10;\noindent&#10;\underline{Proof}\\&#10;Choose $n (\in \mathbb{N} )$ so that $\frac{1}{n} &lt; b-a ~~~(&gt; 0)$\\&#10;Choose $m (\in \mathbb{Z} )$ to be the smallest integer with $m-1 \leq na &lt;m$\\&#10;Re-arranging: $m \leq na + 1$. &#10;So $ \frac{m}{n} \leq a + \frac{1}{n} &lt; b$. As required. &#10;\end{sf}&#10;\end{document}" title="IguanaTex Picture Display">
            <a:extLst>
              <a:ext uri="{FF2B5EF4-FFF2-40B4-BE49-F238E27FC236}">
                <a16:creationId xmlns:a16="http://schemas.microsoft.com/office/drawing/2014/main" id="{95BF4E73-BD6B-E2F4-CFB5-CCE7AB80F32C}"/>
              </a:ext>
            </a:extLst>
          </p:cNvPr>
          <p:cNvPicPr>
            <a:picLocks noChangeAspect="1"/>
          </p:cNvPicPr>
          <p:nvPr>
            <p:custDataLst>
              <p:tags r:id="rId2"/>
            </p:custDataLst>
          </p:nvPr>
        </p:nvPicPr>
        <p:blipFill>
          <a:blip r:embed="rId6"/>
          <a:stretch>
            <a:fillRect/>
          </a:stretch>
        </p:blipFill>
        <p:spPr>
          <a:xfrm>
            <a:off x="838200" y="3674353"/>
            <a:ext cx="8297875" cy="1411834"/>
          </a:xfrm>
          <a:prstGeom prst="rect">
            <a:avLst/>
          </a:prstGeom>
        </p:spPr>
      </p:pic>
    </p:spTree>
    <p:extLst>
      <p:ext uri="{BB962C8B-B14F-4D97-AF65-F5344CB8AC3E}">
        <p14:creationId xmlns:p14="http://schemas.microsoft.com/office/powerpoint/2010/main" val="175564402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81723-A5E3-8E5B-5197-7DDD42345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77746-995B-855B-2F42-878C0B43E278}"/>
              </a:ext>
            </a:extLst>
          </p:cNvPr>
          <p:cNvSpPr>
            <a:spLocks noGrp="1"/>
          </p:cNvSpPr>
          <p:nvPr>
            <p:ph type="title"/>
          </p:nvPr>
        </p:nvSpPr>
        <p:spPr>
          <a:xfrm>
            <a:off x="838200" y="365126"/>
            <a:ext cx="10515600" cy="784406"/>
          </a:xfrm>
        </p:spPr>
        <p:txBody>
          <a:bodyPr>
            <a:normAutofit fontScale="90000"/>
          </a:bodyPr>
          <a:lstStyle/>
          <a:p>
            <a:pPr fontAlgn="ctr"/>
            <a:r>
              <a:rPr lang="en-GB" dirty="0"/>
              <a:t>Rational numbers: dense &amp; sparse on the line (ii)</a:t>
            </a:r>
            <a:endParaRPr lang="en-US" dirty="0"/>
          </a:p>
        </p:txBody>
      </p:sp>
      <p:sp>
        <p:nvSpPr>
          <p:cNvPr id="4" name="Footer Placeholder 3">
            <a:extLst>
              <a:ext uri="{FF2B5EF4-FFF2-40B4-BE49-F238E27FC236}">
                <a16:creationId xmlns:a16="http://schemas.microsoft.com/office/drawing/2014/main" id="{C4870724-53AC-7F54-5CE4-D55EAB2220FD}"/>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2725BE93-F7E7-84E0-61BB-4C4003161D96}"/>
              </a:ext>
            </a:extLst>
          </p:cNvPr>
          <p:cNvSpPr>
            <a:spLocks noGrp="1"/>
          </p:cNvSpPr>
          <p:nvPr>
            <p:ph type="sldNum" sz="quarter" idx="12"/>
          </p:nvPr>
        </p:nvSpPr>
        <p:spPr/>
        <p:txBody>
          <a:bodyPr/>
          <a:lstStyle/>
          <a:p>
            <a:fld id="{02E52F69-22B0-9141-B095-D977E71C7FB4}" type="slidenum">
              <a:rPr lang="en-US" smtClean="0"/>
              <a:t>11</a:t>
            </a:fld>
            <a:endParaRPr lang="en-US"/>
          </a:p>
        </p:txBody>
      </p:sp>
      <p:sp>
        <p:nvSpPr>
          <p:cNvPr id="6" name="Date Placeholder 5">
            <a:extLst>
              <a:ext uri="{FF2B5EF4-FFF2-40B4-BE49-F238E27FC236}">
                <a16:creationId xmlns:a16="http://schemas.microsoft.com/office/drawing/2014/main" id="{17502AFF-88B6-9EF1-8FC7-9DFF1A399897}"/>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7" name="Picture 6" descr="\documentclass{article}&#10;\usepackage{amsmath,amsfonts}&#10;\usepackage[version=4]{mhchem}\usepackage[margin=0in,paperwidth=8in,verbose,marginparwidth=0pt,marginparsep=0pt]{geometry}&#10;\usepackage{sectsty}&#10;\allsectionsfont{\bfseries\sffamily}&#10;\pagestyle{empty}&#10;\begin{document}&#10;\begin{sf}&#10;\noindent&#10;A rational number: a ratio $\frac{m}{n}, m\in \mathbb{Z}, n \in \mathbb{N}^+$\\&#10;%\medskip &#10;\ \\&#10;The rationals ($\mathbb{Q}$) are {\em sparse} in the reals if we can cover them with a {\em null set} \\&#10;\hspace*{2cm}(a set of arbitrarily small length).&#10;\end{sf}&#10;\end{document}" title="IguanaTex Picture Display">
            <a:extLst>
              <a:ext uri="{FF2B5EF4-FFF2-40B4-BE49-F238E27FC236}">
                <a16:creationId xmlns:a16="http://schemas.microsoft.com/office/drawing/2014/main" id="{8D03257A-862B-C718-E568-BF7E7B7A8E4C}"/>
              </a:ext>
            </a:extLst>
          </p:cNvPr>
          <p:cNvPicPr>
            <a:picLocks noChangeAspect="1"/>
          </p:cNvPicPr>
          <p:nvPr>
            <p:custDataLst>
              <p:tags r:id="rId1"/>
            </p:custDataLst>
          </p:nvPr>
        </p:nvPicPr>
        <p:blipFill>
          <a:blip r:embed="rId5"/>
          <a:stretch>
            <a:fillRect/>
          </a:stretch>
        </p:blipFill>
        <p:spPr>
          <a:xfrm>
            <a:off x="838210" y="1521102"/>
            <a:ext cx="9777984" cy="1411833"/>
          </a:xfrm>
          <a:prstGeom prst="rect">
            <a:avLst/>
          </a:prstGeom>
        </p:spPr>
      </p:pic>
      <p:pic>
        <p:nvPicPr>
          <p:cNvPr id="8" name="Picture 7" descr="\documentclass{article}&#10;\usepackage{amsmath,amsfonts}&#10;\usepackage[version=4]{mhchem}\usepackage[margin=0in,paperwidth=8in,verbose,marginparwidth=0pt,marginparsep=0pt]{geometry}&#10;\usepackage{sectsty}&#10;\allsectionsfont{\bfseries\sffamily}&#10;\pagestyle{empty}&#10;\begin{document}&#10;\begin{sf}&#10;\noindent&#10;\underline{Proof}\\&#10;We can write all rationals in a sequence $ \{ q_r \} $.\\&#10;Define the interval: &#10;$ I_r = (q_r - \epsilon/2^{r+1}, q_r + \epsilon/2^{r+1})$ \\&#10;The {\em total} length of these intervals is:&#10;$%\begin{flalign*}&#10;\epsilon (1/2 + 1/4 + 1/8 + \cdots ) = \epsilon %&amp; \hspace{10cm}&#10;$ \\%\end{flalign*}&#10;So the covering of the rationals (or any countable set) can be made arbitrarily small.\\&#10;As required. &#10;\end{sf}&#10;\end{document}" title="IguanaTex Picture Display">
            <a:extLst>
              <a:ext uri="{FF2B5EF4-FFF2-40B4-BE49-F238E27FC236}">
                <a16:creationId xmlns:a16="http://schemas.microsoft.com/office/drawing/2014/main" id="{7EB7E13A-FEAB-65EF-40F5-57DEAF609257}"/>
              </a:ext>
            </a:extLst>
          </p:cNvPr>
          <p:cNvPicPr>
            <a:picLocks noChangeAspect="1"/>
          </p:cNvPicPr>
          <p:nvPr>
            <p:custDataLst>
              <p:tags r:id="rId2"/>
            </p:custDataLst>
          </p:nvPr>
        </p:nvPicPr>
        <p:blipFill>
          <a:blip r:embed="rId6"/>
          <a:stretch>
            <a:fillRect/>
          </a:stretch>
        </p:blipFill>
        <p:spPr>
          <a:xfrm>
            <a:off x="838204" y="3674358"/>
            <a:ext cx="10746030" cy="2092147"/>
          </a:xfrm>
          <a:prstGeom prst="rect">
            <a:avLst/>
          </a:prstGeom>
        </p:spPr>
      </p:pic>
    </p:spTree>
    <p:extLst>
      <p:ext uri="{BB962C8B-B14F-4D97-AF65-F5344CB8AC3E}">
        <p14:creationId xmlns:p14="http://schemas.microsoft.com/office/powerpoint/2010/main" val="151663804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CA9A7-02FF-0AB0-8FA7-8320FEBD5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8A93E-3E7E-F376-6C73-9439C17102F6}"/>
              </a:ext>
            </a:extLst>
          </p:cNvPr>
          <p:cNvSpPr>
            <a:spLocks noGrp="1"/>
          </p:cNvSpPr>
          <p:nvPr>
            <p:ph type="title"/>
          </p:nvPr>
        </p:nvSpPr>
        <p:spPr>
          <a:xfrm>
            <a:off x="282259" y="136525"/>
            <a:ext cx="4468091" cy="784406"/>
          </a:xfrm>
        </p:spPr>
        <p:txBody>
          <a:bodyPr>
            <a:normAutofit/>
          </a:bodyPr>
          <a:lstStyle/>
          <a:p>
            <a:pPr fontAlgn="ctr"/>
            <a:r>
              <a:rPr lang="en-GB" dirty="0"/>
              <a:t>A standard series</a:t>
            </a:r>
            <a:endParaRPr lang="en-US" dirty="0"/>
          </a:p>
        </p:txBody>
      </p:sp>
      <p:sp>
        <p:nvSpPr>
          <p:cNvPr id="4" name="Footer Placeholder 3">
            <a:extLst>
              <a:ext uri="{FF2B5EF4-FFF2-40B4-BE49-F238E27FC236}">
                <a16:creationId xmlns:a16="http://schemas.microsoft.com/office/drawing/2014/main" id="{4D90557F-53AE-322C-A8B5-91ADDDF88880}"/>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0BB29DBA-BD31-04A8-D2D7-E45870FA69C6}"/>
              </a:ext>
            </a:extLst>
          </p:cNvPr>
          <p:cNvSpPr>
            <a:spLocks noGrp="1"/>
          </p:cNvSpPr>
          <p:nvPr>
            <p:ph type="sldNum" sz="quarter" idx="12"/>
          </p:nvPr>
        </p:nvSpPr>
        <p:spPr/>
        <p:txBody>
          <a:bodyPr/>
          <a:lstStyle/>
          <a:p>
            <a:fld id="{02E52F69-22B0-9141-B095-D977E71C7FB4}" type="slidenum">
              <a:rPr lang="en-US" smtClean="0"/>
              <a:t>12</a:t>
            </a:fld>
            <a:endParaRPr lang="en-US"/>
          </a:p>
        </p:txBody>
      </p:sp>
      <p:sp>
        <p:nvSpPr>
          <p:cNvPr id="6" name="Date Placeholder 5">
            <a:extLst>
              <a:ext uri="{FF2B5EF4-FFF2-40B4-BE49-F238E27FC236}">
                <a16:creationId xmlns:a16="http://schemas.microsoft.com/office/drawing/2014/main" id="{87EA9C6D-3657-03E9-8C46-13B73BA58F09}"/>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7" name="Picture 6" descr="\documentclass[fleqn]{article}&#10;\usepackage{amsmath,amsfonts}&#10;\usepackage[version=4]{mhchem}\usepackage[margin=0in,paperwidth=12cm,verbose,marginparwidth=0pt,marginparsep=0pt]{geometry}&#10;\usepackage{sectsty}&#10;\allsectionsfont{\bfseries\sffamily}&#10;\pagestyle{empty}&#10;\begin{document}&#10;\begin{sf}&#10;\noindent&#10;Let us consider this \lq simple \rq series:&#10;$~~~~~~~~~S(p) = 1^{-p} + 2^{-p} + 3^{-p} + \cdots  $ \\&#10;%\begin{align}&#10;%S(p) = 1^{-p} + 2^{-p} + 3^{-p} + \cdots  &#10;%\end{align}&#10;Now consider grouping terms:&#10;\begin{flalign*}&#10;\frac{1}{2^p} + \frac{1}{3^p} &lt;\frac{2}{2^p} = 2^{1-p}\nonumber\\&#10;\frac{1}{4^p} + \frac{1}{5^p} + \frac{1}{6^p} + \frac{1}{7^p}&#10;&lt;\frac{4}{4^p} = 4^{1-p}\nonumber\\&#10;\frac{1}{8^p} + \frac{1}{9^p} + \cdots + \frac{1}{15^p}&#10;&lt;\frac{8}{8^p} = 8^{1-p}&#10;\end{flalign*}&#10;Now the number of terms we have is: $1 + 2 + 4 + \cdots + 2^m = 2^{m+1} -1$ \\&#10;So the partial sum of the first ($2^{m+1} -1$) terms is: &#10;\begin{flalign*}&#10;S_{2^{m+1}-1}(p) =&amp; 1^{-p} + 2^{-p} + 3^{-p} + \cdots + \left (2^{m+1}-1 \right )^{-p} &#10;&lt; &#10;1 + 2^{1-p} + \cdots + \left ( 2^m \right )^{1-p} \nonumber\\&#10;=&amp;  \frac{1 - 2^{(1-p)(m+1)}}{1 - 2^{1-p}}&#10;%\nonumber \\&#10;&lt; \frac{1}{1 - 2^{1-p}} ~~~~~~~~~ \text{ if } p &gt; 1&#10;\end{flalign*}&#10;\end{sf}&#10;\end{document}" title="IguanaTex Picture Display">
            <a:extLst>
              <a:ext uri="{FF2B5EF4-FFF2-40B4-BE49-F238E27FC236}">
                <a16:creationId xmlns:a16="http://schemas.microsoft.com/office/drawing/2014/main" id="{16BE3B01-107C-4F1B-C5FA-42B5CD765EA9}"/>
              </a:ext>
            </a:extLst>
          </p:cNvPr>
          <p:cNvPicPr>
            <a:picLocks noChangeAspect="1"/>
          </p:cNvPicPr>
          <p:nvPr>
            <p:custDataLst>
              <p:tags r:id="rId1"/>
            </p:custDataLst>
          </p:nvPr>
        </p:nvPicPr>
        <p:blipFill>
          <a:blip r:embed="rId4"/>
          <a:stretch>
            <a:fillRect/>
          </a:stretch>
        </p:blipFill>
        <p:spPr>
          <a:xfrm>
            <a:off x="1238225" y="1064807"/>
            <a:ext cx="10384741" cy="5174488"/>
          </a:xfrm>
          <a:prstGeom prst="rect">
            <a:avLst/>
          </a:prstGeom>
        </p:spPr>
      </p:pic>
    </p:spTree>
    <p:extLst>
      <p:ext uri="{BB962C8B-B14F-4D97-AF65-F5344CB8AC3E}">
        <p14:creationId xmlns:p14="http://schemas.microsoft.com/office/powerpoint/2010/main" val="22655109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F226E-995E-5EF3-3914-5FFE70928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FCFE1-88F4-BFE8-A239-FA5FA3C6AB5E}"/>
              </a:ext>
            </a:extLst>
          </p:cNvPr>
          <p:cNvSpPr>
            <a:spLocks noGrp="1"/>
          </p:cNvSpPr>
          <p:nvPr>
            <p:ph type="title"/>
          </p:nvPr>
        </p:nvSpPr>
        <p:spPr>
          <a:xfrm>
            <a:off x="838200" y="365126"/>
            <a:ext cx="10515600" cy="719092"/>
          </a:xfrm>
        </p:spPr>
        <p:txBody>
          <a:bodyPr>
            <a:normAutofit/>
          </a:bodyPr>
          <a:lstStyle/>
          <a:p>
            <a:pPr fontAlgn="ctr"/>
            <a:r>
              <a:rPr lang="en-GB" dirty="0"/>
              <a:t>The Basel problem</a:t>
            </a:r>
            <a:endParaRPr lang="en-US" dirty="0"/>
          </a:p>
        </p:txBody>
      </p:sp>
      <p:sp>
        <p:nvSpPr>
          <p:cNvPr id="4" name="Footer Placeholder 3">
            <a:extLst>
              <a:ext uri="{FF2B5EF4-FFF2-40B4-BE49-F238E27FC236}">
                <a16:creationId xmlns:a16="http://schemas.microsoft.com/office/drawing/2014/main" id="{DCD4FE1B-F600-61FD-84B6-BD18FF583E72}"/>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105C6D63-55C6-4246-1996-4079FE09C17A}"/>
              </a:ext>
            </a:extLst>
          </p:cNvPr>
          <p:cNvSpPr>
            <a:spLocks noGrp="1"/>
          </p:cNvSpPr>
          <p:nvPr>
            <p:ph type="sldNum" sz="quarter" idx="12"/>
          </p:nvPr>
        </p:nvSpPr>
        <p:spPr/>
        <p:txBody>
          <a:bodyPr/>
          <a:lstStyle/>
          <a:p>
            <a:fld id="{02E52F69-22B0-9141-B095-D977E71C7FB4}" type="slidenum">
              <a:rPr lang="en-US" smtClean="0"/>
              <a:t>13</a:t>
            </a:fld>
            <a:endParaRPr lang="en-US"/>
          </a:p>
        </p:txBody>
      </p:sp>
      <p:sp>
        <p:nvSpPr>
          <p:cNvPr id="6" name="Date Placeholder 5">
            <a:extLst>
              <a:ext uri="{FF2B5EF4-FFF2-40B4-BE49-F238E27FC236}">
                <a16:creationId xmlns:a16="http://schemas.microsoft.com/office/drawing/2014/main" id="{272A3886-6137-AA59-A60A-AC3700284630}"/>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4" name="Picture 13" descr="\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This is the solution to the Basel problem.\\&#10;\ \medskip \\&#10;Consider a line of equally spaced lights.\\&#10;\ \medskip \\&#10;How bright does the line appear to an observer?&#10;&#10;\end{sf}&#10;\end{document}" title="IguanaTex Picture Display">
            <a:extLst>
              <a:ext uri="{FF2B5EF4-FFF2-40B4-BE49-F238E27FC236}">
                <a16:creationId xmlns:a16="http://schemas.microsoft.com/office/drawing/2014/main" id="{1AD96797-ED96-63DF-C607-66A90B676F22}"/>
              </a:ext>
            </a:extLst>
          </p:cNvPr>
          <p:cNvPicPr>
            <a:picLocks noChangeAspect="1"/>
          </p:cNvPicPr>
          <p:nvPr>
            <p:custDataLst>
              <p:tags r:id="rId1"/>
            </p:custDataLst>
          </p:nvPr>
        </p:nvPicPr>
        <p:blipFill>
          <a:blip r:embed="rId4"/>
          <a:stretch>
            <a:fillRect/>
          </a:stretch>
        </p:blipFill>
        <p:spPr>
          <a:xfrm>
            <a:off x="376122" y="1289264"/>
            <a:ext cx="7324954" cy="4369614"/>
          </a:xfrm>
          <a:prstGeom prst="rect">
            <a:avLst/>
          </a:prstGeom>
        </p:spPr>
      </p:pic>
      <p:pic>
        <p:nvPicPr>
          <p:cNvPr id="9" name="Graphic 8">
            <a:extLst>
              <a:ext uri="{FF2B5EF4-FFF2-40B4-BE49-F238E27FC236}">
                <a16:creationId xmlns:a16="http://schemas.microsoft.com/office/drawing/2014/main" id="{1D595AB0-20D4-6639-673C-FFBEE01059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27492" y="3429000"/>
            <a:ext cx="4526308" cy="2532577"/>
          </a:xfrm>
          <a:prstGeom prst="rect">
            <a:avLst/>
          </a:prstGeom>
        </p:spPr>
      </p:pic>
      <p:sp>
        <p:nvSpPr>
          <p:cNvPr id="10" name="TextBox 9">
            <a:extLst>
              <a:ext uri="{FF2B5EF4-FFF2-40B4-BE49-F238E27FC236}">
                <a16:creationId xmlns:a16="http://schemas.microsoft.com/office/drawing/2014/main" id="{0A2BDC7E-534F-4C54-2609-781BDBF29E52}"/>
              </a:ext>
            </a:extLst>
          </p:cNvPr>
          <p:cNvSpPr txBox="1"/>
          <p:nvPr/>
        </p:nvSpPr>
        <p:spPr>
          <a:xfrm>
            <a:off x="9490364" y="5958691"/>
            <a:ext cx="1291700" cy="369332"/>
          </a:xfrm>
          <a:prstGeom prst="rect">
            <a:avLst/>
          </a:prstGeom>
          <a:noFill/>
        </p:spPr>
        <p:txBody>
          <a:bodyPr wrap="none" rtlCol="0">
            <a:spAutoFit/>
          </a:bodyPr>
          <a:lstStyle/>
          <a:p>
            <a:r>
              <a:rPr lang="en-US" dirty="0"/>
              <a:t>By </a:t>
            </a:r>
            <a:r>
              <a:rPr lang="en-US" dirty="0" err="1"/>
              <a:t>Cmglee</a:t>
            </a:r>
            <a:endParaRPr lang="en-US" dirty="0"/>
          </a:p>
        </p:txBody>
      </p:sp>
    </p:spTree>
    <p:extLst>
      <p:ext uri="{BB962C8B-B14F-4D97-AF65-F5344CB8AC3E}">
        <p14:creationId xmlns:p14="http://schemas.microsoft.com/office/powerpoint/2010/main" val="11386986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14B6C-F04F-3520-3878-617DEA3FF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F116D-87CB-C5A8-19BA-904FBF582145}"/>
              </a:ext>
            </a:extLst>
          </p:cNvPr>
          <p:cNvSpPr>
            <a:spLocks noGrp="1"/>
          </p:cNvSpPr>
          <p:nvPr>
            <p:ph type="title"/>
          </p:nvPr>
        </p:nvSpPr>
        <p:spPr>
          <a:xfrm>
            <a:off x="838200" y="365126"/>
            <a:ext cx="10515600" cy="719092"/>
          </a:xfrm>
        </p:spPr>
        <p:txBody>
          <a:bodyPr>
            <a:normAutofit/>
          </a:bodyPr>
          <a:lstStyle/>
          <a:p>
            <a:pPr fontAlgn="ctr"/>
            <a:r>
              <a:rPr lang="en-GB" dirty="0"/>
              <a:t>The Basel problem</a:t>
            </a:r>
            <a:endParaRPr lang="en-US" dirty="0"/>
          </a:p>
        </p:txBody>
      </p:sp>
      <p:sp>
        <p:nvSpPr>
          <p:cNvPr id="4" name="Footer Placeholder 3">
            <a:extLst>
              <a:ext uri="{FF2B5EF4-FFF2-40B4-BE49-F238E27FC236}">
                <a16:creationId xmlns:a16="http://schemas.microsoft.com/office/drawing/2014/main" id="{D52C08F1-5B81-1151-418D-33F60B564036}"/>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849F24E0-50D0-C5A8-1849-23E76E1C3844}"/>
              </a:ext>
            </a:extLst>
          </p:cNvPr>
          <p:cNvSpPr>
            <a:spLocks noGrp="1"/>
          </p:cNvSpPr>
          <p:nvPr>
            <p:ph type="sldNum" sz="quarter" idx="12"/>
          </p:nvPr>
        </p:nvSpPr>
        <p:spPr/>
        <p:txBody>
          <a:bodyPr/>
          <a:lstStyle/>
          <a:p>
            <a:fld id="{02E52F69-22B0-9141-B095-D977E71C7FB4}" type="slidenum">
              <a:rPr lang="en-US" smtClean="0"/>
              <a:t>14</a:t>
            </a:fld>
            <a:endParaRPr lang="en-US"/>
          </a:p>
        </p:txBody>
      </p:sp>
      <p:sp>
        <p:nvSpPr>
          <p:cNvPr id="6" name="Date Placeholder 5">
            <a:extLst>
              <a:ext uri="{FF2B5EF4-FFF2-40B4-BE49-F238E27FC236}">
                <a16:creationId xmlns:a16="http://schemas.microsoft.com/office/drawing/2014/main" id="{A74DBAC0-2953-AB9C-4A5A-8999CB826BF8}"/>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64" name="Picture 63" descr="\documentclass[fleqn]{article}&#10;\usepackage{amsmath,amsfonts}&#10;\usepackage[version=4]{mhchem}\usepackage[margin=0in,paperwidth=12cm,verbose,marginparwidth=0pt,marginparsep=0pt]{geometry}&#10;\usepackage{sectsty}&#10;\allsectionsfont{\bfseries\sffamily}&#10;\pagestyle{empty}&#10;\begin{document}&#10;\begin{sf}&#10;\noindent&#10;\begin{flalign}&#10;\text{Recall: } \sin x =&amp; &#10;x - \frac{x^3}{3!} + \frac{x^5}{5!} - \frac{x^7}{7!} + \cdots \nonumber \\&#10;\text{So: } &#10;\frac{\sin x}{x} =&amp;&#10;1 - \frac{x^2}{3!} + \frac{x^4}{5!} - \frac{x^6}{7!} + \cdots&#10;\label{E1}&#10;\end{flalign}&#10;Treat $\frac{\sin x}{x}$ as a polynomial$^\dagger$&#10;it can be written as a product of the roots&#10;($x =\pm n \pi$).\\&#10;So we obtain:&#10;\begin{align*}&#10;\frac{\sin x}{x} &amp;= \left(1 - \frac{x}{\pi}\right)\left(1 + \frac{x}{\pi}\right)\left(1 - \frac{x}{2\pi}\right)\left(1 + \frac{x}{2\pi}\right)\left(1 - \frac{x}{3\pi}\right)\left(1 + \frac{x}{3\pi}\right) \cdots \\&#10;                    &amp;= \left(1 - \frac{x^2}{\pi^2}\right)\left(1 - \frac{x^2}{4\pi^2}\right)\left(1 - \frac{x^2}{9\pi^2}\right) \cdots&#10;\end{align*}&#10;Collect terms to find the coefficient of $x^2$:&#10;\begin{align*}&#10;-\left(\frac{1}{\pi^2} + \frac{1}{4\pi^2} + \frac{1}{9\pi^2} + \cdots \right)&#10; = -\frac{1}{\pi^2}\sum_{n=1}^{\infty}\frac{1}{n^2}&#10;~~~~~ = \frac{-1}{6}~~~~~\text{ by comparing with (1)}&#10;\end{align*}&#10;$\dagger$ This was justified a century later using Weierstass factorization theorem.&#10;\end{sf}&#10;\end{document}" title="IguanaTex Picture Display">
            <a:extLst>
              <a:ext uri="{FF2B5EF4-FFF2-40B4-BE49-F238E27FC236}">
                <a16:creationId xmlns:a16="http://schemas.microsoft.com/office/drawing/2014/main" id="{E1623DAC-3E7B-F1E4-D27C-2BD567E12340}"/>
              </a:ext>
            </a:extLst>
          </p:cNvPr>
          <p:cNvPicPr>
            <a:picLocks noChangeAspect="1"/>
          </p:cNvPicPr>
          <p:nvPr>
            <p:custDataLst>
              <p:tags r:id="rId1"/>
            </p:custDataLst>
          </p:nvPr>
        </p:nvPicPr>
        <p:blipFill>
          <a:blip r:embed="rId4"/>
          <a:stretch>
            <a:fillRect/>
          </a:stretch>
        </p:blipFill>
        <p:spPr>
          <a:xfrm>
            <a:off x="443344" y="1214790"/>
            <a:ext cx="8912657" cy="5252618"/>
          </a:xfrm>
          <a:prstGeom prst="rect">
            <a:avLst/>
          </a:prstGeom>
        </p:spPr>
      </p:pic>
    </p:spTree>
    <p:extLst>
      <p:ext uri="{BB962C8B-B14F-4D97-AF65-F5344CB8AC3E}">
        <p14:creationId xmlns:p14="http://schemas.microsoft.com/office/powerpoint/2010/main" val="42655780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2A24C-A7B8-3ACA-2AA0-226109DD1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067BC-7CEE-324A-894A-77CF468C5216}"/>
              </a:ext>
            </a:extLst>
          </p:cNvPr>
          <p:cNvSpPr>
            <a:spLocks noGrp="1"/>
          </p:cNvSpPr>
          <p:nvPr>
            <p:ph type="title"/>
          </p:nvPr>
        </p:nvSpPr>
        <p:spPr>
          <a:xfrm>
            <a:off x="838200" y="365126"/>
            <a:ext cx="10515600" cy="719092"/>
          </a:xfrm>
        </p:spPr>
        <p:txBody>
          <a:bodyPr>
            <a:normAutofit/>
          </a:bodyPr>
          <a:lstStyle/>
          <a:p>
            <a:pPr fontAlgn="ctr"/>
            <a:r>
              <a:rPr lang="en-GB" dirty="0"/>
              <a:t>A divertissement</a:t>
            </a:r>
            <a:endParaRPr lang="en-US" dirty="0"/>
          </a:p>
        </p:txBody>
      </p:sp>
      <p:sp>
        <p:nvSpPr>
          <p:cNvPr id="4" name="Footer Placeholder 3">
            <a:extLst>
              <a:ext uri="{FF2B5EF4-FFF2-40B4-BE49-F238E27FC236}">
                <a16:creationId xmlns:a16="http://schemas.microsoft.com/office/drawing/2014/main" id="{5F8798DA-2E45-E3BF-9534-48FFB6A3909D}"/>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7632AAF6-E2E4-0609-CC1A-4A0BC3990F83}"/>
              </a:ext>
            </a:extLst>
          </p:cNvPr>
          <p:cNvSpPr>
            <a:spLocks noGrp="1"/>
          </p:cNvSpPr>
          <p:nvPr>
            <p:ph type="sldNum" sz="quarter" idx="12"/>
          </p:nvPr>
        </p:nvSpPr>
        <p:spPr/>
        <p:txBody>
          <a:bodyPr/>
          <a:lstStyle/>
          <a:p>
            <a:fld id="{02E52F69-22B0-9141-B095-D977E71C7FB4}" type="slidenum">
              <a:rPr lang="en-US" smtClean="0"/>
              <a:t>15</a:t>
            </a:fld>
            <a:endParaRPr lang="en-US"/>
          </a:p>
        </p:txBody>
      </p:sp>
      <p:sp>
        <p:nvSpPr>
          <p:cNvPr id="6" name="Date Placeholder 5">
            <a:extLst>
              <a:ext uri="{FF2B5EF4-FFF2-40B4-BE49-F238E27FC236}">
                <a16:creationId xmlns:a16="http://schemas.microsoft.com/office/drawing/2014/main" id="{501E76E2-E4E1-B0E0-563D-B0B425F7B751}"/>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6" name="Picture 15" descr="\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You've got to be careful.... &#10;\begin{align*}&#10;S(1) = S =1+2+3+4+\cdots &#10;\end{align*}&#10;&#10;\end{sf}&#10;\end{document}" title="IguanaTex Picture Display">
            <a:extLst>
              <a:ext uri="{FF2B5EF4-FFF2-40B4-BE49-F238E27FC236}">
                <a16:creationId xmlns:a16="http://schemas.microsoft.com/office/drawing/2014/main" id="{19D3691E-02E4-9013-8D58-DBBA529A1CE3}"/>
              </a:ext>
            </a:extLst>
          </p:cNvPr>
          <p:cNvPicPr>
            <a:picLocks noChangeAspect="1"/>
          </p:cNvPicPr>
          <p:nvPr>
            <p:custDataLst>
              <p:tags r:id="rId1"/>
            </p:custDataLst>
          </p:nvPr>
        </p:nvPicPr>
        <p:blipFill>
          <a:blip r:embed="rId4"/>
          <a:stretch>
            <a:fillRect/>
          </a:stretch>
        </p:blipFill>
        <p:spPr>
          <a:xfrm>
            <a:off x="1290523" y="1815738"/>
            <a:ext cx="7334708" cy="3233319"/>
          </a:xfrm>
          <a:prstGeom prst="rect">
            <a:avLst/>
          </a:prstGeom>
        </p:spPr>
      </p:pic>
    </p:spTree>
    <p:extLst>
      <p:ext uri="{BB962C8B-B14F-4D97-AF65-F5344CB8AC3E}">
        <p14:creationId xmlns:p14="http://schemas.microsoft.com/office/powerpoint/2010/main" val="330194778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A2A80-4E9E-FDCA-A925-8EE4AE4C2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749B2-6387-3228-212C-20EBBF8D7FEF}"/>
              </a:ext>
            </a:extLst>
          </p:cNvPr>
          <p:cNvSpPr>
            <a:spLocks noGrp="1"/>
          </p:cNvSpPr>
          <p:nvPr>
            <p:ph type="title"/>
          </p:nvPr>
        </p:nvSpPr>
        <p:spPr>
          <a:xfrm>
            <a:off x="838200" y="365126"/>
            <a:ext cx="10515600" cy="719092"/>
          </a:xfrm>
        </p:spPr>
        <p:txBody>
          <a:bodyPr>
            <a:normAutofit/>
          </a:bodyPr>
          <a:lstStyle/>
          <a:p>
            <a:pPr fontAlgn="ctr"/>
            <a:r>
              <a:rPr lang="en-GB" dirty="0"/>
              <a:t>A divertissement</a:t>
            </a:r>
            <a:endParaRPr lang="en-US" dirty="0"/>
          </a:p>
        </p:txBody>
      </p:sp>
      <p:sp>
        <p:nvSpPr>
          <p:cNvPr id="4" name="Footer Placeholder 3">
            <a:extLst>
              <a:ext uri="{FF2B5EF4-FFF2-40B4-BE49-F238E27FC236}">
                <a16:creationId xmlns:a16="http://schemas.microsoft.com/office/drawing/2014/main" id="{37EDBBFD-3691-146A-A16C-EC6511A4B34B}"/>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4F6A042E-500D-2F44-1ECA-D6A48397B657}"/>
              </a:ext>
            </a:extLst>
          </p:cNvPr>
          <p:cNvSpPr>
            <a:spLocks noGrp="1"/>
          </p:cNvSpPr>
          <p:nvPr>
            <p:ph type="sldNum" sz="quarter" idx="12"/>
          </p:nvPr>
        </p:nvSpPr>
        <p:spPr/>
        <p:txBody>
          <a:bodyPr/>
          <a:lstStyle/>
          <a:p>
            <a:fld id="{02E52F69-22B0-9141-B095-D977E71C7FB4}" type="slidenum">
              <a:rPr lang="en-US" smtClean="0"/>
              <a:t>16</a:t>
            </a:fld>
            <a:endParaRPr lang="en-US"/>
          </a:p>
        </p:txBody>
      </p:sp>
      <p:sp>
        <p:nvSpPr>
          <p:cNvPr id="6" name="Date Placeholder 5">
            <a:extLst>
              <a:ext uri="{FF2B5EF4-FFF2-40B4-BE49-F238E27FC236}">
                <a16:creationId xmlns:a16="http://schemas.microsoft.com/office/drawing/2014/main" id="{7EB46205-4259-2932-3950-8BD6324B206C}"/>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7" name="Picture 6" descr="\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You've got to be careful.... &#10;\begin{align*}&#10;S(1) = S =1+2+3+4+\cdots = \frac{-1}{12}&#10;\end{align*}&#10;&#10;\end{sf}&#10;\end{document}" title="IguanaTex Picture Display">
            <a:extLst>
              <a:ext uri="{FF2B5EF4-FFF2-40B4-BE49-F238E27FC236}">
                <a16:creationId xmlns:a16="http://schemas.microsoft.com/office/drawing/2014/main" id="{378CFC29-CCD5-4B03-6424-29EBB350DC0E}"/>
              </a:ext>
            </a:extLst>
          </p:cNvPr>
          <p:cNvPicPr>
            <a:picLocks noChangeAspect="1"/>
          </p:cNvPicPr>
          <p:nvPr>
            <p:custDataLst>
              <p:tags r:id="rId1"/>
            </p:custDataLst>
          </p:nvPr>
        </p:nvPicPr>
        <p:blipFill>
          <a:blip r:embed="rId4"/>
          <a:stretch>
            <a:fillRect/>
          </a:stretch>
        </p:blipFill>
        <p:spPr>
          <a:xfrm>
            <a:off x="1290523" y="1815738"/>
            <a:ext cx="7605370" cy="3489351"/>
          </a:xfrm>
          <a:prstGeom prst="rect">
            <a:avLst/>
          </a:prstGeom>
        </p:spPr>
      </p:pic>
    </p:spTree>
    <p:extLst>
      <p:ext uri="{BB962C8B-B14F-4D97-AF65-F5344CB8AC3E}">
        <p14:creationId xmlns:p14="http://schemas.microsoft.com/office/powerpoint/2010/main" val="28466150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C94CA-0679-7D0B-61D2-99BBC1293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0D9C4-9016-86AF-77F2-42D0B7CE1856}"/>
              </a:ext>
            </a:extLst>
          </p:cNvPr>
          <p:cNvSpPr>
            <a:spLocks noGrp="1"/>
          </p:cNvSpPr>
          <p:nvPr>
            <p:ph type="title"/>
          </p:nvPr>
        </p:nvSpPr>
        <p:spPr>
          <a:xfrm>
            <a:off x="838200" y="365126"/>
            <a:ext cx="10515600" cy="719092"/>
          </a:xfrm>
        </p:spPr>
        <p:txBody>
          <a:bodyPr>
            <a:normAutofit/>
          </a:bodyPr>
          <a:lstStyle/>
          <a:p>
            <a:pPr fontAlgn="ctr"/>
            <a:r>
              <a:rPr lang="en-GB" dirty="0"/>
              <a:t>A divertissement</a:t>
            </a:r>
            <a:endParaRPr lang="en-US" dirty="0"/>
          </a:p>
        </p:txBody>
      </p:sp>
      <p:sp>
        <p:nvSpPr>
          <p:cNvPr id="4" name="Footer Placeholder 3">
            <a:extLst>
              <a:ext uri="{FF2B5EF4-FFF2-40B4-BE49-F238E27FC236}">
                <a16:creationId xmlns:a16="http://schemas.microsoft.com/office/drawing/2014/main" id="{27673FEC-228F-5A0A-F8B6-828315AA2CE8}"/>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E9DC7DB1-CEBD-9507-227D-377AB2BD42FF}"/>
              </a:ext>
            </a:extLst>
          </p:cNvPr>
          <p:cNvSpPr>
            <a:spLocks noGrp="1"/>
          </p:cNvSpPr>
          <p:nvPr>
            <p:ph type="sldNum" sz="quarter" idx="12"/>
          </p:nvPr>
        </p:nvSpPr>
        <p:spPr/>
        <p:txBody>
          <a:bodyPr/>
          <a:lstStyle/>
          <a:p>
            <a:fld id="{02E52F69-22B0-9141-B095-D977E71C7FB4}" type="slidenum">
              <a:rPr lang="en-US" smtClean="0"/>
              <a:t>17</a:t>
            </a:fld>
            <a:endParaRPr lang="en-US"/>
          </a:p>
        </p:txBody>
      </p:sp>
      <p:sp>
        <p:nvSpPr>
          <p:cNvPr id="6" name="Date Placeholder 5">
            <a:extLst>
              <a:ext uri="{FF2B5EF4-FFF2-40B4-BE49-F238E27FC236}">
                <a16:creationId xmlns:a16="http://schemas.microsoft.com/office/drawing/2014/main" id="{98C88068-A9FA-383B-BEA3-77577AACEF6F}"/>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7" name="Picture 6" descr="\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_1 = 1 -&amp; 1+1-1+1-1 \cdots\nonumber \\&#10;S_1 = \quad\quad   &amp;1 -1 + 1 -1+1-1 \cdots \nonumber \\&#10;\text{Adding: } 2S_1 = 1&amp; ~~~~~~ \text{ so: } S_1 = \frac{1}{2}&#10;\end{flalign}&#10;%\vspace*{-1cm}&#10;\begin{flalign}&#10;S_2 = 1 -&amp; 2+3-4+5-6 \cdots\nonumber \\&#10;S_2 = \quad\quad   &amp;1 -2 + 3 -4+5-6 \cdots \nonumber \\&#10;\text{Adding: } 2S_2 = 1-&amp;1+1-1+1-1 \cdots ~~~~~ = S_1\&#10;&amp; ~~~~~~ \text{ so: } S_2 = \frac{1}{4}~~~~~~~&#10;\end{flalign}&#10;\end{sf}&#10;\end{document}" title="IguanaTex Picture Display">
            <a:extLst>
              <a:ext uri="{FF2B5EF4-FFF2-40B4-BE49-F238E27FC236}">
                <a16:creationId xmlns:a16="http://schemas.microsoft.com/office/drawing/2014/main" id="{274CA69F-6F3C-A85D-F201-0AF6D524423F}"/>
              </a:ext>
            </a:extLst>
          </p:cNvPr>
          <p:cNvPicPr>
            <a:picLocks noChangeAspect="1"/>
          </p:cNvPicPr>
          <p:nvPr>
            <p:custDataLst>
              <p:tags r:id="rId1"/>
            </p:custDataLst>
          </p:nvPr>
        </p:nvPicPr>
        <p:blipFill>
          <a:blip r:embed="rId4"/>
          <a:stretch>
            <a:fillRect/>
          </a:stretch>
        </p:blipFill>
        <p:spPr>
          <a:xfrm>
            <a:off x="838203" y="1084217"/>
            <a:ext cx="10336378" cy="4364736"/>
          </a:xfrm>
          <a:prstGeom prst="rect">
            <a:avLst/>
          </a:prstGeom>
        </p:spPr>
      </p:pic>
    </p:spTree>
    <p:extLst>
      <p:ext uri="{BB962C8B-B14F-4D97-AF65-F5344CB8AC3E}">
        <p14:creationId xmlns:p14="http://schemas.microsoft.com/office/powerpoint/2010/main" val="538518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ED108-8DD5-C682-0140-2F3BD52D1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258AB-95A9-F5C7-9DA9-8AA2E3F0B936}"/>
              </a:ext>
            </a:extLst>
          </p:cNvPr>
          <p:cNvSpPr>
            <a:spLocks noGrp="1"/>
          </p:cNvSpPr>
          <p:nvPr>
            <p:ph type="title"/>
          </p:nvPr>
        </p:nvSpPr>
        <p:spPr>
          <a:xfrm>
            <a:off x="838200" y="365126"/>
            <a:ext cx="10515600" cy="719092"/>
          </a:xfrm>
        </p:spPr>
        <p:txBody>
          <a:bodyPr>
            <a:normAutofit/>
          </a:bodyPr>
          <a:lstStyle/>
          <a:p>
            <a:pPr fontAlgn="ctr"/>
            <a:r>
              <a:rPr lang="en-GB" dirty="0"/>
              <a:t>A divertissement</a:t>
            </a:r>
            <a:endParaRPr lang="en-US" dirty="0"/>
          </a:p>
        </p:txBody>
      </p:sp>
      <p:sp>
        <p:nvSpPr>
          <p:cNvPr id="4" name="Footer Placeholder 3">
            <a:extLst>
              <a:ext uri="{FF2B5EF4-FFF2-40B4-BE49-F238E27FC236}">
                <a16:creationId xmlns:a16="http://schemas.microsoft.com/office/drawing/2014/main" id="{0BFEDC9C-CDB1-56E5-EF12-5799E463E1E1}"/>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512AC28A-511F-FEB4-F58A-74CCEA428876}"/>
              </a:ext>
            </a:extLst>
          </p:cNvPr>
          <p:cNvSpPr>
            <a:spLocks noGrp="1"/>
          </p:cNvSpPr>
          <p:nvPr>
            <p:ph type="sldNum" sz="quarter" idx="12"/>
          </p:nvPr>
        </p:nvSpPr>
        <p:spPr/>
        <p:txBody>
          <a:bodyPr/>
          <a:lstStyle/>
          <a:p>
            <a:fld id="{02E52F69-22B0-9141-B095-D977E71C7FB4}" type="slidenum">
              <a:rPr lang="en-US" smtClean="0"/>
              <a:t>18</a:t>
            </a:fld>
            <a:endParaRPr lang="en-US"/>
          </a:p>
        </p:txBody>
      </p:sp>
      <p:sp>
        <p:nvSpPr>
          <p:cNvPr id="6" name="Date Placeholder 5">
            <a:extLst>
              <a:ext uri="{FF2B5EF4-FFF2-40B4-BE49-F238E27FC236}">
                <a16:creationId xmlns:a16="http://schemas.microsoft.com/office/drawing/2014/main" id="{58BDB80A-1160-69DB-CE14-2EAC3BE0F334}"/>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9" name="Picture 8" descr="\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1) - S_2 =  \quad \quad &amp;1 + 2+3+4+5+6 \cdots\nonumber \\&#10;\quad \quad - (  &amp;1 -2 + 3 -4+5-6 \cdots ) \nonumber \\&#10; = ~~~~~~ &amp;0 + 4 + 0 + 8 + 0 + 12 \cdots \nonumber &#10;\end{flalign}&#10;So we have:&#10;\begin{flalign}&#10;S(1)- S_2 = 4S(1), \implies -S_2 = 3S(1) \implies S(1) = \frac{-1}{12}&#10;\end{flalign}&#10;\end{sf}&#10;\end{document}" title="IguanaTex Picture Display">
            <a:extLst>
              <a:ext uri="{FF2B5EF4-FFF2-40B4-BE49-F238E27FC236}">
                <a16:creationId xmlns:a16="http://schemas.microsoft.com/office/drawing/2014/main" id="{E28B6D2C-D86C-A0A8-23EC-04614E35592E}"/>
              </a:ext>
            </a:extLst>
          </p:cNvPr>
          <p:cNvPicPr>
            <a:picLocks noChangeAspect="1"/>
          </p:cNvPicPr>
          <p:nvPr>
            <p:custDataLst>
              <p:tags r:id="rId1"/>
            </p:custDataLst>
          </p:nvPr>
        </p:nvPicPr>
        <p:blipFill>
          <a:blip r:embed="rId4"/>
          <a:stretch>
            <a:fillRect/>
          </a:stretch>
        </p:blipFill>
        <p:spPr>
          <a:xfrm>
            <a:off x="838200" y="2084521"/>
            <a:ext cx="8613648" cy="2834640"/>
          </a:xfrm>
          <a:prstGeom prst="rect">
            <a:avLst/>
          </a:prstGeom>
        </p:spPr>
      </p:pic>
    </p:spTree>
    <p:extLst>
      <p:ext uri="{BB962C8B-B14F-4D97-AF65-F5344CB8AC3E}">
        <p14:creationId xmlns:p14="http://schemas.microsoft.com/office/powerpoint/2010/main" val="246118424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8B72-6976-9EA9-6334-2A1E26C57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1A2BF-0384-2BFA-5B30-CD983D5BCF6B}"/>
              </a:ext>
            </a:extLst>
          </p:cNvPr>
          <p:cNvSpPr>
            <a:spLocks noGrp="1"/>
          </p:cNvSpPr>
          <p:nvPr>
            <p:ph type="title"/>
          </p:nvPr>
        </p:nvSpPr>
        <p:spPr>
          <a:xfrm>
            <a:off x="838200" y="365126"/>
            <a:ext cx="10515600" cy="719092"/>
          </a:xfrm>
        </p:spPr>
        <p:txBody>
          <a:bodyPr>
            <a:normAutofit/>
          </a:bodyPr>
          <a:lstStyle/>
          <a:p>
            <a:pPr fontAlgn="ctr"/>
            <a:r>
              <a:rPr lang="en-GB" dirty="0"/>
              <a:t>A divertissement</a:t>
            </a:r>
            <a:endParaRPr lang="en-US" dirty="0"/>
          </a:p>
        </p:txBody>
      </p:sp>
      <p:sp>
        <p:nvSpPr>
          <p:cNvPr id="4" name="Footer Placeholder 3">
            <a:extLst>
              <a:ext uri="{FF2B5EF4-FFF2-40B4-BE49-F238E27FC236}">
                <a16:creationId xmlns:a16="http://schemas.microsoft.com/office/drawing/2014/main" id="{00985BCB-5FA4-E0EB-7CFB-EF9E413DADCB}"/>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A371125-70A2-5916-B1D8-8C5485FB6F21}"/>
              </a:ext>
            </a:extLst>
          </p:cNvPr>
          <p:cNvSpPr>
            <a:spLocks noGrp="1"/>
          </p:cNvSpPr>
          <p:nvPr>
            <p:ph type="sldNum" sz="quarter" idx="12"/>
          </p:nvPr>
        </p:nvSpPr>
        <p:spPr/>
        <p:txBody>
          <a:bodyPr/>
          <a:lstStyle/>
          <a:p>
            <a:fld id="{02E52F69-22B0-9141-B095-D977E71C7FB4}" type="slidenum">
              <a:rPr lang="en-US" smtClean="0"/>
              <a:t>19</a:t>
            </a:fld>
            <a:endParaRPr lang="en-US"/>
          </a:p>
        </p:txBody>
      </p:sp>
      <p:sp>
        <p:nvSpPr>
          <p:cNvPr id="6" name="Date Placeholder 5">
            <a:extLst>
              <a:ext uri="{FF2B5EF4-FFF2-40B4-BE49-F238E27FC236}">
                <a16:creationId xmlns:a16="http://schemas.microsoft.com/office/drawing/2014/main" id="{5371048D-51F5-C1F7-6BAD-C3C1E0547DD5}"/>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34" name="Picture 33" descr="\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 - S_2 =  \quad \quad &amp;1 + 2+3+4+5+6 \cdots\nonumber \\&#10;\quad \quad - (  &amp;1 -2 + 3 -4+5-6 \cdots ) \nonumber \\&#10; = ~~~~~~ &amp;0 + 4 + 0 + 8 + 0 + 12 \cdots \nonumber &#10;\end{flalign}&#10;So we have:&#10;\begin{flalign}&#10;S- S_2 = 4S, \implies -S_2 = 3S \implies S = \frac{-1}{12}&#10;\end{flalign}&#10;\end{sf}&#10;\end{document}" title="IguanaTex Picture Display">
            <a:extLst>
              <a:ext uri="{FF2B5EF4-FFF2-40B4-BE49-F238E27FC236}">
                <a16:creationId xmlns:a16="http://schemas.microsoft.com/office/drawing/2014/main" id="{19A46420-BFA7-5885-2C21-83378DADE00C}"/>
              </a:ext>
            </a:extLst>
          </p:cNvPr>
          <p:cNvPicPr>
            <a:picLocks noChangeAspect="1"/>
          </p:cNvPicPr>
          <p:nvPr>
            <p:custDataLst>
              <p:tags r:id="rId1"/>
            </p:custDataLst>
          </p:nvPr>
        </p:nvPicPr>
        <p:blipFill>
          <a:blip r:embed="rId4"/>
          <a:stretch>
            <a:fillRect/>
          </a:stretch>
        </p:blipFill>
        <p:spPr>
          <a:xfrm>
            <a:off x="838200" y="2084523"/>
            <a:ext cx="8613648" cy="2834640"/>
          </a:xfrm>
          <a:prstGeom prst="rect">
            <a:avLst/>
          </a:prstGeom>
        </p:spPr>
      </p:pic>
      <p:sp>
        <p:nvSpPr>
          <p:cNvPr id="3" name="TextBox 2">
            <a:extLst>
              <a:ext uri="{FF2B5EF4-FFF2-40B4-BE49-F238E27FC236}">
                <a16:creationId xmlns:a16="http://schemas.microsoft.com/office/drawing/2014/main" id="{7DE5F354-C9D0-8CDA-B60D-B3B6C5692E46}"/>
              </a:ext>
            </a:extLst>
          </p:cNvPr>
          <p:cNvSpPr txBox="1"/>
          <p:nvPr/>
        </p:nvSpPr>
        <p:spPr>
          <a:xfrm>
            <a:off x="4211190" y="5550136"/>
            <a:ext cx="3532314" cy="369332"/>
          </a:xfrm>
          <a:prstGeom prst="rect">
            <a:avLst/>
          </a:prstGeom>
          <a:noFill/>
        </p:spPr>
        <p:txBody>
          <a:bodyPr wrap="none" rtlCol="0">
            <a:spAutoFit/>
          </a:bodyPr>
          <a:lstStyle/>
          <a:p>
            <a:r>
              <a:rPr lang="en-US" dirty="0"/>
              <a:t>Srinivasa Ramanujan 1887 - 1920 </a:t>
            </a:r>
          </a:p>
        </p:txBody>
      </p:sp>
      <p:pic>
        <p:nvPicPr>
          <p:cNvPr id="8" name="Picture 7">
            <a:extLst>
              <a:ext uri="{FF2B5EF4-FFF2-40B4-BE49-F238E27FC236}">
                <a16:creationId xmlns:a16="http://schemas.microsoft.com/office/drawing/2014/main" id="{8925B3E1-6164-7567-9D4E-090BF69BA97F}"/>
              </a:ext>
            </a:extLst>
          </p:cNvPr>
          <p:cNvPicPr>
            <a:picLocks noChangeAspect="1"/>
          </p:cNvPicPr>
          <p:nvPr/>
        </p:nvPicPr>
        <p:blipFill>
          <a:blip r:embed="rId5"/>
          <a:stretch>
            <a:fillRect/>
          </a:stretch>
        </p:blipFill>
        <p:spPr>
          <a:xfrm>
            <a:off x="8290561" y="3190088"/>
            <a:ext cx="2569673" cy="3428999"/>
          </a:xfrm>
          <a:prstGeom prst="rect">
            <a:avLst/>
          </a:prstGeom>
        </p:spPr>
      </p:pic>
    </p:spTree>
    <p:extLst>
      <p:ext uri="{BB962C8B-B14F-4D97-AF65-F5344CB8AC3E}">
        <p14:creationId xmlns:p14="http://schemas.microsoft.com/office/powerpoint/2010/main" val="65750848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8F6EC-6022-568A-D7DA-12E682AE5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246B2-4035-E44A-E4F7-A927315EB288}"/>
              </a:ext>
            </a:extLst>
          </p:cNvPr>
          <p:cNvSpPr>
            <a:spLocks noGrp="1"/>
          </p:cNvSpPr>
          <p:nvPr>
            <p:ph type="title"/>
          </p:nvPr>
        </p:nvSpPr>
        <p:spPr>
          <a:xfrm>
            <a:off x="838200" y="365126"/>
            <a:ext cx="10515600" cy="719092"/>
          </a:xfrm>
        </p:spPr>
        <p:txBody>
          <a:bodyPr>
            <a:normAutofit/>
          </a:bodyPr>
          <a:lstStyle/>
          <a:p>
            <a:pPr fontAlgn="ctr"/>
            <a:r>
              <a:rPr lang="en-GB" dirty="0"/>
              <a:t>A divertissement – the maths of </a:t>
            </a:r>
            <a:endParaRPr lang="en-US" dirty="0"/>
          </a:p>
        </p:txBody>
      </p:sp>
      <p:sp>
        <p:nvSpPr>
          <p:cNvPr id="4" name="Footer Placeholder 3">
            <a:extLst>
              <a:ext uri="{FF2B5EF4-FFF2-40B4-BE49-F238E27FC236}">
                <a16:creationId xmlns:a16="http://schemas.microsoft.com/office/drawing/2014/main" id="{90113630-D65F-4E64-1EF6-AA09ACB6AE36}"/>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EF525D81-887A-6B75-E037-B6D40E66C514}"/>
              </a:ext>
            </a:extLst>
          </p:cNvPr>
          <p:cNvSpPr>
            <a:spLocks noGrp="1"/>
          </p:cNvSpPr>
          <p:nvPr>
            <p:ph type="sldNum" sz="quarter" idx="12"/>
          </p:nvPr>
        </p:nvSpPr>
        <p:spPr/>
        <p:txBody>
          <a:bodyPr/>
          <a:lstStyle/>
          <a:p>
            <a:fld id="{02E52F69-22B0-9141-B095-D977E71C7FB4}" type="slidenum">
              <a:rPr lang="en-US" smtClean="0"/>
              <a:t>20</a:t>
            </a:fld>
            <a:endParaRPr lang="en-US"/>
          </a:p>
        </p:txBody>
      </p:sp>
      <p:sp>
        <p:nvSpPr>
          <p:cNvPr id="6" name="Date Placeholder 5">
            <a:extLst>
              <a:ext uri="{FF2B5EF4-FFF2-40B4-BE49-F238E27FC236}">
                <a16:creationId xmlns:a16="http://schemas.microsoft.com/office/drawing/2014/main" id="{2D99642F-D871-E8E3-6414-FB8CC24CBB8F}"/>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1" name="Picture 10" descr="\documentclass{article}&#10;\usepackage{amsmath,amsfonts}&#10;\usepackage[version=4]{mhchem}\usepackage[margin=0in,paperwidth=12cm,verbose,marginparwidth=0pt,marginparsep=0pt]{geometry}&#10;\usepackage{sectsty}&#10;\allsectionsfont{\bfseries\sffamily}&#10;\pagestyle{empty}&#10;\begin{document}&#10;\begin{sf}&#10;\noindent&#10;More generally we define the $\zeta$ function in terms of an integral.&#10;\begin{align*}&#10;\zeta(s) =&amp; \sum_{n=1}^\infty\frac{1}{n^s} \\&#10;   = &amp;\frac{1}{\Gamma(s)} \int_0^\infty \frac{x ^ {s-1}}{e ^ x - 1} \, \mathrm{d}x\,&#10;\end{align*}&#10;where&#10;\begin{align*}&#10;\Gamma(s) = \int_0^\infty x^{s-1}e^{-x} \, \mathrm{d}x &#10;\end{align*}&#10;is the gamma function, a generalization of factorial.\\&#10;The Riemann zeta function is defined for other complex values\\&#10;via {\em analytic continuation} of the function defined for &#10;Re($ s )&gt; 1$.&#10;\end{sf}&#10;\end{document}" title="IguanaTex Picture Display">
            <a:extLst>
              <a:ext uri="{FF2B5EF4-FFF2-40B4-BE49-F238E27FC236}">
                <a16:creationId xmlns:a16="http://schemas.microsoft.com/office/drawing/2014/main" id="{614DB6BC-05A8-DBDD-7566-095EA56C7E62}"/>
              </a:ext>
            </a:extLst>
          </p:cNvPr>
          <p:cNvPicPr>
            <a:picLocks noChangeAspect="1"/>
          </p:cNvPicPr>
          <p:nvPr>
            <p:custDataLst>
              <p:tags r:id="rId1"/>
            </p:custDataLst>
          </p:nvPr>
        </p:nvPicPr>
        <p:blipFill>
          <a:blip r:embed="rId5"/>
          <a:stretch>
            <a:fillRect/>
          </a:stretch>
        </p:blipFill>
        <p:spPr>
          <a:xfrm>
            <a:off x="838200" y="1627323"/>
            <a:ext cx="6687312" cy="4405376"/>
          </a:xfrm>
          <a:prstGeom prst="rect">
            <a:avLst/>
          </a:prstGeom>
        </p:spPr>
      </p:pic>
      <p:pic>
        <p:nvPicPr>
          <p:cNvPr id="17" name="Picture 16" descr="\documentclass{article}&#10;\usepackage{amsmath,amsfonts}&#10;\usepackage[version=4]{mhchem}\usepackage[margin=0in,paperwidth=8in,verbose,marginparwidth=0pt,marginparsep=0pt]{geometry}&#10;\usepackage{sectsty}&#10;\allsectionsfont{\bfseries\sffamily}&#10;\pagestyle{empty}&#10;\begin{document}&#10;\begin{sf}&#10;\noindent&#10;$\zeta(s)$&#10;\end{sf}&#10;\end{document}" title="IguanaTex Picture Display">
            <a:extLst>
              <a:ext uri="{FF2B5EF4-FFF2-40B4-BE49-F238E27FC236}">
                <a16:creationId xmlns:a16="http://schemas.microsoft.com/office/drawing/2014/main" id="{9EA3A65C-CF0D-C2E1-9366-4E72630971D3}"/>
              </a:ext>
            </a:extLst>
          </p:cNvPr>
          <p:cNvPicPr>
            <a:picLocks noChangeAspect="1"/>
          </p:cNvPicPr>
          <p:nvPr>
            <p:custDataLst>
              <p:tags r:id="rId2"/>
            </p:custDataLst>
          </p:nvPr>
        </p:nvPicPr>
        <p:blipFill>
          <a:blip r:embed="rId6"/>
          <a:stretch>
            <a:fillRect/>
          </a:stretch>
        </p:blipFill>
        <p:spPr>
          <a:xfrm>
            <a:off x="8161325" y="445272"/>
            <a:ext cx="898550" cy="558800"/>
          </a:xfrm>
          <a:prstGeom prst="rect">
            <a:avLst/>
          </a:prstGeom>
        </p:spPr>
      </p:pic>
    </p:spTree>
    <p:extLst>
      <p:ext uri="{BB962C8B-B14F-4D97-AF65-F5344CB8AC3E}">
        <p14:creationId xmlns:p14="http://schemas.microsoft.com/office/powerpoint/2010/main" val="355537991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E20C8-FC53-B02B-E68B-BC3A23863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004D4-E3C9-2A9F-C726-D531F43BE63D}"/>
              </a:ext>
            </a:extLst>
          </p:cNvPr>
          <p:cNvSpPr>
            <a:spLocks noGrp="1"/>
          </p:cNvSpPr>
          <p:nvPr>
            <p:ph type="title"/>
          </p:nvPr>
        </p:nvSpPr>
        <p:spPr>
          <a:xfrm>
            <a:off x="341811" y="365126"/>
            <a:ext cx="10515600" cy="1325563"/>
          </a:xfrm>
        </p:spPr>
        <p:txBody>
          <a:bodyPr>
            <a:normAutofit/>
          </a:bodyPr>
          <a:lstStyle/>
          <a:p>
            <a:pPr fontAlgn="ctr"/>
            <a:r>
              <a:rPr lang="en-GB" dirty="0"/>
              <a:t>Probabilities – The Monty Hall Problem</a:t>
            </a:r>
            <a:endParaRPr lang="en-US" dirty="0"/>
          </a:p>
        </p:txBody>
      </p:sp>
      <p:sp>
        <p:nvSpPr>
          <p:cNvPr id="4" name="Footer Placeholder 3">
            <a:extLst>
              <a:ext uri="{FF2B5EF4-FFF2-40B4-BE49-F238E27FC236}">
                <a16:creationId xmlns:a16="http://schemas.microsoft.com/office/drawing/2014/main" id="{F9AB24F0-973A-7939-57CA-409054B521E5}"/>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F644CA94-5BC4-3479-ADEE-2E1771E71FBB}"/>
              </a:ext>
            </a:extLst>
          </p:cNvPr>
          <p:cNvSpPr>
            <a:spLocks noGrp="1"/>
          </p:cNvSpPr>
          <p:nvPr>
            <p:ph type="sldNum" sz="quarter" idx="12"/>
          </p:nvPr>
        </p:nvSpPr>
        <p:spPr/>
        <p:txBody>
          <a:bodyPr/>
          <a:lstStyle/>
          <a:p>
            <a:fld id="{02E52F69-22B0-9141-B095-D977E71C7FB4}" type="slidenum">
              <a:rPr lang="en-US" smtClean="0"/>
              <a:t>21</a:t>
            </a:fld>
            <a:endParaRPr lang="en-US"/>
          </a:p>
        </p:txBody>
      </p:sp>
      <p:sp>
        <p:nvSpPr>
          <p:cNvPr id="6" name="Date Placeholder 5">
            <a:extLst>
              <a:ext uri="{FF2B5EF4-FFF2-40B4-BE49-F238E27FC236}">
                <a16:creationId xmlns:a16="http://schemas.microsoft.com/office/drawing/2014/main" id="{68D6FE1D-588B-D835-BF26-2F0D82A814C9}"/>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28" name="Picture 27" descr="\documentclass{article}&#10;\usepackage{amsmath,amsfonts}&#10;\usepackage[version=4]{mhchem}\usepackage[margin=0in,paperwidth=14cm,verbose,marginparwidth=0pt,marginparsep=0pt]{geometry}&#10;\usepackage{sectsty}&#10;\allsectionsfont{\bfseries\sffamily}&#10;\pagestyle{empty}&#10;\begin{document}&#10;\begin{sf}&#10;\noindent&#10;%https://en.wikipedia.org/wiki/Monty_Hall_problem&#10;\begin{itemize}&#10;&#9;\item You are given the choice of three doors:&#10;&#9;\begin{itemize}&#10;&#9;\item Behind one door is a car; behind the others, goats.&#10;&#9;\end{itemize}&#10;&#9;\item You pick a door.&#10;&#9;\item The host knows what's behind the doors&#10;&#9;\item He opens another door, which has a goat.&#10;\begin{itemize}&#10;&#9;\item He then says to you, \lq Do you want to stay with your original door or change?\rq&#10;\end{itemize}&#10;\item Is it to your advantage to switch your choice?&#10;\end{itemize}&#10;\end{sf}&#10;\end{document}" title="IguanaTex Picture Display">
            <a:extLst>
              <a:ext uri="{FF2B5EF4-FFF2-40B4-BE49-F238E27FC236}">
                <a16:creationId xmlns:a16="http://schemas.microsoft.com/office/drawing/2014/main" id="{C58AD423-EDA7-F11D-EB2B-ECA64B837226}"/>
              </a:ext>
            </a:extLst>
          </p:cNvPr>
          <p:cNvPicPr>
            <a:picLocks noChangeAspect="1"/>
          </p:cNvPicPr>
          <p:nvPr>
            <p:custDataLst>
              <p:tags r:id="rId1"/>
            </p:custDataLst>
          </p:nvPr>
        </p:nvPicPr>
        <p:blipFill>
          <a:blip r:embed="rId4"/>
          <a:stretch>
            <a:fillRect/>
          </a:stretch>
        </p:blipFill>
        <p:spPr>
          <a:xfrm>
            <a:off x="528325" y="1690693"/>
            <a:ext cx="10848443" cy="3918509"/>
          </a:xfrm>
          <a:prstGeom prst="rect">
            <a:avLst/>
          </a:prstGeom>
        </p:spPr>
      </p:pic>
      <p:pic>
        <p:nvPicPr>
          <p:cNvPr id="20" name="Picture 19">
            <a:extLst>
              <a:ext uri="{FF2B5EF4-FFF2-40B4-BE49-F238E27FC236}">
                <a16:creationId xmlns:a16="http://schemas.microsoft.com/office/drawing/2014/main" id="{973AF623-796C-0CD0-B884-790ED01C9F2B}"/>
              </a:ext>
            </a:extLst>
          </p:cNvPr>
          <p:cNvPicPr>
            <a:picLocks noChangeAspect="1"/>
          </p:cNvPicPr>
          <p:nvPr/>
        </p:nvPicPr>
        <p:blipFill>
          <a:blip r:embed="rId5"/>
          <a:stretch>
            <a:fillRect/>
          </a:stretch>
        </p:blipFill>
        <p:spPr>
          <a:xfrm>
            <a:off x="9225846" y="0"/>
            <a:ext cx="2523484" cy="3287198"/>
          </a:xfrm>
          <a:prstGeom prst="rect">
            <a:avLst/>
          </a:prstGeom>
        </p:spPr>
      </p:pic>
    </p:spTree>
    <p:extLst>
      <p:ext uri="{BB962C8B-B14F-4D97-AF65-F5344CB8AC3E}">
        <p14:creationId xmlns:p14="http://schemas.microsoft.com/office/powerpoint/2010/main" val="33254687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E16F-CE10-09E2-C616-DD7257A66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73CB7-E76B-96D7-C9F4-56E531F14CFB}"/>
              </a:ext>
            </a:extLst>
          </p:cNvPr>
          <p:cNvSpPr>
            <a:spLocks noGrp="1"/>
          </p:cNvSpPr>
          <p:nvPr>
            <p:ph type="title"/>
          </p:nvPr>
        </p:nvSpPr>
        <p:spPr/>
        <p:txBody>
          <a:bodyPr>
            <a:normAutofit/>
          </a:bodyPr>
          <a:lstStyle/>
          <a:p>
            <a:pPr fontAlgn="ctr"/>
            <a:r>
              <a:rPr lang="en-GB" dirty="0"/>
              <a:t>Probabilities – The Monty Hall Problem</a:t>
            </a:r>
            <a:endParaRPr lang="en-US" dirty="0"/>
          </a:p>
        </p:txBody>
      </p:sp>
      <p:sp>
        <p:nvSpPr>
          <p:cNvPr id="4" name="Footer Placeholder 3">
            <a:extLst>
              <a:ext uri="{FF2B5EF4-FFF2-40B4-BE49-F238E27FC236}">
                <a16:creationId xmlns:a16="http://schemas.microsoft.com/office/drawing/2014/main" id="{A32540A2-602A-91A4-B096-4D121265EB77}"/>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8828263E-DB8A-71DA-01C8-DB841AEB6848}"/>
              </a:ext>
            </a:extLst>
          </p:cNvPr>
          <p:cNvSpPr>
            <a:spLocks noGrp="1"/>
          </p:cNvSpPr>
          <p:nvPr>
            <p:ph type="sldNum" sz="quarter" idx="12"/>
          </p:nvPr>
        </p:nvSpPr>
        <p:spPr/>
        <p:txBody>
          <a:bodyPr/>
          <a:lstStyle/>
          <a:p>
            <a:fld id="{02E52F69-22B0-9141-B095-D977E71C7FB4}" type="slidenum">
              <a:rPr lang="en-US" smtClean="0"/>
              <a:t>22</a:t>
            </a:fld>
            <a:endParaRPr lang="en-US"/>
          </a:p>
        </p:txBody>
      </p:sp>
      <p:sp>
        <p:nvSpPr>
          <p:cNvPr id="6" name="Date Placeholder 5">
            <a:extLst>
              <a:ext uri="{FF2B5EF4-FFF2-40B4-BE49-F238E27FC236}">
                <a16:creationId xmlns:a16="http://schemas.microsoft.com/office/drawing/2014/main" id="{18FC0DB6-338E-EE52-26A4-389A4EDF5D17}"/>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20" name="Picture 19" descr="\documentclass{article}&#10;\usepackage{amsmath,amsfonts}&#10;\usepackage[version=4]{mhchem}\usepackage[margin=0in,paperwidth=14cm,verbose,marginparwidth=0pt,marginparsep=0pt]{geometry}&#10;\usepackage{sectsty}&#10;\allsectionsfont{\bfseries\sffamily}&#10;\pagestyle{empty}&#10;\begin{document}&#10;\begin{sf}&#10;\noindent&#10;\paragraph{By considering outcomes:}&#10;\bigskip \ \\ &#10;\begin{center}&#10;\begin{tabular}{|ccc|cc|}&#10;\hline&#10;Door 1 &amp; Door 2 &amp; Door 3 &amp; Stay &amp; Change \\&#10;\hline&#10;G &amp; G &amp; C &amp; G &amp; C\\&#10;G &amp; C &amp; G &amp; G &amp; C\\&#10;C &amp; G &amp; G &amp; C &amp; G\\&#10;\hline&#10;\end{tabular}&#10;\end{center}&#10;&#10;This shows that the probability of:&#10;\begin{itemize}&#10;\item winning the car if the contestant {\em does not} change is $\frac{1}{3}$&#10;\item and the probability of winning if they {\em do change} is $\frac{2}{3}$.&#10;\end{itemize}&#10;\end{sf}&#10;\end{document}" title="IguanaTex Picture Display">
            <a:extLst>
              <a:ext uri="{FF2B5EF4-FFF2-40B4-BE49-F238E27FC236}">
                <a16:creationId xmlns:a16="http://schemas.microsoft.com/office/drawing/2014/main" id="{A4D6F4BC-6D03-2BD0-3F7D-F6778342D2D8}"/>
              </a:ext>
            </a:extLst>
          </p:cNvPr>
          <p:cNvPicPr>
            <a:picLocks noChangeAspect="1"/>
          </p:cNvPicPr>
          <p:nvPr>
            <p:custDataLst>
              <p:tags r:id="rId1"/>
            </p:custDataLst>
          </p:nvPr>
        </p:nvPicPr>
        <p:blipFill>
          <a:blip r:embed="rId4"/>
          <a:stretch>
            <a:fillRect/>
          </a:stretch>
        </p:blipFill>
        <p:spPr>
          <a:xfrm>
            <a:off x="528326" y="1690684"/>
            <a:ext cx="9005011" cy="4147720"/>
          </a:xfrm>
          <a:prstGeom prst="rect">
            <a:avLst/>
          </a:prstGeom>
        </p:spPr>
      </p:pic>
    </p:spTree>
    <p:extLst>
      <p:ext uri="{BB962C8B-B14F-4D97-AF65-F5344CB8AC3E}">
        <p14:creationId xmlns:p14="http://schemas.microsoft.com/office/powerpoint/2010/main" val="25029831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D3E42-66C1-59AA-CCDF-079C4BA1D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373D5-47DF-13D1-D46B-0E6B8098A406}"/>
              </a:ext>
            </a:extLst>
          </p:cNvPr>
          <p:cNvSpPr>
            <a:spLocks noGrp="1"/>
          </p:cNvSpPr>
          <p:nvPr>
            <p:ph type="title"/>
          </p:nvPr>
        </p:nvSpPr>
        <p:spPr/>
        <p:txBody>
          <a:bodyPr>
            <a:normAutofit/>
          </a:bodyPr>
          <a:lstStyle/>
          <a:p>
            <a:pPr fontAlgn="ctr"/>
            <a:r>
              <a:rPr lang="en-GB" dirty="0"/>
              <a:t>Probabilities – Medical testing			(</a:t>
            </a:r>
            <a:r>
              <a:rPr lang="en-GB" dirty="0" err="1"/>
              <a:t>i</a:t>
            </a:r>
            <a:r>
              <a:rPr lang="en-GB" dirty="0"/>
              <a:t>)</a:t>
            </a:r>
            <a:endParaRPr lang="en-US" dirty="0"/>
          </a:p>
        </p:txBody>
      </p:sp>
      <p:sp>
        <p:nvSpPr>
          <p:cNvPr id="4" name="Footer Placeholder 3">
            <a:extLst>
              <a:ext uri="{FF2B5EF4-FFF2-40B4-BE49-F238E27FC236}">
                <a16:creationId xmlns:a16="http://schemas.microsoft.com/office/drawing/2014/main" id="{536EE512-3108-D608-AE5C-9AB85DC28EA1}"/>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A792E64-0FA2-1B37-3EE0-78C4661E1C08}"/>
              </a:ext>
            </a:extLst>
          </p:cNvPr>
          <p:cNvSpPr>
            <a:spLocks noGrp="1"/>
          </p:cNvSpPr>
          <p:nvPr>
            <p:ph type="sldNum" sz="quarter" idx="12"/>
          </p:nvPr>
        </p:nvSpPr>
        <p:spPr/>
        <p:txBody>
          <a:bodyPr/>
          <a:lstStyle/>
          <a:p>
            <a:fld id="{02E52F69-22B0-9141-B095-D977E71C7FB4}" type="slidenum">
              <a:rPr lang="en-US" smtClean="0"/>
              <a:t>23</a:t>
            </a:fld>
            <a:endParaRPr lang="en-US"/>
          </a:p>
        </p:txBody>
      </p:sp>
      <p:sp>
        <p:nvSpPr>
          <p:cNvPr id="6" name="Date Placeholder 5">
            <a:extLst>
              <a:ext uri="{FF2B5EF4-FFF2-40B4-BE49-F238E27FC236}">
                <a16:creationId xmlns:a16="http://schemas.microsoft.com/office/drawing/2014/main" id="{19DE8D47-106C-8C1A-0FF7-F73D513DC958}"/>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5" name="Picture 14" descr="\documentclass{article}&#10;\usepackage{amsmath,amsfonts}&#10;\usepackage[version=4]{mhchem}\usepackage[margin=0in,paperwidth=12cm,verbose,marginparwidth=0pt,marginparsep=0pt]{geometry}&#10;\usepackage{sectsty}&#10;\allsectionsfont{\bfseries\sffamily}&#10;\pagestyle{empty}&#10;\begin{document}&#10;\begin{sf}&#10;\noindent&#10;In a particular population the probability that a woman \\&#10;\hspace*{2cm}(in a particular age range) has breast cancer is 1\%.&#10;\bigskip \ \\&#10;Some facts about mammograms:&#10;\begin{itemize} &#10;\item If a woman has breast cancer then the probability that she tests positive is 90\% (test sensitivity).&#10;\item If a woman does not have breast cancer the probability that she nevertheless tests positive is 9\% (false positive rate).&#10;\end{itemize}&#10;\end{sf}&#10;\end{document}" title="IguanaTex Picture Display">
            <a:extLst>
              <a:ext uri="{FF2B5EF4-FFF2-40B4-BE49-F238E27FC236}">
                <a16:creationId xmlns:a16="http://schemas.microsoft.com/office/drawing/2014/main" id="{FBAA9968-91CC-CBDD-B67B-4B96D16B8DC6}"/>
              </a:ext>
            </a:extLst>
          </p:cNvPr>
          <p:cNvPicPr>
            <a:picLocks noChangeAspect="1"/>
          </p:cNvPicPr>
          <p:nvPr>
            <p:custDataLst>
              <p:tags r:id="rId1"/>
            </p:custDataLst>
          </p:nvPr>
        </p:nvPicPr>
        <p:blipFill>
          <a:blip r:embed="rId4"/>
          <a:stretch>
            <a:fillRect/>
          </a:stretch>
        </p:blipFill>
        <p:spPr>
          <a:xfrm>
            <a:off x="528326" y="1690682"/>
            <a:ext cx="10346130" cy="3321103"/>
          </a:xfrm>
          <a:prstGeom prst="rect">
            <a:avLst/>
          </a:prstGeom>
        </p:spPr>
      </p:pic>
    </p:spTree>
    <p:extLst>
      <p:ext uri="{BB962C8B-B14F-4D97-AF65-F5344CB8AC3E}">
        <p14:creationId xmlns:p14="http://schemas.microsoft.com/office/powerpoint/2010/main" val="367007561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CF62-ED83-C3AB-71B3-6B418874C6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FFD22-91DE-BFDA-D3B7-7067D92D7660}"/>
              </a:ext>
            </a:extLst>
          </p:cNvPr>
          <p:cNvSpPr>
            <a:spLocks noGrp="1"/>
          </p:cNvSpPr>
          <p:nvPr>
            <p:ph type="title"/>
          </p:nvPr>
        </p:nvSpPr>
        <p:spPr/>
        <p:txBody>
          <a:bodyPr>
            <a:normAutofit/>
          </a:bodyPr>
          <a:lstStyle/>
          <a:p>
            <a:pPr fontAlgn="ctr"/>
            <a:r>
              <a:rPr lang="en-GB" dirty="0"/>
              <a:t>Probabilities – Medical testing			(ii)</a:t>
            </a:r>
            <a:endParaRPr lang="en-US" dirty="0"/>
          </a:p>
        </p:txBody>
      </p:sp>
      <p:sp>
        <p:nvSpPr>
          <p:cNvPr id="4" name="Footer Placeholder 3">
            <a:extLst>
              <a:ext uri="{FF2B5EF4-FFF2-40B4-BE49-F238E27FC236}">
                <a16:creationId xmlns:a16="http://schemas.microsoft.com/office/drawing/2014/main" id="{389905CE-0817-5CFE-D411-6EDAF7352FAF}"/>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07378EC7-DB00-9E07-BF23-D7C3E7EB887A}"/>
              </a:ext>
            </a:extLst>
          </p:cNvPr>
          <p:cNvSpPr>
            <a:spLocks noGrp="1"/>
          </p:cNvSpPr>
          <p:nvPr>
            <p:ph type="sldNum" sz="quarter" idx="12"/>
          </p:nvPr>
        </p:nvSpPr>
        <p:spPr/>
        <p:txBody>
          <a:bodyPr/>
          <a:lstStyle/>
          <a:p>
            <a:fld id="{02E52F69-22B0-9141-B095-D977E71C7FB4}" type="slidenum">
              <a:rPr lang="en-US" smtClean="0"/>
              <a:t>24</a:t>
            </a:fld>
            <a:endParaRPr lang="en-US"/>
          </a:p>
        </p:txBody>
      </p:sp>
      <p:sp>
        <p:nvSpPr>
          <p:cNvPr id="6" name="Date Placeholder 5">
            <a:extLst>
              <a:ext uri="{FF2B5EF4-FFF2-40B4-BE49-F238E27FC236}">
                <a16:creationId xmlns:a16="http://schemas.microsoft.com/office/drawing/2014/main" id="{DC8AC91E-C3E4-17CC-6E10-F5A6C106AED0}"/>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4" name="Picture 13" descr="\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10;\end{sf}&#10;\end{document}" title="IguanaTex Picture Display">
            <a:extLst>
              <a:ext uri="{FF2B5EF4-FFF2-40B4-BE49-F238E27FC236}">
                <a16:creationId xmlns:a16="http://schemas.microsoft.com/office/drawing/2014/main" id="{87816B7A-FEB6-DE70-F235-1455F594C6A4}"/>
              </a:ext>
            </a:extLst>
          </p:cNvPr>
          <p:cNvPicPr>
            <a:picLocks noChangeAspect="1"/>
          </p:cNvPicPr>
          <p:nvPr>
            <p:custDataLst>
              <p:tags r:id="rId1"/>
            </p:custDataLst>
          </p:nvPr>
        </p:nvPicPr>
        <p:blipFill>
          <a:blip r:embed="rId4"/>
          <a:stretch>
            <a:fillRect/>
          </a:stretch>
        </p:blipFill>
        <p:spPr>
          <a:xfrm>
            <a:off x="528328" y="1690681"/>
            <a:ext cx="9668257" cy="2911856"/>
          </a:xfrm>
          <a:prstGeom prst="rect">
            <a:avLst/>
          </a:prstGeom>
        </p:spPr>
      </p:pic>
    </p:spTree>
    <p:extLst>
      <p:ext uri="{BB962C8B-B14F-4D97-AF65-F5344CB8AC3E}">
        <p14:creationId xmlns:p14="http://schemas.microsoft.com/office/powerpoint/2010/main" val="18906884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A2388-EFFC-F53E-3B9D-A3DF99AB3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AB8FC-8C9C-9737-5990-40B8120D0DF9}"/>
              </a:ext>
            </a:extLst>
          </p:cNvPr>
          <p:cNvSpPr>
            <a:spLocks noGrp="1"/>
          </p:cNvSpPr>
          <p:nvPr>
            <p:ph type="title"/>
          </p:nvPr>
        </p:nvSpPr>
        <p:spPr/>
        <p:txBody>
          <a:bodyPr>
            <a:normAutofit/>
          </a:bodyPr>
          <a:lstStyle/>
          <a:p>
            <a:pPr fontAlgn="ctr"/>
            <a:r>
              <a:rPr lang="en-GB" dirty="0"/>
              <a:t>Probabilities – Medical testing		(ii)</a:t>
            </a:r>
            <a:endParaRPr lang="en-US" dirty="0"/>
          </a:p>
        </p:txBody>
      </p:sp>
      <p:sp>
        <p:nvSpPr>
          <p:cNvPr id="4" name="Footer Placeholder 3">
            <a:extLst>
              <a:ext uri="{FF2B5EF4-FFF2-40B4-BE49-F238E27FC236}">
                <a16:creationId xmlns:a16="http://schemas.microsoft.com/office/drawing/2014/main" id="{68E82D39-78F0-C128-EEB6-D48B4F7042BE}"/>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EA6EB730-066E-9746-9D7F-D41204BF729B}"/>
              </a:ext>
            </a:extLst>
          </p:cNvPr>
          <p:cNvSpPr>
            <a:spLocks noGrp="1"/>
          </p:cNvSpPr>
          <p:nvPr>
            <p:ph type="sldNum" sz="quarter" idx="12"/>
          </p:nvPr>
        </p:nvSpPr>
        <p:spPr/>
        <p:txBody>
          <a:bodyPr/>
          <a:lstStyle/>
          <a:p>
            <a:fld id="{02E52F69-22B0-9141-B095-D977E71C7FB4}" type="slidenum">
              <a:rPr lang="en-US" smtClean="0"/>
              <a:t>25</a:t>
            </a:fld>
            <a:endParaRPr lang="en-US"/>
          </a:p>
        </p:txBody>
      </p:sp>
      <p:sp>
        <p:nvSpPr>
          <p:cNvPr id="6" name="Date Placeholder 5">
            <a:extLst>
              <a:ext uri="{FF2B5EF4-FFF2-40B4-BE49-F238E27FC236}">
                <a16:creationId xmlns:a16="http://schemas.microsoft.com/office/drawing/2014/main" id="{1EC7AF84-419B-5E28-3270-D82D9C9331E4}"/>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7" name="Picture 6" descr="\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medskip \ \\&#10;Fewer than 21\% of doctors answered with option 3.\\&#10;&#10;\end{sf}&#10;\end{document}" title="IguanaTex Picture Display">
            <a:extLst>
              <a:ext uri="{FF2B5EF4-FFF2-40B4-BE49-F238E27FC236}">
                <a16:creationId xmlns:a16="http://schemas.microsoft.com/office/drawing/2014/main" id="{42056022-931E-6502-D62B-82033EB9BCE6}"/>
              </a:ext>
            </a:extLst>
          </p:cNvPr>
          <p:cNvPicPr>
            <a:picLocks noChangeAspect="1"/>
          </p:cNvPicPr>
          <p:nvPr>
            <p:custDataLst>
              <p:tags r:id="rId1"/>
            </p:custDataLst>
          </p:nvPr>
        </p:nvPicPr>
        <p:blipFill>
          <a:blip r:embed="rId4"/>
          <a:stretch>
            <a:fillRect/>
          </a:stretch>
        </p:blipFill>
        <p:spPr>
          <a:xfrm>
            <a:off x="528328" y="1690681"/>
            <a:ext cx="9668257" cy="3919728"/>
          </a:xfrm>
          <a:prstGeom prst="rect">
            <a:avLst/>
          </a:prstGeom>
        </p:spPr>
      </p:pic>
    </p:spTree>
    <p:extLst>
      <p:ext uri="{BB962C8B-B14F-4D97-AF65-F5344CB8AC3E}">
        <p14:creationId xmlns:p14="http://schemas.microsoft.com/office/powerpoint/2010/main" val="6737993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A1343-CAA6-6745-C953-8017EDEC4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6E717-6CE2-17EC-DDA6-CFF01D134780}"/>
              </a:ext>
            </a:extLst>
          </p:cNvPr>
          <p:cNvSpPr>
            <a:spLocks noGrp="1"/>
          </p:cNvSpPr>
          <p:nvPr>
            <p:ph type="title"/>
          </p:nvPr>
        </p:nvSpPr>
        <p:spPr/>
        <p:txBody>
          <a:bodyPr>
            <a:normAutofit/>
          </a:bodyPr>
          <a:lstStyle/>
          <a:p>
            <a:pPr fontAlgn="ctr"/>
            <a:r>
              <a:rPr lang="en-GB" dirty="0"/>
              <a:t>Probabilities – Medical testing		(ii)</a:t>
            </a:r>
            <a:endParaRPr lang="en-US" dirty="0"/>
          </a:p>
        </p:txBody>
      </p:sp>
      <p:sp>
        <p:nvSpPr>
          <p:cNvPr id="4" name="Footer Placeholder 3">
            <a:extLst>
              <a:ext uri="{FF2B5EF4-FFF2-40B4-BE49-F238E27FC236}">
                <a16:creationId xmlns:a16="http://schemas.microsoft.com/office/drawing/2014/main" id="{B59CC2BC-FB0B-EED4-F146-9C3AF03B320C}"/>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75731FB4-9564-27F3-AC9A-89FA0B7D3657}"/>
              </a:ext>
            </a:extLst>
          </p:cNvPr>
          <p:cNvSpPr>
            <a:spLocks noGrp="1"/>
          </p:cNvSpPr>
          <p:nvPr>
            <p:ph type="sldNum" sz="quarter" idx="12"/>
          </p:nvPr>
        </p:nvSpPr>
        <p:spPr/>
        <p:txBody>
          <a:bodyPr/>
          <a:lstStyle/>
          <a:p>
            <a:fld id="{02E52F69-22B0-9141-B095-D977E71C7FB4}" type="slidenum">
              <a:rPr lang="en-US" smtClean="0"/>
              <a:t>26</a:t>
            </a:fld>
            <a:endParaRPr lang="en-US"/>
          </a:p>
        </p:txBody>
      </p:sp>
      <p:sp>
        <p:nvSpPr>
          <p:cNvPr id="6" name="Date Placeholder 5">
            <a:extLst>
              <a:ext uri="{FF2B5EF4-FFF2-40B4-BE49-F238E27FC236}">
                <a16:creationId xmlns:a16="http://schemas.microsoft.com/office/drawing/2014/main" id="{86FCBA58-D5BB-3906-C7DF-1D54DFF68C9D}"/>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2" name="Picture 11" descr="\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medskip \ \\&#10;Fewer than 21\% of doctors answered with option 3.\\&#10;\medskip \ \\&#10;The score would have been better if the choice had been random.&#10;&#10;\end{sf}&#10;\end{document}" title="IguanaTex Picture Display">
            <a:extLst>
              <a:ext uri="{FF2B5EF4-FFF2-40B4-BE49-F238E27FC236}">
                <a16:creationId xmlns:a16="http://schemas.microsoft.com/office/drawing/2014/main" id="{B35EF858-0BFF-CBFE-727A-D06AD78D11B1}"/>
              </a:ext>
            </a:extLst>
          </p:cNvPr>
          <p:cNvPicPr>
            <a:picLocks noChangeAspect="1"/>
          </p:cNvPicPr>
          <p:nvPr>
            <p:custDataLst>
              <p:tags r:id="rId1"/>
            </p:custDataLst>
          </p:nvPr>
        </p:nvPicPr>
        <p:blipFill>
          <a:blip r:embed="rId5"/>
          <a:stretch>
            <a:fillRect/>
          </a:stretch>
        </p:blipFill>
        <p:spPr>
          <a:xfrm>
            <a:off x="528327" y="1690681"/>
            <a:ext cx="9682481" cy="4632960"/>
          </a:xfrm>
          <a:prstGeom prst="rect">
            <a:avLst/>
          </a:prstGeom>
        </p:spPr>
      </p:pic>
      <p:pic>
        <p:nvPicPr>
          <p:cNvPr id="14" name="Picture 13" descr="\documentclass{article}&#10;\usepackage{amsmath,amsfonts}&#10;\usepackage[version=4]{mhchem}\usepackage[margin=0in,paperwidth=14cm,verbose,marginparwidth=0pt,marginparsep=0pt]{geometry}&#10;\usepackage{sectsty}&#10;\allsectionsfont{\bfseries\sffamily}&#10;\pagestyle{empty}&#10;\begin{document}&#10;\begin{sf}&#10;\noindent&#10;&#10;\fbox{\parbox{10cm}{&#10;{\sc Gerd Gigerenzer et al, 2008}\\&#10;Helping Doctors and Patients Make Sense of Health Statistics\\&#10;PSYCHOLOGICAL SCIENCE IN THE PUBLIC INTEREST\\&#10;%{\tt https://www.stat.berkeley.edu/$\sim$aldous/157/Papers/health\_stats.pdf}&#10;}}&#10;\end{sf}&#10;\end{document}" title="IguanaTex Picture Display">
            <a:extLst>
              <a:ext uri="{FF2B5EF4-FFF2-40B4-BE49-F238E27FC236}">
                <a16:creationId xmlns:a16="http://schemas.microsoft.com/office/drawing/2014/main" id="{57FE27F3-A7F3-FEDE-EB80-0D9D71B40DEE}"/>
              </a:ext>
            </a:extLst>
          </p:cNvPr>
          <p:cNvPicPr>
            <a:picLocks noChangeAspect="1"/>
          </p:cNvPicPr>
          <p:nvPr>
            <p:custDataLst>
              <p:tags r:id="rId2"/>
            </p:custDataLst>
          </p:nvPr>
        </p:nvPicPr>
        <p:blipFill>
          <a:blip r:embed="rId6"/>
          <a:stretch>
            <a:fillRect/>
          </a:stretch>
        </p:blipFill>
        <p:spPr>
          <a:xfrm>
            <a:off x="6903004" y="5021431"/>
            <a:ext cx="5159045" cy="879043"/>
          </a:xfrm>
          <a:prstGeom prst="rect">
            <a:avLst/>
          </a:prstGeom>
        </p:spPr>
      </p:pic>
    </p:spTree>
    <p:extLst>
      <p:ext uri="{BB962C8B-B14F-4D97-AF65-F5344CB8AC3E}">
        <p14:creationId xmlns:p14="http://schemas.microsoft.com/office/powerpoint/2010/main" val="275070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5536C-CDDB-6970-4638-576FEF57F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1C249-C7E9-4BE9-E374-FEF24A524F9A}"/>
              </a:ext>
            </a:extLst>
          </p:cNvPr>
          <p:cNvSpPr>
            <a:spLocks noGrp="1"/>
          </p:cNvSpPr>
          <p:nvPr>
            <p:ph type="title"/>
          </p:nvPr>
        </p:nvSpPr>
        <p:spPr>
          <a:xfrm>
            <a:off x="838200" y="365126"/>
            <a:ext cx="10515600" cy="692966"/>
          </a:xfrm>
        </p:spPr>
        <p:txBody>
          <a:bodyPr>
            <a:normAutofit fontScale="90000"/>
          </a:bodyPr>
          <a:lstStyle/>
          <a:p>
            <a:pPr fontAlgn="ctr"/>
            <a:r>
              <a:rPr lang="en-GB" dirty="0"/>
              <a:t>Probabilities – Medical testing		(iii)</a:t>
            </a:r>
            <a:endParaRPr lang="en-US" dirty="0"/>
          </a:p>
        </p:txBody>
      </p:sp>
      <p:sp>
        <p:nvSpPr>
          <p:cNvPr id="4" name="Footer Placeholder 3">
            <a:extLst>
              <a:ext uri="{FF2B5EF4-FFF2-40B4-BE49-F238E27FC236}">
                <a16:creationId xmlns:a16="http://schemas.microsoft.com/office/drawing/2014/main" id="{853F84B5-5A94-DB12-6416-298DD0613459}"/>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7157BC68-B00A-BC0A-A6F2-B926EBC2040E}"/>
              </a:ext>
            </a:extLst>
          </p:cNvPr>
          <p:cNvSpPr>
            <a:spLocks noGrp="1"/>
          </p:cNvSpPr>
          <p:nvPr>
            <p:ph type="sldNum" sz="quarter" idx="12"/>
          </p:nvPr>
        </p:nvSpPr>
        <p:spPr/>
        <p:txBody>
          <a:bodyPr/>
          <a:lstStyle/>
          <a:p>
            <a:fld id="{02E52F69-22B0-9141-B095-D977E71C7FB4}" type="slidenum">
              <a:rPr lang="en-US" smtClean="0"/>
              <a:t>27</a:t>
            </a:fld>
            <a:endParaRPr lang="en-US"/>
          </a:p>
        </p:txBody>
      </p:sp>
      <p:sp>
        <p:nvSpPr>
          <p:cNvPr id="6" name="Date Placeholder 5">
            <a:extLst>
              <a:ext uri="{FF2B5EF4-FFF2-40B4-BE49-F238E27FC236}">
                <a16:creationId xmlns:a16="http://schemas.microsoft.com/office/drawing/2014/main" id="{0664A56A-4A35-243F-36A4-2324091AC62D}"/>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8" name="Picture 17" descr="\documentclass{article}&#10;\usepackage{amsmath,amsfonts}&#10;\usepackage[version=4]{mhchem}\usepackage[margin=0in,paperwidth=16cm,verbose,marginparwidth=0pt,marginparsep=0pt]{geometry}&#10;\usepackage{sectsty}&#10;\allsectionsfont{\bfseries\sffamily}&#10;\pagestyle{empty}&#10;\begin{document}&#10;\begin{sf}&#10;\noindent&#10;&#10;\begin{enumerate}&#10;\item Consider a population of 1\,000 women. &#10;\item We know that the prevalence of cancer is 1\% in this population $\implies$ There are 10 people with breast cancer.&#10;\item Let us test everyone.&#10;\item We test 10 people with cancer. The test sensitivity is 90\% so we have 9 positive results.&#10;\item We test 990 people who {\bf do not} have cancer.\\&#10;The false positive rate is 9\% so we have ($89.1 = 990 \times 0.09$) false positive results.&#10;\item Considering the positive results above, we see that a positive mammogram implies that the probability of the subject having cancer is:&#10;\begin{align*}&#10;P(\text{Actually having cancer} |&amp; \text{Positive mammogram}) \\&#10;                                      =&amp;  \frac{9}{89.1 + 9} &#10;                                        \approx 9.2\%&#10;\end{align*}&#10;\end{enumerate}&#10;&#10;\end{sf}&#10;\end{document}" title="IguanaTex Picture Display">
            <a:extLst>
              <a:ext uri="{FF2B5EF4-FFF2-40B4-BE49-F238E27FC236}">
                <a16:creationId xmlns:a16="http://schemas.microsoft.com/office/drawing/2014/main" id="{78DE58D2-B781-F686-594C-F815F29E3DA7}"/>
              </a:ext>
            </a:extLst>
          </p:cNvPr>
          <p:cNvPicPr>
            <a:picLocks noChangeAspect="1"/>
          </p:cNvPicPr>
          <p:nvPr>
            <p:custDataLst>
              <p:tags r:id="rId1"/>
            </p:custDataLst>
          </p:nvPr>
        </p:nvPicPr>
        <p:blipFill>
          <a:blip r:embed="rId4"/>
          <a:stretch>
            <a:fillRect/>
          </a:stretch>
        </p:blipFill>
        <p:spPr>
          <a:xfrm>
            <a:off x="496823" y="1259338"/>
            <a:ext cx="11198354" cy="4895088"/>
          </a:xfrm>
          <a:prstGeom prst="rect">
            <a:avLst/>
          </a:prstGeom>
        </p:spPr>
      </p:pic>
    </p:spTree>
    <p:extLst>
      <p:ext uri="{BB962C8B-B14F-4D97-AF65-F5344CB8AC3E}">
        <p14:creationId xmlns:p14="http://schemas.microsoft.com/office/powerpoint/2010/main" val="425717100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A8FBA-22EB-1B09-DECC-9B7B26641A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281D1-D076-2ED8-D040-EE051FF031B4}"/>
              </a:ext>
            </a:extLst>
          </p:cNvPr>
          <p:cNvSpPr>
            <a:spLocks noGrp="1"/>
          </p:cNvSpPr>
          <p:nvPr>
            <p:ph type="title"/>
          </p:nvPr>
        </p:nvSpPr>
        <p:spPr>
          <a:xfrm>
            <a:off x="838200" y="365126"/>
            <a:ext cx="10515600" cy="692966"/>
          </a:xfrm>
        </p:spPr>
        <p:txBody>
          <a:bodyPr>
            <a:normAutofit fontScale="90000"/>
          </a:bodyPr>
          <a:lstStyle/>
          <a:p>
            <a:pPr fontAlgn="ctr"/>
            <a:r>
              <a:rPr lang="en-GB" dirty="0"/>
              <a:t>Bayes Theorem</a:t>
            </a:r>
            <a:endParaRPr lang="en-US" dirty="0"/>
          </a:p>
        </p:txBody>
      </p:sp>
      <p:sp>
        <p:nvSpPr>
          <p:cNvPr id="4" name="Footer Placeholder 3">
            <a:extLst>
              <a:ext uri="{FF2B5EF4-FFF2-40B4-BE49-F238E27FC236}">
                <a16:creationId xmlns:a16="http://schemas.microsoft.com/office/drawing/2014/main" id="{A4DE4A91-6C41-5BF6-61DD-9718B1E9F79B}"/>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146D3F76-1303-8326-B484-95F9475F9DE1}"/>
              </a:ext>
            </a:extLst>
          </p:cNvPr>
          <p:cNvSpPr>
            <a:spLocks noGrp="1"/>
          </p:cNvSpPr>
          <p:nvPr>
            <p:ph type="sldNum" sz="quarter" idx="12"/>
          </p:nvPr>
        </p:nvSpPr>
        <p:spPr/>
        <p:txBody>
          <a:bodyPr/>
          <a:lstStyle/>
          <a:p>
            <a:fld id="{02E52F69-22B0-9141-B095-D977E71C7FB4}" type="slidenum">
              <a:rPr lang="en-US" smtClean="0"/>
              <a:t>28</a:t>
            </a:fld>
            <a:endParaRPr lang="en-US"/>
          </a:p>
        </p:txBody>
      </p:sp>
      <p:sp>
        <p:nvSpPr>
          <p:cNvPr id="6" name="Date Placeholder 5">
            <a:extLst>
              <a:ext uri="{FF2B5EF4-FFF2-40B4-BE49-F238E27FC236}">
                <a16:creationId xmlns:a16="http://schemas.microsoft.com/office/drawing/2014/main" id="{90893F78-AB73-5BD0-B5A5-F61D311C698B}"/>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26" name="Picture 25" descr="\documentclass{article}&#10;\usepackage[fleqn]{amsmath}&#10;\usepackage{amsfonts}&#10;\usepackage[version=4]{mhchem}\usepackage[margin=0in,paperwidth=16cm,verbose,marginparwidth=0pt,marginparsep=0pt]{geometry}&#10;\usepackage{sectsty}&#10;\allsectionsfont{\bfseries\sffamily}&#10;\pagestyle{empty}&#10;\begin{document}&#10;\begin{sf}&#10;\noindent&#10;Published (posthumously) 1763\\&#10;An Essay Towards Solving a Problem in the Doctrine of Chances&#10;&#10;\begin{flalign*}&#10;P(A\cap B) &amp;= P(A|B) P(B) = P(B|A) P(A) \\&#10;\intertext{therefore, re-arranging:}&#10;%P(A|B)P(B) &amp;= P(B|A)P(A)&#10;%\intertext{re-arranging:}&#10;P(A|B) &amp;= \frac{P(B|A)P(A)}{P(B)}, ~~~~~~~~~\text{provided: } P(B)\neq 0&#10;\end{flalign*}&#10;&#10;\end{sf}&#10;\end{document}" title="IguanaTex Picture Display">
            <a:extLst>
              <a:ext uri="{FF2B5EF4-FFF2-40B4-BE49-F238E27FC236}">
                <a16:creationId xmlns:a16="http://schemas.microsoft.com/office/drawing/2014/main" id="{70C4F01E-D6E4-4F7F-8B66-A1B5CB36476C}"/>
              </a:ext>
            </a:extLst>
          </p:cNvPr>
          <p:cNvPicPr>
            <a:picLocks noChangeAspect="1"/>
          </p:cNvPicPr>
          <p:nvPr>
            <p:custDataLst>
              <p:tags r:id="rId1"/>
            </p:custDataLst>
          </p:nvPr>
        </p:nvPicPr>
        <p:blipFill>
          <a:blip r:embed="rId4"/>
          <a:stretch>
            <a:fillRect/>
          </a:stretch>
        </p:blipFill>
        <p:spPr>
          <a:xfrm>
            <a:off x="496821" y="1368086"/>
            <a:ext cx="7528154" cy="3285745"/>
          </a:xfrm>
          <a:prstGeom prst="rect">
            <a:avLst/>
          </a:prstGeom>
        </p:spPr>
      </p:pic>
    </p:spTree>
    <p:extLst>
      <p:ext uri="{BB962C8B-B14F-4D97-AF65-F5344CB8AC3E}">
        <p14:creationId xmlns:p14="http://schemas.microsoft.com/office/powerpoint/2010/main" val="101416301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539C2-0080-793D-E6A3-931EBE94A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D86A2-033E-FBAF-ABA3-BA360BF76008}"/>
              </a:ext>
            </a:extLst>
          </p:cNvPr>
          <p:cNvSpPr>
            <a:spLocks noGrp="1"/>
          </p:cNvSpPr>
          <p:nvPr>
            <p:ph type="title"/>
          </p:nvPr>
        </p:nvSpPr>
        <p:spPr>
          <a:xfrm>
            <a:off x="838200" y="365126"/>
            <a:ext cx="10515600" cy="692966"/>
          </a:xfrm>
        </p:spPr>
        <p:txBody>
          <a:bodyPr>
            <a:normAutofit fontScale="90000"/>
          </a:bodyPr>
          <a:lstStyle/>
          <a:p>
            <a:pPr fontAlgn="ctr"/>
            <a:r>
              <a:rPr lang="en-GB" dirty="0"/>
              <a:t>Probabilities – Medical testing		(iv)</a:t>
            </a:r>
            <a:endParaRPr lang="en-US" dirty="0"/>
          </a:p>
        </p:txBody>
      </p:sp>
      <p:sp>
        <p:nvSpPr>
          <p:cNvPr id="4" name="Footer Placeholder 3">
            <a:extLst>
              <a:ext uri="{FF2B5EF4-FFF2-40B4-BE49-F238E27FC236}">
                <a16:creationId xmlns:a16="http://schemas.microsoft.com/office/drawing/2014/main" id="{A59AE624-A655-5347-3341-656AF06DB697}"/>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E803163D-4EE9-6630-D1E9-AA01A915AD04}"/>
              </a:ext>
            </a:extLst>
          </p:cNvPr>
          <p:cNvSpPr>
            <a:spLocks noGrp="1"/>
          </p:cNvSpPr>
          <p:nvPr>
            <p:ph type="sldNum" sz="quarter" idx="12"/>
          </p:nvPr>
        </p:nvSpPr>
        <p:spPr/>
        <p:txBody>
          <a:bodyPr/>
          <a:lstStyle/>
          <a:p>
            <a:fld id="{02E52F69-22B0-9141-B095-D977E71C7FB4}" type="slidenum">
              <a:rPr lang="en-US" smtClean="0"/>
              <a:t>29</a:t>
            </a:fld>
            <a:endParaRPr lang="en-US"/>
          </a:p>
        </p:txBody>
      </p:sp>
      <p:sp>
        <p:nvSpPr>
          <p:cNvPr id="6" name="Date Placeholder 5">
            <a:extLst>
              <a:ext uri="{FF2B5EF4-FFF2-40B4-BE49-F238E27FC236}">
                <a16:creationId xmlns:a16="http://schemas.microsoft.com/office/drawing/2014/main" id="{8D66DE27-812F-7DB5-FD2D-3F0A09E022BD}"/>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7" name="Picture 16" descr="\documentclass{article}&#10;\usepackage{amsmath,amsfonts}&#10;\usepackage[version=4]{mhchem}\usepackage[margin=0in,paperwidth=16cm,verbose,marginparwidth=0pt,marginparsep=0pt]{geometry}&#10;\usepackage{sectsty}&#10;\allsectionsfont{\bfseries\sffamily}&#10;\pagestyle{empty}&#10;\begin{document}&#10;\begin{sf}&#10;\noindent&#10;{\hfill Proof via Bayes Theorem}&#10;\ \medskip \\&#10;Define $C$ to be the event that a subject has cancer and \\&#10;$M$ that a subject has a positive mammogram result.&#10;\ \\&#10;We are told that: &#10;\begin{enumerate}&#10;\item $P(C) = 0.01$ (prevalence of cancer),&#10;\item $P(M|C) = 0.9$ (test sensitivity),&#10;\item $P(M|\neg C) = 0.09$ (false positives).&#10;\end{enumerate}&#10;&#10;Now we use $P(M) = P(C)P(M|C) + P(\neg C)P(M|\neg C) = 0.01\times 0.9 + 0.99 \times 0.09 \approx 0.981$ \\&#10;%(Rule of total probability.)&#10;&#10;Bayes rule gives us:&#10;\begin{align*}&#10;P(C|M) &amp;= \frac{P(M|C)P(C)}{P(M)}&#10; = \frac{0.9 \times 0.01}{0.981} &#10;\approx 0.092 ~~~~~\text{ as before.}&#10;\end{align*}&#10;&#10;\end{sf}&#10;\end{document}" title="IguanaTex Picture Display">
            <a:extLst>
              <a:ext uri="{FF2B5EF4-FFF2-40B4-BE49-F238E27FC236}">
                <a16:creationId xmlns:a16="http://schemas.microsoft.com/office/drawing/2014/main" id="{ADA7BD36-2C33-3FC3-B602-A4897C1AB70E}"/>
              </a:ext>
            </a:extLst>
          </p:cNvPr>
          <p:cNvPicPr>
            <a:picLocks noChangeAspect="1"/>
          </p:cNvPicPr>
          <p:nvPr>
            <p:custDataLst>
              <p:tags r:id="rId1"/>
            </p:custDataLst>
          </p:nvPr>
        </p:nvPicPr>
        <p:blipFill>
          <a:blip r:embed="rId4"/>
          <a:stretch>
            <a:fillRect/>
          </a:stretch>
        </p:blipFill>
        <p:spPr>
          <a:xfrm>
            <a:off x="372132" y="1001609"/>
            <a:ext cx="11326370" cy="4797552"/>
          </a:xfrm>
          <a:prstGeom prst="rect">
            <a:avLst/>
          </a:prstGeom>
        </p:spPr>
      </p:pic>
    </p:spTree>
    <p:extLst>
      <p:ext uri="{BB962C8B-B14F-4D97-AF65-F5344CB8AC3E}">
        <p14:creationId xmlns:p14="http://schemas.microsoft.com/office/powerpoint/2010/main" val="261408155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FCC33-F6BB-D522-1F88-B41F6E9AE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A8AF1-5ECF-77FA-A3B8-9CADBC6E8F00}"/>
              </a:ext>
            </a:extLst>
          </p:cNvPr>
          <p:cNvSpPr>
            <a:spLocks noGrp="1"/>
          </p:cNvSpPr>
          <p:nvPr>
            <p:ph type="title"/>
          </p:nvPr>
        </p:nvSpPr>
        <p:spPr>
          <a:xfrm>
            <a:off x="838200" y="365125"/>
            <a:ext cx="10515600" cy="757093"/>
          </a:xfrm>
        </p:spPr>
        <p:txBody>
          <a:bodyPr>
            <a:normAutofit/>
          </a:bodyPr>
          <a:lstStyle/>
          <a:p>
            <a:pPr fontAlgn="ctr"/>
            <a:r>
              <a:rPr lang="en-GB" dirty="0"/>
              <a:t>The search for completeness and solvability</a:t>
            </a:r>
          </a:p>
        </p:txBody>
      </p:sp>
      <p:sp>
        <p:nvSpPr>
          <p:cNvPr id="3" name="Content Placeholder 2">
            <a:extLst>
              <a:ext uri="{FF2B5EF4-FFF2-40B4-BE49-F238E27FC236}">
                <a16:creationId xmlns:a16="http://schemas.microsoft.com/office/drawing/2014/main" id="{1EEEDDE6-017C-5988-23A2-9A2EF7C2BC46}"/>
              </a:ext>
            </a:extLst>
          </p:cNvPr>
          <p:cNvSpPr>
            <a:spLocks noGrp="1"/>
          </p:cNvSpPr>
          <p:nvPr>
            <p:ph idx="1"/>
          </p:nvPr>
        </p:nvSpPr>
        <p:spPr>
          <a:xfrm>
            <a:off x="838200" y="1253331"/>
            <a:ext cx="10515600" cy="4351338"/>
          </a:xfrm>
        </p:spPr>
        <p:txBody>
          <a:bodyPr>
            <a:normAutofit fontScale="92500" lnSpcReduction="10000"/>
          </a:bodyPr>
          <a:lstStyle/>
          <a:p>
            <a:pPr fontAlgn="ctr"/>
            <a:r>
              <a:rPr lang="en-GB" dirty="0"/>
              <a:t>1872 Congress of German Scientists and Physicians (</a:t>
            </a:r>
            <a:r>
              <a:rPr lang="en-GB" dirty="0" err="1"/>
              <a:t>Königsburg</a:t>
            </a:r>
            <a:r>
              <a:rPr lang="en-GB" dirty="0"/>
              <a:t>)</a:t>
            </a:r>
          </a:p>
          <a:p>
            <a:pPr lvl="1" fontAlgn="ctr"/>
            <a:r>
              <a:rPr lang="en-GB" u="sng" dirty="0"/>
              <a:t>Emil du Bois-Reymond</a:t>
            </a:r>
            <a:r>
              <a:rPr lang="en-GB" dirty="0"/>
              <a:t>: The Limits of Science</a:t>
            </a:r>
          </a:p>
          <a:p>
            <a:pPr marL="457200" lvl="1" indent="0" fontAlgn="ctr">
              <a:buNone/>
            </a:pPr>
            <a:r>
              <a:rPr lang="en-GB" b="1" i="1" dirty="0"/>
              <a:t>	</a:t>
            </a:r>
            <a:r>
              <a:rPr lang="la-Latn" b="1" i="1" dirty="0"/>
              <a:t>ignoramus et ignorabimus</a:t>
            </a:r>
            <a:r>
              <a:rPr lang="en-GB" dirty="0"/>
              <a:t> -- "we do not know and will not know"</a:t>
            </a:r>
          </a:p>
          <a:p>
            <a:pPr fontAlgn="ctr"/>
            <a:r>
              <a:rPr lang="en-GB" dirty="0"/>
              <a:t>1900 Second International Congress of Mathematicians</a:t>
            </a:r>
          </a:p>
          <a:p>
            <a:pPr lvl="1" fontAlgn="ctr"/>
            <a:r>
              <a:rPr lang="en-GB" u="sng" dirty="0"/>
              <a:t>David Hilbert </a:t>
            </a:r>
            <a:r>
              <a:rPr lang="en-GB" dirty="0"/>
              <a:t>– he of the Problems, Spaces and the Grand Hotel</a:t>
            </a:r>
          </a:p>
          <a:p>
            <a:pPr lvl="2" fontAlgn="ctr"/>
            <a:r>
              <a:rPr lang="en-GB" dirty="0"/>
              <a:t>Decidability – can any well-formed formula (</a:t>
            </a:r>
            <a:r>
              <a:rPr lang="en-GB" dirty="0" err="1"/>
              <a:t>wff</a:t>
            </a:r>
            <a:r>
              <a:rPr lang="en-GB" dirty="0"/>
              <a:t>) be proved (or disproved) from the axioms of a mathematical theory in a finite number of steps</a:t>
            </a:r>
          </a:p>
          <a:p>
            <a:pPr lvl="2" fontAlgn="ctr"/>
            <a:r>
              <a:rPr lang="en-GB" dirty="0"/>
              <a:t>Not contradictory – no finite number of logical steps based on the axioms will lead to a contradictory result.</a:t>
            </a:r>
          </a:p>
          <a:p>
            <a:pPr fontAlgn="ctr"/>
            <a:r>
              <a:rPr lang="en-GB" dirty="0"/>
              <a:t>1930 Congress of German Scientists and Physicians (</a:t>
            </a:r>
            <a:r>
              <a:rPr lang="en-GB" dirty="0" err="1"/>
              <a:t>Königsburg</a:t>
            </a:r>
            <a:r>
              <a:rPr lang="en-GB" dirty="0"/>
              <a:t>)</a:t>
            </a:r>
          </a:p>
          <a:p>
            <a:pPr lvl="1" fontAlgn="ctr"/>
            <a:r>
              <a:rPr lang="en-GB" u="sng" dirty="0"/>
              <a:t>Hilbert’s address</a:t>
            </a:r>
          </a:p>
          <a:p>
            <a:pPr marL="457200" lvl="1" indent="0" fontAlgn="ctr">
              <a:buNone/>
            </a:pPr>
            <a:r>
              <a:rPr lang="de-DE" b="1" i="1" dirty="0"/>
              <a:t>Wir müssen wissen – wir werden wissen</a:t>
            </a:r>
            <a:r>
              <a:rPr lang="en-GB" b="1" dirty="0"/>
              <a:t> --</a:t>
            </a:r>
            <a:r>
              <a:rPr lang="en-GB" dirty="0"/>
              <a:t>"We must know – we will know"</a:t>
            </a:r>
          </a:p>
          <a:p>
            <a:pPr lvl="1" fontAlgn="ctr"/>
            <a:endParaRPr lang="en-GB" dirty="0"/>
          </a:p>
          <a:p>
            <a:pPr fontAlgn="ctr"/>
            <a:endParaRPr lang="en-US" dirty="0"/>
          </a:p>
        </p:txBody>
      </p:sp>
      <p:sp>
        <p:nvSpPr>
          <p:cNvPr id="4" name="Footer Placeholder 3">
            <a:extLst>
              <a:ext uri="{FF2B5EF4-FFF2-40B4-BE49-F238E27FC236}">
                <a16:creationId xmlns:a16="http://schemas.microsoft.com/office/drawing/2014/main" id="{337A1F0C-ADF8-79A4-46F1-22DEB4EB145C}"/>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0BCB3947-EA35-A9D7-BD61-E86B69683E7F}"/>
              </a:ext>
            </a:extLst>
          </p:cNvPr>
          <p:cNvSpPr>
            <a:spLocks noGrp="1"/>
          </p:cNvSpPr>
          <p:nvPr>
            <p:ph type="sldNum" sz="quarter" idx="12"/>
          </p:nvPr>
        </p:nvSpPr>
        <p:spPr/>
        <p:txBody>
          <a:bodyPr/>
          <a:lstStyle/>
          <a:p>
            <a:fld id="{02E52F69-22B0-9141-B095-D977E71C7FB4}" type="slidenum">
              <a:rPr lang="en-US" smtClean="0"/>
              <a:t>30</a:t>
            </a:fld>
            <a:endParaRPr lang="en-US"/>
          </a:p>
        </p:txBody>
      </p:sp>
      <p:sp>
        <p:nvSpPr>
          <p:cNvPr id="6" name="Date Placeholder 5">
            <a:extLst>
              <a:ext uri="{FF2B5EF4-FFF2-40B4-BE49-F238E27FC236}">
                <a16:creationId xmlns:a16="http://schemas.microsoft.com/office/drawing/2014/main" id="{7072B722-43F5-52CD-4A94-C1F34286231A}"/>
              </a:ext>
            </a:extLst>
          </p:cNvPr>
          <p:cNvSpPr>
            <a:spLocks noGrp="1"/>
          </p:cNvSpPr>
          <p:nvPr>
            <p:ph type="dt" sz="half" idx="10"/>
          </p:nvPr>
        </p:nvSpPr>
        <p:spPr/>
        <p:txBody>
          <a:bodyPr/>
          <a:lstStyle/>
          <a:p>
            <a:fld id="{9ADAD4DC-8417-F04A-8651-C2781AF1D746}" type="datetime1">
              <a:rPr lang="en-GB" smtClean="0"/>
              <a:t>19/10/2026</a:t>
            </a:fld>
            <a:endParaRPr lang="en-US"/>
          </a:p>
        </p:txBody>
      </p:sp>
    </p:spTree>
    <p:extLst>
      <p:ext uri="{BB962C8B-B14F-4D97-AF65-F5344CB8AC3E}">
        <p14:creationId xmlns:p14="http://schemas.microsoft.com/office/powerpoint/2010/main" val="37822938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7C2F1-6C39-9ACE-9228-20B51C3D47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8DA83-A7B7-C270-53FA-E267899114DE}"/>
              </a:ext>
            </a:extLst>
          </p:cNvPr>
          <p:cNvSpPr>
            <a:spLocks noGrp="1"/>
          </p:cNvSpPr>
          <p:nvPr>
            <p:ph type="title"/>
          </p:nvPr>
        </p:nvSpPr>
        <p:spPr>
          <a:xfrm>
            <a:off x="838200" y="365125"/>
            <a:ext cx="10515600" cy="757093"/>
          </a:xfrm>
        </p:spPr>
        <p:txBody>
          <a:bodyPr>
            <a:normAutofit fontScale="90000"/>
          </a:bodyPr>
          <a:lstStyle/>
          <a:p>
            <a:pPr fontAlgn="ctr"/>
            <a:r>
              <a:rPr lang="en-GB" dirty="0"/>
              <a:t>The search for completeness and solvability (ii)</a:t>
            </a:r>
          </a:p>
        </p:txBody>
      </p:sp>
      <p:sp>
        <p:nvSpPr>
          <p:cNvPr id="3" name="Content Placeholder 2">
            <a:extLst>
              <a:ext uri="{FF2B5EF4-FFF2-40B4-BE49-F238E27FC236}">
                <a16:creationId xmlns:a16="http://schemas.microsoft.com/office/drawing/2014/main" id="{DD3E98AD-A766-E586-8E15-2F6AE513F0C1}"/>
              </a:ext>
            </a:extLst>
          </p:cNvPr>
          <p:cNvSpPr>
            <a:spLocks noGrp="1"/>
          </p:cNvSpPr>
          <p:nvPr>
            <p:ph idx="1"/>
          </p:nvPr>
        </p:nvSpPr>
        <p:spPr>
          <a:xfrm>
            <a:off x="838200" y="1253331"/>
            <a:ext cx="10515600" cy="4351338"/>
          </a:xfrm>
        </p:spPr>
        <p:txBody>
          <a:bodyPr>
            <a:normAutofit fontScale="92500" lnSpcReduction="10000"/>
          </a:bodyPr>
          <a:lstStyle/>
          <a:p>
            <a:pPr fontAlgn="ctr"/>
            <a:r>
              <a:rPr lang="en-GB" dirty="0"/>
              <a:t>1872 Congress of German Scientists and Physicians (</a:t>
            </a:r>
            <a:r>
              <a:rPr lang="en-GB" dirty="0" err="1"/>
              <a:t>Königsburg</a:t>
            </a:r>
            <a:r>
              <a:rPr lang="en-GB" dirty="0"/>
              <a:t>)</a:t>
            </a:r>
          </a:p>
          <a:p>
            <a:pPr lvl="1" fontAlgn="ctr"/>
            <a:r>
              <a:rPr lang="en-GB" u="sng" dirty="0"/>
              <a:t>Emil du Bois-Reymond</a:t>
            </a:r>
            <a:r>
              <a:rPr lang="en-GB" dirty="0"/>
              <a:t>: The Limits of Science</a:t>
            </a:r>
          </a:p>
          <a:p>
            <a:pPr marL="457200" lvl="1" indent="0" fontAlgn="ctr">
              <a:buNone/>
            </a:pPr>
            <a:r>
              <a:rPr lang="en-GB" b="1" i="1" dirty="0"/>
              <a:t>	</a:t>
            </a:r>
            <a:r>
              <a:rPr lang="la-Latn" b="1" i="1" dirty="0"/>
              <a:t>ignoramus et ignorabimus</a:t>
            </a:r>
            <a:r>
              <a:rPr lang="en-GB" dirty="0"/>
              <a:t> -- "we do not know and will not know"</a:t>
            </a:r>
          </a:p>
          <a:p>
            <a:pPr fontAlgn="ctr"/>
            <a:r>
              <a:rPr lang="en-GB" dirty="0"/>
              <a:t>1900 Second International Congress of Mathematicians</a:t>
            </a:r>
          </a:p>
          <a:p>
            <a:pPr lvl="1" fontAlgn="ctr"/>
            <a:r>
              <a:rPr lang="en-GB" u="sng" dirty="0"/>
              <a:t>David Hilbert </a:t>
            </a:r>
            <a:r>
              <a:rPr lang="en-GB" dirty="0"/>
              <a:t>– he of the problems and spaces</a:t>
            </a:r>
          </a:p>
          <a:p>
            <a:pPr lvl="2" fontAlgn="ctr"/>
            <a:r>
              <a:rPr lang="en-GB" dirty="0"/>
              <a:t>Decidability – any well-formed formula (</a:t>
            </a:r>
            <a:r>
              <a:rPr lang="en-GB" dirty="0" err="1"/>
              <a:t>wff</a:t>
            </a:r>
            <a:r>
              <a:rPr lang="en-GB" dirty="0"/>
              <a:t>) can be proved from the axioms of a mathematical theory</a:t>
            </a:r>
          </a:p>
          <a:p>
            <a:pPr lvl="2" fontAlgn="ctr"/>
            <a:r>
              <a:rPr lang="en-GB" dirty="0"/>
              <a:t>Not contradictory – no finite number of logical steps based on the axioms will lead to a contradictory result.</a:t>
            </a:r>
          </a:p>
          <a:p>
            <a:pPr fontAlgn="ctr"/>
            <a:r>
              <a:rPr lang="en-GB" dirty="0"/>
              <a:t>1930 Congress of German Scientists and Physicians (</a:t>
            </a:r>
            <a:r>
              <a:rPr lang="en-GB" dirty="0" err="1"/>
              <a:t>Königsburg</a:t>
            </a:r>
            <a:r>
              <a:rPr lang="en-GB" dirty="0"/>
              <a:t>)</a:t>
            </a:r>
          </a:p>
          <a:p>
            <a:pPr lvl="1" fontAlgn="ctr"/>
            <a:r>
              <a:rPr lang="en-GB" u="sng" dirty="0"/>
              <a:t>Hilbert’s address</a:t>
            </a:r>
          </a:p>
          <a:p>
            <a:pPr marL="457200" lvl="1" indent="0" fontAlgn="ctr">
              <a:buNone/>
            </a:pPr>
            <a:r>
              <a:rPr lang="de-DE" b="1" i="1" dirty="0"/>
              <a:t>Wir müssen wissen – wir werden wissen</a:t>
            </a:r>
            <a:r>
              <a:rPr lang="en-GB" b="1" dirty="0"/>
              <a:t> --</a:t>
            </a:r>
            <a:r>
              <a:rPr lang="en-GB" dirty="0"/>
              <a:t>"We must know – we will know"</a:t>
            </a:r>
          </a:p>
          <a:p>
            <a:pPr lvl="1" fontAlgn="ctr"/>
            <a:endParaRPr lang="en-GB" dirty="0"/>
          </a:p>
          <a:p>
            <a:pPr fontAlgn="ctr"/>
            <a:endParaRPr lang="en-US" dirty="0"/>
          </a:p>
        </p:txBody>
      </p:sp>
      <p:sp>
        <p:nvSpPr>
          <p:cNvPr id="4" name="Footer Placeholder 3">
            <a:extLst>
              <a:ext uri="{FF2B5EF4-FFF2-40B4-BE49-F238E27FC236}">
                <a16:creationId xmlns:a16="http://schemas.microsoft.com/office/drawing/2014/main" id="{724BC926-3F2E-6E3A-51D3-53C970AE56B8}"/>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EED13E41-6384-0957-4946-60D4F9E65732}"/>
              </a:ext>
            </a:extLst>
          </p:cNvPr>
          <p:cNvSpPr>
            <a:spLocks noGrp="1"/>
          </p:cNvSpPr>
          <p:nvPr>
            <p:ph type="sldNum" sz="quarter" idx="12"/>
          </p:nvPr>
        </p:nvSpPr>
        <p:spPr/>
        <p:txBody>
          <a:bodyPr/>
          <a:lstStyle/>
          <a:p>
            <a:fld id="{02E52F69-22B0-9141-B095-D977E71C7FB4}" type="slidenum">
              <a:rPr lang="en-US" smtClean="0"/>
              <a:t>31</a:t>
            </a:fld>
            <a:endParaRPr lang="en-US"/>
          </a:p>
        </p:txBody>
      </p:sp>
      <p:sp>
        <p:nvSpPr>
          <p:cNvPr id="6" name="Date Placeholder 5">
            <a:extLst>
              <a:ext uri="{FF2B5EF4-FFF2-40B4-BE49-F238E27FC236}">
                <a16:creationId xmlns:a16="http://schemas.microsoft.com/office/drawing/2014/main" id="{550F3E7F-0BFA-D65A-2CE8-F4208CF6D055}"/>
              </a:ext>
            </a:extLst>
          </p:cNvPr>
          <p:cNvSpPr>
            <a:spLocks noGrp="1"/>
          </p:cNvSpPr>
          <p:nvPr>
            <p:ph type="dt" sz="half" idx="10"/>
          </p:nvPr>
        </p:nvSpPr>
        <p:spPr/>
        <p:txBody>
          <a:bodyPr/>
          <a:lstStyle/>
          <a:p>
            <a:fld id="{9ADAD4DC-8417-F04A-8651-C2781AF1D746}" type="datetime1">
              <a:rPr lang="en-GB" smtClean="0"/>
              <a:t>19/10/2026</a:t>
            </a:fld>
            <a:endParaRPr lang="en-US"/>
          </a:p>
        </p:txBody>
      </p:sp>
      <p:sp>
        <p:nvSpPr>
          <p:cNvPr id="7" name="TextBox 6">
            <a:extLst>
              <a:ext uri="{FF2B5EF4-FFF2-40B4-BE49-F238E27FC236}">
                <a16:creationId xmlns:a16="http://schemas.microsoft.com/office/drawing/2014/main" id="{D37F641C-7FA5-4349-9214-37CB4E43F1E8}"/>
              </a:ext>
            </a:extLst>
          </p:cNvPr>
          <p:cNvSpPr txBox="1"/>
          <p:nvPr/>
        </p:nvSpPr>
        <p:spPr>
          <a:xfrm>
            <a:off x="838200" y="1873899"/>
            <a:ext cx="8973097" cy="3539430"/>
          </a:xfrm>
          <a:prstGeom prst="rect">
            <a:avLst/>
          </a:prstGeom>
          <a:solidFill>
            <a:schemeClr val="bg1"/>
          </a:solidFill>
          <a:effectLst>
            <a:glow rad="381000">
              <a:schemeClr val="accent2">
                <a:satMod val="175000"/>
                <a:alpha val="40000"/>
              </a:schemeClr>
            </a:glow>
            <a:outerShdw blurRad="127000" dist="50800" dir="5400000" algn="ctr" rotWithShape="0">
              <a:schemeClr val="tx1">
                <a:lumMod val="50000"/>
                <a:lumOff val="50000"/>
              </a:schemeClr>
            </a:outerShdw>
          </a:effectLst>
          <a:scene3d>
            <a:camera prst="orthographicFront"/>
            <a:lightRig rig="threePt" dir="t"/>
          </a:scene3d>
          <a:sp3d>
            <a:bevelT w="152400" h="152400" prst="angle"/>
          </a:sp3d>
        </p:spPr>
        <p:txBody>
          <a:bodyPr wrap="none" rtlCol="0">
            <a:spAutoFit/>
          </a:bodyPr>
          <a:lstStyle/>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However,</a:t>
            </a:r>
          </a:p>
          <a:p>
            <a:pPr marL="285750" indent="-285750">
              <a:buFont typeface="Arial" panose="020B0604020202020204" pitchFamily="34" charset="0"/>
              <a:buChar char="•"/>
            </a:pPr>
            <a:r>
              <a:rPr lang="en-US" sz="2800" dirty="0"/>
              <a:t>One day earlier</a:t>
            </a:r>
          </a:p>
          <a:p>
            <a:pPr marL="285750" indent="-285750">
              <a:buFont typeface="Arial" panose="020B0604020202020204" pitchFamily="34" charset="0"/>
              <a:buChar char="•"/>
            </a:pPr>
            <a:r>
              <a:rPr lang="en-US" sz="2800" dirty="0"/>
              <a:t>In </a:t>
            </a:r>
            <a:r>
              <a:rPr lang="en-GB" sz="2800" dirty="0" err="1"/>
              <a:t>Königsburg</a:t>
            </a:r>
            <a:endParaRPr lang="en-GB" sz="2800" dirty="0"/>
          </a:p>
          <a:p>
            <a:pPr marL="285750" indent="-285750">
              <a:buFont typeface="Arial" panose="020B0604020202020204" pitchFamily="34" charset="0"/>
              <a:buChar char="•"/>
            </a:pPr>
            <a:r>
              <a:rPr lang="en-GB" sz="2800" dirty="0"/>
              <a:t>Kurt Gödel  announces a proof that:</a:t>
            </a:r>
          </a:p>
          <a:p>
            <a:pPr marL="285750" indent="-285750">
              <a:buFont typeface="Arial" panose="020B0604020202020204" pitchFamily="34" charset="0"/>
              <a:buChar char="•"/>
            </a:pPr>
            <a:r>
              <a:rPr lang="en-GB" sz="2800" dirty="0"/>
              <a:t>Any system strong enough to produce Peano arithmetic</a:t>
            </a:r>
          </a:p>
          <a:p>
            <a:r>
              <a:rPr lang="en-GB" sz="2800" dirty="0"/>
              <a:t>	</a:t>
            </a:r>
            <a:r>
              <a:rPr lang="en-GB" sz="2800" b="1" dirty="0"/>
              <a:t>is essentially incomplete.</a:t>
            </a:r>
          </a:p>
          <a:p>
            <a:endParaRPr lang="en-US" sz="2800" b="1" dirty="0"/>
          </a:p>
        </p:txBody>
      </p:sp>
    </p:spTree>
    <p:extLst>
      <p:ext uri="{BB962C8B-B14F-4D97-AF65-F5344CB8AC3E}">
        <p14:creationId xmlns:p14="http://schemas.microsoft.com/office/powerpoint/2010/main" val="20877696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BB689-63DB-C5C3-020E-D023A548E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0BAB4-9C8D-ACD8-A927-6CFFEAB8EEA1}"/>
              </a:ext>
            </a:extLst>
          </p:cNvPr>
          <p:cNvSpPr>
            <a:spLocks noGrp="1"/>
          </p:cNvSpPr>
          <p:nvPr>
            <p:ph type="title"/>
          </p:nvPr>
        </p:nvSpPr>
        <p:spPr>
          <a:xfrm>
            <a:off x="838201" y="365125"/>
            <a:ext cx="3886200" cy="757093"/>
          </a:xfrm>
        </p:spPr>
        <p:txBody>
          <a:bodyPr>
            <a:normAutofit fontScale="90000"/>
          </a:bodyPr>
          <a:lstStyle/>
          <a:p>
            <a:pPr fontAlgn="ctr"/>
            <a:r>
              <a:rPr lang="en-GB" dirty="0"/>
              <a:t>Richard’s Paradox	</a:t>
            </a:r>
          </a:p>
        </p:txBody>
      </p:sp>
      <p:sp>
        <p:nvSpPr>
          <p:cNvPr id="4" name="Footer Placeholder 3">
            <a:extLst>
              <a:ext uri="{FF2B5EF4-FFF2-40B4-BE49-F238E27FC236}">
                <a16:creationId xmlns:a16="http://schemas.microsoft.com/office/drawing/2014/main" id="{AC7482B3-88AB-F01F-CB32-21205F3BA765}"/>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C7C9A701-D154-7AAA-5673-F34F67D5EEF8}"/>
              </a:ext>
            </a:extLst>
          </p:cNvPr>
          <p:cNvSpPr>
            <a:spLocks noGrp="1"/>
          </p:cNvSpPr>
          <p:nvPr>
            <p:ph type="sldNum" sz="quarter" idx="12"/>
          </p:nvPr>
        </p:nvSpPr>
        <p:spPr/>
        <p:txBody>
          <a:bodyPr/>
          <a:lstStyle/>
          <a:p>
            <a:fld id="{02E52F69-22B0-9141-B095-D977E71C7FB4}" type="slidenum">
              <a:rPr lang="en-US" smtClean="0"/>
              <a:t>32</a:t>
            </a:fld>
            <a:endParaRPr lang="en-US"/>
          </a:p>
        </p:txBody>
      </p:sp>
      <p:sp>
        <p:nvSpPr>
          <p:cNvPr id="6" name="Date Placeholder 5">
            <a:extLst>
              <a:ext uri="{FF2B5EF4-FFF2-40B4-BE49-F238E27FC236}">
                <a16:creationId xmlns:a16="http://schemas.microsoft.com/office/drawing/2014/main" id="{ECFA2590-FEB8-9AF8-6D89-52B1173B8037}"/>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48" name="Picture 47" descr="\documentclass[fleqn]{article}&#10;\usepackage{amsmath,amsfonts}&#10;\usepackage[version=4]{mhchem}\usepackage[margin=0in,paperwidth=14cm,verbose,marginparwidth=0pt,marginparsep=0pt]{geometry}&#10;\usepackage{sectsty}&#10;\allsectionsfont{\bfseries\sffamily}&#10;\pagestyle{empty}&#10;\begin{document}&#10;\begin{sf}&#10;\noindent&#10;French mathematician Jules Richard --- 1905\\&#10;We use a language (e.g. English!!) to define the properties of arithmetic.&#10;\begin{itemize}&#10;\item An integer is the product of integers.&#10;\item A prime is a natural number divisible only by itself and one.&#10;\end{itemize}&#10;We can order all these statements.\hspace{1cm}&#10;E.g.&#10; shortest definitions, alphabetically ordered.&#10;\medskip \ \\&#10;Consider the statement associated with the number $n$. $n$ may satisfy this property. \\&#10;Perhaps 17 is associated with \lq is a prime number.\rq &#10;\medskip \ \\&#10;$\bullet$ We say $n$ is Richardian if $n$ does &#10;{\em not} satisfy definition $n$.&#10;\medskip \ \\&#10;The statement above is a definition of a mathematical quantity so it has a value: $n^\star$.\\&#10;\bigskip \ \\&#10;%\begin{center}&#10;\hspace*{2cm}\fbox{Is $n^\star$ Richardian?}&#10;%\end{center}&#10;\hspace*{2cm}&#10;We are back to Russel's Set of Sets antinomy.&#10;\end{sf}&#10;\end{document}" title="IguanaTex Picture Display">
            <a:extLst>
              <a:ext uri="{FF2B5EF4-FFF2-40B4-BE49-F238E27FC236}">
                <a16:creationId xmlns:a16="http://schemas.microsoft.com/office/drawing/2014/main" id="{EBBCDACD-8523-830B-4AAF-FB32B4798D1E}"/>
              </a:ext>
            </a:extLst>
          </p:cNvPr>
          <p:cNvPicPr>
            <a:picLocks noChangeAspect="1"/>
          </p:cNvPicPr>
          <p:nvPr>
            <p:custDataLst>
              <p:tags r:id="rId1"/>
            </p:custDataLst>
          </p:nvPr>
        </p:nvPicPr>
        <p:blipFill>
          <a:blip r:embed="rId4"/>
          <a:stretch>
            <a:fillRect/>
          </a:stretch>
        </p:blipFill>
        <p:spPr>
          <a:xfrm>
            <a:off x="838207" y="1253344"/>
            <a:ext cx="10903306" cy="5129784"/>
          </a:xfrm>
          <a:prstGeom prst="rect">
            <a:avLst/>
          </a:prstGeom>
        </p:spPr>
      </p:pic>
      <p:sp>
        <p:nvSpPr>
          <p:cNvPr id="3" name="TextBox 2">
            <a:extLst>
              <a:ext uri="{FF2B5EF4-FFF2-40B4-BE49-F238E27FC236}">
                <a16:creationId xmlns:a16="http://schemas.microsoft.com/office/drawing/2014/main" id="{AEB4AA30-96DE-4A7A-7021-6CD42DE1C59E}"/>
              </a:ext>
            </a:extLst>
          </p:cNvPr>
          <p:cNvSpPr txBox="1"/>
          <p:nvPr/>
        </p:nvSpPr>
        <p:spPr>
          <a:xfrm>
            <a:off x="6289860" y="290206"/>
            <a:ext cx="5351337" cy="646331"/>
          </a:xfrm>
          <a:prstGeom prst="rect">
            <a:avLst/>
          </a:prstGeom>
          <a:noFill/>
        </p:spPr>
        <p:txBody>
          <a:bodyPr wrap="none" rtlCol="0">
            <a:spAutoFit/>
          </a:bodyPr>
          <a:lstStyle/>
          <a:p>
            <a:r>
              <a:rPr lang="en-GB" dirty="0"/>
              <a:t>Gödel’s Proof, Nagel and Newman (U Florida)(1958)</a:t>
            </a:r>
          </a:p>
          <a:p>
            <a:r>
              <a:rPr lang="en-GB" dirty="0"/>
              <a:t>Gödel’s Incompleteness Theorems, Smullyan (1992)</a:t>
            </a:r>
            <a:endParaRPr lang="en-US" dirty="0"/>
          </a:p>
        </p:txBody>
      </p:sp>
    </p:spTree>
    <p:extLst>
      <p:ext uri="{BB962C8B-B14F-4D97-AF65-F5344CB8AC3E}">
        <p14:creationId xmlns:p14="http://schemas.microsoft.com/office/powerpoint/2010/main" val="190881136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051DF-0E89-A12A-7B55-3C57D9A53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3ABB9-4FF5-1266-9421-2B6459A29325}"/>
              </a:ext>
            </a:extLst>
          </p:cNvPr>
          <p:cNvSpPr>
            <a:spLocks noGrp="1"/>
          </p:cNvSpPr>
          <p:nvPr>
            <p:ph type="title"/>
          </p:nvPr>
        </p:nvSpPr>
        <p:spPr>
          <a:xfrm>
            <a:off x="838200" y="365125"/>
            <a:ext cx="10515600" cy="757093"/>
          </a:xfrm>
        </p:spPr>
        <p:txBody>
          <a:bodyPr>
            <a:normAutofit/>
          </a:bodyPr>
          <a:lstStyle/>
          <a:p>
            <a:pPr fontAlgn="ctr"/>
            <a:r>
              <a:rPr lang="en-GB" dirty="0"/>
              <a:t>The search for completeness and solvability</a:t>
            </a:r>
          </a:p>
        </p:txBody>
      </p:sp>
      <p:sp>
        <p:nvSpPr>
          <p:cNvPr id="4" name="Footer Placeholder 3">
            <a:extLst>
              <a:ext uri="{FF2B5EF4-FFF2-40B4-BE49-F238E27FC236}">
                <a16:creationId xmlns:a16="http://schemas.microsoft.com/office/drawing/2014/main" id="{CAE761A6-E217-A091-CB44-28A39B82880D}"/>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4E7674F7-A8D5-5800-0C43-BC1C1F8DFD82}"/>
              </a:ext>
            </a:extLst>
          </p:cNvPr>
          <p:cNvSpPr>
            <a:spLocks noGrp="1"/>
          </p:cNvSpPr>
          <p:nvPr>
            <p:ph type="sldNum" sz="quarter" idx="12"/>
          </p:nvPr>
        </p:nvSpPr>
        <p:spPr/>
        <p:txBody>
          <a:bodyPr/>
          <a:lstStyle/>
          <a:p>
            <a:fld id="{02E52F69-22B0-9141-B095-D977E71C7FB4}" type="slidenum">
              <a:rPr lang="en-US" smtClean="0"/>
              <a:t>33</a:t>
            </a:fld>
            <a:endParaRPr lang="en-US"/>
          </a:p>
        </p:txBody>
      </p:sp>
      <p:sp>
        <p:nvSpPr>
          <p:cNvPr id="6" name="Date Placeholder 5">
            <a:extLst>
              <a:ext uri="{FF2B5EF4-FFF2-40B4-BE49-F238E27FC236}">
                <a16:creationId xmlns:a16="http://schemas.microsoft.com/office/drawing/2014/main" id="{302EB72F-B9AC-014A-6C33-E8A5AF1D7DF8}"/>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26" name="Picture 25" descr="\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10;$2^{n_1} \times 3^{n_2} \cdots p_i^{n_i} \cdots$\\&#10;\hspace*{1cm} where $n_i$ denotes the $i$th character in the formula.&#10;\item This number is known as the G{\&quot;o}del number of the formula.&#10;&#9;\begin{itemize}&#10;&#9;\item A proof: finite sequence of wffs where each wff is either an axiom\\ or derived from the preceding formulae via a Rule of Inference.&#10;&#9;\item Rule of Inference (Modus Ponens): &#10;&#9;&#9;&#9;$S_1 ~~\&amp;~~ (S_1 \implies S_2) \text{ then } S_2$&#10;&#9;\end{itemize}&#10;\item Notice {\em a proof} is a sequence of wff --- &#10;&#9;so it has it's own G{\&quot;o}del number&#10;\item Notice we can now talk about wff which are {\em false}&#10;\end{itemize}&#10;\end{sf}&#10;\end{document}" title="IguanaTex Picture Display">
            <a:extLst>
              <a:ext uri="{FF2B5EF4-FFF2-40B4-BE49-F238E27FC236}">
                <a16:creationId xmlns:a16="http://schemas.microsoft.com/office/drawing/2014/main" id="{EE36340C-7293-E29E-1CCC-DB062848CB85}"/>
              </a:ext>
            </a:extLst>
          </p:cNvPr>
          <p:cNvPicPr>
            <a:picLocks noChangeAspect="1"/>
          </p:cNvPicPr>
          <p:nvPr>
            <p:custDataLst>
              <p:tags r:id="rId1"/>
            </p:custDataLst>
          </p:nvPr>
        </p:nvPicPr>
        <p:blipFill>
          <a:blip r:embed="rId4"/>
          <a:stretch>
            <a:fillRect/>
          </a:stretch>
        </p:blipFill>
        <p:spPr>
          <a:xfrm>
            <a:off x="838200" y="1253346"/>
            <a:ext cx="6962241" cy="3624682"/>
          </a:xfrm>
          <a:prstGeom prst="rect">
            <a:avLst/>
          </a:prstGeom>
        </p:spPr>
      </p:pic>
    </p:spTree>
    <p:extLst>
      <p:ext uri="{BB962C8B-B14F-4D97-AF65-F5344CB8AC3E}">
        <p14:creationId xmlns:p14="http://schemas.microsoft.com/office/powerpoint/2010/main" val="395656626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852F5-59F9-3D27-1096-E03E04614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7617F-0DD3-5283-389D-07A839B17DE2}"/>
              </a:ext>
            </a:extLst>
          </p:cNvPr>
          <p:cNvSpPr>
            <a:spLocks noGrp="1"/>
          </p:cNvSpPr>
          <p:nvPr>
            <p:ph type="title"/>
          </p:nvPr>
        </p:nvSpPr>
        <p:spPr>
          <a:xfrm>
            <a:off x="838200" y="365125"/>
            <a:ext cx="10515600" cy="757093"/>
          </a:xfrm>
        </p:spPr>
        <p:txBody>
          <a:bodyPr>
            <a:normAutofit/>
          </a:bodyPr>
          <a:lstStyle/>
          <a:p>
            <a:pPr fontAlgn="ctr"/>
            <a:r>
              <a:rPr lang="en-GB" dirty="0"/>
              <a:t>The search for completeness and solvability</a:t>
            </a:r>
          </a:p>
        </p:txBody>
      </p:sp>
      <p:sp>
        <p:nvSpPr>
          <p:cNvPr id="4" name="Footer Placeholder 3">
            <a:extLst>
              <a:ext uri="{FF2B5EF4-FFF2-40B4-BE49-F238E27FC236}">
                <a16:creationId xmlns:a16="http://schemas.microsoft.com/office/drawing/2014/main" id="{2F34055D-953C-BE36-BB89-ACCACA128F9D}"/>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32B64DAC-D39F-E314-CD51-517895B6D362}"/>
              </a:ext>
            </a:extLst>
          </p:cNvPr>
          <p:cNvSpPr>
            <a:spLocks noGrp="1"/>
          </p:cNvSpPr>
          <p:nvPr>
            <p:ph type="sldNum" sz="quarter" idx="12"/>
          </p:nvPr>
        </p:nvSpPr>
        <p:spPr/>
        <p:txBody>
          <a:bodyPr/>
          <a:lstStyle/>
          <a:p>
            <a:fld id="{02E52F69-22B0-9141-B095-D977E71C7FB4}" type="slidenum">
              <a:rPr lang="en-US" smtClean="0"/>
              <a:t>34</a:t>
            </a:fld>
            <a:endParaRPr lang="en-US"/>
          </a:p>
        </p:txBody>
      </p:sp>
      <p:sp>
        <p:nvSpPr>
          <p:cNvPr id="6" name="Date Placeholder 5">
            <a:extLst>
              <a:ext uri="{FF2B5EF4-FFF2-40B4-BE49-F238E27FC236}">
                <a16:creationId xmlns:a16="http://schemas.microsoft.com/office/drawing/2014/main" id="{A36F0EE3-6019-C678-7B97-902CAAD2738C}"/>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17" name="Picture 16" descr="\documentclass[fleqn]{article}&#10;\usepackage{amsmath,amsfonts}&#10;\usepackage[version=4]{mhchem}\usepackage[margin=0in,paperwidth=14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10;$2^{n_1} \times 3^{n_2} \cdots p_i^{n_i} \cdots$\\&#10;\hspace*{1cm} where $n_i$ denotes the $i$th character in the formula.&#10;\item This number is known as the G{\&quot;o}del number of the formula.&#10;&#9;\begin{itemize}&#10;&#9;\item A proof: finite sequence of wffs where each wff is either an axiom\\ or derived from the preceding formulae via a Rule of Inference.&#10;&#9;\item Rule of Inference (Modus Ponens): &#10;&#9;&#9;&#9;$S_1 ~~\&amp;~~ (S_1 \implies S_2) \text{ then } S_2$&#10;&#9;\end{itemize}&#10;\item Notice {\em a proof} is a sequence of wff --- &#10;&#9;so it has it's own G{\&quot;o}del number&#10;\item Notice we can now talk about wff which are {\em false}&#10;\item[]&#10;\item G{\&quot;o}del numbers get large:\\&#10;$243\,000\,000 = 2^6\times 3^5 \times 5^6$ \\&#10;\hspace*{2cm} gives the symbols: \{6, 5, 6\} \hspace{2cm}and the formula: $0=0$&#10;\end{itemize}&#10;\end{sf}&#10;\end{document}" title="IguanaTex Picture Display">
            <a:extLst>
              <a:ext uri="{FF2B5EF4-FFF2-40B4-BE49-F238E27FC236}">
                <a16:creationId xmlns:a16="http://schemas.microsoft.com/office/drawing/2014/main" id="{B1E26839-0461-9AB6-568A-07AFB402D4BB}"/>
              </a:ext>
            </a:extLst>
          </p:cNvPr>
          <p:cNvPicPr>
            <a:picLocks noChangeAspect="1"/>
          </p:cNvPicPr>
          <p:nvPr>
            <p:custDataLst>
              <p:tags r:id="rId1"/>
            </p:custDataLst>
          </p:nvPr>
        </p:nvPicPr>
        <p:blipFill>
          <a:blip r:embed="rId4"/>
          <a:stretch>
            <a:fillRect/>
          </a:stretch>
        </p:blipFill>
        <p:spPr>
          <a:xfrm>
            <a:off x="838201" y="1253351"/>
            <a:ext cx="7840064" cy="5135271"/>
          </a:xfrm>
          <a:prstGeom prst="rect">
            <a:avLst/>
          </a:prstGeom>
        </p:spPr>
      </p:pic>
    </p:spTree>
    <p:extLst>
      <p:ext uri="{BB962C8B-B14F-4D97-AF65-F5344CB8AC3E}">
        <p14:creationId xmlns:p14="http://schemas.microsoft.com/office/powerpoint/2010/main" val="73052683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D0EFC-F4CF-6801-B4B7-6C145A6EC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B62D2-17D3-F166-DD60-AC7C4AD7946C}"/>
              </a:ext>
            </a:extLst>
          </p:cNvPr>
          <p:cNvSpPr>
            <a:spLocks noGrp="1"/>
          </p:cNvSpPr>
          <p:nvPr>
            <p:ph type="title"/>
          </p:nvPr>
        </p:nvSpPr>
        <p:spPr>
          <a:xfrm>
            <a:off x="838200" y="365125"/>
            <a:ext cx="10515600" cy="757093"/>
          </a:xfrm>
        </p:spPr>
        <p:txBody>
          <a:bodyPr>
            <a:normAutofit/>
          </a:bodyPr>
          <a:lstStyle/>
          <a:p>
            <a:pPr fontAlgn="ctr"/>
            <a:r>
              <a:rPr lang="en-GB" dirty="0"/>
              <a:t>The search for completeness and solvability</a:t>
            </a:r>
          </a:p>
        </p:txBody>
      </p:sp>
      <p:sp>
        <p:nvSpPr>
          <p:cNvPr id="4" name="Footer Placeholder 3">
            <a:extLst>
              <a:ext uri="{FF2B5EF4-FFF2-40B4-BE49-F238E27FC236}">
                <a16:creationId xmlns:a16="http://schemas.microsoft.com/office/drawing/2014/main" id="{9FEF000E-98A7-9A12-6E8C-963F818D2B4A}"/>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5B25E339-4C0E-BB93-16E4-A1FB74E3D49D}"/>
              </a:ext>
            </a:extLst>
          </p:cNvPr>
          <p:cNvSpPr>
            <a:spLocks noGrp="1"/>
          </p:cNvSpPr>
          <p:nvPr>
            <p:ph type="sldNum" sz="quarter" idx="12"/>
          </p:nvPr>
        </p:nvSpPr>
        <p:spPr/>
        <p:txBody>
          <a:bodyPr/>
          <a:lstStyle/>
          <a:p>
            <a:fld id="{02E52F69-22B0-9141-B095-D977E71C7FB4}" type="slidenum">
              <a:rPr lang="en-US" smtClean="0"/>
              <a:t>35</a:t>
            </a:fld>
            <a:endParaRPr lang="en-US"/>
          </a:p>
        </p:txBody>
      </p:sp>
      <p:sp>
        <p:nvSpPr>
          <p:cNvPr id="6" name="Date Placeholder 5">
            <a:extLst>
              <a:ext uri="{FF2B5EF4-FFF2-40B4-BE49-F238E27FC236}">
                <a16:creationId xmlns:a16="http://schemas.microsoft.com/office/drawing/2014/main" id="{7BA2C5BA-5939-7C7E-365C-7705CE11FC19}"/>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43" name="Picture 42" descr="\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This G{\&quot;o}del  mapping has formalised Richard's \lq definition of mathematics.\rq &#10;\item Indeed it has been extended to include some metamathematics.&#10;\item He applies it to self-referential statements along the lines of:\\&#10;\hspace*{2cm}Is $n$ Richardian&#10;\item[]&#10;\item The conclusion, a rigorous proof that:&#10;\item[] Any axiomatic system which can contain arithmetic &#10;        is essentially incomplete.&#10;\item[]&#10;\item There are true statements which cannot be proved from the axioms \\&#10;{\em and} &#10;\item[] adding these statements to the axiom set {\em cannot} make the algebra complete.&#10;\end{itemize}&#10;&#10;\end{sf}&#10;\end{document}" title="IguanaTex Picture Display">
            <a:extLst>
              <a:ext uri="{FF2B5EF4-FFF2-40B4-BE49-F238E27FC236}">
                <a16:creationId xmlns:a16="http://schemas.microsoft.com/office/drawing/2014/main" id="{B1D7416B-EB89-2AC4-F96A-D2891901E699}"/>
              </a:ext>
            </a:extLst>
          </p:cNvPr>
          <p:cNvPicPr>
            <a:picLocks noChangeAspect="1"/>
          </p:cNvPicPr>
          <p:nvPr>
            <p:custDataLst>
              <p:tags r:id="rId1"/>
            </p:custDataLst>
          </p:nvPr>
        </p:nvPicPr>
        <p:blipFill>
          <a:blip r:embed="rId4"/>
          <a:stretch>
            <a:fillRect/>
          </a:stretch>
        </p:blipFill>
        <p:spPr>
          <a:xfrm>
            <a:off x="838210" y="1253333"/>
            <a:ext cx="8221473" cy="4884928"/>
          </a:xfrm>
          <a:prstGeom prst="rect">
            <a:avLst/>
          </a:prstGeom>
        </p:spPr>
      </p:pic>
      <p:pic>
        <p:nvPicPr>
          <p:cNvPr id="35" name="Picture 34">
            <a:extLst>
              <a:ext uri="{FF2B5EF4-FFF2-40B4-BE49-F238E27FC236}">
                <a16:creationId xmlns:a16="http://schemas.microsoft.com/office/drawing/2014/main" id="{BDF162E7-A063-67A5-DE36-D018390DB7C2}"/>
              </a:ext>
            </a:extLst>
          </p:cNvPr>
          <p:cNvPicPr>
            <a:picLocks noChangeAspect="1"/>
          </p:cNvPicPr>
          <p:nvPr/>
        </p:nvPicPr>
        <p:blipFill>
          <a:blip r:embed="rId5"/>
          <a:stretch>
            <a:fillRect/>
          </a:stretch>
        </p:blipFill>
        <p:spPr>
          <a:xfrm>
            <a:off x="9402716" y="1253331"/>
            <a:ext cx="2489373" cy="4655127"/>
          </a:xfrm>
          <a:prstGeom prst="rect">
            <a:avLst/>
          </a:prstGeom>
        </p:spPr>
      </p:pic>
    </p:spTree>
    <p:extLst>
      <p:ext uri="{BB962C8B-B14F-4D97-AF65-F5344CB8AC3E}">
        <p14:creationId xmlns:p14="http://schemas.microsoft.com/office/powerpoint/2010/main" val="18202298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125E8-4540-047D-57D5-663E928B46A2}"/>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F53FC7D-A383-E04D-5490-30BA3D4A0F25}"/>
              </a:ext>
            </a:extLst>
          </p:cNvPr>
          <p:cNvSpPr>
            <a:spLocks noGrp="1"/>
          </p:cNvSpPr>
          <p:nvPr>
            <p:ph idx="1"/>
          </p:nvPr>
        </p:nvSpPr>
        <p:spPr/>
        <p:txBody>
          <a:bodyPr>
            <a:normAutofit/>
          </a:bodyPr>
          <a:lstStyle/>
          <a:p>
            <a:r>
              <a:rPr lang="en-US" dirty="0"/>
              <a:t>Discussed a few paradoxes</a:t>
            </a:r>
          </a:p>
          <a:p>
            <a:r>
              <a:rPr lang="en-US" dirty="0"/>
              <a:t>These drive forward our understanding of concepts:</a:t>
            </a:r>
          </a:p>
          <a:p>
            <a:pPr lvl="1"/>
            <a:r>
              <a:rPr lang="en-US" dirty="0"/>
              <a:t>Sets</a:t>
            </a:r>
          </a:p>
          <a:p>
            <a:pPr lvl="1"/>
            <a:r>
              <a:rPr lang="en-US" dirty="0"/>
              <a:t>Sums</a:t>
            </a:r>
          </a:p>
          <a:p>
            <a:pPr lvl="1"/>
            <a:r>
              <a:rPr lang="en-US" dirty="0"/>
              <a:t>Infinity</a:t>
            </a:r>
          </a:p>
          <a:p>
            <a:r>
              <a:rPr lang="en-US" dirty="0"/>
              <a:t>Quantitative paradoxes force us to review our expectation of probability</a:t>
            </a:r>
          </a:p>
          <a:p>
            <a:r>
              <a:rPr lang="en-US" dirty="0"/>
              <a:t>We ended with Hilbert’s drive to complete knowledge</a:t>
            </a:r>
          </a:p>
          <a:p>
            <a:pPr marL="457200" lvl="1" indent="0">
              <a:buNone/>
            </a:pPr>
            <a:r>
              <a:rPr lang="en-US" sz="2800" dirty="0"/>
              <a:t>	and it’s defeat by Gödel</a:t>
            </a:r>
          </a:p>
        </p:txBody>
      </p:sp>
      <p:sp>
        <p:nvSpPr>
          <p:cNvPr id="4" name="Date Placeholder 3">
            <a:extLst>
              <a:ext uri="{FF2B5EF4-FFF2-40B4-BE49-F238E27FC236}">
                <a16:creationId xmlns:a16="http://schemas.microsoft.com/office/drawing/2014/main" id="{344FED0B-81CC-A295-2521-89D936B5D7D0}"/>
              </a:ext>
            </a:extLst>
          </p:cNvPr>
          <p:cNvSpPr>
            <a:spLocks noGrp="1"/>
          </p:cNvSpPr>
          <p:nvPr>
            <p:ph type="dt" sz="half" idx="10"/>
          </p:nvPr>
        </p:nvSpPr>
        <p:spPr/>
        <p:txBody>
          <a:bodyPr/>
          <a:lstStyle/>
          <a:p>
            <a:fld id="{EE09BE72-5ACB-044D-B20B-39EBEB805477}" type="datetime1">
              <a:rPr lang="en-GB" smtClean="0"/>
              <a:t>19/10/2026</a:t>
            </a:fld>
            <a:endParaRPr lang="en-US"/>
          </a:p>
        </p:txBody>
      </p:sp>
      <p:sp>
        <p:nvSpPr>
          <p:cNvPr id="5" name="Footer Placeholder 4">
            <a:extLst>
              <a:ext uri="{FF2B5EF4-FFF2-40B4-BE49-F238E27FC236}">
                <a16:creationId xmlns:a16="http://schemas.microsoft.com/office/drawing/2014/main" id="{5708FD8E-2CFF-9997-E259-A5CA58AB46CE}"/>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11CD768E-D19B-F491-2986-D0FABEFED2AA}"/>
              </a:ext>
            </a:extLst>
          </p:cNvPr>
          <p:cNvSpPr>
            <a:spLocks noGrp="1"/>
          </p:cNvSpPr>
          <p:nvPr>
            <p:ph type="sldNum" sz="quarter" idx="12"/>
          </p:nvPr>
        </p:nvSpPr>
        <p:spPr/>
        <p:txBody>
          <a:bodyPr/>
          <a:lstStyle/>
          <a:p>
            <a:fld id="{02E52F69-22B0-9141-B095-D977E71C7FB4}" type="slidenum">
              <a:rPr lang="en-US" smtClean="0"/>
              <a:t>36</a:t>
            </a:fld>
            <a:endParaRPr lang="en-US"/>
          </a:p>
        </p:txBody>
      </p:sp>
    </p:spTree>
    <p:extLst>
      <p:ext uri="{BB962C8B-B14F-4D97-AF65-F5344CB8AC3E}">
        <p14:creationId xmlns:p14="http://schemas.microsoft.com/office/powerpoint/2010/main" val="38297259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EC66-DE7D-20A4-E890-D97EB2D0A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B17EF-8897-60C6-95DB-40BCD18DA87B}"/>
              </a:ext>
            </a:extLst>
          </p:cNvPr>
          <p:cNvSpPr>
            <a:spLocks noGrp="1"/>
          </p:cNvSpPr>
          <p:nvPr>
            <p:ph type="title"/>
          </p:nvPr>
        </p:nvSpPr>
        <p:spPr>
          <a:xfrm>
            <a:off x="364839" y="215301"/>
            <a:ext cx="10515600" cy="812511"/>
          </a:xfrm>
        </p:spPr>
        <p:txBody>
          <a:bodyPr>
            <a:normAutofit/>
          </a:bodyPr>
          <a:lstStyle/>
          <a:p>
            <a:pPr fontAlgn="ctr"/>
            <a:r>
              <a:rPr lang="en-GB" dirty="0"/>
              <a:t>Fundamentals – set theory</a:t>
            </a:r>
            <a:endParaRPr lang="en-US" dirty="0"/>
          </a:p>
        </p:txBody>
      </p:sp>
      <p:pic>
        <p:nvPicPr>
          <p:cNvPr id="12" name="Picture 11">
            <a:extLst>
              <a:ext uri="{FF2B5EF4-FFF2-40B4-BE49-F238E27FC236}">
                <a16:creationId xmlns:a16="http://schemas.microsoft.com/office/drawing/2014/main" id="{B326CBD1-729E-EB95-526C-DE1FC40082C1}"/>
              </a:ext>
            </a:extLst>
          </p:cNvPr>
          <p:cNvPicPr>
            <a:picLocks noChangeAspect="1"/>
          </p:cNvPicPr>
          <p:nvPr/>
        </p:nvPicPr>
        <p:blipFill>
          <a:blip r:embed="rId3"/>
          <a:stretch>
            <a:fillRect/>
          </a:stretch>
        </p:blipFill>
        <p:spPr>
          <a:xfrm>
            <a:off x="8753761" y="621556"/>
            <a:ext cx="3073400" cy="5232400"/>
          </a:xfrm>
          <a:prstGeom prst="rect">
            <a:avLst/>
          </a:prstGeom>
        </p:spPr>
      </p:pic>
      <p:pic>
        <p:nvPicPr>
          <p:cNvPr id="8" name="Picture 7">
            <a:extLst>
              <a:ext uri="{FF2B5EF4-FFF2-40B4-BE49-F238E27FC236}">
                <a16:creationId xmlns:a16="http://schemas.microsoft.com/office/drawing/2014/main" id="{AADE251E-9838-AE96-E43A-65A9D9F08D6F}"/>
              </a:ext>
            </a:extLst>
          </p:cNvPr>
          <p:cNvPicPr>
            <a:picLocks noChangeAspect="1"/>
          </p:cNvPicPr>
          <p:nvPr/>
        </p:nvPicPr>
        <p:blipFill>
          <a:blip r:embed="rId4"/>
          <a:stretch>
            <a:fillRect/>
          </a:stretch>
        </p:blipFill>
        <p:spPr>
          <a:xfrm>
            <a:off x="7239285" y="966620"/>
            <a:ext cx="3374159" cy="5293591"/>
          </a:xfrm>
          <a:prstGeom prst="rect">
            <a:avLst/>
          </a:prstGeom>
        </p:spPr>
      </p:pic>
      <p:sp>
        <p:nvSpPr>
          <p:cNvPr id="3" name="TextBox 2">
            <a:extLst>
              <a:ext uri="{FF2B5EF4-FFF2-40B4-BE49-F238E27FC236}">
                <a16:creationId xmlns:a16="http://schemas.microsoft.com/office/drawing/2014/main" id="{F28F32EF-B55D-84A1-55E1-2CBFDB2E4F53}"/>
              </a:ext>
            </a:extLst>
          </p:cNvPr>
          <p:cNvSpPr txBox="1"/>
          <p:nvPr/>
        </p:nvSpPr>
        <p:spPr>
          <a:xfrm>
            <a:off x="588820" y="2491751"/>
            <a:ext cx="8707580" cy="2862322"/>
          </a:xfrm>
          <a:prstGeom prst="rect">
            <a:avLst/>
          </a:prstGeom>
          <a:solidFill>
            <a:schemeClr val="bg1"/>
          </a:solidFill>
        </p:spPr>
        <p:txBody>
          <a:bodyPr wrap="square" rtlCol="0">
            <a:spAutoFit/>
          </a:bodyPr>
          <a:lstStyle/>
          <a:p>
            <a:r>
              <a:rPr lang="en-GB" dirty="0"/>
              <a:t>I can remember Bertrand Russell telling me of a horrible dream. He was in the top floor of the University Library, about A.D. 2100. A library assistant was going round the shelves carrying an enormous bucket, taking down books, glancing at them, restoring them to the shelves or dumping them into the bucket. At last he came to three large volumes which Russell could recognize as the last surviving copy of </a:t>
            </a:r>
            <a:r>
              <a:rPr lang="en-GB" i="1" dirty="0"/>
              <a:t>Principia Mathematica</a:t>
            </a:r>
            <a:r>
              <a:rPr lang="en-GB" dirty="0"/>
              <a:t>. He took down one of the volumes, turned over a few pages, seemed puzzled for a moment by the curious symbolism, closed the volume, balanced it in his hand and hesitated....</a:t>
            </a:r>
          </a:p>
          <a:p>
            <a:r>
              <a:rPr lang="en-GB" dirty="0"/>
              <a:t>— </a:t>
            </a:r>
            <a:r>
              <a:rPr lang="en-GB" dirty="0">
                <a:hlinkClick r:id="rId5" tooltip="G. H. Hardy"/>
              </a:rPr>
              <a:t>G. H. Hardy</a:t>
            </a:r>
            <a:r>
              <a:rPr lang="en-GB" dirty="0"/>
              <a:t>, </a:t>
            </a:r>
            <a:r>
              <a:rPr lang="en-GB" i="1" dirty="0">
                <a:hlinkClick r:id="rId6" tooltip="A Mathematician's Apology"/>
              </a:rPr>
              <a:t>A Mathematician's Apology</a:t>
            </a:r>
            <a:r>
              <a:rPr lang="en-GB" dirty="0"/>
              <a:t> (1940)</a:t>
            </a:r>
          </a:p>
          <a:p>
            <a:endParaRPr lang="en-US" dirty="0"/>
          </a:p>
        </p:txBody>
      </p:sp>
      <p:sp>
        <p:nvSpPr>
          <p:cNvPr id="4" name="Footer Placeholder 3">
            <a:extLst>
              <a:ext uri="{FF2B5EF4-FFF2-40B4-BE49-F238E27FC236}">
                <a16:creationId xmlns:a16="http://schemas.microsoft.com/office/drawing/2014/main" id="{4093E3E2-B11F-F85E-028E-D0C5C165D69E}"/>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84B97F0C-7DF7-1C72-6C9A-4606CA22CBC9}"/>
              </a:ext>
            </a:extLst>
          </p:cNvPr>
          <p:cNvSpPr>
            <a:spLocks noGrp="1"/>
          </p:cNvSpPr>
          <p:nvPr>
            <p:ph type="sldNum" sz="quarter" idx="12"/>
          </p:nvPr>
        </p:nvSpPr>
        <p:spPr/>
        <p:txBody>
          <a:bodyPr/>
          <a:lstStyle/>
          <a:p>
            <a:fld id="{02E52F69-22B0-9141-B095-D977E71C7FB4}" type="slidenum">
              <a:rPr lang="en-US" smtClean="0"/>
              <a:t>37</a:t>
            </a:fld>
            <a:endParaRPr lang="en-US"/>
          </a:p>
        </p:txBody>
      </p:sp>
      <p:sp>
        <p:nvSpPr>
          <p:cNvPr id="6" name="Date Placeholder 5">
            <a:extLst>
              <a:ext uri="{FF2B5EF4-FFF2-40B4-BE49-F238E27FC236}">
                <a16:creationId xmlns:a16="http://schemas.microsoft.com/office/drawing/2014/main" id="{AF1C0631-57C6-389E-5F49-24B9F4A223A1}"/>
              </a:ext>
            </a:extLst>
          </p:cNvPr>
          <p:cNvSpPr>
            <a:spLocks noGrp="1"/>
          </p:cNvSpPr>
          <p:nvPr>
            <p:ph type="dt" sz="half" idx="10"/>
          </p:nvPr>
        </p:nvSpPr>
        <p:spPr/>
        <p:txBody>
          <a:bodyPr/>
          <a:lstStyle/>
          <a:p>
            <a:fld id="{9ADAD4DC-8417-F04A-8651-C2781AF1D746}" type="datetime1">
              <a:rPr lang="en-GB" smtClean="0"/>
              <a:t>19/10/2026</a:t>
            </a:fld>
            <a:endParaRPr lang="en-US"/>
          </a:p>
        </p:txBody>
      </p:sp>
    </p:spTree>
    <p:extLst>
      <p:ext uri="{BB962C8B-B14F-4D97-AF65-F5344CB8AC3E}">
        <p14:creationId xmlns:p14="http://schemas.microsoft.com/office/powerpoint/2010/main" val="2100915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9D7BA-3EC1-A7BC-E929-83E68E3B0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A4F24-1C45-1E28-C842-04ABEBDE403E}"/>
              </a:ext>
            </a:extLst>
          </p:cNvPr>
          <p:cNvSpPr>
            <a:spLocks noGrp="1"/>
          </p:cNvSpPr>
          <p:nvPr>
            <p:ph type="title"/>
          </p:nvPr>
        </p:nvSpPr>
        <p:spPr>
          <a:xfrm>
            <a:off x="282259" y="136525"/>
            <a:ext cx="4468091" cy="784406"/>
          </a:xfrm>
        </p:spPr>
        <p:txBody>
          <a:bodyPr>
            <a:normAutofit/>
          </a:bodyPr>
          <a:lstStyle/>
          <a:p>
            <a:pPr fontAlgn="ctr"/>
            <a:r>
              <a:rPr lang="en-GB" dirty="0"/>
              <a:t>A standard series</a:t>
            </a:r>
            <a:endParaRPr lang="en-US" dirty="0"/>
          </a:p>
        </p:txBody>
      </p:sp>
      <p:sp>
        <p:nvSpPr>
          <p:cNvPr id="4" name="Footer Placeholder 3">
            <a:extLst>
              <a:ext uri="{FF2B5EF4-FFF2-40B4-BE49-F238E27FC236}">
                <a16:creationId xmlns:a16="http://schemas.microsoft.com/office/drawing/2014/main" id="{CFBB42EE-F143-7C75-43A0-D39C9B595808}"/>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0A5F435F-42A7-15B6-C6B5-051748700FA2}"/>
              </a:ext>
            </a:extLst>
          </p:cNvPr>
          <p:cNvSpPr>
            <a:spLocks noGrp="1"/>
          </p:cNvSpPr>
          <p:nvPr>
            <p:ph type="sldNum" sz="quarter" idx="12"/>
          </p:nvPr>
        </p:nvSpPr>
        <p:spPr/>
        <p:txBody>
          <a:bodyPr/>
          <a:lstStyle/>
          <a:p>
            <a:fld id="{02E52F69-22B0-9141-B095-D977E71C7FB4}" type="slidenum">
              <a:rPr lang="en-US" smtClean="0"/>
              <a:t>38</a:t>
            </a:fld>
            <a:endParaRPr lang="en-US"/>
          </a:p>
        </p:txBody>
      </p:sp>
      <p:sp>
        <p:nvSpPr>
          <p:cNvPr id="6" name="Date Placeholder 5">
            <a:extLst>
              <a:ext uri="{FF2B5EF4-FFF2-40B4-BE49-F238E27FC236}">
                <a16:creationId xmlns:a16="http://schemas.microsoft.com/office/drawing/2014/main" id="{BCFF7B86-2C8A-12DE-5983-8C2AD8E3A82C}"/>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30" name="Picture 29" descr="\documentclass[fleqn]{article}&#10;\usepackage{amsmath,amsfonts}&#10;\usepackage[version=4]{mhchem}\usepackage[margin=0in,paperwidth=14cm,verbose,marginparwidth=0pt,marginparsep=0pt]{geometry}&#10;\usepackage{sectsty}&#10;\allsectionsfont{\bfseries\sffamily}&#10;\pagestyle{empty}&#10;\begin{document}&#10;\begin{sf}&#10;\noindent&#10;Let us consider this \lq simple \rq series:&#10;$~~~~~~~~~S(p) = 1^{-p} + 2^{-p} + 3^{-p} + \cdots  $ \\&#10;\ \\&#10;Clearly $S(1) = \sum \frac{1}{n} = \infty$\\&#10;Let's group terms differently than before:&#10;\begin{flalign*}&#10;\frac{1}{3} + \frac{1}{4} &gt;\frac{2}{2^2} = \frac{1}{2}\nonumber\\&#10;\frac{1}{5} + \frac{1}{6} + \frac{1}{7} + \frac{1}{8}&#10;&gt;\frac{4}{8} = \frac{1}{2}\nonumber\\&#10;\frac{1}{9} + \frac{1}{10} + \cdots + \frac{1}{16}&#10;&lt;\frac{8}{16} = \frac{1}{2}&#10;\end{flalign*}&#10;Taking terms in groups of&#10;$2^n$ we have: $~~~~~S(1) &gt; \sum_1^\infty \frac{1}{2} = \infty$&#10;%&#10;%\begin{flalign*}&#10;%S(1) &gt; \sum_1^\infty \frac{1}{2}&#10;%\end{flalign*}&#10;%&#10;\ \bigskip \\&#10;\hspace*{2cm}\parbox{10cm}{&#10;Also, recall that:&#10;$\ln(1+x) = x - \frac{x^2}{2} + \frac{x^3}{3} - \cdots$\\&#10;\hspace*{2cm}so we have a related result: $\sum (-1)^n \frac{1}{n} = \ln{2}$&#10;}&#10;\end{sf}&#10;\end{document}" title="IguanaTex Picture Display">
            <a:extLst>
              <a:ext uri="{FF2B5EF4-FFF2-40B4-BE49-F238E27FC236}">
                <a16:creationId xmlns:a16="http://schemas.microsoft.com/office/drawing/2014/main" id="{F7244065-3777-3D07-327A-71F8E4CD5280}"/>
              </a:ext>
            </a:extLst>
          </p:cNvPr>
          <p:cNvPicPr>
            <a:picLocks noChangeAspect="1"/>
          </p:cNvPicPr>
          <p:nvPr>
            <p:custDataLst>
              <p:tags r:id="rId1"/>
            </p:custDataLst>
          </p:nvPr>
        </p:nvPicPr>
        <p:blipFill>
          <a:blip r:embed="rId4"/>
          <a:stretch>
            <a:fillRect/>
          </a:stretch>
        </p:blipFill>
        <p:spPr>
          <a:xfrm>
            <a:off x="1238236" y="1064808"/>
            <a:ext cx="8542935" cy="5183427"/>
          </a:xfrm>
          <a:prstGeom prst="rect">
            <a:avLst/>
          </a:prstGeom>
        </p:spPr>
      </p:pic>
    </p:spTree>
    <p:extLst>
      <p:ext uri="{BB962C8B-B14F-4D97-AF65-F5344CB8AC3E}">
        <p14:creationId xmlns:p14="http://schemas.microsoft.com/office/powerpoint/2010/main" val="10116684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F643A-0204-CE16-1521-6B06EDEBB884}"/>
              </a:ext>
            </a:extLst>
          </p:cNvPr>
          <p:cNvSpPr>
            <a:spLocks noGrp="1"/>
          </p:cNvSpPr>
          <p:nvPr>
            <p:ph idx="1"/>
          </p:nvPr>
        </p:nvSpPr>
        <p:spPr/>
        <p:txBody>
          <a:bodyPr>
            <a:normAutofit/>
          </a:bodyPr>
          <a:lstStyle/>
          <a:p>
            <a:pPr marL="0" indent="0" algn="ctr">
              <a:buNone/>
            </a:pPr>
            <a:r>
              <a:rPr lang="en-US" sz="4800" dirty="0"/>
              <a:t>Thank you for your attention</a:t>
            </a:r>
          </a:p>
        </p:txBody>
      </p:sp>
      <p:sp>
        <p:nvSpPr>
          <p:cNvPr id="4" name="Footer Placeholder 3">
            <a:extLst>
              <a:ext uri="{FF2B5EF4-FFF2-40B4-BE49-F238E27FC236}">
                <a16:creationId xmlns:a16="http://schemas.microsoft.com/office/drawing/2014/main" id="{FD2FE766-E283-EBA9-FDF8-7C08A841C2DC}"/>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4E791127-9E40-A9D1-AF41-E039EF305A1A}"/>
              </a:ext>
            </a:extLst>
          </p:cNvPr>
          <p:cNvSpPr>
            <a:spLocks noGrp="1"/>
          </p:cNvSpPr>
          <p:nvPr>
            <p:ph type="sldNum" sz="quarter" idx="12"/>
          </p:nvPr>
        </p:nvSpPr>
        <p:spPr/>
        <p:txBody>
          <a:bodyPr/>
          <a:lstStyle/>
          <a:p>
            <a:fld id="{02E52F69-22B0-9141-B095-D977E71C7FB4}" type="slidenum">
              <a:rPr lang="en-US" smtClean="0"/>
              <a:t>39</a:t>
            </a:fld>
            <a:endParaRPr lang="en-US"/>
          </a:p>
        </p:txBody>
      </p:sp>
      <p:sp>
        <p:nvSpPr>
          <p:cNvPr id="6" name="Date Placeholder 5">
            <a:extLst>
              <a:ext uri="{FF2B5EF4-FFF2-40B4-BE49-F238E27FC236}">
                <a16:creationId xmlns:a16="http://schemas.microsoft.com/office/drawing/2014/main" id="{45B0E544-BC56-EC65-7738-D8B625BA14D7}"/>
              </a:ext>
            </a:extLst>
          </p:cNvPr>
          <p:cNvSpPr>
            <a:spLocks noGrp="1"/>
          </p:cNvSpPr>
          <p:nvPr>
            <p:ph type="dt" sz="half" idx="10"/>
          </p:nvPr>
        </p:nvSpPr>
        <p:spPr/>
        <p:txBody>
          <a:bodyPr/>
          <a:lstStyle/>
          <a:p>
            <a:fld id="{959D639A-8B36-DA40-B98E-7E9EB0C55010}" type="datetime1">
              <a:rPr lang="en-GB" smtClean="0"/>
              <a:t>19/10/2026</a:t>
            </a:fld>
            <a:endParaRPr lang="en-US"/>
          </a:p>
        </p:txBody>
      </p:sp>
    </p:spTree>
    <p:extLst>
      <p:ext uri="{BB962C8B-B14F-4D97-AF65-F5344CB8AC3E}">
        <p14:creationId xmlns:p14="http://schemas.microsoft.com/office/powerpoint/2010/main" val="21002771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41B13-2812-B6D6-CB42-58ED622DBCFD}"/>
              </a:ext>
            </a:extLst>
          </p:cNvPr>
          <p:cNvSpPr>
            <a:spLocks noGrp="1"/>
          </p:cNvSpPr>
          <p:nvPr>
            <p:ph type="title"/>
          </p:nvPr>
        </p:nvSpPr>
        <p:spPr/>
        <p:txBody>
          <a:bodyPr/>
          <a:lstStyle/>
          <a:p>
            <a:r>
              <a:rPr lang="en-US" dirty="0"/>
              <a:t>Mathematical thinking: Lecture 3</a:t>
            </a:r>
          </a:p>
        </p:txBody>
      </p:sp>
      <p:sp>
        <p:nvSpPr>
          <p:cNvPr id="3" name="Content Placeholder 2">
            <a:extLst>
              <a:ext uri="{FF2B5EF4-FFF2-40B4-BE49-F238E27FC236}">
                <a16:creationId xmlns:a16="http://schemas.microsoft.com/office/drawing/2014/main" id="{43A0A87F-72F3-CE5D-83C9-B8A06CDCDA09}"/>
              </a:ext>
            </a:extLst>
          </p:cNvPr>
          <p:cNvSpPr>
            <a:spLocks noGrp="1"/>
          </p:cNvSpPr>
          <p:nvPr>
            <p:ph sz="half" idx="1"/>
          </p:nvPr>
        </p:nvSpPr>
        <p:spPr/>
        <p:txBody>
          <a:bodyPr/>
          <a:lstStyle/>
          <a:p>
            <a:pPr marL="0" indent="0">
              <a:buNone/>
            </a:pPr>
            <a:endParaRPr lang="en-US" dirty="0"/>
          </a:p>
          <a:p>
            <a:pPr marL="0" indent="0">
              <a:buNone/>
            </a:pPr>
            <a:endParaRPr lang="en-US" dirty="0"/>
          </a:p>
          <a:p>
            <a:pPr marL="0" indent="0">
              <a:buNone/>
            </a:pPr>
            <a:r>
              <a:rPr lang="en-US" dirty="0"/>
              <a:t>The sentence in the right half of this slide is false.</a:t>
            </a:r>
          </a:p>
        </p:txBody>
      </p:sp>
      <p:sp>
        <p:nvSpPr>
          <p:cNvPr id="4" name="Content Placeholder 3">
            <a:extLst>
              <a:ext uri="{FF2B5EF4-FFF2-40B4-BE49-F238E27FC236}">
                <a16:creationId xmlns:a16="http://schemas.microsoft.com/office/drawing/2014/main" id="{7E2ACE44-0699-ED23-73BE-2635967646DD}"/>
              </a:ext>
            </a:extLst>
          </p:cNvPr>
          <p:cNvSpPr>
            <a:spLocks noGrp="1"/>
          </p:cNvSpPr>
          <p:nvPr>
            <p:ph sz="half" idx="2"/>
          </p:nvPr>
        </p:nvSpPr>
        <p:spPr/>
        <p:txBody>
          <a:bodyPr/>
          <a:lstStyle/>
          <a:p>
            <a:pPr marL="0" indent="0">
              <a:buNone/>
            </a:pPr>
            <a:endParaRPr lang="en-US" dirty="0"/>
          </a:p>
          <a:p>
            <a:pPr marL="0" indent="0">
              <a:buNone/>
            </a:pPr>
            <a:endParaRPr lang="en-US" dirty="0"/>
          </a:p>
          <a:p>
            <a:pPr marL="0" indent="0">
              <a:buNone/>
            </a:pPr>
            <a:r>
              <a:rPr lang="en-US" dirty="0"/>
              <a:t>The sentence on the left half of this slide is true.</a:t>
            </a:r>
          </a:p>
        </p:txBody>
      </p:sp>
      <p:sp>
        <p:nvSpPr>
          <p:cNvPr id="5" name="Date Placeholder 4">
            <a:extLst>
              <a:ext uri="{FF2B5EF4-FFF2-40B4-BE49-F238E27FC236}">
                <a16:creationId xmlns:a16="http://schemas.microsoft.com/office/drawing/2014/main" id="{A2863692-6D57-53D3-DBA7-8F6FACE99E81}"/>
              </a:ext>
            </a:extLst>
          </p:cNvPr>
          <p:cNvSpPr>
            <a:spLocks noGrp="1"/>
          </p:cNvSpPr>
          <p:nvPr>
            <p:ph type="dt" sz="half" idx="10"/>
          </p:nvPr>
        </p:nvSpPr>
        <p:spPr/>
        <p:txBody>
          <a:bodyPr/>
          <a:lstStyle/>
          <a:p>
            <a:fld id="{1A984EE7-A60D-C640-8018-EDBB7F10E32A}" type="datetime1">
              <a:rPr lang="en-GB" smtClean="0"/>
              <a:t>19/10/2026</a:t>
            </a:fld>
            <a:endParaRPr lang="en-US"/>
          </a:p>
        </p:txBody>
      </p:sp>
      <p:sp>
        <p:nvSpPr>
          <p:cNvPr id="6" name="Footer Placeholder 5">
            <a:extLst>
              <a:ext uri="{FF2B5EF4-FFF2-40B4-BE49-F238E27FC236}">
                <a16:creationId xmlns:a16="http://schemas.microsoft.com/office/drawing/2014/main" id="{2449558A-5F6D-B1E3-30EC-7BF2A91F57D9}"/>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CE65C34C-F6AA-23B6-2AF0-ED95F788FF14}"/>
              </a:ext>
            </a:extLst>
          </p:cNvPr>
          <p:cNvSpPr>
            <a:spLocks noGrp="1"/>
          </p:cNvSpPr>
          <p:nvPr>
            <p:ph type="sldNum" sz="quarter" idx="12"/>
          </p:nvPr>
        </p:nvSpPr>
        <p:spPr/>
        <p:txBody>
          <a:bodyPr/>
          <a:lstStyle/>
          <a:p>
            <a:fld id="{02E52F69-22B0-9141-B095-D977E71C7FB4}" type="slidenum">
              <a:rPr lang="en-US" smtClean="0"/>
              <a:t>40</a:t>
            </a:fld>
            <a:endParaRPr lang="en-US"/>
          </a:p>
        </p:txBody>
      </p:sp>
    </p:spTree>
    <p:extLst>
      <p:ext uri="{BB962C8B-B14F-4D97-AF65-F5344CB8AC3E}">
        <p14:creationId xmlns:p14="http://schemas.microsoft.com/office/powerpoint/2010/main" val="8653453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0"/>
                            </p:stCondLst>
                            <p:childTnLst>
                              <p:par>
                                <p:cTn id="5" presetID="1" presetClass="entr" presetSubtype="0" fill="hold" grpId="0" nodeType="after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5000"/>
                                  </p:stCondLst>
                                  <p:childTnLst>
                                    <p:set>
                                      <p:cBhvr>
                                        <p:cTn id="11"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nextCondLst>
                <p:cond evt="onClick" delay="0">
                  <p:tgtEl>
                    <p:spTgt spid="2"/>
                  </p:tgtEl>
                </p:cond>
              </p:nextCondLst>
            </p:seq>
          </p:childTnLst>
        </p:cTn>
      </p:par>
    </p:tnLst>
    <p:bldLst>
      <p:bldP spid="3" grpId="0" build="p" rev="1"/>
      <p:bldP spid="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AF8C5-50FE-5AEB-BB7C-7E4D9B9E6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ADCFB-CF61-0967-2635-829AFB77CCC9}"/>
              </a:ext>
            </a:extLst>
          </p:cNvPr>
          <p:cNvSpPr>
            <a:spLocks noGrp="1"/>
          </p:cNvSpPr>
          <p:nvPr>
            <p:ph type="title"/>
          </p:nvPr>
        </p:nvSpPr>
        <p:spPr>
          <a:xfrm>
            <a:off x="838200" y="365125"/>
            <a:ext cx="10515600" cy="757093"/>
          </a:xfrm>
        </p:spPr>
        <p:txBody>
          <a:bodyPr>
            <a:normAutofit/>
          </a:bodyPr>
          <a:lstStyle/>
          <a:p>
            <a:pPr fontAlgn="ctr"/>
            <a:r>
              <a:rPr lang="en-GB" dirty="0"/>
              <a:t>The search for completeness and solvability</a:t>
            </a:r>
          </a:p>
        </p:txBody>
      </p:sp>
      <p:sp>
        <p:nvSpPr>
          <p:cNvPr id="4" name="Footer Placeholder 3">
            <a:extLst>
              <a:ext uri="{FF2B5EF4-FFF2-40B4-BE49-F238E27FC236}">
                <a16:creationId xmlns:a16="http://schemas.microsoft.com/office/drawing/2014/main" id="{90A33FFC-C17A-ADEE-2950-4F4D733406A7}"/>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FC277E3-0522-388B-D3D3-5686BD203065}"/>
              </a:ext>
            </a:extLst>
          </p:cNvPr>
          <p:cNvSpPr>
            <a:spLocks noGrp="1"/>
          </p:cNvSpPr>
          <p:nvPr>
            <p:ph type="sldNum" sz="quarter" idx="12"/>
          </p:nvPr>
        </p:nvSpPr>
        <p:spPr/>
        <p:txBody>
          <a:bodyPr/>
          <a:lstStyle/>
          <a:p>
            <a:fld id="{02E52F69-22B0-9141-B095-D977E71C7FB4}" type="slidenum">
              <a:rPr lang="en-US" smtClean="0"/>
              <a:t>41</a:t>
            </a:fld>
            <a:endParaRPr lang="en-US"/>
          </a:p>
        </p:txBody>
      </p:sp>
      <p:sp>
        <p:nvSpPr>
          <p:cNvPr id="6" name="Date Placeholder 5">
            <a:extLst>
              <a:ext uri="{FF2B5EF4-FFF2-40B4-BE49-F238E27FC236}">
                <a16:creationId xmlns:a16="http://schemas.microsoft.com/office/drawing/2014/main" id="{2BB2F1B7-2AF8-75B1-C805-9A61A05C24F7}"/>
              </a:ext>
            </a:extLst>
          </p:cNvPr>
          <p:cNvSpPr>
            <a:spLocks noGrp="1"/>
          </p:cNvSpPr>
          <p:nvPr>
            <p:ph type="dt" sz="half" idx="10"/>
          </p:nvPr>
        </p:nvSpPr>
        <p:spPr/>
        <p:txBody>
          <a:bodyPr/>
          <a:lstStyle/>
          <a:p>
            <a:fld id="{9ADAD4DC-8417-F04A-8651-C2781AF1D746}" type="datetime1">
              <a:rPr lang="en-GB" smtClean="0"/>
              <a:t>19/10/2026</a:t>
            </a:fld>
            <a:endParaRPr lang="en-US"/>
          </a:p>
        </p:txBody>
      </p:sp>
      <p:pic>
        <p:nvPicPr>
          <p:cNvPr id="8" name="Picture 7">
            <a:extLst>
              <a:ext uri="{FF2B5EF4-FFF2-40B4-BE49-F238E27FC236}">
                <a16:creationId xmlns:a16="http://schemas.microsoft.com/office/drawing/2014/main" id="{D743DC6B-337D-541F-A3BF-07FF2AA5C896}"/>
              </a:ext>
            </a:extLst>
          </p:cNvPr>
          <p:cNvPicPr>
            <a:picLocks noChangeAspect="1"/>
          </p:cNvPicPr>
          <p:nvPr/>
        </p:nvPicPr>
        <p:blipFill>
          <a:blip r:embed="rId4"/>
          <a:stretch>
            <a:fillRect/>
          </a:stretch>
        </p:blipFill>
        <p:spPr>
          <a:xfrm>
            <a:off x="9402716" y="1253331"/>
            <a:ext cx="2489373" cy="4655127"/>
          </a:xfrm>
          <a:prstGeom prst="rect">
            <a:avLst/>
          </a:prstGeom>
        </p:spPr>
      </p:pic>
      <p:pic>
        <p:nvPicPr>
          <p:cNvPr id="47" name="Picture 46" descr="\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2^{n_1} \times 3^{n_2} \cdots$\\&#10;\hspace*{1cm} where $n_i$ denotes the $i$th character in the formula.&#10;\item This number is known as the G{\&quot;o}del number of the formula.&#10;\item Notice we can now talk about wff which are {\em false}&#10;\item Notice {\em a proof} is a sequence of wff --- &#10;so it has it's own G{\&quot;o}del number&#10;\item By considering statements of the form: \\&#10;\hspace*{1cm} The formula with G{\&quot;o}del number &#10;$sub(n, n, 17)$ cannot be proved.\\&#10;we deduce that there are statements which are {\em true} but which cannot be proved.&#10;\end{itemize}&#10;This algebra is {\sc essentially incomplete}.\\&#10;There are true statements which cannot be proved from the axioms \\&#10;{\em and} adding these statements to the axiom set does {\em not} make the algebra complete.&#10;\end{sf}&#10;\end{document}" title="IguanaTex Picture Display">
            <a:extLst>
              <a:ext uri="{FF2B5EF4-FFF2-40B4-BE49-F238E27FC236}">
                <a16:creationId xmlns:a16="http://schemas.microsoft.com/office/drawing/2014/main" id="{6418CB2A-D014-0E53-84C1-F46F9B6F5503}"/>
              </a:ext>
            </a:extLst>
          </p:cNvPr>
          <p:cNvPicPr>
            <a:picLocks noChangeAspect="1"/>
          </p:cNvPicPr>
          <p:nvPr>
            <p:custDataLst>
              <p:tags r:id="rId1"/>
            </p:custDataLst>
          </p:nvPr>
        </p:nvPicPr>
        <p:blipFill>
          <a:blip r:embed="rId5"/>
          <a:stretch>
            <a:fillRect/>
          </a:stretch>
        </p:blipFill>
        <p:spPr>
          <a:xfrm>
            <a:off x="838199" y="1253336"/>
            <a:ext cx="7759597" cy="4851807"/>
          </a:xfrm>
          <a:prstGeom prst="rect">
            <a:avLst/>
          </a:prstGeom>
        </p:spPr>
      </p:pic>
    </p:spTree>
    <p:extLst>
      <p:ext uri="{BB962C8B-B14F-4D97-AF65-F5344CB8AC3E}">
        <p14:creationId xmlns:p14="http://schemas.microsoft.com/office/powerpoint/2010/main" val="424508744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OUTPUTDPI" val=" 1200"/>
  <p:tag name="ORIGINALHEIGHT" val=" 2416"/>
  <p:tag name="ORIGINALWIDTH" val=" 4246"/>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What is a set? --- \hspace{2cm} The (Sicilian) barber paradox:\\&#10;\ \medskip \\&#10;The barber is the &quot;one who shaves all those, and those only, who do not shave themselves&quot;.&#10;\begin{center}&#10;Who shaves the barber?&#10;\end{center}&#10;\begin{itemize}&#10;\item The barber cannot shave himself, as he only shaves those who do not shave themselves.&#10;\item Conversely, if the barber does not shave himself, then he fits into the group of people whom the specified barber would shave, and thus, as that barber, he must shave himself.&#10;\end{itemize}&#10;Formally:&#10;\begin{flalign*}&#10;(\exists x ) (\text{person}(x) \wedge (\forall y) (\text{person}(y) \implies (\text{shaves}(x, y)  \iff \neg \text{shaves}(y, y))))&#10;\end{flalign*}&#10;&#10;\end{sf}&#10;\end{document}"/>
  <p:tag name="IGUANATEXSIZE" val="20"/>
  <p:tag name="IGUANATEXCURSOR" val="833"/>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 1200"/>
  <p:tag name="ORIGINALHEIGHT" val=" 1721"/>
  <p:tag name="ORIGINALWIDTH" val=" 3428"/>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p:tag name="IGUANATEXSIZE" val="20"/>
  <p:tag name="IGUANATEXCURSOR" val="46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 1200"/>
  <p:tag name="ORIGINALHEIGHT" val=" 1721"/>
  <p:tag name="ORIGINALWIDTH" val=" 3428"/>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p:tag name="IGUANATEXSIZE" val="20"/>
  <p:tag name="IGUANATEXCURSOR" val="57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 1200"/>
  <p:tag name="ORIGINALHEIGHT" val=" 1721"/>
  <p:tag name="ORIGINALWIDTH" val=" 3428"/>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p:tag name="IGUANATEXSIZE" val="20"/>
  <p:tag name="IGUANATEXCURSOR" val="57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 1200"/>
  <p:tag name="ORIGINALHEIGHT" val=" 1806"/>
  <p:tag name="ORIGINALWIDTH" val=" 3582"/>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begin{itemize}&#10;\item Zeno of Elea circa 490 -- 430 BC&#10;\item Student of Parmenides \\&#10;\hspace{2cm}(monism -- reality is one and change is impossible)&#10;\item Comes to us through Plato, Aristotle and others.&#10;%Zήνων ὁ Ἐλεάτης&#10;\item Several paradoxes \lq proving\rq \ space, time and motion are impossible.&#10;&#9;\begin{itemize}&#10;&#9;\item The dichotomy paradox&#10;&#9;\item Achilles and the tortoise&#10;&#9;\item The arrow paradox&#10;&#9;\item $\cdots$&#10;&#9;\end{itemize}&#10;\end{itemize}&#10;\end{sf}&#10;\end{document}"/>
  <p:tag name="IGUANATEXSIZE" val="20"/>
  <p:tag name="IGUANATEXCURSOR" val="55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 1200"/>
  <p:tag name="ORIGINALHEIGHT" val=" 2458"/>
  <p:tag name="ORIGINALWIDTH" val=" 3494"/>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begin{itemize}&#10;\item Achilles races a tortoise.&#10;\item Achilles runs at $10$ ms$^{-1}$, the tortoise at 1 ms$^{-1}$&#10;\item The tortoise has a 10m start.&#10;\item[] So...&#10;&#9;\begin{itemize}&#10;&#9;\item At $t=1$ Achilles gets to the tortoise's starting position.&#10;&#9;\item \hspace*{2cm} and the tortoise has advanced 0.1m.&#10;&#9;\item At $t= 0.01$ Achilles has travelled the next 0.1m&#10;&#9;\item and so on....&#10;&#9;\end{itemize}&#10;\item Can an infinite sum of positive terms have a finite total?&#10;\item[]&#10;\item Limits, convergence and the Bolzano-Weierstass theorem (1817).&#10;\end{itemize}&#10;\end{sf}&#10;\end{document}"/>
  <p:tag name="IGUANATEXSIZE" val="20"/>
  <p:tag name="IGUANATEXCURSOR" val="65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 1200"/>
  <p:tag name="ORIGINALHEIGHT" val=" 2141"/>
  <p:tag name="ORIGINALWIDTH" val=" 3800"/>
  <p:tag name="OUTPUTTYPE" val="PNG"/>
  <p:tag name="IGUANATEXVERSION" val="162"/>
  <p:tag name="LATEXADDIN" val="\documentclass{article}&#10;\usepackage{amsmath,amsfonts}&#10;\usepackage[version=4]{mhchem}\usepackage[margin=0in,paperwidth=4in,verbose,marginparwidth=0pt,marginparsep=0pt]{geometry}&#10;\usepackage{sectsty}&#10;\allsectionsfont{\bfseries\sffamily}&#10;\pagestyle{empty}&#10;\begin{document}&#10;\begin{sf}&#10;\noindent&#10;The (modern) mathematical resolution. &#10;Write: $ r =\frac{\text{Speed tortoise}}{\text{Speed Achilles}}$\\&#10;\begin{align*}&#10;\text{Define the partial sum: }~~~~~~~~~~~~~~~~~~&#10;S_n =&amp; 1 + r + r^2 + \cdots + r^n \nonumber \\&#10;rS_n =&amp; \quad \quad r + r^2 + r^3 + \cdots + r^{n+1} \nonumber\\&#10;\text{Subtracting: }~~~~~&#10;(1-r) S_n =&amp; 1 - r^{n+1} \nonumber \\&#10;\text{Finally: } ~~~~S_n =&amp; \frac{1-r^{n+1}}{1-r} \nonumber \\&#10;\text{If } |r| &lt; 1, \text{ then } r^{n+1} \rightarrow 0 &#10;\end{align*}&#10;In this case we have:&#10;\begin{align}&#10;S_\infty = \frac{1}{1-r}&#10;\end{align}&#10;\end{sf}&#10;\end{document}"/>
  <p:tag name="IGUANATEXSIZE" val="24"/>
  <p:tag name="IGUANATEXCURSOR" val="44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 1200"/>
  <p:tag name="ORIGINALHEIGHT" val=" 591"/>
  <p:tag name="ORIGINALWIDTH" val=" 3709"/>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A rational number: a ratio $\frac{m}{n}, m\in \mathbb{Z}, n \in \mathbb{N}^+$\\&#10;%\medskip &#10;\ \\&#10;The rationals ($\mathbb{Q}$) are {\em dense} in the reals if:\\&#10;\hspace*{2cm}$\forall a,b \in \mathbb{R} \text{ with } a &lt; b ~~&#10;\exists q \left ( =\frac{m}{n} \right ) \in \mathbb{Q} &#10;\text{ such that } a\leq q \leq b$\\&#10;\end{sf}&#10;\end{document}"/>
  <p:tag name="IGUANATEXSIZE" val="24"/>
  <p:tag name="IGUANATEXCURSOR" val="36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 1200"/>
  <p:tag name="ORIGINALHEIGHT" val=" 579"/>
  <p:tag name="ORIGINALWIDTH" val=" 3403"/>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underline{Proof}\\&#10;Choose $n (\in \mathbb{N} )$ so that $\frac{1}{n} &lt; b-a ~~~(&gt; 0)$\\&#10;Choose $m (\in \mathbb{Z} )$ to be the smallest integer with $m-1 \leq na &lt;m$\\&#10;Re-arranging: $m \leq na + 1$. &#10;So $ \frac{m}{n} \leq a + \frac{1}{n} &lt; b$. As required. &#10;\end{sf}&#10;\end{document}"/>
  <p:tag name="IGUANATEXSIZE" val="24"/>
  <p:tag name="IGUANATEXCURSOR" val="29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 1200"/>
  <p:tag name="ORIGINALHEIGHT" val=" 579"/>
  <p:tag name="ORIGINALWIDTH" val=" 4010"/>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A rational number: a ratio $\frac{m}{n}, m\in \mathbb{Z}, n \in \mathbb{N}^+$\\&#10;%\medskip &#10;\ \\&#10;The rationals ($\mathbb{Q}$) are {\em sparse} in the reals if we can cover them with a {\em null set} \\&#10;\hspace*{2cm}(a set of arbitrarily small length).&#10;\end{sf}&#10;\end{document}"/>
  <p:tag name="IGUANATEXSIZE" val="24"/>
  <p:tag name="IGUANATEXCURSOR" val="36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 1200"/>
  <p:tag name="ORIGINALHEIGHT" val=" 858"/>
  <p:tag name="ORIGINALWIDTH" val=" 4407"/>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underline{Proof}\\&#10;We can write all rationals in a sequence $ \{ q_r \} $.\\&#10;Define the interval: &#10;$ I_r = (q_r - \epsilon/2^{r+1}, q_r + \epsilon/2^{r+1})$ \\&#10;The {\em total} length of these intervals is:&#10;$%\begin{flalign*}&#10;\epsilon (1/2 + 1/4 + 1/8 + \cdots ) = \epsilon %&amp; \hspace{10cm}&#10;$ \\%\end{flalign*}&#10;So the covering of the rationals (or any countable set) can be made arbitrarily small.\\&#10;As required. &#10;\end{sf}&#10;\end{document}"/>
  <p:tag name="IGUANATEXSIZE" val="24"/>
  <p:tag name="IGUANATEXCURSOR" val="443"/>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 1200"/>
  <p:tag name="ORIGINALHEIGHT" val=" 2315"/>
  <p:tag name="ORIGINALWIDTH" val=" 4646"/>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Let us consider this \lq simple \rq series:&#10;$~~~~~~~~~S(p) = 1^{-p} + 2^{-p} + 3^{-p} + \cdots  $ \\&#10;%\begin{align}&#10;%S(p) = 1^{-p} + 2^{-p} + 3^{-p} + \cdots  &#10;%\end{align}&#10;Now consider grouping terms:&#10;\begin{flalign*}&#10;\frac{1}{2^p} + \frac{1}{3^p} &lt;\frac{2}{2^p} = 2^{1-p}\nonumber\\&#10;\frac{1}{4^p} + \frac{1}{5^p} + \frac{1}{6^p} + \frac{1}{7^p}&#10;&lt;\frac{4}{4^p} = 4^{1-p}\nonumber\\&#10;\frac{1}{8^p} + \frac{1}{9^p} + \cdots + \frac{1}{15^p}&#10;&lt;\frac{8}{8^p} = 8^{1-p}&#10;\end{flalign*}&#10;Now the number of terms we have is: $1 + 2 + 4 + \cdots + 2^m = 2^{m+1} -1$ \\&#10;So the partial sum of the first ($2^{m+1} -1$) terms is: &#10;\begin{flalign*}&#10;S_{2^{m+1}-1}(p) =&amp; 1^{-p} + 2^{-p} + 3^{-p} + \cdots + \left (2^{m+1}-1 \right )^{-p} &#10;&lt; &#10;1 + 2^{1-p} + \cdots + \left ( 2^m \right )^{1-p} \nonumber\\&#10;=&amp;  \frac{1 - 2^{(1-p)(m+1)}}{1 - 2^{1-p}}&#10;%\nonumber \\&#10;&lt; \frac{1}{1 - 2^{1-p}} ~~~~~~~~~ \text{ if } p &gt; 1&#10;\end{flalign*}&#10;\end{sf}&#10;\end{document}"/>
  <p:tag name="IGUANATEXSIZE" val="22"/>
  <p:tag name="IGUANATEXCURSOR" val="99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 1200"/>
  <p:tag name="ORIGINALHEIGHT" val=" 1792"/>
  <p:tag name="ORIGINALWIDTH" val=" 3004"/>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This is the solution to the Basel problem.\\&#10;\ \medskip \\&#10;Consider a line of equally spaced lights.\\&#10;\ \medskip \\&#10;How bright does the line appear to an observer?&#10;&#10;\end{sf}&#10;\end{document}"/>
  <p:tag name="IGUANATEXSIZE" val="24"/>
  <p:tag name="IGUANATEXCURSOR" val="53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 1200"/>
  <p:tag name="ORIGINALHEIGHT" val=" 2721"/>
  <p:tag name="ORIGINALWIDTH" val=" 4617"/>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begin{flalign}&#10;\text{Recall: } \sin x =&amp; &#10;x - \frac{x^3}{3!} + \frac{x^5}{5!} - \frac{x^7}{7!} + \cdots \nonumber \\&#10;\text{So: } &#10;\frac{\sin x}{x} =&amp;&#10;1 - \frac{x^2}{3!} + \frac{x^4}{5!} - \frac{x^6}{7!} + \cdots&#10;\label{E1}&#10;\end{flalign}&#10;Treat $\frac{\sin x}{x}$ as a polynomial$^\dagger$&#10;it can be written as a product of the roots&#10;($x =\pm n \pi$).\\&#10;So we obtain:&#10;\begin{align*}&#10;\frac{\sin x}{x} &amp;= \left(1 - \frac{x}{\pi}\right)\left(1 + \frac{x}{\pi}\right)\left(1 - \frac{x}{2\pi}\right)\left(1 + \frac{x}{2\pi}\right)\left(1 - \frac{x}{3\pi}\right)\left(1 + \frac{x}{3\pi}\right) \cdots \\&#10;                    &amp;= \left(1 - \frac{x^2}{\pi^2}\right)\left(1 - \frac{x^2}{4\pi^2}\right)\left(1 - \frac{x^2}{9\pi^2}\right) \cdots&#10;\end{align*}&#10;Collect terms to find the coefficient of $x^2$:&#10;\begin{align*}&#10;-\left(\frac{1}{\pi^2} + \frac{1}{4\pi^2} + \frac{1}{9\pi^2} + \cdots \right)&#10; = -\frac{1}{\pi^2}\sum_{n=1}^{\infty}\frac{1}{n^2}&#10;~~~~~ = \frac{-1}{6}~~~~~\text{ by comparing with (1)}&#10;\end{align*}&#10;$\dagger$ This was justified a century later using Weierstass factorization theorem.&#10;\end{sf}&#10;\end{document}"/>
  <p:tag name="IGUANATEXSIZE" val="19"/>
  <p:tag name="IGUANATEXCURSOR" val="63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 1200"/>
  <p:tag name="ORIGINALHEIGHT" val=" 1326"/>
  <p:tag name="ORIGINALWIDTH" val=" 3008"/>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You've got to be careful.... &#10;\begin{align*}&#10;S(1) = S =1+2+3+4+\cdots &#10;\end{align*}&#10;&#10;\end{sf}&#10;\end{document}"/>
  <p:tag name="IGUANATEXSIZE" val="24"/>
  <p:tag name="IGUANATEXCURSOR" val="41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 1200"/>
  <p:tag name="ORIGINALHEIGHT" val=" 1431"/>
  <p:tag name="ORIGINALWIDTH" val=" 3119"/>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You've got to be careful.... &#10;\begin{align*}&#10;S(1) = S =1+2+3+4+\cdots = \frac{-1}{12}&#10;\end{align*}&#10;&#10;\end{sf}&#10;\end{document}"/>
  <p:tag name="IGUANATEXSIZE" val="24"/>
  <p:tag name="IGUANATEXCURSOR" val="50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 1200"/>
  <p:tag name="ORIGINALHEIGHT" val=" 1790"/>
  <p:tag name="ORIGINALWIDTH" val=" 4239"/>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_1 = 1 -&amp; 1+1-1+1-1 \cdots\nonumber \\&#10;S_1 = \quad\quad   &amp;1 -1 + 1 -1+1-1 \cdots \nonumber \\&#10;\text{Adding: } 2S_1 = 1&amp; ~~~~~~ \text{ so: } S_1 = \frac{1}{2}&#10;\end{flalign}&#10;%\vspace*{-1cm}&#10;\begin{flalign}&#10;S_2 = 1 -&amp; 2+3-4+5-6 \cdots\nonumber \\&#10;S_2 = \quad\quad   &amp;1 -2 + 3 -4+5-6 \cdots \nonumber \\&#10;\text{Adding: } 2S_2 = 1-&amp;1+1-1+1-1 \cdots ~~~~~ = S_1\&#10;&amp; ~~~~~~ \text{ so: } S_2 = \frac{1}{4}~~~~~~~&#10;\end{flalign}&#10;\end{sf}&#10;\end{document}"/>
  <p:tag name="IGUANATEXSIZE" val="24"/>
  <p:tag name="IGUANATEXCURSOR" val="32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 1200"/>
  <p:tag name="ORIGINALHEIGHT" val=" 1395"/>
  <p:tag name="ORIGINALWIDTH" val=" 4239"/>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1) - S_2 =  \quad \quad &amp;1 + 2+3+4+5+6 \cdots\nonumber \\&#10;\quad \quad - (  &amp;1 -2 + 3 -4+5-6 \cdots ) \nonumber \\&#10; = ~~~~~~ &amp;0 + 4 + 0 + 8 + 0 + 12 \cdots \nonumber &#10;\end{flalign}&#10;So we have:&#10;\begin{flalign}&#10;S(1)- S_2 = 4S(1), \implies -S_2 = 3S(1) \implies S(1) = \frac{-1}{12}&#10;\end{flalign}&#10;\end{sf}&#10;\end{document}"/>
  <p:tag name="IGUANATEXSIZE" val="20"/>
  <p:tag name="IGUANATEXCURSOR" val="60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 1200"/>
  <p:tag name="ORIGINALHEIGHT" val=" 1395"/>
  <p:tag name="ORIGINALWIDTH" val=" 4239"/>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 - S_2 =  \quad \quad &amp;1 + 2+3+4+5+6 \cdots\nonumber \\&#10;\quad \quad - (  &amp;1 -2 + 3 -4+5-6 \cdots ) \nonumber \\&#10; = ~~~~~~ &amp;0 + 4 + 0 + 8 + 0 + 12 \cdots \nonumber &#10;\end{flalign}&#10;So we have:&#10;\begin{flalign}&#10;S- S_2 = 4S, \implies -S_2 = 3S \implies S = \frac{-1}{12}&#10;\end{flalign}&#10;\end{sf}&#10;\end{document}"/>
  <p:tag name="IGUANATEXSIZE" val="20"/>
  <p:tag name="IGUANATEXCURSOR" val="32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 1200"/>
  <p:tag name="ORIGINALHEIGHT" val=" 2168"/>
  <p:tag name="ORIGINALWIDTH" val=" 3291"/>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More generally we define the $\zeta$ function in terms of an integral.&#10;\begin{align*}&#10;\zeta(s) =&amp; \sum_{n=1}^\infty\frac{1}{n^s} \\&#10;   = &amp;\frac{1}{\Gamma(s)} \int_0^\infty \frac{x ^ {s-1}}{e ^ x - 1} \, \mathrm{d}x\,&#10;\end{align*}&#10;where&#10;\begin{align*}&#10;\Gamma(s) = \int_0^\infty x^{s-1}e^{-x} \, \mathrm{d}x &#10;\end{align*}&#10;is the gamma function, a generalization of factorial.\\&#10;The Riemann zeta function is defined for other complex values\\&#10;via {\em analytic continuation} of the function defined for &#10;Re($ s )&gt; 1$.&#10;\end{sf}&#10;\end{document}"/>
  <p:tag name="IGUANATEXSIZE" val="20"/>
  <p:tag name="IGUANATEXCURSOR" val="80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 1200"/>
  <p:tag name="ORIGINALHEIGHT" val=" 125"/>
  <p:tag name="ORIGINALWIDTH" val=" 201"/>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zeta(s)$&#10;\end{sf}&#10;\end{document}"/>
  <p:tag name="IGUANATEXSIZE" val="44"/>
  <p:tag name="IGUANATEXCURSOR" val="30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 1200"/>
  <p:tag name="ORIGINALHEIGHT" val=" 1607"/>
  <p:tag name="ORIGINALWIDTH" val=" 4449"/>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https://en.wikipedia.org/wiki/Monty_Hall_problem&#10;\begin{itemize}&#10;&#9;\item You are given the choice of three doors:&#10;&#9;\begin{itemize}&#10;&#9;\item Behind one door is a car; behind the others, goats.&#10;&#9;\end{itemize}&#10;&#9;\item You pick a door.&#10;&#9;\item The host knows what's behind the doors&#10;&#9;\item He opens another door, which has a goat.&#10;\begin{itemize}&#10;&#9;\item He then says to you, \lq Do you want to stay with your original door or change?\rq&#10;\end{itemize}&#10;\item Is it to your advantage to switch your choice?&#10;\end{itemize}&#10;\end{sf}&#10;\end{document}"/>
  <p:tag name="IGUANATEXSIZE" val="24"/>
  <p:tag name="IGUANATEXCURSOR" val="519"/>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 1200"/>
  <p:tag name="ORIGINALHEIGHT" val=" 1701"/>
  <p:tag name="ORIGINALWIDTH" val=" 3693"/>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paragraph{By considering outcomes:}&#10;\bigskip \ \\ &#10;\begin{center}&#10;\begin{tabular}{|ccc|cc|}&#10;\hline&#10;Door 1 &amp; Door 2 &amp; Door 3 &amp; Stay &amp; Change \\&#10;\hline&#10;G &amp; G &amp; C &amp; G &amp; C\\&#10;G &amp; C &amp; G &amp; G &amp; C\\&#10;C &amp; G &amp; G &amp; C &amp; G\\&#10;\hline&#10;\end{tabular}&#10;\end{center}&#10;&#10;This shows that the probability of:&#10;\begin{itemize}&#10;\item winning the car if the contestant {\em does not} change is $\frac{1}{3}$&#10;\item and the probability of winning if they {\em do change} is $\frac{2}{3}$.&#10;\end{itemize}&#10;\end{sf}&#10;\end{document}"/>
  <p:tag name="IGUANATEXSIZE" val="24"/>
  <p:tag name="IGUANATEXCURSOR" val="634"/>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 1200"/>
  <p:tag name="ORIGINALHEIGHT" val=" 1362"/>
  <p:tag name="ORIGINALWIDTH" val=" 4243"/>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In a particular population the probability that a woman \\&#10;\hspace*{2cm}(in a particular age range) has breast cancer is 1\%.&#10;\bigskip \ \\&#10;Some facts about mammograms:&#10;\begin{itemize} &#10;\item If a woman has breast cancer then the probability that she tests positive is 90\% (test sensitivity).&#10;\item If a woman does not have breast cancer the probability that she nevertheless tests positive is 9\% (false positive rate).&#10;\end{itemize}&#10;\end{sf}&#10;\end{document}"/>
  <p:tag name="IGUANATEXSIZE" val="24"/>
  <p:tag name="IGUANATEXCURSOR" val="364"/>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 1200"/>
  <p:tag name="ORIGINALHEIGHT" val=" 1433"/>
  <p:tag name="ORIGINALWIDTH" val=" 4758"/>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10;\end{sf}&#10;\end{document}"/>
  <p:tag name="IGUANATEXSIZE" val="20"/>
  <p:tag name="IGUANATEXCURSOR" val="788"/>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 1200"/>
  <p:tag name="ORIGINALHEIGHT" val=" 1929"/>
  <p:tag name="ORIGINALWIDTH" val=" 4758"/>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medskip \ \\&#10;Fewer than 21\% of doctors answered with option 3.\\&#10;&#10;\end{sf}&#10;\end{document}"/>
  <p:tag name="IGUANATEXSIZE" val="20"/>
  <p:tag name="IGUANATEXCURSOR" val="85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 1200"/>
  <p:tag name="ORIGINALHEIGHT" val=" 2280"/>
  <p:tag name="ORIGINALWIDTH" val=" 4765"/>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medskip \ \\&#10;Fewer than 21\% of doctors answered with option 3.\\&#10;\medskip \ \\&#10;The score would have been better if the choice had been random.&#10;&#10;\end{sf}&#10;\end{document}"/>
  <p:tag name="IGUANATEXSIZE" val="20"/>
  <p:tag name="IGUANATEXCURSOR" val="79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 1200"/>
  <p:tag name="ORIGINALHEIGHT" val=" 618"/>
  <p:tag name="ORIGINALWIDTH" val=" 3627"/>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10;\fbox{\parbox{10cm}{&#10;{\sc Gerd Gigerenzer et al, 2008}\\&#10;Helping Doctors and Patients Make Sense of Health Statistics\\&#10;PSYCHOLOGICAL SCIENCE IN THE PUBLIC INTEREST\\&#10;%{\tt https://www.stat.berkeley.edu/$\sim$aldous/157/Papers/health\_stats.pdf}&#10;}}&#10;\end{sf}&#10;\end{document}"/>
  <p:tag name="IGUANATEXSIZE" val="14"/>
  <p:tag name="IGUANATEXCURSOR" val="46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 1200"/>
  <p:tag name="ORIGINALHEIGHT" val=" 2409"/>
  <p:tag name="ORIGINALWIDTH" val=" 5511"/>
  <p:tag name="OUTPUTTYPE" val="PNG"/>
  <p:tag name="IGUANATEXVERSION" val="162"/>
  <p:tag name="LATEXADDIN" val="\documentclass{article}&#10;\usepackage{amsmath,amsfonts}&#10;\usepackage[version=4]{mhchem}\usepackage[margin=0in,paperwidth=16cm,verbose,marginparwidth=0pt,marginparsep=0pt]{geometry}&#10;\usepackage{sectsty}&#10;\allsectionsfont{\bfseries\sffamily}&#10;\pagestyle{empty}&#10;\begin{document}&#10;\begin{sf}&#10;\noindent&#10;&#10;\begin{enumerate}&#10;\item Consider a population of 1\,000 women. &#10;\item We know that the prevalence of cancer is 1\% in this population $\implies$ There are 10 people with breast cancer.&#10;\item Let us test everyone.&#10;\item We test 10 people with cancer. The test sensitivity is 90\% so we have 9 positive results.&#10;\item We test 990 people who {\bf do not} have cancer.\\&#10;The false positive rate is 9\% so we have ($89.1 = 990 \times 0.09$) false positive results.&#10;\item Considering the positive results above, we see that a positive mammogram implies that the probability of the subject having cancer is:&#10;\begin{align*}&#10;P(\text{Actually having cancer} |&amp; \text{Positive mammogram}) \\&#10;                                      =&amp;  \frac{9}{89.1 + 9} &#10;                                        \approx 9.2\%&#10;\end{align*}&#10;\end{enumerate}&#10;&#10;\end{sf}&#10;\end{document}"/>
  <p:tag name="IGUANATEXSIZE" val="20"/>
  <p:tag name="IGUANATEXCURSOR" val="1083"/>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 1200"/>
  <p:tag name="ORIGINALHEIGHT" val=" 1470"/>
  <p:tag name="ORIGINALWIDTH" val=" 3368"/>
  <p:tag name="OUTPUTTYPE" val="PNG"/>
  <p:tag name="IGUANATEXVERSION" val="162"/>
  <p:tag name="LATEXADDIN" val="\documentclass{article}&#10;\usepackage[fleqn]{amsmath}&#10;\usepackage{amsfonts}&#10;\usepackage[version=4]{mhchem}\usepackage[margin=0in,paperwidth=16cm,verbose,marginparwidth=0pt,marginparsep=0pt]{geometry}&#10;\usepackage{sectsty}&#10;\allsectionsfont{\bfseries\sffamily}&#10;\pagestyle{empty}&#10;\begin{document}&#10;\begin{sf}&#10;\noindent&#10;Published (posthumously) 1763\\&#10;An Essay Towards Solving a Problem in the Doctrine of Chances&#10;&#10;\begin{flalign*}&#10;P(A\cap B) &amp;= P(A|B) P(B) = P(B|A) P(A) \\&#10;\intertext{therefore, re-arranging:}&#10;%P(A|B)P(B) &amp;= P(B|A)P(A)&#10;%\intertext{re-arranging:}&#10;P(A|B) &amp;= \frac{P(B|A)P(A)}{P(B)}, ~~~~~~~~~\text{provided: } P(B)\neq 0&#10;\end{flalign*}&#10;&#10;\end{sf}&#10;\end{document}"/>
  <p:tag name="IGUANATEXSIZE" val="22"/>
  <p:tag name="IGUANATEXCURSOR" val="60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 1200"/>
  <p:tag name="ORIGINALHEIGHT" val=" 2361"/>
  <p:tag name="ORIGINALWIDTH" val=" 5574"/>
  <p:tag name="OUTPUTTYPE" val="PNG"/>
  <p:tag name="IGUANATEXVERSION" val="162"/>
  <p:tag name="LATEXADDIN" val="\documentclass{article}&#10;\usepackage{amsmath,amsfonts}&#10;\usepackage[version=4]{mhchem}\usepackage[margin=0in,paperwidth=16cm,verbose,marginparwidth=0pt,marginparsep=0pt]{geometry}&#10;\usepackage{sectsty}&#10;\allsectionsfont{\bfseries\sffamily}&#10;\pagestyle{empty}&#10;\begin{document}&#10;\begin{sf}&#10;\noindent&#10;{\hfill Proof via Bayes Theorem}&#10;\ \medskip \\&#10;Define $C$ to be the event that a subject has cancer and \\&#10;$M$ that a subject has a positive mammogram result.&#10;\ \\&#10;We are told that: &#10;\begin{enumerate}&#10;\item $P(C) = 0.01$ (prevalence of cancer),&#10;\item $P(M|C) = 0.9$ (test sensitivity),&#10;\item $P(M|\neg C) = 0.09$ (false positives).&#10;\end{enumerate}&#10;&#10;Now we use $P(M) = P(C)P(M|C) + P(\neg C)P(M|\neg C) = 0.01\times 0.9 + 0.99 \times 0.09 \approx 0.981$ \\&#10;%(Rule of total probability.)&#10;&#10;Bayes rule gives us:&#10;\begin{align*}&#10;P(C|M) &amp;= \frac{P(M|C)P(C)}{P(M)}&#10; = \frac{0.9 \times 0.01}{0.981} &#10;\approx 0.092 ~~~~~\text{ as before.}&#10;\end{align*}&#10;&#10;\end{sf}&#10;\end{document}"/>
  <p:tag name="IGUANATEXSIZE" val="20"/>
  <p:tag name="IGUANATEXCURSOR" val="90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 1200"/>
  <p:tag name="ORIGINALHEIGHT" val=" 2295"/>
  <p:tag name="ORIGINALWIDTH" val=" 4878"/>
  <p:tag name="OUTPUTTYPE" val="PNG"/>
  <p:tag name="IGUANATEXVERSION" val="162"/>
  <p:tag name="LATEXADDIN" val="\documentclass[fleqn]{article}&#10;\usepackage{amsmath,amsfonts}&#10;\usepackage[version=4]{mhchem}\usepackage[margin=0in,paperwidth=14cm,verbose,marginparwidth=0pt,marginparsep=0pt]{geometry}&#10;\usepackage{sectsty}&#10;\allsectionsfont{\bfseries\sffamily}&#10;\pagestyle{empty}&#10;\begin{document}&#10;\begin{sf}&#10;\noindent&#10;French mathematician Jules Richard --- 1905\\&#10;We use a language (e.g. English!!) to define the properties of arithmetic.&#10;\begin{itemize}&#10;\item An integer is the product of integers.&#10;\item A prime is a natural number divisible only by itself and one.&#10;\end{itemize}&#10;We can order all these statements.\hspace{1cm}&#10;E.g.&#10; shortest definitions, alphabetically ordered.&#10;\medskip \ \\&#10;Consider the statement associated with the number $n$. $n$ may satisfy this property. \\&#10;Perhaps 17 is associated with \lq is a prime number.\rq &#10;\medskip \ \\&#10;$\bullet$ We say $n$ is Richardian if $n$ does &#10;{\em not} satisfy definition $n$.&#10;\medskip \ \\&#10;The statement above is a definition of a mathematical quantity so it has a value: $n^\star$.\\&#10;\bigskip \ \\&#10;%\begin{center}&#10;\hspace*{2cm}\fbox{Is $n^\star$ Richardian?}&#10;%\end{center}&#10;\hspace*{2cm}&#10;We are back to Russel's Set of Sets antinomy.&#10;\end{sf}&#10;\end{document}"/>
  <p:tag name="IGUANATEXSIZE" val="22"/>
  <p:tag name="IGUANATEXCURSOR" val="799"/>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 1200"/>
  <p:tag name="ORIGINALHEIGHT" val=" 1982"/>
  <p:tag name="ORIGINALWIDTH" val=" 3807"/>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10;$2^{n_1} \times 3^{n_2} \cdots p_i^{n_i} \cdots$\\&#10;\hspace*{1cm} where $n_i$ denotes the $i$th character in the formula.&#10;\item This number is known as the G{\&quot;o}del number of the formula.&#10;&#9;\begin{itemize}&#10;&#9;\item A proof: finite sequence of wffs where each wff is either an axiom\\ or derived from the preceding formulae via a Rule of Inference.&#10;&#9;\item Rule of Inference (Modus Ponens): &#10;&#9;&#9;&#9;$S_1 ~~\&amp;~~ (S_1 \implies S_2) \text{ then } S_2$&#10;&#9;\end{itemize}&#10;\item Notice {\em a proof} is a sequence of wff --- &#10;&#9;so it has it's own G{\&quot;o}del number&#10;\item Notice we can now talk about wff which are {\em false}&#10;\end{itemize}&#10;\end{sf}&#10;\end{document}"/>
  <p:tag name="IGUANATEXSIZE" val="18"/>
  <p:tag name="IGUANATEXCURSOR" val="109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 1200"/>
  <p:tag name="ORIGINALHEIGHT" val=" 2808"/>
  <p:tag name="ORIGINALWIDTH" val=" 4287"/>
  <p:tag name="OUTPUTTYPE" val="PNG"/>
  <p:tag name="IGUANATEXVERSION" val="162"/>
  <p:tag name="LATEXADDIN" val="\documentclass[fleqn]{article}&#10;\usepackage{amsmath,amsfonts}&#10;\usepackage[version=4]{mhchem}\usepackage[margin=0in,paperwidth=14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10;$2^{n_1} \times 3^{n_2} \cdots p_i^{n_i} \cdots$\\&#10;\hspace*{1cm} where $n_i$ denotes the $i$th character in the formula.&#10;\item This number is known as the G{\&quot;o}del number of the formula.&#10;&#9;\begin{itemize}&#10;&#9;\item A proof: finite sequence of wffs where each wff is either an axiom\\ or derived from the preceding formulae via a Rule of Inference.&#10;&#9;\item Rule of Inference (Modus Ponens): &#10;&#9;&#9;&#9;$S_1 ~~\&amp;~~ (S_1 \implies S_2) \text{ then } S_2$&#10;&#9;\end{itemize}&#10;\item Notice {\em a proof} is a sequence of wff --- &#10;&#9;so it has it's own G{\&quot;o}del number&#10;\item Notice we can now talk about wff which are {\em false}&#10;\item[]&#10;\item G{\&quot;o}del numbers get large:\\&#10;$243\,000\,000 = 2^6\times 3^5 \times 5^6$ \\&#10;\hspace*{2cm} gives the symbols: \{6, 5, 6\} \hspace{2cm}and the formula: $0=0$&#10;\end{itemize}&#10;\end{sf}&#10;\end{document}"/>
  <p:tag name="IGUANATEXSIZE" val="18"/>
  <p:tag name="IGUANATEXCURSOR" val="122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 1200"/>
  <p:tag name="ORIGINALHEIGHT" val=" 2404"/>
  <p:tag name="ORIGINALWIDTH" val=" 4046"/>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This G{\&quot;o}del  mapping has formalised Richard's \lq definition of mathematics.\rq &#10;\item Indeed it has been extended to include some metamathematics.&#10;\item He applies it to self-referential statements along the lines of:\\&#10;\hspace*{2cm}Is $n$ Richardian&#10;\item[]&#10;\item The conclusion, a rigorous proof that:&#10;\item[] Any axiomatic system which can contain arithmetic &#10;        is essentially incomplete.&#10;\item[]&#10;\item There are true statements which cannot be proved from the axioms \\&#10;{\em and} &#10;\item[] adding these statements to the axiom set {\em cannot} make the algebra complete.&#10;\end{itemize}&#10;&#10;\end{sf}&#10;\end{document}"/>
  <p:tag name="IGUANATEXSIZE" val="20"/>
  <p:tag name="IGUANATEXCURSOR" val="403"/>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 1200"/>
  <p:tag name="ORIGINALHEIGHT" val=" 2319"/>
  <p:tag name="ORIGINALWIDTH" val=" 3822"/>
  <p:tag name="OUTPUTTYPE" val="PNG"/>
  <p:tag name="IGUANATEXVERSION" val="162"/>
  <p:tag name="LATEXADDIN" val="\documentclass[fleqn]{article}&#10;\usepackage{amsmath,amsfonts}&#10;\usepackage[version=4]{mhchem}\usepackage[margin=0in,paperwidth=14cm,verbose,marginparwidth=0pt,marginparsep=0pt]{geometry}&#10;\usepackage{sectsty}&#10;\allsectionsfont{\bfseries\sffamily}&#10;\pagestyle{empty}&#10;\begin{document}&#10;\begin{sf}&#10;\noindent&#10;Let us consider this \lq simple \rq series:&#10;$~~~~~~~~~S(p) = 1^{-p} + 2^{-p} + 3^{-p} + \cdots  $ \\&#10;\ \\&#10;Clearly $S(1) = \sum \frac{1}{n} = \infty$\\&#10;Let's group terms differently than before:&#10;\begin{flalign*}&#10;\frac{1}{3} + \frac{1}{4} &gt;\frac{2}{2^2} = \frac{1}{2}\nonumber\\&#10;\frac{1}{5} + \frac{1}{6} + \frac{1}{7} + \frac{1}{8}&#10;&gt;\frac{4}{8} = \frac{1}{2}\nonumber\\&#10;\frac{1}{9} + \frac{1}{10} + \cdots + \frac{1}{16}&#10;&lt;\frac{8}{16} = \frac{1}{2}&#10;\end{flalign*}&#10;Taking terms in groups of&#10;$2^n$ we have: $~~~~~S(1) &gt; \sum_1^\infty \frac{1}{2} = \infty$&#10;%&#10;%\begin{flalign*}&#10;%S(1) &gt; \sum_1^\infty \frac{1}{2}&#10;%\end{flalign*}&#10;%&#10;\ \bigskip \\&#10;\hspace*{2cm}\parbox{10cm}{&#10;Also, recall that:&#10;$\ln(1+x) = x - \frac{x^2}{2} + \frac{x^3}{3} - \cdots$\\&#10;\hspace*{2cm}so we have a related result: $\sum (-1)^n \frac{1}{n} = \ln{2}$&#10;}&#10;\end{sf}&#10;\end{document}"/>
  <p:tag name="IGUANATEXSIZE" val="22"/>
  <p:tag name="IGUANATEXCURSOR" val="105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 1200"/>
  <p:tag name="ORIGINALHEIGHT" val=" 2653"/>
  <p:tag name="ORIGINALWIDTH" val=" 4243"/>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2^{n_1} \times 3^{n_2} \cdots$\\&#10;\hspace*{1cm} where $n_i$ denotes the $i$th character in the formula.&#10;\item This number is known as the G{\&quot;o}del number of the formula.&#10;\item Notice we can now talk about wff which are {\em false}&#10;\item Notice {\em a proof} is a sequence of wff --- &#10;so it has it's own G{\&quot;o}del number&#10;\item By considering statements of the form: \\&#10;\hspace*{1cm} The formula with G{\&quot;o}del number &#10;$sub(n, n, 17)$ cannot be proved.\\&#10;we deduce that there are statements which are {\em true} but which cannot be proved.&#10;\end{itemize}&#10;This algebra is {\sc essentially incomplete}.\\&#10;There are true statements which cannot be proved from the axioms \\&#10;{\em and} adding these statements to the axiom set does {\em not} make the algebra complete.&#10;\end{sf}&#10;\end{document}"/>
  <p:tag name="IGUANATEXSIZE" val="18"/>
  <p:tag name="IGUANATEXCURSOR" val="12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73224</TotalTime>
  <Words>2365</Words>
  <Application>Microsoft Macintosh PowerPoint</Application>
  <PresentationFormat>Widescreen</PresentationFormat>
  <Paragraphs>362</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Aptos</vt:lpstr>
      <vt:lpstr>Aptos Display</vt:lpstr>
      <vt:lpstr>Arial</vt:lpstr>
      <vt:lpstr>Office Theme</vt:lpstr>
      <vt:lpstr>Before we start:</vt:lpstr>
      <vt:lpstr>Mathematical Thinking  Paradoxes, probability, logic    Some definitions  Infinity – Zeno et al Probability – Monty Hall, Medicine Logic and incompleteness</vt:lpstr>
      <vt:lpstr>Fundamentals – set theory</vt:lpstr>
      <vt:lpstr>Fundamentals – set theory</vt:lpstr>
      <vt:lpstr>Fundamentals – set theory</vt:lpstr>
      <vt:lpstr>Fundamentals – set theory</vt:lpstr>
      <vt:lpstr>Achilles and the tortoise     (i)</vt:lpstr>
      <vt:lpstr>Achilles and the tortoise     (ii)</vt:lpstr>
      <vt:lpstr>Achilles and the tortoise     (iii)</vt:lpstr>
      <vt:lpstr>Rational numbers: dense &amp; sparse on the line (i)</vt:lpstr>
      <vt:lpstr>Rational numbers: dense &amp; sparse on the line (ii)</vt:lpstr>
      <vt:lpstr>A standard series</vt:lpstr>
      <vt:lpstr>The Basel problem</vt:lpstr>
      <vt:lpstr>The Basel problem</vt:lpstr>
      <vt:lpstr>A divertissement</vt:lpstr>
      <vt:lpstr>A divertissement</vt:lpstr>
      <vt:lpstr>A divertissement</vt:lpstr>
      <vt:lpstr>A divertissement</vt:lpstr>
      <vt:lpstr>A divertissement</vt:lpstr>
      <vt:lpstr>A divertissement – the maths of </vt:lpstr>
      <vt:lpstr>Probabilities – The Monty Hall Problem</vt:lpstr>
      <vt:lpstr>Probabilities – The Monty Hall Problem</vt:lpstr>
      <vt:lpstr>Probabilities – Medical testing   (i)</vt:lpstr>
      <vt:lpstr>Probabilities – Medical testing   (ii)</vt:lpstr>
      <vt:lpstr>Probabilities – Medical testing  (ii)</vt:lpstr>
      <vt:lpstr>Probabilities – Medical testing  (ii)</vt:lpstr>
      <vt:lpstr>Probabilities – Medical testing  (iii)</vt:lpstr>
      <vt:lpstr>Bayes Theorem</vt:lpstr>
      <vt:lpstr>Probabilities – Medical testing  (iv)</vt:lpstr>
      <vt:lpstr>The search for completeness and solvability</vt:lpstr>
      <vt:lpstr>The search for completeness and solvability (ii)</vt:lpstr>
      <vt:lpstr>Richard’s Paradox </vt:lpstr>
      <vt:lpstr>The search for completeness and solvability</vt:lpstr>
      <vt:lpstr>The search for completeness and solvability</vt:lpstr>
      <vt:lpstr>The search for completeness and solvability</vt:lpstr>
      <vt:lpstr>Summary</vt:lpstr>
      <vt:lpstr>Fundamentals – set theory</vt:lpstr>
      <vt:lpstr>A standard series</vt:lpstr>
      <vt:lpstr>PowerPoint Presentation</vt:lpstr>
      <vt:lpstr>Mathematical thinking: Lecture 3</vt:lpstr>
      <vt:lpstr>The search for completeness and solvability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Thompson</dc:creator>
  <cp:lastModifiedBy>Christopher Thompson</cp:lastModifiedBy>
  <cp:revision>79</cp:revision>
  <cp:lastPrinted>2026-10-08T08:27:51Z</cp:lastPrinted>
  <dcterms:created xsi:type="dcterms:W3CDTF">2026-07-07T11:20:13Z</dcterms:created>
  <dcterms:modified xsi:type="dcterms:W3CDTF">2026-10-19T20:36:06Z</dcterms:modified>
</cp:coreProperties>
</file>